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23244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61171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256883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6200" y="0"/>
            <a:ext cx="2971800" cy="61171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41073885-339D-D1C5-947B-5C08655FA259}" type="datetimeFigureOut">
              <a:rPr lang="en-US"/>
              <a:t/>
            </a:fld>
            <a:endParaRPr/>
          </a:p>
        </p:txBody>
      </p:sp>
      <p:sp>
        <p:nvSpPr>
          <p:cNvPr id="118004203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21306043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9102A6F8-6FD6-A2F9-3325-C288750D347F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83120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361928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58765304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6848555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9392090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977912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5029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6986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0:20</a:t>
            </a:r>
            <a:br>
              <a:rPr lang="en-US"/>
            </a:br>
            <a:r>
              <a:rPr lang="en-US"/>
              <a:t>Представься. Одна фраза о проекте: ноутбук, у которого стёрли систему, сам скачивает её из интернета и восстанавливается, без человека рядом.</a:t>
            </a:r>
            <a:endParaRPr lang="en-US"/>
          </a:p>
        </p:txBody>
      </p:sp>
      <p:sp>
        <p:nvSpPr>
          <p:cNvPr id="418394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3447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1812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1:15</a:t>
            </a:r>
            <a:br>
              <a:rPr lang="en-US"/>
            </a:br>
            <a:r>
              <a:rPr lang="en-US"/>
              <a:t>Задача (условия — строкой под заголовком): после команды osreboot-wipe ноутбук сам, без человека, загружается по сети с VPS, скачивает образы по HTTPS и пишет их на диск. От чужой сети нужны только DHCP и выход на порт 443.</a:t>
            </a:r>
            <a:br>
              <a:rPr lang="en-US"/>
            </a:br>
            <a:r>
              <a:rPr lang="en-US"/>
              <a:t>Главная схема доклада. Сверху оранжевым — наш путь, восемь этапов: прошивка UEFI, systemd-boot, iPXE, DHCP и DNS, HTTPS, Linux в оперативке, запись на диск, система работает. Под каждым этапом мелко — что он делает.</a:t>
            </a:r>
            <a:br>
              <a:rPr lang="en-US"/>
            </a:br>
            <a:r>
              <a:rPr lang="en-US"/>
              <a:t>Linux в оперативке — среда восстановления: iPXE скачивает её по HTTPS одним файлом UKI (ядро и initrd), и она работает в оперативной памяти, потому что диск пуст. Она скачивает с VPS образы системы, сверяет SHA-256 и пишет их на диск через dd. Потом BootNext: следующая загрузка — в восстановленную систему. Эти три последних этапа у всех путей одинаковые.</a:t>
            </a:r>
            <a:br>
              <a:rPr lang="en-US"/>
            </a:br>
            <a:r>
              <a:rPr lang="en-US"/>
              <a:t>Ниже — другие пути, по строке на каждый, у каждого из них дальше свой слайд. Их этапы стоят под похожим этапом нашего пути. Столбец «сетевой клиент»: у нас это iPXE, у BMC — второй компьютер. Под DHCP: для PXE и HTTP Boot нужен свой DHCP-сервер. «Источник образа»: TFTP-, HTTP- или HTTPS-сервер, у BMC — ISO по сети. Прошивку у других путей не рисую: с неё начинается любой путь.</a:t>
            </a:r>
            <a:br>
              <a:rPr lang="en-US"/>
            </a:br>
            <a:r>
              <a:rPr lang="en-US"/>
              <a:t>Справа в той же строке — почему путь не подошёл. PXE работает только в своей сети и без шифрования. HTTP Boot тоже нужен свой DHCP-сервер, а файл по дороге можно подменить. Прошивка ноутбука не умеет HTTPS. BMC есть только у серверов.</a:t>
            </a:r>
            <a:br>
              <a:rPr lang="en-US"/>
            </a:br>
            <a:r>
              <a:rPr lang="en-US"/>
              <a:t>Вывод (его показывает слайд 8, здесь — одной фразой): короткие пути требуют HTTPS в прошивке или свой DHCP в сети. У ноутбука в чужой сети нет ни того, ни другого. Поэтому наш путь самый длинный: systemd-boot и iPXE лежат на диске и делают то, чего не умеет прошивка.</a:t>
            </a:r>
            <a:br>
              <a:rPr lang="en-US"/>
            </a:br>
            <a:r>
              <a:rPr lang="en-US"/>
              <a:t>Флешку не показываю: её должен вставить человек, а задача — обойтись без него. Восстановление от производителя (Dell BIOSConnect, HP) — та же загрузка по HTTPS из прошивки, только их система с их серверов. Если спросят про раздел восстановления: копия системы на том же диске занимает место и устаревает. У нас на диске только маленький iPXE, а свежая система приходит с сервера. Если стереть весь диск, пропадут оба — это ограничение со слайда 22.</a:t>
            </a:r>
            <a:br>
              <a:rPr lang="en-US"/>
            </a:br>
            <a:r>
              <a:rPr lang="en-US"/>
              <a:t>ПЕРЕХОД: «Дальше коротко про каждый путь».</a:t>
            </a:r>
            <a:endParaRPr lang="en-US"/>
          </a:p>
        </p:txBody>
      </p:sp>
      <p:sp>
        <p:nvSpPr>
          <p:cNvPr id="2058158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336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95153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0:45</a:t>
            </a:r>
            <a:br>
              <a:rPr lang="en-US"/>
            </a:br>
            <a:r>
              <a:rPr lang="en-US"/>
              <a:t>PXE (Preboot eXecution Environment) — сетевая загрузка, встроенная в прошивку: DHCP плюс TFTP. Так загружают серверы в дата-центрах (MAAS, Ironic): там своя сеть и свой DHCP-сервер. У ноутбука пункт PXE тоже есть: Boot0003 «EFI PXE 0 for IPv4».</a:t>
            </a:r>
            <a:br>
              <a:rPr lang="en-US"/>
            </a:br>
            <a:r>
              <a:rPr lang="en-US"/>
              <a:t>DHCP. Шаг 1: DHCPDISCOVER. У PXE-клиента ещё нет IP, поэтому он шлёт broadcast на 255.255.255.255, UDP-порт 67. В опции 60 он пишет «PXEClient:Arch:00007»: по ней DHCP-сервер узнаёт клиента PXE, 7 — это x64 UEFI. Шаг 2: DHCPOFFER — сервер предлагает IP 192.168.1.50, в поле заголовка next-server (siaddr) ставит адрес TFTP-сервера 192.168.1.10, а в опции 67 — имя файла. Опцию 66 (имя TFTP-сервера) прошивка UEFI не читает: адрес берёт из next-server, а если оно пустое — из опции 54, адреса самого DHCP-сервера. Серая стрелка — DHCPREQUEST и DHCPACK: клиент принимает предложение, сервер подтверждает. Вместе это DORA.</a:t>
            </a:r>
            <a:br>
              <a:rPr lang="en-US"/>
            </a:br>
            <a:r>
              <a:rPr lang="en-US"/>
              <a:t>TFTP. Шаг 3: RRQ — запрос на чтение boot.efi на UDP-порт 69. Шаг 4: сервер шлёт файл блоками DATA по 512 байт, клиент на каждый блок отвечает ACK с его номером, и только после ACK сервер шлёт следующий. Блок меньше 512 байт — последний. Затем прошивка запускает boot.efi.</a:t>
            </a:r>
            <a:br>
              <a:rPr lang="en-US"/>
            </a:br>
            <a:r>
              <a:rPr lang="en-US"/>
              <a:t>Справа — проблемы, красные слова на схеме ведут к ним. Только своя сеть: DHCPDISCOVER — broadcast (шаг 1), роутер его не пересылает, поэтому DHCP-сервер должен быть в сегменте ноутбука, а сеть на защите чужая. Без шифрования и проверки: DHCP и TFTP не проверяют, кто отвечает. Любой узел сети может ответить раньше настоящего сервера (rogue DHCP) или подменить UDP-пакеты, и прошивка запустит чужой .efi. Ждёт ACK: это stop-and-wait, один блок за RTT. До сервера в интернете RTT 50 мс: 512 байт за 50 мс — 10 КБ/с, UKI в 132 МиБ шёл бы почти 4 часа.</a:t>
            </a:r>
            <a:br>
              <a:rPr lang="en-US"/>
            </a:br>
            <a:r>
              <a:rPr lang="en-US"/>
              <a:t>Если спросят про DHCP relay: роутер может пересылать запросы DHCP на сервер в другой сети (ip helper-address), но это настраивает хозяин сети, в чужой сети мы так не можем. Про proxyDHCP: такой сервер не мешает хозяйскому DHCP и выдаёт только опции загрузки, но это всё равно своя машина в сети ноутбука. Про блоки побольше: клиент может договориться о блоке до 1468 байт (опция blksize под MTU 1500), это около 29 КБ/с — всё равно больше часа. Есть ещё опция windowsize (RFC 7440): несколько блоков на один ACK; поддерживает ли её прошивка ноутбука, не проверял. Даже быстрый TFTP не решает первые две проблемы. Про Secure Boot: он проверил бы подпись boot.efi, но на ноутбуке он выключен (слайд 22).</a:t>
            </a:r>
            <a:br>
              <a:rPr lang="en-US"/>
            </a:br>
            <a:r>
              <a:rPr lang="en-US"/>
              <a:t>ПЕРЕХОД: «Прошивки умеют и по HTTP».</a:t>
            </a:r>
            <a:endParaRPr lang="en-US"/>
          </a:p>
        </p:txBody>
      </p:sp>
      <p:sp>
        <p:nvSpPr>
          <p:cNvPr id="561545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571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97598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0:45</a:t>
            </a:r>
            <a:br>
              <a:rPr lang="en-US"/>
            </a:br>
            <a:r>
              <a:rPr lang="en-US"/>
              <a:t>С UEFI 2.5 прошивка умеет скачивать загрузочный файл по HTTP. Схема как у PXE, отличия в двух местах: в DHCP и в том, как идёт файл.</a:t>
            </a:r>
            <a:br>
              <a:rPr lang="en-US"/>
            </a:br>
            <a:r>
              <a:rPr lang="en-US"/>
              <a:t>DHCP. Шаг 1: DHCPDISCOVER — тот же broadcast, но в опции 60 «HTTPClient:Arch:00016»: клиент сообщает, что он клиент HTTP Boot, 16 — это x64 UEFI по HTTP. Шаг 2: DHCPOFFER — IP, а в опции 67 уже не имя файла, а полный URL, например http://203.0.113.10/boot.efi. next-server не нужен: адрес сервера уже внутри URL. Сервер тоже ставит в ответ опцию 60 «HTTPClient»: по ней прошивка отличает предложение с URL от простой выдачи IP. Серая стрелка — DHCPREQUEST и DHCPACK, как в PXE.</a:t>
            </a:r>
            <a:br>
              <a:rPr lang="en-US"/>
            </a:br>
            <a:r>
              <a:rPr lang="en-US"/>
              <a:t>HTTP. Сначала TCP-соединение: SYN, SYN-ACK, ACK. Шаг 3: GET /boot.efi на порт 80. Шаг 4: ответ 200 OK. TCP шлёт файл потоком: много пакетов подряд, не дожидаясь подтверждения каждого (окно TCP). Прошивка кладёт файл в оперативную память и запускает.</a:t>
            </a:r>
            <a:br>
              <a:rPr lang="en-US"/>
            </a:br>
            <a:r>
              <a:rPr lang="en-US"/>
              <a:t>Пунктирная рамка — сеть ноутбука. DHCP-сервер внутри неё: URL по-прежнему приходит от DHCP, а broadcast за роутер не уходит. HTTP-сервер снаружи: TCP проходит через роутеры, поэтому сервер может быть в интернете. 203.0.113.10 — адрес из диапазона для документации.</a:t>
            </a:r>
            <a:br>
              <a:rPr lang="en-US"/>
            </a:br>
            <a:r>
              <a:rPr lang="en-US"/>
              <a:t>Зелёное — чем лучше PXE: TCP работает через роутеры и интернет, а файл приходит целиком и быстрее TFTP: TCP держит в пути много пакетов и не ждёт подтверждения каждого.</a:t>
            </a:r>
            <a:br>
              <a:rPr lang="en-US"/>
            </a:br>
            <a:r>
              <a:rPr lang="en-US"/>
              <a:t>Красное — почему не подошёл. Без шифрования: роутер в чужой сети или провайдер может подменить файл, а он работает под root и пишет на диск. Адрес файла прошивка ноутбука берёт только из DHCP, значит, нужен свой DHCP в сети ноутбука.</a:t>
            </a:r>
            <a:br>
              <a:rPr lang="en-US"/>
            </a:br>
            <a:r>
              <a:rPr lang="en-US"/>
              <a:t>Если спросят, проверял ли: на ноутбуке 23.10 пункт с адресом сервера прошивка удаляет при следующем включении — в логе nginx ни одного запроса. Свой пункт HTTP Boot берёт адрес только от DHCP.</a:t>
            </a:r>
            <a:br>
              <a:rPr lang="en-US"/>
            </a:br>
            <a:r>
              <a:rPr lang="en-US"/>
              <a:t>Если спросят, как можно было бы: свой DHCP в сети ноутбука. Дома да, на защите сеть чужая. Этот вариант не проверял — так и говори.</a:t>
            </a:r>
            <a:br>
              <a:rPr lang="en-US"/>
            </a:br>
            <a:r>
              <a:rPr lang="en-US"/>
              <a:t>ПЕРЕХОД: «А если прошивка умеет HTTPS?».</a:t>
            </a:r>
            <a:endParaRPr lang="en-US"/>
          </a:p>
        </p:txBody>
      </p:sp>
      <p:sp>
        <p:nvSpPr>
          <p:cNvPr id="81842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2173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983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1:00</a:t>
            </a:r>
            <a:br>
              <a:rPr lang="en-US"/>
            </a:br>
            <a:r>
              <a:rPr lang="en-US"/>
              <a:t>Верхний ряд — проект, под каждым звеном — что оно делает. Прошивка загружает первую запись BootOrder — systemd-boot основной системы. systemd-boot — переключатель: если в переменной LoaderEntryDefault записан пункт osreboot-ipxe.conf (его ставит osreboot-wipe, строка 78), он запускает iPXE, иначе Arch. iPXE.efi — сетевой загрузчик: DHCP, DNS с запасными 1.1.1.1 и 8.8.8.8, HTTPS с вшитыми корневыми сертификатами ISRG, при ошибке начинает заново через 10 секунд. boot.ipxe — скрипт на сервере, 350 байт: скачать и запустить UKI. Он на сервере, чтобы менять, что загружать, не трогая ноутбук. UKI — ядро и initrd в одном .efi, система восстановления работает в памяти. Она скачивает образы, сверяет SHA-256 и пишет их через dd.</a:t>
            </a:r>
            <a:br>
              <a:rPr lang="en-US"/>
            </a:br>
            <a:r>
              <a:rPr lang="en-US"/>
              <a:t>Почему переключатель — systemd-boot, а не BootOrder или BootNext: прошивка Insyde сама создаёт записи и занимает их номера. 23.10 под номером записи iPXE (Boot0005) она записала свою «EFI Hard Drive», и BootNext загрузил не то. Сейчас (проверено 30.10) номера 0005 и 0006 заняты её записями EFI HTTP. Первую запись BootOrder она не трогала ни разу, а переменную LoaderEntryDefault не трогает вообще — ею управляет ОС.</a:t>
            </a:r>
            <a:br>
              <a:rPr lang="en-US"/>
            </a:br>
            <a:r>
              <a:rPr lang="en-US"/>
              <a:t>Нижний ряд — если бы прошивка умела HTTPS: «прошивка → UKI → образы». Серые звенья исчезли бы.</a:t>
            </a:r>
            <a:br>
              <a:rPr lang="en-US"/>
            </a:br>
            <a:r>
              <a:rPr lang="en-US"/>
              <a:t>Зелёная карточка — что не нужно: systemd-boot, ipxe.efi, оба сценария iPXE, скрипты сборки и установки. На диске ничего не нужно — такая загрузка переживёт стирание всего диска.</a:t>
            </a:r>
            <a:br>
              <a:rPr lang="en-US"/>
            </a:br>
            <a:r>
              <a:rPr lang="en-US"/>
              <a:t>Серая — что нужно прошивке: модуль TLS, корневой сертификат, записанный в прошивку, и запись с адресом сервера, которая переживает перезагрузку (или адрес от DHCP — но это снова свой DHCP, слайд 4).</a:t>
            </a:r>
            <a:br>
              <a:rPr lang="en-US"/>
            </a:br>
            <a:r>
              <a:rPr lang="en-US"/>
              <a:t>Красная — почему не у нас: модуля TLS в прошивке ноутбука нет; запись HTTP Boot с адресом сервера, созданную вручную, прошивка удаляет при следующем включении (проверено 23.10, в логе nginx ни одного запроса). Если спросят, почему не встроить HTTPS в прошивку: только перепрошивкой микросхемы, а неудачная запись превращает ноутбук в «кирпич».</a:t>
            </a:r>
            <a:br>
              <a:rPr lang="en-US"/>
            </a:br>
            <a:r>
              <a:rPr lang="en-US"/>
              <a:t>Если спросят про готовые решения: так работает Dell BIOSConnect, но только со своими серверами.</a:t>
            </a:r>
            <a:br>
              <a:rPr lang="en-US"/>
            </a:br>
            <a:r>
              <a:rPr lang="en-US"/>
              <a:t>ПЕРЕХОД: «Есть путь, где прошивке не нужна сеть вообще: на серверах загрузкой управляет второй компьютер — BMC».</a:t>
            </a:r>
            <a:endParaRPr lang="en-US"/>
          </a:p>
        </p:txBody>
      </p:sp>
      <p:sp>
        <p:nvSpPr>
          <p:cNvPr id="179391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70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9023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0:40</a:t>
            </a:r>
            <a:br>
              <a:rPr lang="en-US"/>
            </a:br>
            <a:r>
              <a:rPr lang="en-US"/>
              <a:t>BMC — Baseboard Management Controller, контроллер управления системной платой. Так он выглядит на настоящей серверной плате OpenPower. Фото повёрнуто, чтобы надпись на чипе читалась.</a:t>
            </a:r>
            <a:br>
              <a:rPr lang="en-US"/>
            </a:br>
            <a:r>
              <a:rPr lang="en-US"/>
              <a:t>BMC — чип ASPEED AST2400: отдельный компьютер с процессором ARM и своей прошивкой. Рядом на плате так и написано: BMC.</a:t>
            </a:r>
            <a:br>
              <a:rPr lang="en-US"/>
            </a:br>
            <a:r>
              <a:rPr lang="en-US"/>
              <a:t>Память BMC — его собственная оперативная память, чип Micron DDR3. Основная память сервера — в синих слотах, они за краем фото.</a:t>
            </a:r>
            <a:br>
              <a:rPr lang="en-US"/>
            </a:br>
            <a:r>
              <a:rPr lang="en-US"/>
              <a:t>VGA — разъём для монитора. Изображение для монитора делает сам AST2400, в нём встроена видеокарта сервера. Поэтому BMC видит экран и показывает его по сети.</a:t>
            </a:r>
            <a:br>
              <a:rPr lang="en-US"/>
            </a:br>
            <a:r>
              <a:rPr lang="en-US"/>
              <a:t>BMC_RJ45 — собственный сетевой порт BMC, не основная сетевая карта сервера. Его включают в сеть управления, через него приходят команды Redfish.</a:t>
            </a:r>
            <a:br>
              <a:rPr lang="en-US"/>
            </a:br>
            <a:r>
              <a:rPr lang="en-US"/>
              <a:t>PWR_RST_BTN — линии кнопок питания и сброса. BMC замыкает их сам по команде Reset.</a:t>
            </a:r>
            <a:br>
              <a:rPr lang="en-US"/>
            </a:br>
            <a:r>
              <a:rPr lang="en-US"/>
              <a:t>STBY — дежурное питание. Оно есть, пока кабель в розетке, даже когда сервер выключен, поэтому BMC работает всегда.</a:t>
            </a:r>
            <a:br>
              <a:rPr lang="en-US"/>
            </a:br>
            <a:r>
              <a:rPr lang="en-US"/>
              <a:t>ПЕРЕХОД: «Как BMC загружает сервер по сети — на следующем слайде».</a:t>
            </a:r>
            <a:br>
              <a:rPr lang="en-US"/>
            </a:br>
            <a:r>
              <a:rPr lang="en-US"/>
              <a:t>Фото: Stewart Smith, CC BY-SA 2.0, Wikimedia Commons (повёрнуто и обрезано).</a:t>
            </a:r>
            <a:endParaRPr lang="en-US"/>
          </a:p>
        </p:txBody>
      </p:sp>
      <p:sp>
        <p:nvSpPr>
          <p:cNvPr id="759253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4692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3478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0:50</a:t>
            </a:r>
            <a:br>
              <a:rPr lang="en-US"/>
            </a:br>
            <a:r>
              <a:rPr lang="en-US"/>
              <a:t>Так BMC загружает сервер с ISO по сети. Это называется виртуальный носитель (virtual media). Слева тот, кто управляет: OpenStack Ironic, MAAS или человек с curl. Пунктир — плата сервера: BMC и сам сервер рядом.</a:t>
            </a:r>
            <a:br>
              <a:rPr lang="en-US"/>
            </a:br>
            <a:r>
              <a:rPr lang="en-US"/>
              <a:t>Выше линии — три запроса Redfish по HTTPS на порт BMC. POST InsertMedia: вставить в виртуальный CD образ по ссылке https://…/recovery.iso. PATCH Boot — свойство Boot у Systems/1: следующая загрузка с CD, один раз (BootSourceOverrideTarget Cd, Enabled Once). POST Reset с ForceRestart: перезагрузить сразу, ОС на стёртом диске всё равно нет. На слайде у запросов только имена; полные пути вида /redfish/v1/Managers/1/VirtualMedia/CD1/Actions/VirtualMedia.InsertMedia у разных производителей разные.</a:t>
            </a:r>
            <a:br>
              <a:rPr lang="en-US"/>
            </a:br>
            <a:r>
              <a:rPr lang="en-US"/>
              <a:t>Ниже линии — что происходит на плате. BMC замыкает линию кнопки сброса, сервер стартует. Прошивка UEFI по IPMI запрашивает у BMC параметры загрузки (boot flags) и получает: с CD, один раз.</a:t>
            </a:r>
            <a:br>
              <a:rPr lang="en-US"/>
            </a:br>
            <a:r>
              <a:rPr lang="en-US"/>
              <a:t>BMC подключён к USB сервера и эмулирует USB-привод CD. Прошивка видит обычный привод и читает с него блоки. Эти блоки BMC берёт из recovery.iso на ISO-сервере по HTTPS. Сервер загружает Linux с этого CD, дальше всё как у других путей: скачать образы, проверить, записать.</a:t>
            </a:r>
            <a:br>
              <a:rPr lang="en-US"/>
            </a:br>
            <a:r>
              <a:rPr lang="en-US"/>
              <a:t>Справа те же шаги текстом, по порядку схемы. Внизу зелёное — чем лучше: серверу не нужны своя сеть, DHCP и HTTPS в прошивке, всё по HTTPS делает BMC. Красное — почему не подошёл: у ноутбука BMC нет, он есть только у серверов.</a:t>
            </a:r>
            <a:br>
              <a:rPr lang="en-US"/>
            </a:br>
            <a:r>
              <a:rPr lang="en-US"/>
              <a:t>Если спросят про сеть: порт BMC обычно включают в отдельную сеть управления. Про ноутбуки: похожее есть в бизнес-ноутбуках с Intel vPro (AMT), у потребительского ноутбука его нет. Читает ли BMC ISO по частям или скачивает целиком, зависит от производителя. На живом BMC команды не проверял — они по документации Redfish.</a:t>
            </a:r>
            <a:br>
              <a:rPr lang="en-US"/>
            </a:br>
            <a:r>
              <a:rPr lang="en-US"/>
              <a:t>ПЕРЕХОД: «У ноутбука нет ни BMC, ни HTTPS в прошивке. Что остаётся — на следующем слайде».</a:t>
            </a:r>
            <a:endParaRPr lang="en-US"/>
          </a:p>
        </p:txBody>
      </p:sp>
      <p:sp>
        <p:nvSpPr>
          <p:cNvPr id="648484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5979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0793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0:40</a:t>
            </a:r>
            <a:br>
              <a:rPr lang="en-US"/>
            </a:br>
            <a:r>
              <a:rPr lang="en-US"/>
              <a:t>Итог сравнения. Ни один путь ноутбуку не подходит: прошивка не умеет HTTPS, свой DHCP в чужой сети не поставить, BMC у ноутбука нет. Поэтому то, чего не умеет прошивка, делает iPXE, который лежит на диске. Отсюда наш путь самый длинный.</a:t>
            </a:r>
            <a:br>
              <a:rPr lang="en-US"/>
            </a:br>
            <a:r>
              <a:rPr lang="en-US"/>
              <a:t>Цепочка та же, что на слайде 2, только впереди стирание: всё запускает команда osreboot-wipe. Под цепочкой — этапы со страницы состояния (та же полоса будет внизу следующих слайдов). Дальше по этапам, у каждого свой слайд: стирание — 10; как собран ipxe.efi — 11; сетевая загрузка — 12; HTTPS — 13; как собрана среда восстановления — 14; скачивание, проверка и запись — 15; восстановленная система — 16; секреты в TPM — 17.</a:t>
            </a:r>
            <a:br>
              <a:rPr lang="en-US"/>
            </a:br>
            <a:r>
              <a:rPr lang="en-US"/>
              <a:t>Внизу — что лежит на ноутбуке и что приходит с сервера. На ноутбуке только маленькие части: systemd-boot основной системы, ipxe.efi со встроенным сценарием и корневыми сертификатами ISRG, и переменная LoaderEntryDefault в NVRAM. Всё остальное каждый раз приходит с VPS по HTTPS: boot.ipxe, среда восстановления (UKI), образы и SHA256SUMS. Поэтому раздел EFI с iPXE должен уцелеть — это ограничение со слайда 22.</a:t>
            </a:r>
            <a:br>
              <a:rPr lang="en-US"/>
            </a:br>
            <a:r>
              <a:rPr lang="en-US"/>
              <a:t>ПЕРЕХОД: «Каждый этап — своя папка в репозитории».</a:t>
            </a:r>
            <a:endParaRPr lang="en-US"/>
          </a:p>
        </p:txBody>
      </p:sp>
      <p:sp>
        <p:nvSpPr>
          <p:cNvPr id="322636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4172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633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0:40</a:t>
            </a:r>
            <a:br>
              <a:rPr lang="en-US"/>
            </a:br>
            <a:r>
              <a:rPr lang="en-US"/>
              <a:t>Каждый этап цепочки — своя папка, номер в имени — порядок этапов.</a:t>
            </a:r>
            <a:br>
              <a:rPr lang="en-US"/>
            </a:br>
            <a:r>
              <a:rPr lang="en-US"/>
              <a:t>0-test-system — тестовая система, её собирает mkosi: её мы стираем и восстанавливаем, о ней слайд 16. 1-wipe — команда стирания osreboot-wipe; mkosi при сборке кладёт её в тестовую систему. 2-ipxe — сборка iPXE со встроенным сценарием osreboot.ipxe и сценарий boot.ipxe, который лежит на сервере. 3-recovery — среда восстановления: UKI, внутри Linux и скрипт osreboot-recovery.</a:t>
            </a:r>
            <a:br>
              <a:rPr lang="en-US"/>
            </a:br>
            <a:r>
              <a:rPr lang="en-US"/>
              <a:t>client — скрипт на sh и curl: heartbeat раз в секунду и отчёты об этапах; он есть и в тестовой системе, и в среде восстановления. server — сервер на VPS: код на Node.js в src, страница состояния в web, конфиги nginx, systemd и sshd в deploy.</a:t>
            </a:r>
            <a:br>
              <a:rPr lang="en-US"/>
            </a:br>
            <a:r>
              <a:rPr lang="en-US"/>
              <a:t>extra — всё, что в цепочке не участвует: рисунки для README, сайт статьи, эта презентация и замеры со скриптом серии прогонов.</a:t>
            </a:r>
            <a:br>
              <a:rPr lang="en-US"/>
            </a:br>
            <a:r>
              <a:rPr lang="en-US"/>
              <a:t>ПЕРЕХОД: «Дальше по ходу прогона: стирание, папка 1-wipe. Систему из папки 0 покажу в конце — её восстановление и есть результат».</a:t>
            </a:r>
            <a:endParaRPr lang="en-US"/>
          </a:p>
        </p:txBody>
      </p:sp>
      <p:sp>
        <p:nvSpPr>
          <p:cNvPr id="1791805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0251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2392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0:40</a:t>
            </a:r>
            <a:br>
              <a:rPr lang="en-US"/>
            </a:br>
            <a:r>
              <a:rPr lang="en-US"/>
              <a:t>Этап 1 — команда, которая на демо «уничтожает» систему. Номера строк настоящие.</a:t>
            </a:r>
            <a:br>
              <a:rPr lang="en-US"/>
            </a:br>
            <a:r>
              <a:rPr lang="en-US"/>
              <a:t>1: bootctl set-default записывает в NVRAM переменную LoaderEntryDefault. С ней каждая загрузка идёт в iPXE, даже если выдернуть питание. Две строки над ней снимают разовые BootNext и oneshot, чтобы они не перебили этот выбор. Снимает LoaderEntryDefault osreboot-netboot-off, когда восстановленная система запустилась (слайд 16).</a:t>
            </a:r>
            <a:br>
              <a:rPr lang="en-US"/>
            </a:br>
            <a:r>
              <a:rPr lang="en-US"/>
              <a:t>2: heartbeat останавливается, последние отчёты уходят до стирания: после него отправлять уже нечем.</a:t>
            </a:r>
            <a:br>
              <a:rPr lang="en-US"/>
            </a:br>
            <a:r>
              <a:rPr lang="en-US"/>
              <a:t>3: sysrq u — ядро переводит файловые системы в режим только чтения, чтобы они не записали свои данные поверх нулей. Потом dd пишет нули в начало обоих тестовых разделов.</a:t>
            </a:r>
            <a:br>
              <a:rPr lang="en-US"/>
            </a:br>
            <a:r>
              <a:rPr lang="en-US"/>
              <a:t>4: sysrq b — мгновенный сброс.</a:t>
            </a:r>
            <a:br>
              <a:rPr lang="en-US"/>
            </a:br>
            <a:r>
              <a:rPr lang="en-US"/>
              <a:t>Внизу — мой терминал: план, который печатает команда, и обрыв SSH — ноутбук ушёл в перезагрузку.</a:t>
            </a:r>
            <a:br>
              <a:rPr lang="en-US"/>
            </a:br>
            <a:r>
              <a:rPr lang="en-US"/>
              <a:t>Как снять shot-1-wipe: пока на ноутбуке тестовая система, в терминале ПК: ssh -p 2221 root@epsti.site osreboot-wipe --apply (это и есть начало прогона; без --apply команда только печатает план). Обрезать до строк от команды до «Connection … closed»: полоса широкая и низкая. Файл — private/deck/img/shot-1-wipe.png.</a:t>
            </a:r>
            <a:br>
              <a:rPr lang="en-US"/>
            </a:br>
            <a:r>
              <a:rPr lang="en-US"/>
              <a:t>ПЕРЕХОД: «После сброса systemd-boot видит LoaderEntryDefault и запускает iPXE. Откуда ipxe.efi на диске — следующий слайд».</a:t>
            </a:r>
            <a:endParaRPr lang="en-US"/>
          </a:p>
        </p:txBody>
      </p:sp>
      <p:sp>
        <p:nvSpPr>
          <p:cNvPr id="207547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067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20731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0:45</a:t>
            </a:r>
            <a:br>
              <a:rPr lang="en-US"/>
            </a:br>
            <a:r>
              <a:rPr lang="en-US"/>
              <a:t>Это подготовка, до любого прогона: откуда на ноутбуке ipxe.efi.</a:t>
            </a:r>
            <a:br>
              <a:rPr lang="en-US"/>
            </a:br>
            <a:r>
              <a:rPr lang="en-US"/>
              <a:t>1: iPXE собирается из исходников на закреплённом коммите — каждая сборка берёт ту же, проверенную версию.</a:t>
            </a:r>
            <a:br>
              <a:rPr lang="en-US"/>
            </a:br>
            <a:r>
              <a:rPr lang="en-US"/>
              <a:t>2: в файл general.h дописываются опции: HTTPS и команда nslookup. В обычной сборке iPXE их нет.</a:t>
            </a:r>
            <a:br>
              <a:rPr lang="en-US"/>
            </a:br>
            <a:r>
              <a:rPr lang="en-US"/>
              <a:t>3: sed подставляет адрес сервера вместо @HOST@ в сценарий osreboot.ipxe.</a:t>
            </a:r>
            <a:br>
              <a:rPr lang="en-US"/>
            </a:br>
            <a:r>
              <a:rPr lang="en-US"/>
              <a:t>4–5: make собирает bin-x86_64-efi/ipxe.efi. EMBED вшивает сценарий в сам файл, TRUST и CERT — корневые сертификаты Let's Encrypt ISRG X1 и X2: iPXE будет доверять только им. Получается программа EFI на 1,1 МБ; что у неё внутри — запасной слайд 25.</a:t>
            </a:r>
            <a:br>
              <a:rPr lang="en-US"/>
            </a:br>
            <a:r>
              <a:rPr lang="en-US"/>
              <a:t>6: install-ipxe.sh копирует её на ESP основной системы как /EFI/osreboot/ipxe.efi и добавляет пункт osreboot-ipxe.conf в меню systemd-boot. Сначала копия с .new, потом mv: если пропадёт питание, останется старый или новый файл, но не половина. По умолчанию по-прежнему грузится Arch.</a:t>
            </a:r>
            <a:br>
              <a:rPr lang="en-US"/>
            </a:br>
            <a:r>
              <a:rPr lang="en-US"/>
              <a:t>Справа — моё фото: меню systemd-boot на ноутбуке сразу после стирания. Выбран пункт iPXE: его сделал выбором по умолчанию osreboot-wipe.</a:t>
            </a:r>
            <a:br>
              <a:rPr lang="en-US"/>
            </a:br>
            <a:r>
              <a:rPr lang="en-US"/>
              <a:t>Как снять shot-2-menu: во время прогона, в первые секунды после стирания, сфотографировать экран ноутбука телефоном — меню видно 5 с (timeout 5 в loader.conf). Файл — private/deck/img/shot-2-menu.jpg.</a:t>
            </a:r>
            <a:br>
              <a:rPr lang="en-US"/>
            </a:br>
            <a:r>
              <a:rPr lang="en-US"/>
              <a:t>ПЕРЕХОД: «Что iPXE делает после запуска».</a:t>
            </a:r>
            <a:endParaRPr lang="en-US"/>
          </a:p>
        </p:txBody>
      </p:sp>
      <p:sp>
        <p:nvSpPr>
          <p:cNvPr id="2953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1129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3675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0:45</a:t>
            </a:r>
            <a:br>
              <a:rPr lang="en-US"/>
            </a:br>
            <a:r>
              <a:rPr lang="en-US"/>
              <a:t>Это подготовка, до любого прогона: откуда на ноутбуке ipxe.efi.</a:t>
            </a:r>
            <a:br>
              <a:rPr lang="en-US"/>
            </a:br>
            <a:r>
              <a:rPr lang="en-US"/>
              <a:t>1: iPXE собирается из исходников на закреплённом коммите — каждая сборка берёт ту же, проверенную версию.</a:t>
            </a:r>
            <a:br>
              <a:rPr lang="en-US"/>
            </a:br>
            <a:r>
              <a:rPr lang="en-US"/>
              <a:t>2: в файл general.h дописываются опции: HTTPS и команда nslookup. В обычной сборке iPXE их нет.</a:t>
            </a:r>
            <a:br>
              <a:rPr lang="en-US"/>
            </a:br>
            <a:r>
              <a:rPr lang="en-US"/>
              <a:t>3: sed подставляет адрес сервера вместо @HOST@ в сценарий osreboot.ipxe.</a:t>
            </a:r>
            <a:br>
              <a:rPr lang="en-US"/>
            </a:br>
            <a:r>
              <a:rPr lang="en-US"/>
              <a:t>4–5: make собирает bin-x86_64-efi/ipxe.efi. EMBED вшивает сценарий в сам файл, TRUST и CERT — корневые сертификаты Let's Encrypt ISRG X1 и X2: iPXE будет доверять только им. Получается программа EFI на 1,1 МБ; что у неё внутри — запасной слайд 25.</a:t>
            </a:r>
            <a:br>
              <a:rPr lang="en-US"/>
            </a:br>
            <a:r>
              <a:rPr lang="en-US"/>
              <a:t>6: install-ipxe.sh копирует её на ESP основной системы как /EFI/osreboot/ipxe.efi и добавляет пункт osreboot-ipxe.conf в меню systemd-boot. Сначала копия с .new, потом mv: если пропадёт питание, останется старый или новый файл, но не половина. По умолчанию по-прежнему грузится Arch.</a:t>
            </a:r>
            <a:br>
              <a:rPr lang="en-US"/>
            </a:br>
            <a:r>
              <a:rPr lang="en-US"/>
              <a:t>Справа — моё фото: меню systemd-boot на ноутбуке сразу после стирания. Выбран пункт iPXE: его сделал выбором по умолчанию osreboot-wipe.</a:t>
            </a:r>
            <a:br>
              <a:rPr lang="en-US"/>
            </a:br>
            <a:r>
              <a:rPr lang="en-US"/>
              <a:t>Как снять shot-2-menu: во время прогона, в первые секунды после стирания, сфотографировать экран ноутбука телефоном — меню видно 5 с (timeout 5 в loader.conf). Файл — private/deck/img/shot-2-menu.jpg.</a:t>
            </a:r>
            <a:br>
              <a:rPr lang="en-US"/>
            </a:br>
            <a:r>
              <a:rPr lang="en-US"/>
              <a:t>ПЕРЕХОД: «Что iPXE делает после запуска».</a:t>
            </a:r>
            <a:endParaRPr lang="en-US"/>
          </a:p>
        </p:txBody>
      </p:sp>
      <p:sp>
        <p:nvSpPr>
          <p:cNvPr id="18364233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AF90FA-3174-5557-AF6E-07D90063E9E8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327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867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1:00</a:t>
            </a:r>
            <a:br>
              <a:rPr lang="en-US"/>
            </a:br>
            <a:r>
              <a:rPr lang="en-US"/>
              <a:t>Шаг 1: iPXE говорит, какие шифры умеет.</a:t>
            </a:r>
            <a:br>
              <a:rPr lang="en-US"/>
            </a:br>
            <a:r>
              <a:rPr lang="en-US"/>
              <a:t>Шаг 2: сервер присылает цепочку сертификатов. iPXE проверяет, что она ведёт к корневому сертификату, который вшит в ipxe.efi — доверяем только ISRG X1 и X2 от Let's Encrypt. Ещё имя и сроки.</a:t>
            </a:r>
            <a:br>
              <a:rPr lang="en-US"/>
            </a:br>
            <a:r>
              <a:rPr lang="en-US"/>
              <a:t>Шаг 3: обмен ключами ECDHE. Обе стороны вычисляют общий ключ, по сети он не передаётся. Сервер подписывает свою часть закрытым ключом — так доказывает, что сертификат его, а не скопирован.</a:t>
            </a:r>
            <a:br>
              <a:rPr lang="en-US"/>
            </a:br>
            <a:r>
              <a:rPr lang="en-US"/>
              <a:t>Шаг 4: дальше каждая запись шифруется AES-256-GCM и несёт метку целостности: подмену любого байта заметят.</a:t>
            </a:r>
            <a:br>
              <a:rPr lang="en-US"/>
            </a:br>
            <a:r>
              <a:rPr lang="en-US"/>
              <a:t>Справа — то же рукопожатие с моим сервером, снятое openssl на ПК. 1: TLS 1.2 и набор шифров ECDHE-ECDSA-AES256-GCM-SHA384 — его nginx выбирает и для iPXE. 2: сертификат osreboot.epsti.site прошёл проверку, подпись ECDSA. 3: временный ключ X25519 для ECDHE.</a:t>
            </a:r>
            <a:br>
              <a:rPr lang="en-US"/>
            </a:br>
            <a:r>
              <a:rPr lang="en-US"/>
              <a:t>Поверх TLS ещё два слоя: SHA-256 образов и секреты (токен, SSH-ключи), зашифрованные TPM ноутбука, — слайд 17.</a:t>
            </a:r>
            <a:br>
              <a:rPr lang="en-US"/>
            </a:br>
            <a:r>
              <a:rPr lang="en-US"/>
              <a:t>ПЕРЕХОД: «Так iPXE скачивает osreboot-recovery.efi. Что это за файл и как его собирает mkosi».</a:t>
            </a:r>
            <a:endParaRPr lang="en-US"/>
          </a:p>
        </p:txBody>
      </p:sp>
      <p:sp>
        <p:nvSpPr>
          <p:cNvPr id="1706001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7838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0987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0:45</a:t>
            </a:r>
            <a:br>
              <a:rPr lang="en-US"/>
            </a:br>
            <a:r>
              <a:rPr lang="en-US"/>
              <a:t>Что за файл скачал iPXE. Среду восстановления собирает mkosi по файлу 3-recovery/mkosi.conf, одной командой mkosi -C 3-recovery build.</a:t>
            </a:r>
            <a:br>
              <a:rPr lang="en-US"/>
            </a:br>
            <a:r>
              <a:rPr lang="en-US"/>
              <a:t>1: Format=uki — результат один файл EFI, UKI. Справа его секции, размеры из objdump -h.</a:t>
            </a:r>
            <a:br>
              <a:rPr lang="en-US"/>
            </a:br>
            <a:r>
              <a:rPr lang="en-US"/>
              <a:t>2: Packages — пакеты Arch: ядро linux, bash, curl, zstd и остальное. Ядро идёт в секцию .linux, всё остальное — в .initrd.</a:t>
            </a:r>
            <a:br>
              <a:rPr lang="en-US"/>
            </a:br>
            <a:r>
              <a:rPr lang="en-US"/>
              <a:t>3: KernelModules — только нужные драйверы: сеть, TPM, NVMe, ext4. Среда скачивается при каждом восстановлении, поэтому лишнее не берём.</a:t>
            </a:r>
            <a:br>
              <a:rPr lang="en-US"/>
            </a:br>
            <a:r>
              <a:rPr lang="en-US"/>
              <a:t>4: ExtraTrees — файлы поверх пакетов: настройки сети и SSH из 0-test-system и клиент heartbeat.</a:t>
            </a:r>
            <a:br>
              <a:rPr lang="en-US"/>
            </a:br>
            <a:r>
              <a:rPr lang="en-US"/>
              <a:t>5: KernelCommandLine — командная строка ядра, секция .cmdline.</a:t>
            </a:r>
            <a:br>
              <a:rPr lang="en-US"/>
            </a:br>
            <a:r>
              <a:rPr lang="en-US"/>
              <a:t>Запуск: iPXE отдаёт файл прошивке, прошивка запускает заглушку systemd-stub из .text. Она достаёт из своих секций ядро, initrd и командную строку и запускает ядро. Ядро распаковывает .initrd в оперативную память и запускает systemd прямо оттуда: вся система живёт в памяти, поэтому диск можно перезаписывать целиком.</a:t>
            </a:r>
            <a:br>
              <a:rPr lang="en-US"/>
            </a:br>
            <a:r>
              <a:rPr lang="en-US"/>
              <a:t>ПЕРЕХОД: «Среда запущена в памяти. Что она делает с диском».</a:t>
            </a:r>
            <a:endParaRPr lang="en-US"/>
          </a:p>
        </p:txBody>
      </p:sp>
      <p:sp>
        <p:nvSpPr>
          <p:cNvPr id="1562429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94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2789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0:40</a:t>
            </a:r>
            <a:br>
              <a:rPr lang="en-US"/>
            </a:br>
            <a:r>
              <a:rPr lang="en-US"/>
              <a:t>Этапы 4–7 — скрипт osreboot-recovery. Он работает в Linux, который целиком в памяти: диск в это время пустой.</a:t>
            </a:r>
            <a:br>
              <a:rPr lang="en-US"/>
            </a:br>
            <a:r>
              <a:rPr lang="en-US"/>
              <a:t>1: fetch — это curl с таймаутами (функция на строке 67). С ключом -C - после обрыва он продолжает с того байта, где остановился, а цикл while повторяет, пока файл не скачан целиком. Поэтому выдернутый кабель только ставит восстановление на паузу.</a:t>
            </a:r>
            <a:br>
              <a:rPr lang="en-US"/>
            </a:br>
            <a:r>
              <a:rPr lang="en-US"/>
              <a:t>2: до записи SHA-256 каждого образа сверяется с SHA256SUMS. Не сошлось — образ качается заново, всего до трёх раз.</a:t>
            </a:r>
            <a:br>
              <a:rPr lang="en-US"/>
            </a:br>
            <a:r>
              <a:rPr lang="en-US"/>
              <a:t>3: zstd распаковывает образ, dd пишет его в раздел. Потом раздел читается обратно, и SHA-256 сверяется ещё раз.</a:t>
            </a:r>
            <a:br>
              <a:rPr lang="en-US"/>
            </a:br>
            <a:r>
              <a:rPr lang="en-US"/>
              <a:t>4: efibootmgr ставит BootNext: следующая загрузка, один раз, — в восстановленную систему.</a:t>
            </a:r>
            <a:br>
              <a:rPr lang="en-US"/>
            </a:br>
            <a:r>
              <a:rPr lang="en-US"/>
              <a:t>Справа — моё фото экрана: среда сама пишет, что делает.</a:t>
            </a:r>
            <a:br>
              <a:rPr lang="en-US"/>
            </a:br>
            <a:r>
              <a:rPr lang="en-US"/>
              <a:t>Как снять shot-4-recovery: в том же прогоне, примерно с 70-й секунды, сфотографировать экран, когда видны строки «== Downloading the images», «== Checking the images against SHA256SUMS», «== Writing the images». Файл — private/deck/img/shot-4-recovery.jpg.</a:t>
            </a:r>
            <a:br>
              <a:rPr lang="en-US"/>
            </a:br>
            <a:r>
              <a:rPr lang="en-US"/>
              <a:t>ПЕРЕХОД: «BootNext — и загружается восстановленная система».</a:t>
            </a:r>
            <a:endParaRPr lang="en-US"/>
          </a:p>
        </p:txBody>
      </p:sp>
      <p:sp>
        <p:nvSpPr>
          <p:cNvPr id="1221167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2DFBF0-5183-85DE-006C-7690712E7222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870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8282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0:40</a:t>
            </a:r>
            <a:br>
              <a:rPr lang="en-US"/>
            </a:br>
            <a:r>
              <a:rPr lang="en-US"/>
              <a:t>Этап 8 и папка 0. Восстановленная система — это тестовая система из 0-test-system. Её тоже собирает mkosi, только в другом формате.</a:t>
            </a:r>
            <a:br>
              <a:rPr lang="en-US"/>
            </a:br>
            <a:r>
              <a:rPr lang="en-US"/>
              <a:t>1: Format=disk и SplitArtifacts=partitions — mkosi делает диск с разделами и кладёт каждый раздел отдельным образом. Под кодом — что получилось: образы ESP (85 МБ) и корня (321 МБ) в zstd и SHA256SUMS. Эти три файла лежат на сервере, их и качает среда восстановления.</a:t>
            </a:r>
            <a:br>
              <a:rPr lang="en-US"/>
            </a:br>
            <a:r>
              <a:rPr lang="en-US"/>
              <a:t>2: на ESP — systemd-boot и UKI тестовой системы.</a:t>
            </a:r>
            <a:br>
              <a:rPr lang="en-US"/>
            </a:br>
            <a:r>
              <a:rPr lang="en-US"/>
              <a:t>3: ExtraTrees кладёт в систему клиент heartbeat и команду стирания из 1-wipe.</a:t>
            </a:r>
            <a:br>
              <a:rPr lang="en-US"/>
            </a:br>
            <a:r>
              <a:rPr lang="en-US"/>
              <a:t>4: корень ищется по метке раздела osreboot-root.</a:t>
            </a:r>
            <a:br>
              <a:rPr lang="en-US"/>
            </a:br>
            <a:r>
              <a:rPr lang="en-US"/>
              <a:t>При загрузке: BootNext запускает systemd-boot тестовой системы. Служба osreboot-netboot-off снимает LoaderEntryDefault, который поставил osreboot-wipe, — следующая загрузка уже не в iPXE. Клиент шлёт heartbeat с новым boot ID, и сервер закрывает простой.</a:t>
            </a:r>
            <a:br>
              <a:rPr lang="en-US"/>
            </a:br>
            <a:r>
              <a:rPr lang="en-US"/>
              <a:t>Справа — мой терминал: конец лога восстановления. Среда восстановления живёт в памяти, поэтому перед перезагрузкой сохранила свой лог на восстановленный диск.</a:t>
            </a:r>
            <a:br>
              <a:rPr lang="en-US"/>
            </a:br>
            <a:r>
              <a:rPr lang="en-US"/>
              <a:t>Как снять shot-5-log: после прогона, в терминале ПК: ssh -p 2221 root@epsti.site tail /var/log/osreboot/recovery.log (последняя строка «Restored in … s»). Лог от прошлого прогона уже лежит на тестовой системе, новый прогон для него не нужен. Файл — private/deck/img/shot-5-log.png.</a:t>
            </a:r>
            <a:br>
              <a:rPr lang="en-US"/>
            </a:br>
            <a:r>
              <a:rPr lang="en-US"/>
              <a:t>ПЕРЕХОД: «В публичных образах лежат токен и SSH-ключи. Почему их нельзя украсть».</a:t>
            </a:r>
            <a:endParaRPr lang="en-US"/>
          </a:p>
        </p:txBody>
      </p:sp>
      <p:sp>
        <p:nvSpPr>
          <p:cNvPr id="28033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7185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6243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0:30</a:t>
            </a:r>
            <a:br>
              <a:rPr lang="en-US"/>
            </a:br>
            <a:r>
              <a:rPr lang="en-US"/>
              <a:t>Ноутбук раз в секунду шлёт heartbeat с boot ID — случайным номером текущей загрузки.</a:t>
            </a:r>
            <a:br>
              <a:rPr lang="en-US"/>
            </a:br>
            <a:r>
              <a:rPr lang="en-US"/>
              <a:t>Три секунды без heartbeat — сервер открывает простой. Начало — последний сигнал по часам сервера, конец — первый сигнал с новым boot ID.</a:t>
            </a:r>
            <a:br>
              <a:rPr lang="en-US"/>
            </a:br>
            <a:r>
              <a:rPr lang="en-US"/>
              <a:t>Таймаут влияет только на то, когда простой станет виден, а не на его длину.</a:t>
            </a:r>
            <a:br>
              <a:rPr lang="en-US"/>
            </a:br>
            <a:r>
              <a:rPr lang="en-US"/>
              <a:t>Спроси зал про перезагрузку за 2 с. Ответ: да, заметит — boot ID поменяется.</a:t>
            </a:r>
            <a:br>
              <a:rPr lang="en-US"/>
            </a:br>
            <a:r>
              <a:rPr lang="en-US"/>
              <a:t>ПЕРЕХОД: «Что показали прогоны».</a:t>
            </a:r>
            <a:endParaRPr lang="en-US"/>
          </a:p>
        </p:txBody>
      </p:sp>
      <p:sp>
        <p:nvSpPr>
          <p:cNvPr id="19689434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6997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3659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ВРЕМЯ: 0:30</a:t>
            </a:r>
            <a:br>
              <a:rPr lang="en-US"/>
            </a:br>
            <a:r>
              <a:rPr lang="en-US"/>
              <a:t>Три итога: работает; около 165 секунд; безопасно и измеримо.</a:t>
            </a:r>
            <a:br>
              <a:rPr lang="en-US"/>
            </a:br>
            <a:r>
              <a:rPr lang="en-US"/>
              <a:t>Финальная мысль: путь самый длинный, но это единственный путь, который работает на этом ноутбуке в чужой сети и с HTTPS.</a:t>
            </a:r>
            <a:endParaRPr lang="en-US"/>
          </a:p>
        </p:txBody>
      </p:sp>
      <p:sp>
        <p:nvSpPr>
          <p:cNvPr id="9421925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4901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65660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Вопросы. Запасные слайды открываются по ссылкам справа, с каждого есть ссылка «← к вопросам».</a:t>
            </a:r>
            <a:br>
              <a:rPr lang="en-US"/>
            </a:br>
            <a:r>
              <a:rPr lang="en-US"/>
              <a:t>Частые вопросы: почему не PXE, HTTP, HTTPS Boot или BMC (слайды 3–7), что будет, если стереть весь диск (ограничение 1).</a:t>
            </a:r>
            <a:endParaRPr lang="en-US"/>
          </a:p>
        </p:txBody>
      </p:sp>
      <p:sp>
        <p:nvSpPr>
          <p:cNvPr id="662054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165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57263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Если спросят, что такое .efi и где там Linux. ipxe.efi — отдельная программа на 1,1 МБ; UKI — заглушка systemd-stub плюс ядро и архив системы как секции одного файла.</a:t>
            </a:r>
            <a:endParaRPr lang="en-US"/>
          </a:p>
        </p:txBody>
      </p:sp>
      <p:sp>
        <p:nvSpPr>
          <p:cNvPr id="1868663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637832" name="Text 0"/>
          <p:cNvSpPr/>
          <p:nvPr>
            <p:ph type="title" idx="100" hasCustomPrompt="1"/>
          </p:nvPr>
        </p:nvSpPr>
        <p:spPr bwMode="auto">
          <a:xfrm>
            <a:off x="640080" y="160020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6000"/>
          </a:p>
        </p:txBody>
      </p:sp>
      <p:sp>
        <p:nvSpPr>
          <p:cNvPr id="2048398095" name="Text 0"/>
          <p:cNvSpPr/>
          <p:nvPr>
            <p:ph type="body" idx="101" hasCustomPrompt="1"/>
          </p:nvPr>
        </p:nvSpPr>
        <p:spPr bwMode="auto">
          <a:xfrm>
            <a:off x="640080" y="288036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24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13621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2800"/>
          </a:p>
        </p:txBody>
      </p:sp>
      <p:sp>
        <p:nvSpPr>
          <p:cNvPr id="1043735412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ACKUP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650464" name="Text 0"/>
          <p:cNvSpPr/>
          <p:nvPr/>
        </p:nvSpPr>
        <p:spPr bwMode="auto"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Запасной слайд</a:t>
            </a:r>
            <a:endParaRPr lang="en-US" sz="1100"/>
          </a:p>
        </p:txBody>
      </p:sp>
      <p:sp>
        <p:nvSpPr>
          <p:cNvPr id="1603592007" name="Text 1"/>
          <p:cNvSpPr/>
          <p:nvPr>
            <p:ph type="title" idx="101" hasCustomPrompt="1"/>
          </p:nvPr>
        </p:nvSpPr>
        <p:spPr bwMode="auto">
          <a:xfrm>
            <a:off x="640080" y="411480"/>
            <a:ext cx="889985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2800"/>
          </a:p>
        </p:txBody>
      </p:sp>
      <p:sp>
        <p:nvSpPr>
          <p:cNvPr id="193060826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897195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slide" Target="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722921" name="Text 0"/>
          <p:cNvSpPr/>
          <p:nvPr>
            <p:ph type="title" idx="100" hasCustomPrompt="1"/>
          </p:nvPr>
        </p:nvSpPr>
        <p:spPr bwMode="auto">
          <a:xfrm>
            <a:off x="640080" y="1600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6000" b="1">
                <a:solidFill>
                  <a:schemeClr val="tx1"/>
                </a:solidFill>
              </a:rPr>
              <a:t>OSreboot</a:t>
            </a:r>
            <a:endParaRPr lang="en-US" sz="6000"/>
          </a:p>
        </p:txBody>
      </p:sp>
      <p:sp>
        <p:nvSpPr>
          <p:cNvPr id="1141516812" name="Text 0"/>
          <p:cNvSpPr/>
          <p:nvPr>
            <p:ph type="body" idx="101" hasCustomPrompt="1"/>
          </p:nvPr>
        </p:nvSpPr>
        <p:spPr bwMode="auto">
          <a:xfrm>
            <a:off x="64008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400">
                <a:solidFill>
                  <a:schemeClr val="accent4"/>
                </a:solidFill>
              </a:rPr>
              <a:t>Ноутбук сам восстанавливает стёртую систему через интернет</a:t>
            </a:r>
            <a:endParaRPr lang="en-US" sz="2400"/>
          </a:p>
        </p:txBody>
      </p:sp>
      <p:sp>
        <p:nvSpPr>
          <p:cNvPr id="1344165332" name="Text 2"/>
          <p:cNvSpPr txBox="1"/>
          <p:nvPr/>
        </p:nvSpPr>
        <p:spPr bwMode="auto">
          <a:xfrm>
            <a:off x="64008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800">
                <a:solidFill>
                  <a:schemeClr val="tx1"/>
                </a:solidFill>
              </a:rPr>
              <a:t>Рыжов Иван, группа ВПИ 26</a:t>
            </a:r>
            <a:endParaRPr lang="en-US" sz="1800"/>
          </a:p>
        </p:txBody>
      </p:sp>
      <p:sp>
        <p:nvSpPr>
          <p:cNvPr id="106408213" name="Text 3"/>
          <p:cNvSpPr txBox="1"/>
          <p:nvPr/>
        </p:nvSpPr>
        <p:spPr bwMode="auto">
          <a:xfrm>
            <a:off x="640080" y="5943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4"/>
                </a:solidFill>
              </a:rPr>
              <a:t>2026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001253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Как загрузить систему без диска?</a:t>
            </a:r>
            <a:endParaRPr lang="en-US" sz="2800"/>
          </a:p>
        </p:txBody>
      </p:sp>
      <p:sp>
        <p:nvSpPr>
          <p:cNvPr id="1532639093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Условия: без человека · чужая сеть · система на диске стёрта</a:t>
            </a:r>
            <a:endParaRPr lang="en-US" sz="1500"/>
          </a:p>
        </p:txBody>
      </p:sp>
      <p:sp>
        <p:nvSpPr>
          <p:cNvPr id="1169721205" name="Shape 2"/>
          <p:cNvSpPr/>
          <p:nvPr/>
        </p:nvSpPr>
        <p:spPr bwMode="auto">
          <a:xfrm>
            <a:off x="640080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583763570" name="Text 3"/>
          <p:cNvSpPr txBox="1"/>
          <p:nvPr/>
        </p:nvSpPr>
        <p:spPr bwMode="auto">
          <a:xfrm>
            <a:off x="786384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прошивка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UEFI</a:t>
            </a:r>
            <a:endParaRPr lang="en-US" sz="1200"/>
          </a:p>
        </p:txBody>
      </p:sp>
      <p:sp>
        <p:nvSpPr>
          <p:cNvPr id="1784866896" name="Shape 4"/>
          <p:cNvSpPr/>
          <p:nvPr/>
        </p:nvSpPr>
        <p:spPr bwMode="auto">
          <a:xfrm>
            <a:off x="1991449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11515288" name="Text 5"/>
          <p:cNvSpPr txBox="1"/>
          <p:nvPr/>
        </p:nvSpPr>
        <p:spPr bwMode="auto">
          <a:xfrm>
            <a:off x="2137753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systemd-boot</a:t>
            </a:r>
            <a:endParaRPr lang="en-US" sz="1200"/>
          </a:p>
        </p:txBody>
      </p:sp>
      <p:sp>
        <p:nvSpPr>
          <p:cNvPr id="350198582" name="Shape 6"/>
          <p:cNvSpPr/>
          <p:nvPr/>
        </p:nvSpPr>
        <p:spPr bwMode="auto">
          <a:xfrm>
            <a:off x="3342818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170729915" name="Text 7"/>
          <p:cNvSpPr txBox="1"/>
          <p:nvPr/>
        </p:nvSpPr>
        <p:spPr bwMode="auto">
          <a:xfrm>
            <a:off x="3489122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iPXE</a:t>
            </a:r>
            <a:endParaRPr lang="en-US" sz="1200"/>
          </a:p>
        </p:txBody>
      </p:sp>
      <p:sp>
        <p:nvSpPr>
          <p:cNvPr id="1379156746" name="Shape 8"/>
          <p:cNvSpPr/>
          <p:nvPr/>
        </p:nvSpPr>
        <p:spPr bwMode="auto">
          <a:xfrm>
            <a:off x="4694187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171198407" name="Text 9"/>
          <p:cNvSpPr txBox="1"/>
          <p:nvPr/>
        </p:nvSpPr>
        <p:spPr bwMode="auto">
          <a:xfrm>
            <a:off x="4840490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DHCP и DNS</a:t>
            </a:r>
            <a:endParaRPr lang="en-US" sz="1200"/>
          </a:p>
        </p:txBody>
      </p:sp>
      <p:sp>
        <p:nvSpPr>
          <p:cNvPr id="542503292" name="Shape 10"/>
          <p:cNvSpPr/>
          <p:nvPr/>
        </p:nvSpPr>
        <p:spPr bwMode="auto">
          <a:xfrm>
            <a:off x="6045556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91622662" name="Text 11"/>
          <p:cNvSpPr txBox="1"/>
          <p:nvPr/>
        </p:nvSpPr>
        <p:spPr bwMode="auto">
          <a:xfrm>
            <a:off x="6191860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HTTPS</a:t>
            </a:r>
            <a:endParaRPr lang="en-US" sz="1200"/>
          </a:p>
        </p:txBody>
      </p:sp>
      <p:sp>
        <p:nvSpPr>
          <p:cNvPr id="290707456" name="Shape 12"/>
          <p:cNvSpPr/>
          <p:nvPr/>
        </p:nvSpPr>
        <p:spPr bwMode="auto">
          <a:xfrm>
            <a:off x="7396925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000356957" name="Text 13"/>
          <p:cNvSpPr txBox="1"/>
          <p:nvPr/>
        </p:nvSpPr>
        <p:spPr bwMode="auto">
          <a:xfrm>
            <a:off x="7543229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Linux запущен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в оперативке</a:t>
            </a:r>
            <a:endParaRPr lang="en-US" sz="1200"/>
          </a:p>
        </p:txBody>
      </p:sp>
      <p:sp>
        <p:nvSpPr>
          <p:cNvPr id="433922895" name="Shape 14"/>
          <p:cNvSpPr/>
          <p:nvPr/>
        </p:nvSpPr>
        <p:spPr bwMode="auto">
          <a:xfrm>
            <a:off x="8748293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925999417" name="Text 15"/>
          <p:cNvSpPr txBox="1"/>
          <p:nvPr/>
        </p:nvSpPr>
        <p:spPr bwMode="auto">
          <a:xfrm>
            <a:off x="8894597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запись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на диск</a:t>
            </a:r>
            <a:endParaRPr lang="en-US" sz="1200"/>
          </a:p>
        </p:txBody>
      </p:sp>
      <p:sp>
        <p:nvSpPr>
          <p:cNvPr id="2139805036" name="Shape 16"/>
          <p:cNvSpPr/>
          <p:nvPr/>
        </p:nvSpPr>
        <p:spPr bwMode="auto">
          <a:xfrm>
            <a:off x="10099662" y="1627632"/>
            <a:ext cx="1451953" cy="566928"/>
          </a:xfrm>
          <a:custGeom>
            <a:avLst/>
            <a:gdLst/>
            <a:ahLst/>
            <a:cxnLst/>
            <a:rect l="l" t="t" r="r" b="b"/>
            <a:pathLst>
              <a:path w="1451953" h="566928" fill="norm" stroke="1" extrusionOk="0">
                <a:moveTo>
                  <a:pt x="0" y="0"/>
                </a:moveTo>
                <a:lnTo>
                  <a:pt x="1305649" y="0"/>
                </a:lnTo>
                <a:lnTo>
                  <a:pt x="1451953" y="283464"/>
                </a:lnTo>
                <a:lnTo>
                  <a:pt x="1305649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2"/>
          </a:solidFill>
          <a:ln/>
        </p:spPr>
      </p:sp>
      <p:sp>
        <p:nvSpPr>
          <p:cNvPr id="918920305" name="Text 17"/>
          <p:cNvSpPr txBox="1"/>
          <p:nvPr/>
        </p:nvSpPr>
        <p:spPr bwMode="auto">
          <a:xfrm>
            <a:off x="10245966" y="1627632"/>
            <a:ext cx="1159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загрузка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chemeClr val="bg1"/>
                </a:solidFill>
              </a:rPr>
              <a:t>системы</a:t>
            </a:r>
            <a:endParaRPr lang="en-US" sz="1200"/>
          </a:p>
        </p:txBody>
      </p:sp>
      <p:sp>
        <p:nvSpPr>
          <p:cNvPr id="1357200367" name="Shape 18"/>
          <p:cNvSpPr/>
          <p:nvPr/>
        </p:nvSpPr>
        <p:spPr bwMode="auto">
          <a:xfrm>
            <a:off x="7464533" y="1536192"/>
            <a:ext cx="4019473" cy="64008"/>
          </a:xfrm>
          <a:custGeom>
            <a:avLst/>
            <a:gdLst/>
            <a:ahLst/>
            <a:cxnLst/>
            <a:rect l="l" t="t" r="r" b="b"/>
            <a:pathLst>
              <a:path w="4019474" h="64008" fill="norm" stroke="1" extrusionOk="0">
                <a:moveTo>
                  <a:pt x="0" y="64008"/>
                </a:moveTo>
                <a:lnTo>
                  <a:pt x="0" y="27432"/>
                </a:lnTo>
                <a:quadBezTo>
                  <a:pt x="0" y="0"/>
                  <a:pt x="27432" y="0"/>
                </a:quadBezTo>
                <a:lnTo>
                  <a:pt x="3992042" y="0"/>
                </a:lnTo>
                <a:quadBezTo>
                  <a:pt x="4019474" y="0"/>
                  <a:pt x="4019474" y="27432"/>
                </a:quadBezTo>
                <a:lnTo>
                  <a:pt x="4019474" y="64008"/>
                </a:lnTo>
              </a:path>
            </a:pathLst>
          </a:cu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306191793" name="Text 19"/>
          <p:cNvSpPr txBox="1"/>
          <p:nvPr/>
        </p:nvSpPr>
        <p:spPr bwMode="auto">
          <a:xfrm>
            <a:off x="7464533" y="1261872"/>
            <a:ext cx="40194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У всех путей одинаково</a:t>
            </a:r>
            <a:endParaRPr lang="en-US" sz="1200"/>
          </a:p>
        </p:txBody>
      </p:sp>
      <p:sp>
        <p:nvSpPr>
          <p:cNvPr id="1526697223" name="Shape 20"/>
          <p:cNvSpPr/>
          <p:nvPr/>
        </p:nvSpPr>
        <p:spPr bwMode="auto">
          <a:xfrm>
            <a:off x="6771532" y="2231136"/>
            <a:ext cx="0" cy="3191256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325366041" name="Text 21"/>
          <p:cNvSpPr txBox="1"/>
          <p:nvPr/>
        </p:nvSpPr>
        <p:spPr bwMode="auto">
          <a:xfrm>
            <a:off x="716832" y="2267712"/>
            <a:ext cx="1298448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встроена в плату</a:t>
            </a:r>
            <a:endParaRPr lang="en-US" sz="1100"/>
          </a:p>
        </p:txBody>
      </p:sp>
      <p:sp>
        <p:nvSpPr>
          <p:cNvPr id="2118457134" name="Text 22"/>
          <p:cNvSpPr txBox="1"/>
          <p:nvPr/>
        </p:nvSpPr>
        <p:spPr bwMode="auto">
          <a:xfrm>
            <a:off x="2068201" y="2267712"/>
            <a:ext cx="1298448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переключатель: Arch или iPXE</a:t>
            </a:r>
            <a:endParaRPr lang="en-US" sz="1100"/>
          </a:p>
        </p:txBody>
      </p:sp>
      <p:sp>
        <p:nvSpPr>
          <p:cNvPr id="24988227" name="Text 23"/>
          <p:cNvSpPr txBox="1"/>
          <p:nvPr/>
        </p:nvSpPr>
        <p:spPr bwMode="auto">
          <a:xfrm>
            <a:off x="3419570" y="2267712"/>
            <a:ext cx="1298448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сетевой загрузчик</a:t>
            </a:r>
            <a:endParaRPr lang="en-US" sz="1100"/>
          </a:p>
        </p:txBody>
      </p:sp>
      <p:sp>
        <p:nvSpPr>
          <p:cNvPr id="242085640" name="Text 24"/>
          <p:cNvSpPr txBox="1"/>
          <p:nvPr/>
        </p:nvSpPr>
        <p:spPr bwMode="auto">
          <a:xfrm>
            <a:off x="4770939" y="2267712"/>
            <a:ext cx="1298448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IP по DHCP, IP сервера по DNS</a:t>
            </a:r>
            <a:endParaRPr lang="en-US" sz="1100"/>
          </a:p>
        </p:txBody>
      </p:sp>
      <p:sp>
        <p:nvSpPr>
          <p:cNvPr id="2122013142" name="Text 25"/>
          <p:cNvSpPr txBox="1"/>
          <p:nvPr/>
        </p:nvSpPr>
        <p:spPr bwMode="auto">
          <a:xfrm>
            <a:off x="6122308" y="2267712"/>
            <a:ext cx="1298448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UKI с проверкой сертификата</a:t>
            </a:r>
            <a:endParaRPr lang="en-US" sz="1100"/>
          </a:p>
        </p:txBody>
      </p:sp>
      <p:sp>
        <p:nvSpPr>
          <p:cNvPr id="2086511823" name="Text 26"/>
          <p:cNvSpPr txBox="1"/>
          <p:nvPr/>
        </p:nvSpPr>
        <p:spPr bwMode="auto">
          <a:xfrm>
            <a:off x="7473677" y="2267712"/>
            <a:ext cx="1298448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среда восстановления</a:t>
            </a:r>
            <a:endParaRPr lang="en-US" sz="1100"/>
          </a:p>
        </p:txBody>
      </p:sp>
      <p:sp>
        <p:nvSpPr>
          <p:cNvPr id="15567339" name="Text 27"/>
          <p:cNvSpPr txBox="1"/>
          <p:nvPr/>
        </p:nvSpPr>
        <p:spPr bwMode="auto">
          <a:xfrm>
            <a:off x="8825046" y="2267712"/>
            <a:ext cx="1298448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образы с VPS, SHA-256, dd</a:t>
            </a:r>
            <a:endParaRPr lang="en-US" sz="1100"/>
          </a:p>
        </p:txBody>
      </p:sp>
      <p:sp>
        <p:nvSpPr>
          <p:cNvPr id="463880417" name="Text 28"/>
          <p:cNvSpPr txBox="1"/>
          <p:nvPr/>
        </p:nvSpPr>
        <p:spPr bwMode="auto">
          <a:xfrm>
            <a:off x="640080" y="2770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4"/>
                </a:solidFill>
              </a:rPr>
              <a:t>Другие пути</a:t>
            </a:r>
            <a:endParaRPr lang="en-US" sz="1400"/>
          </a:p>
        </p:txBody>
      </p:sp>
      <p:sp>
        <p:nvSpPr>
          <p:cNvPr id="534287102" name="Text 29"/>
          <p:cNvSpPr txBox="1"/>
          <p:nvPr/>
        </p:nvSpPr>
        <p:spPr bwMode="auto">
          <a:xfrm>
            <a:off x="777240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4"/>
                </a:solidFill>
              </a:rPr>
              <a:t>Почему не подошёл</a:t>
            </a:r>
            <a:endParaRPr lang="en-US" sz="1400"/>
          </a:p>
        </p:txBody>
      </p:sp>
      <p:sp>
        <p:nvSpPr>
          <p:cNvPr id="351099240" name="Text 30"/>
          <p:cNvSpPr txBox="1"/>
          <p:nvPr/>
        </p:nvSpPr>
        <p:spPr bwMode="auto">
          <a:xfrm>
            <a:off x="3411950" y="2770632"/>
            <a:ext cx="1313687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сетевой клиент</a:t>
            </a:r>
            <a:endParaRPr lang="en-US" sz="1200"/>
          </a:p>
        </p:txBody>
      </p:sp>
      <p:sp>
        <p:nvSpPr>
          <p:cNvPr id="754083706" name="Text 31"/>
          <p:cNvSpPr txBox="1"/>
          <p:nvPr/>
        </p:nvSpPr>
        <p:spPr bwMode="auto">
          <a:xfrm>
            <a:off x="6074302" y="2770632"/>
            <a:ext cx="13944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источник образа</a:t>
            </a:r>
            <a:endParaRPr lang="en-US" sz="1200"/>
          </a:p>
        </p:txBody>
      </p:sp>
      <p:sp>
        <p:nvSpPr>
          <p:cNvPr id="2078710858" name="Shape 32"/>
          <p:cNvSpPr/>
          <p:nvPr/>
        </p:nvSpPr>
        <p:spPr bwMode="auto">
          <a:xfrm>
            <a:off x="640080" y="3154680"/>
            <a:ext cx="109115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530801261" name="Text 33"/>
          <p:cNvSpPr txBox="1"/>
          <p:nvPr/>
        </p:nvSpPr>
        <p:spPr bwMode="auto">
          <a:xfrm>
            <a:off x="640080" y="31546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PXE</a:t>
            </a:r>
            <a:endParaRPr lang="en-US" sz="1500"/>
          </a:p>
        </p:txBody>
      </p:sp>
      <p:sp>
        <p:nvSpPr>
          <p:cNvPr id="821443742" name="Shape 34"/>
          <p:cNvSpPr/>
          <p:nvPr/>
        </p:nvSpPr>
        <p:spPr bwMode="auto">
          <a:xfrm>
            <a:off x="5420163" y="3438144"/>
            <a:ext cx="1351369" cy="0"/>
          </a:xfrm>
          <a:prstGeom prst="line">
            <a:avLst/>
          </a:prstGeom>
          <a:noFill/>
          <a:ln w="19050">
            <a:solidFill>
              <a:srgbClr val="9AA1A9"/>
            </a:solidFill>
            <a:prstDash val="solid"/>
          </a:ln>
        </p:spPr>
      </p:sp>
      <p:sp>
        <p:nvSpPr>
          <p:cNvPr id="1554078376" name="Text 35"/>
          <p:cNvSpPr txBox="1"/>
          <p:nvPr/>
        </p:nvSpPr>
        <p:spPr bwMode="auto">
          <a:xfrm>
            <a:off x="4901240" y="3282696"/>
            <a:ext cx="1037844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rgbClr val="9AA1A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свой DHCP</a:t>
            </a:r>
            <a:endParaRPr lang="en-US" sz="1200"/>
          </a:p>
        </p:txBody>
      </p:sp>
      <p:sp>
        <p:nvSpPr>
          <p:cNvPr id="389333039" name="Text 36"/>
          <p:cNvSpPr txBox="1"/>
          <p:nvPr/>
        </p:nvSpPr>
        <p:spPr bwMode="auto">
          <a:xfrm>
            <a:off x="6171838" y="3282696"/>
            <a:ext cx="119938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rgbClr val="9AA1A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TFTP-сервер</a:t>
            </a:r>
            <a:endParaRPr lang="en-US" sz="1200"/>
          </a:p>
        </p:txBody>
      </p:sp>
      <p:sp>
        <p:nvSpPr>
          <p:cNvPr id="1611298760" name="Text 37"/>
          <p:cNvSpPr txBox="1"/>
          <p:nvPr/>
        </p:nvSpPr>
        <p:spPr bwMode="auto">
          <a:xfrm>
            <a:off x="7772400" y="315468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accent3"/>
                </a:solidFill>
              </a:rPr>
              <a:t>×</a:t>
            </a:r>
            <a:endParaRPr lang="en-US" sz="1800"/>
          </a:p>
        </p:txBody>
      </p:sp>
      <p:sp>
        <p:nvSpPr>
          <p:cNvPr id="1297905176" name="Text 38"/>
          <p:cNvSpPr txBox="1"/>
          <p:nvPr/>
        </p:nvSpPr>
        <p:spPr bwMode="auto">
          <a:xfrm>
            <a:off x="8065008" y="3154680"/>
            <a:ext cx="3486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tx1"/>
                </a:solidFill>
              </a:rPr>
              <a:t>только в локальной сети и без шифрования</a:t>
            </a:r>
            <a:endParaRPr lang="en-US" sz="1350"/>
          </a:p>
        </p:txBody>
      </p:sp>
      <p:sp>
        <p:nvSpPr>
          <p:cNvPr id="1664467682" name="Shape 39"/>
          <p:cNvSpPr/>
          <p:nvPr/>
        </p:nvSpPr>
        <p:spPr bwMode="auto">
          <a:xfrm>
            <a:off x="640080" y="3721608"/>
            <a:ext cx="109115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35112797" name="Text 40"/>
          <p:cNvSpPr txBox="1"/>
          <p:nvPr/>
        </p:nvSpPr>
        <p:spPr bwMode="auto">
          <a:xfrm>
            <a:off x="640080" y="37216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UEFI HTTP Boot</a:t>
            </a:r>
            <a:endParaRPr lang="en-US" sz="1500"/>
          </a:p>
        </p:txBody>
      </p:sp>
      <p:sp>
        <p:nvSpPr>
          <p:cNvPr id="1167116046" name="Shape 41"/>
          <p:cNvSpPr/>
          <p:nvPr/>
        </p:nvSpPr>
        <p:spPr bwMode="auto">
          <a:xfrm>
            <a:off x="5420163" y="4005072"/>
            <a:ext cx="1351369" cy="0"/>
          </a:xfrm>
          <a:prstGeom prst="line">
            <a:avLst/>
          </a:prstGeom>
          <a:noFill/>
          <a:ln w="19050">
            <a:solidFill>
              <a:srgbClr val="9AA1A9"/>
            </a:solidFill>
            <a:prstDash val="solid"/>
          </a:ln>
        </p:spPr>
      </p:sp>
      <p:sp>
        <p:nvSpPr>
          <p:cNvPr id="1162159751" name="Text 42"/>
          <p:cNvSpPr txBox="1"/>
          <p:nvPr/>
        </p:nvSpPr>
        <p:spPr bwMode="auto">
          <a:xfrm>
            <a:off x="4901240" y="3849624"/>
            <a:ext cx="1037844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rgbClr val="9AA1A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свой DHCP</a:t>
            </a:r>
            <a:endParaRPr lang="en-US" sz="1200"/>
          </a:p>
        </p:txBody>
      </p:sp>
      <p:sp>
        <p:nvSpPr>
          <p:cNvPr id="203464079" name="Text 43"/>
          <p:cNvSpPr txBox="1"/>
          <p:nvPr/>
        </p:nvSpPr>
        <p:spPr bwMode="auto">
          <a:xfrm>
            <a:off x="6171838" y="3849624"/>
            <a:ext cx="119938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rgbClr val="9AA1A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HTTP-сервер</a:t>
            </a:r>
            <a:endParaRPr lang="en-US" sz="1200"/>
          </a:p>
        </p:txBody>
      </p:sp>
      <p:sp>
        <p:nvSpPr>
          <p:cNvPr id="594643191" name="Text 44"/>
          <p:cNvSpPr txBox="1"/>
          <p:nvPr/>
        </p:nvSpPr>
        <p:spPr bwMode="auto">
          <a:xfrm>
            <a:off x="7772400" y="372160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accent3"/>
                </a:solidFill>
              </a:rPr>
              <a:t>×</a:t>
            </a:r>
            <a:endParaRPr lang="en-US" sz="1800"/>
          </a:p>
        </p:txBody>
      </p:sp>
      <p:sp>
        <p:nvSpPr>
          <p:cNvPr id="1668704251" name="Text 45"/>
          <p:cNvSpPr txBox="1"/>
          <p:nvPr/>
        </p:nvSpPr>
        <p:spPr bwMode="auto">
          <a:xfrm>
            <a:off x="8065008" y="3721608"/>
            <a:ext cx="3486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tx1"/>
                </a:solidFill>
              </a:rPr>
              <a:t>нужен свой DHCP, файл можно подменить</a:t>
            </a:r>
            <a:endParaRPr lang="en-US" sz="1350"/>
          </a:p>
        </p:txBody>
      </p:sp>
      <p:sp>
        <p:nvSpPr>
          <p:cNvPr id="1330439044" name="Shape 46"/>
          <p:cNvSpPr/>
          <p:nvPr/>
        </p:nvSpPr>
        <p:spPr bwMode="auto">
          <a:xfrm>
            <a:off x="640080" y="4288536"/>
            <a:ext cx="109115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0054947" name="Text 47"/>
          <p:cNvSpPr txBox="1"/>
          <p:nvPr/>
        </p:nvSpPr>
        <p:spPr bwMode="auto">
          <a:xfrm>
            <a:off x="640080" y="42885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UEFI HTTPS Boot</a:t>
            </a:r>
            <a:endParaRPr lang="en-US" sz="1500"/>
          </a:p>
        </p:txBody>
      </p:sp>
      <p:sp>
        <p:nvSpPr>
          <p:cNvPr id="2095081502" name="Text 48"/>
          <p:cNvSpPr txBox="1"/>
          <p:nvPr/>
        </p:nvSpPr>
        <p:spPr bwMode="auto">
          <a:xfrm>
            <a:off x="6131452" y="4416552"/>
            <a:ext cx="1280160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rgbClr val="9AA1A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HTTPS-сервер</a:t>
            </a:r>
            <a:endParaRPr lang="en-US" sz="1200"/>
          </a:p>
        </p:txBody>
      </p:sp>
      <p:sp>
        <p:nvSpPr>
          <p:cNvPr id="553292483" name="Text 49"/>
          <p:cNvSpPr txBox="1"/>
          <p:nvPr/>
        </p:nvSpPr>
        <p:spPr bwMode="auto">
          <a:xfrm>
            <a:off x="7772400" y="428853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accent3"/>
                </a:solidFill>
              </a:rPr>
              <a:t>×</a:t>
            </a:r>
            <a:endParaRPr lang="en-US" sz="1800"/>
          </a:p>
        </p:txBody>
      </p:sp>
      <p:sp>
        <p:nvSpPr>
          <p:cNvPr id="1375482261" name="Text 50"/>
          <p:cNvSpPr txBox="1"/>
          <p:nvPr/>
        </p:nvSpPr>
        <p:spPr bwMode="auto">
          <a:xfrm>
            <a:off x="8065008" y="4288536"/>
            <a:ext cx="3486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tx1"/>
                </a:solidFill>
              </a:rPr>
              <a:t>прошивка ноутбука не поддерживает HTTPS</a:t>
            </a:r>
            <a:endParaRPr lang="en-US" sz="1350"/>
          </a:p>
        </p:txBody>
      </p:sp>
      <p:sp>
        <p:nvSpPr>
          <p:cNvPr id="1773746744" name="Shape 51"/>
          <p:cNvSpPr/>
          <p:nvPr/>
        </p:nvSpPr>
        <p:spPr bwMode="auto">
          <a:xfrm>
            <a:off x="640080" y="4855464"/>
            <a:ext cx="109115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40276222" name="Text 52"/>
          <p:cNvSpPr txBox="1"/>
          <p:nvPr/>
        </p:nvSpPr>
        <p:spPr bwMode="auto">
          <a:xfrm>
            <a:off x="640080" y="485546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BMC</a:t>
            </a:r>
            <a:endParaRPr lang="en-US" sz="1500"/>
          </a:p>
        </p:txBody>
      </p:sp>
      <p:sp>
        <p:nvSpPr>
          <p:cNvPr id="350166660" name="Shape 53"/>
          <p:cNvSpPr/>
          <p:nvPr/>
        </p:nvSpPr>
        <p:spPr bwMode="auto">
          <a:xfrm>
            <a:off x="4068794" y="5138928"/>
            <a:ext cx="2702738" cy="0"/>
          </a:xfrm>
          <a:prstGeom prst="line">
            <a:avLst/>
          </a:prstGeom>
          <a:noFill/>
          <a:ln w="19050">
            <a:solidFill>
              <a:srgbClr val="9AA1A9"/>
            </a:solidFill>
            <a:prstDash val="solid"/>
          </a:ln>
        </p:spPr>
      </p:sp>
      <p:sp>
        <p:nvSpPr>
          <p:cNvPr id="1078174253" name="Text 54"/>
          <p:cNvSpPr txBox="1"/>
          <p:nvPr/>
        </p:nvSpPr>
        <p:spPr bwMode="auto">
          <a:xfrm>
            <a:off x="3267170" y="4983480"/>
            <a:ext cx="16032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rgbClr val="9AA1A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второй компьютер</a:t>
            </a:r>
            <a:endParaRPr lang="en-US" sz="1200"/>
          </a:p>
        </p:txBody>
      </p:sp>
      <p:sp>
        <p:nvSpPr>
          <p:cNvPr id="1336936459" name="Text 55"/>
          <p:cNvSpPr txBox="1"/>
          <p:nvPr/>
        </p:nvSpPr>
        <p:spPr bwMode="auto">
          <a:xfrm>
            <a:off x="6171838" y="4983480"/>
            <a:ext cx="119938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rgbClr val="9AA1A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tx1"/>
                </a:solidFill>
              </a:rPr>
              <a:t>ISO по сети</a:t>
            </a:r>
            <a:endParaRPr lang="en-US" sz="1200"/>
          </a:p>
        </p:txBody>
      </p:sp>
      <p:sp>
        <p:nvSpPr>
          <p:cNvPr id="2038914198" name="Text 56"/>
          <p:cNvSpPr txBox="1"/>
          <p:nvPr/>
        </p:nvSpPr>
        <p:spPr bwMode="auto">
          <a:xfrm>
            <a:off x="7772400" y="4855464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accent3"/>
                </a:solidFill>
              </a:rPr>
              <a:t>×</a:t>
            </a:r>
            <a:endParaRPr lang="en-US" sz="1800"/>
          </a:p>
        </p:txBody>
      </p:sp>
      <p:sp>
        <p:nvSpPr>
          <p:cNvPr id="1447068133" name="Text 57"/>
          <p:cNvSpPr txBox="1"/>
          <p:nvPr/>
        </p:nvSpPr>
        <p:spPr bwMode="auto">
          <a:xfrm>
            <a:off x="8065008" y="4855464"/>
            <a:ext cx="3486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tx1"/>
                </a:solidFill>
              </a:rPr>
              <a:t>нет BMC</a:t>
            </a:r>
            <a:endParaRPr lang="en-US" sz="1350"/>
          </a:p>
        </p:txBody>
      </p:sp>
      <p:sp>
        <p:nvSpPr>
          <p:cNvPr id="1720100936" name="Shape 58"/>
          <p:cNvSpPr/>
          <p:nvPr/>
        </p:nvSpPr>
        <p:spPr bwMode="auto">
          <a:xfrm>
            <a:off x="640080" y="5422392"/>
            <a:ext cx="109115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6687282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156884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PXE — загрузка по локальной сети</a:t>
            </a:r>
            <a:endParaRPr lang="en-US" sz="2800"/>
          </a:p>
        </p:txBody>
      </p:sp>
      <p:sp>
        <p:nvSpPr>
          <p:cNvPr id="2067536192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Preboot eXecution Environment — среда выполнения до загрузки ОС</a:t>
            </a:r>
            <a:endParaRPr lang="en-US" sz="1500"/>
          </a:p>
        </p:txBody>
      </p:sp>
      <p:sp>
        <p:nvSpPr>
          <p:cNvPr id="915393089" name="Shape 2"/>
          <p:cNvSpPr/>
          <p:nvPr/>
        </p:nvSpPr>
        <p:spPr bwMode="auto">
          <a:xfrm>
            <a:off x="640080" y="1325880"/>
            <a:ext cx="6903720" cy="4937760"/>
          </a:xfrm>
          <a:prstGeom prst="roundRect">
            <a:avLst>
              <a:gd name="adj" fmla="val 1852"/>
            </a:avLst>
          </a:prstGeom>
          <a:noFill/>
          <a:ln w="15875">
            <a:solidFill>
              <a:srgbClr val="9AA1A9"/>
            </a:solidFill>
            <a:prstDash val="dash"/>
          </a:ln>
        </p:spPr>
      </p:sp>
      <p:sp>
        <p:nvSpPr>
          <p:cNvPr id="151600491" name="Shape 3"/>
          <p:cNvSpPr/>
          <p:nvPr/>
        </p:nvSpPr>
        <p:spPr bwMode="auto">
          <a:xfrm>
            <a:off x="800100" y="1508759"/>
            <a:ext cx="1600200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683064" name="Text 4"/>
          <p:cNvSpPr txBox="1"/>
          <p:nvPr/>
        </p:nvSpPr>
        <p:spPr bwMode="auto">
          <a:xfrm>
            <a:off x="800100" y="1508759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Ноутбук</a:t>
            </a:r>
            <a:endParaRPr lang="en-US" sz="1500"/>
          </a:p>
        </p:txBody>
      </p:sp>
      <p:sp>
        <p:nvSpPr>
          <p:cNvPr id="1471218735" name="Shape 5"/>
          <p:cNvSpPr/>
          <p:nvPr/>
        </p:nvSpPr>
        <p:spPr bwMode="auto">
          <a:xfrm>
            <a:off x="160020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845444801" name="Shape 6"/>
          <p:cNvSpPr/>
          <p:nvPr/>
        </p:nvSpPr>
        <p:spPr bwMode="auto">
          <a:xfrm>
            <a:off x="3634740" y="1508759"/>
            <a:ext cx="16002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770863122" name="Text 7"/>
          <p:cNvSpPr txBox="1"/>
          <p:nvPr/>
        </p:nvSpPr>
        <p:spPr bwMode="auto">
          <a:xfrm>
            <a:off x="3634740" y="1563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DHCP-сервер</a:t>
            </a:r>
            <a:endParaRPr lang="en-US" sz="1500"/>
          </a:p>
        </p:txBody>
      </p:sp>
      <p:sp>
        <p:nvSpPr>
          <p:cNvPr id="1535151613" name="Text 8"/>
          <p:cNvSpPr txBox="1"/>
          <p:nvPr/>
        </p:nvSpPr>
        <p:spPr bwMode="auto">
          <a:xfrm>
            <a:off x="3707892" y="18562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UDP 67</a:t>
            </a:r>
            <a:endParaRPr lang="en-US" sz="1200"/>
          </a:p>
        </p:txBody>
      </p:sp>
      <p:sp>
        <p:nvSpPr>
          <p:cNvPr id="2130126156" name="Shape 9"/>
          <p:cNvSpPr/>
          <p:nvPr/>
        </p:nvSpPr>
        <p:spPr bwMode="auto">
          <a:xfrm>
            <a:off x="443484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2146217463" name="Shape 10"/>
          <p:cNvSpPr/>
          <p:nvPr/>
        </p:nvSpPr>
        <p:spPr bwMode="auto">
          <a:xfrm>
            <a:off x="5692140" y="1508759"/>
            <a:ext cx="16002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24279341" name="Text 11"/>
          <p:cNvSpPr txBox="1"/>
          <p:nvPr/>
        </p:nvSpPr>
        <p:spPr bwMode="auto">
          <a:xfrm>
            <a:off x="5692140" y="1563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TFTP-сервер</a:t>
            </a:r>
            <a:endParaRPr lang="en-US" sz="1500"/>
          </a:p>
        </p:txBody>
      </p:sp>
      <p:sp>
        <p:nvSpPr>
          <p:cNvPr id="1010277548" name="Text 12"/>
          <p:cNvSpPr txBox="1"/>
          <p:nvPr/>
        </p:nvSpPr>
        <p:spPr bwMode="auto">
          <a:xfrm>
            <a:off x="5765292" y="18562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UDP 69</a:t>
            </a:r>
            <a:endParaRPr lang="en-US" sz="1200"/>
          </a:p>
        </p:txBody>
      </p:sp>
      <p:sp>
        <p:nvSpPr>
          <p:cNvPr id="709434230" name="Shape 13"/>
          <p:cNvSpPr/>
          <p:nvPr/>
        </p:nvSpPr>
        <p:spPr bwMode="auto">
          <a:xfrm>
            <a:off x="649224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2067053314" name="Shape 14"/>
          <p:cNvSpPr/>
          <p:nvPr/>
        </p:nvSpPr>
        <p:spPr bwMode="auto">
          <a:xfrm>
            <a:off x="1636776" y="2788920"/>
            <a:ext cx="27614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59147577" name="Text 15"/>
          <p:cNvSpPr txBox="1"/>
          <p:nvPr/>
        </p:nvSpPr>
        <p:spPr bwMode="auto">
          <a:xfrm>
            <a:off x="2331720" y="2532888"/>
            <a:ext cx="137160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DHCPDISCOVER</a:t>
            </a:r>
            <a:endParaRPr lang="en-US" sz="1300"/>
          </a:p>
        </p:txBody>
      </p:sp>
      <p:sp>
        <p:nvSpPr>
          <p:cNvPr id="1901512397" name="Text 16"/>
          <p:cNvSpPr txBox="1"/>
          <p:nvPr/>
        </p:nvSpPr>
        <p:spPr bwMode="auto">
          <a:xfrm>
            <a:off x="1815465" y="2825496"/>
            <a:ext cx="2404110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broadcast, опция 60: PXEClient</a:t>
            </a:r>
            <a:endParaRPr lang="en-US" sz="1100"/>
          </a:p>
        </p:txBody>
      </p:sp>
      <p:sp>
        <p:nvSpPr>
          <p:cNvPr id="1589408134" name="Shape 17"/>
          <p:cNvSpPr/>
          <p:nvPr/>
        </p:nvSpPr>
        <p:spPr bwMode="auto">
          <a:xfrm flipH="1">
            <a:off x="1636776" y="3383280"/>
            <a:ext cx="27614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16152492" name="Text 18"/>
          <p:cNvSpPr txBox="1"/>
          <p:nvPr/>
        </p:nvSpPr>
        <p:spPr bwMode="auto">
          <a:xfrm>
            <a:off x="2480310" y="3127248"/>
            <a:ext cx="107442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DHCPOFFER</a:t>
            </a:r>
            <a:endParaRPr lang="en-US" sz="1300"/>
          </a:p>
        </p:txBody>
      </p:sp>
      <p:sp>
        <p:nvSpPr>
          <p:cNvPr id="1275885803" name="Text 19"/>
          <p:cNvSpPr txBox="1"/>
          <p:nvPr/>
        </p:nvSpPr>
        <p:spPr bwMode="auto">
          <a:xfrm>
            <a:off x="1655063" y="3419856"/>
            <a:ext cx="2724911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IP 192.168.1.50, next-server 192.168.1.10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опция 67: boot.efi</a:t>
            </a:r>
            <a:endParaRPr lang="en-US" sz="1100"/>
          </a:p>
        </p:txBody>
      </p:sp>
      <p:sp>
        <p:nvSpPr>
          <p:cNvPr id="894383135" name="Shape 20"/>
          <p:cNvSpPr/>
          <p:nvPr/>
        </p:nvSpPr>
        <p:spPr bwMode="auto">
          <a:xfrm>
            <a:off x="1636776" y="4114800"/>
            <a:ext cx="2761488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headEnd type="triangle"/>
            <a:tailEnd type="triangle"/>
          </a:ln>
        </p:spPr>
      </p:sp>
      <p:sp>
        <p:nvSpPr>
          <p:cNvPr id="374989995" name="Text 21"/>
          <p:cNvSpPr txBox="1"/>
          <p:nvPr/>
        </p:nvSpPr>
        <p:spPr bwMode="auto">
          <a:xfrm>
            <a:off x="2005965" y="3858768"/>
            <a:ext cx="202311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DHCPREQUEST / DHCPACK</a:t>
            </a:r>
            <a:endParaRPr lang="en-US" sz="1150"/>
          </a:p>
        </p:txBody>
      </p:sp>
      <p:sp>
        <p:nvSpPr>
          <p:cNvPr id="2021035448" name="Shape 22"/>
          <p:cNvSpPr/>
          <p:nvPr/>
        </p:nvSpPr>
        <p:spPr bwMode="auto">
          <a:xfrm>
            <a:off x="777240" y="4279392"/>
            <a:ext cx="66294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356970831" name="Shape 23"/>
          <p:cNvSpPr/>
          <p:nvPr/>
        </p:nvSpPr>
        <p:spPr bwMode="auto">
          <a:xfrm>
            <a:off x="1636776" y="4828032"/>
            <a:ext cx="48188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800288" name="Text 24"/>
          <p:cNvSpPr txBox="1"/>
          <p:nvPr/>
        </p:nvSpPr>
        <p:spPr bwMode="auto">
          <a:xfrm>
            <a:off x="3360420" y="4572000"/>
            <a:ext cx="137160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RRQ boot.efi</a:t>
            </a:r>
            <a:endParaRPr lang="en-US" sz="1300"/>
          </a:p>
        </p:txBody>
      </p:sp>
      <p:sp>
        <p:nvSpPr>
          <p:cNvPr id="856728105" name="Text 25"/>
          <p:cNvSpPr txBox="1"/>
          <p:nvPr/>
        </p:nvSpPr>
        <p:spPr bwMode="auto">
          <a:xfrm>
            <a:off x="3029267" y="4864607"/>
            <a:ext cx="2033905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accent3"/>
                </a:solidFill>
              </a:rPr>
              <a:t>без шифрования и проверки</a:t>
            </a:r>
            <a:endParaRPr lang="en-US" sz="1100"/>
          </a:p>
        </p:txBody>
      </p:sp>
      <p:sp>
        <p:nvSpPr>
          <p:cNvPr id="791069921" name="Shape 26"/>
          <p:cNvSpPr/>
          <p:nvPr/>
        </p:nvSpPr>
        <p:spPr bwMode="auto">
          <a:xfrm flipH="1">
            <a:off x="1636776" y="5394960"/>
            <a:ext cx="48188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48306705" name="Text 27"/>
          <p:cNvSpPr txBox="1"/>
          <p:nvPr/>
        </p:nvSpPr>
        <p:spPr bwMode="auto">
          <a:xfrm>
            <a:off x="3261360" y="5138928"/>
            <a:ext cx="156972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DATA 1 · 512 Б</a:t>
            </a:r>
            <a:endParaRPr lang="en-US" sz="1300"/>
          </a:p>
        </p:txBody>
      </p:sp>
      <p:sp>
        <p:nvSpPr>
          <p:cNvPr id="1912249155" name="Shape 28"/>
          <p:cNvSpPr/>
          <p:nvPr/>
        </p:nvSpPr>
        <p:spPr bwMode="auto">
          <a:xfrm>
            <a:off x="1636776" y="5687568"/>
            <a:ext cx="48188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62693855" name="Text 29"/>
          <p:cNvSpPr txBox="1"/>
          <p:nvPr/>
        </p:nvSpPr>
        <p:spPr bwMode="auto">
          <a:xfrm>
            <a:off x="3707130" y="5431536"/>
            <a:ext cx="67818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ACK 1</a:t>
            </a:r>
            <a:endParaRPr lang="en-US" sz="1300"/>
          </a:p>
        </p:txBody>
      </p:sp>
      <p:sp>
        <p:nvSpPr>
          <p:cNvPr id="1829050554" name="Shape 30"/>
          <p:cNvSpPr/>
          <p:nvPr/>
        </p:nvSpPr>
        <p:spPr bwMode="auto">
          <a:xfrm flipH="1">
            <a:off x="1636776" y="5980176"/>
            <a:ext cx="48188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5207021" name="Text 31"/>
          <p:cNvSpPr txBox="1"/>
          <p:nvPr/>
        </p:nvSpPr>
        <p:spPr bwMode="auto">
          <a:xfrm>
            <a:off x="3211830" y="5724144"/>
            <a:ext cx="166878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DATA 2 … DATA N</a:t>
            </a:r>
            <a:endParaRPr lang="en-US" sz="1300"/>
          </a:p>
        </p:txBody>
      </p:sp>
      <p:sp>
        <p:nvSpPr>
          <p:cNvPr id="1943853895" name="Text 32"/>
          <p:cNvSpPr txBox="1"/>
          <p:nvPr/>
        </p:nvSpPr>
        <p:spPr bwMode="auto">
          <a:xfrm>
            <a:off x="2881185" y="6016752"/>
            <a:ext cx="2330069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блок меньше 512 Б — последний</a:t>
            </a:r>
            <a:endParaRPr lang="en-US" sz="1100"/>
          </a:p>
        </p:txBody>
      </p:sp>
      <p:sp>
        <p:nvSpPr>
          <p:cNvPr id="1728577979" name="Shape 33"/>
          <p:cNvSpPr/>
          <p:nvPr/>
        </p:nvSpPr>
        <p:spPr bwMode="auto">
          <a:xfrm>
            <a:off x="6547104" y="5394960"/>
            <a:ext cx="91440" cy="292608"/>
          </a:xfrm>
          <a:custGeom>
            <a:avLst/>
            <a:gdLst/>
            <a:ahLst/>
            <a:cxnLst/>
            <a:rect l="l" t="t" r="r" b="b"/>
            <a:pathLst>
              <a:path w="91440" h="292608" fill="norm" stroke="1" extrusionOk="0">
                <a:moveTo>
                  <a:pt x="0" y="0"/>
                </a:moveTo>
                <a:lnTo>
                  <a:pt x="45720" y="0"/>
                </a:lnTo>
                <a:quadBezTo>
                  <a:pt x="91440" y="0"/>
                  <a:pt x="91440" y="45720"/>
                </a:quadBezTo>
                <a:lnTo>
                  <a:pt x="91440" y="246888"/>
                </a:lnTo>
                <a:quadBezTo>
                  <a:pt x="91440" y="292608"/>
                  <a:pt x="45720" y="292608"/>
                </a:quadBezTo>
                <a:lnTo>
                  <a:pt x="0" y="292608"/>
                </a:lnTo>
              </a:path>
            </a:pathLst>
          </a:cu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967463132" name="Text 34"/>
          <p:cNvSpPr txBox="1"/>
          <p:nvPr/>
        </p:nvSpPr>
        <p:spPr bwMode="auto">
          <a:xfrm>
            <a:off x="6711696" y="5394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chemeClr val="accent3"/>
                </a:solidFill>
              </a:rPr>
              <a:t>ждёт ACK</a:t>
            </a:r>
            <a:endParaRPr lang="en-US" sz="1100"/>
          </a:p>
        </p:txBody>
      </p:sp>
      <p:sp>
        <p:nvSpPr>
          <p:cNvPr id="730942553" name="Text 35"/>
          <p:cNvSpPr txBox="1"/>
          <p:nvPr/>
        </p:nvSpPr>
        <p:spPr bwMode="auto">
          <a:xfrm>
            <a:off x="8046720" y="1325880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Так загружают серверы в дата-центрах (MAAS, Ironic): там своя сеть и свой DHCP-сервер.</a:t>
            </a:r>
            <a:endParaRPr lang="en-US" sz="1300"/>
          </a:p>
        </p:txBody>
      </p:sp>
      <p:sp>
        <p:nvSpPr>
          <p:cNvPr id="466868074" name="Text 36"/>
          <p:cNvSpPr txBox="1"/>
          <p:nvPr/>
        </p:nvSpPr>
        <p:spPr bwMode="auto">
          <a:xfrm>
            <a:off x="8046720" y="201168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tx1"/>
                </a:solidFill>
              </a:rPr>
              <a:t>Почему не подошёл</a:t>
            </a:r>
            <a:endParaRPr lang="en-US" sz="1800"/>
          </a:p>
        </p:txBody>
      </p:sp>
      <p:sp>
        <p:nvSpPr>
          <p:cNvPr id="922575864" name="Shape 37"/>
          <p:cNvSpPr/>
          <p:nvPr/>
        </p:nvSpPr>
        <p:spPr bwMode="auto">
          <a:xfrm>
            <a:off x="8046720" y="2487168"/>
            <a:ext cx="3504895" cy="109728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49120060" name="Text 38"/>
          <p:cNvSpPr txBox="1"/>
          <p:nvPr/>
        </p:nvSpPr>
        <p:spPr bwMode="auto">
          <a:xfrm>
            <a:off x="8211312" y="2560320"/>
            <a:ext cx="323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3"/>
                </a:solidFill>
              </a:rPr>
              <a:t>Только своя сеть</a:t>
            </a:r>
            <a:endParaRPr lang="en-US" sz="1500"/>
          </a:p>
        </p:txBody>
      </p:sp>
      <p:sp>
        <p:nvSpPr>
          <p:cNvPr id="1787566692" name="Text 39"/>
          <p:cNvSpPr txBox="1"/>
          <p:nvPr/>
        </p:nvSpPr>
        <p:spPr bwMode="auto">
          <a:xfrm>
            <a:off x="8211312" y="2843784"/>
            <a:ext cx="32305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Роутер не пересылает </a:t>
            </a:r>
            <a:r>
              <a:rPr lang="en-US" sz="1300" b="1">
                <a:solidFill>
                  <a:schemeClr val="tx1"/>
                </a:solidFill>
              </a:rPr>
              <a:t>broadcast</a:t>
            </a:r>
            <a:r>
              <a:rPr lang="en-US" sz="1300">
                <a:solidFill>
                  <a:schemeClr val="tx1"/>
                </a:solidFill>
              </a:rPr>
              <a:t>: DHCP-сервер или relay нужен в сети ноутбука, а чужую сеть не настроить.</a:t>
            </a:r>
            <a:endParaRPr lang="en-US" sz="1300"/>
          </a:p>
        </p:txBody>
      </p:sp>
      <p:sp>
        <p:nvSpPr>
          <p:cNvPr id="787140521" name="Shape 40"/>
          <p:cNvSpPr/>
          <p:nvPr/>
        </p:nvSpPr>
        <p:spPr bwMode="auto">
          <a:xfrm>
            <a:off x="8046720" y="3712464"/>
            <a:ext cx="3504895" cy="109728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533776126" name="Text 41"/>
          <p:cNvSpPr txBox="1"/>
          <p:nvPr/>
        </p:nvSpPr>
        <p:spPr bwMode="auto">
          <a:xfrm>
            <a:off x="8211312" y="3785616"/>
            <a:ext cx="323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3"/>
                </a:solidFill>
              </a:rPr>
              <a:t>Нет шифрования и проверки</a:t>
            </a:r>
            <a:endParaRPr lang="en-US" sz="1500"/>
          </a:p>
        </p:txBody>
      </p:sp>
      <p:sp>
        <p:nvSpPr>
          <p:cNvPr id="1074376193" name="Text 42"/>
          <p:cNvSpPr txBox="1"/>
          <p:nvPr/>
        </p:nvSpPr>
        <p:spPr bwMode="auto">
          <a:xfrm>
            <a:off x="8211312" y="4069080"/>
            <a:ext cx="32305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Любой узел сети может ответить вместо DHCP- или TFTP-сервера, и прошивка запустит чужой .efi.</a:t>
            </a:r>
            <a:endParaRPr lang="en-US" sz="1300"/>
          </a:p>
        </p:txBody>
      </p:sp>
      <p:sp>
        <p:nvSpPr>
          <p:cNvPr id="1516862455" name="Shape 43"/>
          <p:cNvSpPr/>
          <p:nvPr/>
        </p:nvSpPr>
        <p:spPr bwMode="auto">
          <a:xfrm>
            <a:off x="8046720" y="4937760"/>
            <a:ext cx="3504895" cy="132588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858386394" name="Text 44"/>
          <p:cNvSpPr txBox="1"/>
          <p:nvPr/>
        </p:nvSpPr>
        <p:spPr bwMode="auto">
          <a:xfrm>
            <a:off x="8211312" y="5010912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3"/>
                </a:solidFill>
              </a:rPr>
              <a:t>Медленно, каждый раз ждёт ответа</a:t>
            </a:r>
            <a:endParaRPr lang="en-US" sz="1500"/>
          </a:p>
        </p:txBody>
      </p:sp>
      <p:sp>
        <p:nvSpPr>
          <p:cNvPr id="197005180" name="Text 45"/>
          <p:cNvSpPr txBox="1"/>
          <p:nvPr/>
        </p:nvSpPr>
        <p:spPr bwMode="auto">
          <a:xfrm>
            <a:off x="8211312" y="5522976"/>
            <a:ext cx="32305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Stop-and-wait: сервер </a:t>
            </a:r>
            <a:r>
              <a:rPr lang="en-US" sz="1300" b="1">
                <a:solidFill>
                  <a:schemeClr val="tx1"/>
                </a:solidFill>
              </a:rPr>
              <a:t>ждёт ACK</a:t>
            </a:r>
            <a:r>
              <a:rPr lang="en-US" sz="1300">
                <a:solidFill>
                  <a:schemeClr val="tx1"/>
                </a:solidFill>
              </a:rPr>
              <a:t> на каждый блок. RTT 50 мс: 512 Б / 50 мс ≈ 10 КБ/с, 132 МиБ ≈ 4 ч.</a:t>
            </a:r>
            <a:endParaRPr lang="en-US" sz="1300"/>
          </a:p>
        </p:txBody>
      </p:sp>
      <p:sp>
        <p:nvSpPr>
          <p:cNvPr id="965301335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61117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UEFI HTTP Boot</a:t>
            </a:r>
            <a:endParaRPr lang="en-US" sz="2800"/>
          </a:p>
        </p:txBody>
      </p:sp>
      <p:sp>
        <p:nvSpPr>
          <p:cNvPr id="763027073" name="Shape 1"/>
          <p:cNvSpPr/>
          <p:nvPr/>
        </p:nvSpPr>
        <p:spPr bwMode="auto">
          <a:xfrm>
            <a:off x="640080" y="1325880"/>
            <a:ext cx="4823460" cy="4937760"/>
          </a:xfrm>
          <a:prstGeom prst="roundRect">
            <a:avLst>
              <a:gd name="adj" fmla="val 1896"/>
            </a:avLst>
          </a:prstGeom>
          <a:noFill/>
          <a:ln w="15875">
            <a:solidFill>
              <a:srgbClr val="9AA1A9"/>
            </a:solidFill>
            <a:prstDash val="dash"/>
          </a:ln>
        </p:spPr>
      </p:sp>
      <p:sp>
        <p:nvSpPr>
          <p:cNvPr id="1562826441" name="Shape 2"/>
          <p:cNvSpPr/>
          <p:nvPr/>
        </p:nvSpPr>
        <p:spPr bwMode="auto">
          <a:xfrm>
            <a:off x="800100" y="1508759"/>
            <a:ext cx="1600200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841029484" name="Text 3"/>
          <p:cNvSpPr txBox="1"/>
          <p:nvPr/>
        </p:nvSpPr>
        <p:spPr bwMode="auto">
          <a:xfrm>
            <a:off x="800100" y="1508759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Ноутбук</a:t>
            </a:r>
            <a:endParaRPr lang="en-US" sz="1500"/>
          </a:p>
        </p:txBody>
      </p:sp>
      <p:sp>
        <p:nvSpPr>
          <p:cNvPr id="277289883" name="Shape 4"/>
          <p:cNvSpPr/>
          <p:nvPr/>
        </p:nvSpPr>
        <p:spPr bwMode="auto">
          <a:xfrm>
            <a:off x="160020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2089079834" name="Shape 5"/>
          <p:cNvSpPr/>
          <p:nvPr/>
        </p:nvSpPr>
        <p:spPr bwMode="auto">
          <a:xfrm>
            <a:off x="3634740" y="1508759"/>
            <a:ext cx="16002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077288714" name="Text 6"/>
          <p:cNvSpPr txBox="1"/>
          <p:nvPr/>
        </p:nvSpPr>
        <p:spPr bwMode="auto">
          <a:xfrm>
            <a:off x="3634740" y="1563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DHCP-сервер</a:t>
            </a:r>
            <a:endParaRPr lang="en-US" sz="1500"/>
          </a:p>
        </p:txBody>
      </p:sp>
      <p:sp>
        <p:nvSpPr>
          <p:cNvPr id="2099697874" name="Text 7"/>
          <p:cNvSpPr txBox="1"/>
          <p:nvPr/>
        </p:nvSpPr>
        <p:spPr bwMode="auto">
          <a:xfrm>
            <a:off x="3707892" y="18562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UDP 67</a:t>
            </a:r>
            <a:endParaRPr lang="en-US" sz="1200"/>
          </a:p>
        </p:txBody>
      </p:sp>
      <p:sp>
        <p:nvSpPr>
          <p:cNvPr id="824519237" name="Shape 8"/>
          <p:cNvSpPr/>
          <p:nvPr/>
        </p:nvSpPr>
        <p:spPr bwMode="auto">
          <a:xfrm>
            <a:off x="443484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523415482" name="Shape 9"/>
          <p:cNvSpPr/>
          <p:nvPr/>
        </p:nvSpPr>
        <p:spPr bwMode="auto">
          <a:xfrm>
            <a:off x="5692140" y="1508759"/>
            <a:ext cx="16002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209819879" name="Text 10"/>
          <p:cNvSpPr txBox="1"/>
          <p:nvPr/>
        </p:nvSpPr>
        <p:spPr bwMode="auto">
          <a:xfrm>
            <a:off x="5692140" y="1563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HTTP-сервер</a:t>
            </a:r>
            <a:endParaRPr lang="en-US" sz="1500"/>
          </a:p>
        </p:txBody>
      </p:sp>
      <p:sp>
        <p:nvSpPr>
          <p:cNvPr id="1284061189" name="Text 11"/>
          <p:cNvSpPr txBox="1"/>
          <p:nvPr/>
        </p:nvSpPr>
        <p:spPr bwMode="auto">
          <a:xfrm>
            <a:off x="5765292" y="18562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TCP 80</a:t>
            </a:r>
            <a:endParaRPr lang="en-US" sz="1200"/>
          </a:p>
        </p:txBody>
      </p:sp>
      <p:sp>
        <p:nvSpPr>
          <p:cNvPr id="2077191529" name="Shape 12"/>
          <p:cNvSpPr/>
          <p:nvPr/>
        </p:nvSpPr>
        <p:spPr bwMode="auto">
          <a:xfrm>
            <a:off x="649224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5113419" name="Shape 13"/>
          <p:cNvSpPr/>
          <p:nvPr/>
        </p:nvSpPr>
        <p:spPr bwMode="auto">
          <a:xfrm>
            <a:off x="1636776" y="2788920"/>
            <a:ext cx="27614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02731402" name="Text 14"/>
          <p:cNvSpPr txBox="1"/>
          <p:nvPr/>
        </p:nvSpPr>
        <p:spPr bwMode="auto">
          <a:xfrm>
            <a:off x="2331720" y="2532888"/>
            <a:ext cx="137160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DHCPDISCOVER</a:t>
            </a:r>
            <a:endParaRPr lang="en-US" sz="1300"/>
          </a:p>
        </p:txBody>
      </p:sp>
      <p:sp>
        <p:nvSpPr>
          <p:cNvPr id="449365815" name="Text 15"/>
          <p:cNvSpPr txBox="1"/>
          <p:nvPr/>
        </p:nvSpPr>
        <p:spPr bwMode="auto">
          <a:xfrm>
            <a:off x="1778444" y="2825496"/>
            <a:ext cx="2478151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broadcast, опция 60: HTTPClient</a:t>
            </a:r>
            <a:endParaRPr lang="en-US" sz="1100"/>
          </a:p>
        </p:txBody>
      </p:sp>
      <p:sp>
        <p:nvSpPr>
          <p:cNvPr id="2131380040" name="Shape 16"/>
          <p:cNvSpPr/>
          <p:nvPr/>
        </p:nvSpPr>
        <p:spPr bwMode="auto">
          <a:xfrm flipH="1">
            <a:off x="1636776" y="3383280"/>
            <a:ext cx="27614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90805773" name="Text 17"/>
          <p:cNvSpPr txBox="1"/>
          <p:nvPr/>
        </p:nvSpPr>
        <p:spPr bwMode="auto">
          <a:xfrm>
            <a:off x="2480310" y="3127248"/>
            <a:ext cx="107442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DHCPOFFER</a:t>
            </a:r>
            <a:endParaRPr lang="en-US" sz="1300"/>
          </a:p>
        </p:txBody>
      </p:sp>
      <p:sp>
        <p:nvSpPr>
          <p:cNvPr id="589775889" name="Text 18"/>
          <p:cNvSpPr txBox="1"/>
          <p:nvPr/>
        </p:nvSpPr>
        <p:spPr bwMode="auto">
          <a:xfrm>
            <a:off x="1655063" y="3419856"/>
            <a:ext cx="2724911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IP 192.168.1.50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опция 67: http://203.0.113.10/boot.efi</a:t>
            </a:r>
            <a:endParaRPr lang="en-US" sz="1100"/>
          </a:p>
        </p:txBody>
      </p:sp>
      <p:sp>
        <p:nvSpPr>
          <p:cNvPr id="689064895" name="Shape 19"/>
          <p:cNvSpPr/>
          <p:nvPr/>
        </p:nvSpPr>
        <p:spPr bwMode="auto">
          <a:xfrm>
            <a:off x="1636776" y="4114800"/>
            <a:ext cx="2761488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headEnd type="triangle"/>
            <a:tailEnd type="triangle"/>
          </a:ln>
        </p:spPr>
      </p:sp>
      <p:sp>
        <p:nvSpPr>
          <p:cNvPr id="805306348" name="Text 20"/>
          <p:cNvSpPr txBox="1"/>
          <p:nvPr/>
        </p:nvSpPr>
        <p:spPr bwMode="auto">
          <a:xfrm>
            <a:off x="2005965" y="3858768"/>
            <a:ext cx="202311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DHCPREQUEST / DHCPACK</a:t>
            </a:r>
            <a:endParaRPr lang="en-US" sz="1150"/>
          </a:p>
        </p:txBody>
      </p:sp>
      <p:sp>
        <p:nvSpPr>
          <p:cNvPr id="2104658505" name="Shape 21"/>
          <p:cNvSpPr/>
          <p:nvPr/>
        </p:nvSpPr>
        <p:spPr bwMode="auto">
          <a:xfrm>
            <a:off x="777240" y="4279392"/>
            <a:ext cx="66294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26258556" name="Shape 22"/>
          <p:cNvSpPr/>
          <p:nvPr/>
        </p:nvSpPr>
        <p:spPr bwMode="auto">
          <a:xfrm>
            <a:off x="1636776" y="4828032"/>
            <a:ext cx="4818888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headEnd type="triangle"/>
            <a:tailEnd type="triangle"/>
          </a:ln>
        </p:spPr>
      </p:sp>
      <p:sp>
        <p:nvSpPr>
          <p:cNvPr id="746113042" name="Text 23"/>
          <p:cNvSpPr txBox="1"/>
          <p:nvPr/>
        </p:nvSpPr>
        <p:spPr bwMode="auto">
          <a:xfrm>
            <a:off x="2903220" y="4572000"/>
            <a:ext cx="228600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TCP: SYN / SYN-ACK / ACK</a:t>
            </a:r>
            <a:endParaRPr lang="en-US" sz="1150"/>
          </a:p>
        </p:txBody>
      </p:sp>
      <p:sp>
        <p:nvSpPr>
          <p:cNvPr id="513795868" name="Shape 24"/>
          <p:cNvSpPr/>
          <p:nvPr/>
        </p:nvSpPr>
        <p:spPr bwMode="auto">
          <a:xfrm>
            <a:off x="1636776" y="5394960"/>
            <a:ext cx="48188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22114096" name="Text 25"/>
          <p:cNvSpPr txBox="1"/>
          <p:nvPr/>
        </p:nvSpPr>
        <p:spPr bwMode="auto">
          <a:xfrm>
            <a:off x="3310890" y="5138928"/>
            <a:ext cx="147066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GET /boot.efi</a:t>
            </a:r>
            <a:endParaRPr lang="en-US" sz="1300"/>
          </a:p>
        </p:txBody>
      </p:sp>
      <p:sp>
        <p:nvSpPr>
          <p:cNvPr id="22709559" name="Text 26"/>
          <p:cNvSpPr txBox="1"/>
          <p:nvPr/>
        </p:nvSpPr>
        <p:spPr bwMode="auto">
          <a:xfrm>
            <a:off x="3695637" y="5431536"/>
            <a:ext cx="701167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без TLS</a:t>
            </a:r>
            <a:endParaRPr lang="en-US" sz="1100"/>
          </a:p>
        </p:txBody>
      </p:sp>
      <p:sp>
        <p:nvSpPr>
          <p:cNvPr id="1976260597" name="Shape 27"/>
          <p:cNvSpPr/>
          <p:nvPr/>
        </p:nvSpPr>
        <p:spPr bwMode="auto">
          <a:xfrm flipH="1">
            <a:off x="1636776" y="5980176"/>
            <a:ext cx="48188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67717160" name="Text 28"/>
          <p:cNvSpPr txBox="1"/>
          <p:nvPr/>
        </p:nvSpPr>
        <p:spPr bwMode="auto">
          <a:xfrm>
            <a:off x="3112770" y="5724144"/>
            <a:ext cx="186690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200 OK + boot.efi</a:t>
            </a:r>
            <a:endParaRPr lang="en-US" sz="1300"/>
          </a:p>
        </p:txBody>
      </p:sp>
      <p:sp>
        <p:nvSpPr>
          <p:cNvPr id="563441082" name="Text 29"/>
          <p:cNvSpPr txBox="1"/>
          <p:nvPr/>
        </p:nvSpPr>
        <p:spPr bwMode="auto">
          <a:xfrm>
            <a:off x="8046720" y="132588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tx1"/>
                </a:solidFill>
              </a:rPr>
              <a:t>Лучше, чем PXE</a:t>
            </a:r>
            <a:endParaRPr lang="en-US" sz="1800"/>
          </a:p>
        </p:txBody>
      </p:sp>
      <p:sp>
        <p:nvSpPr>
          <p:cNvPr id="1117680898" name="Shape 30"/>
          <p:cNvSpPr/>
          <p:nvPr/>
        </p:nvSpPr>
        <p:spPr bwMode="auto">
          <a:xfrm>
            <a:off x="8046720" y="1801367"/>
            <a:ext cx="3504895" cy="71323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403491791" name="Text 31"/>
          <p:cNvSpPr txBox="1"/>
          <p:nvPr/>
        </p:nvSpPr>
        <p:spPr bwMode="auto">
          <a:xfrm>
            <a:off x="8211312" y="1874520"/>
            <a:ext cx="323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2"/>
                </a:solidFill>
              </a:rPr>
              <a:t>TCP</a:t>
            </a:r>
            <a:endParaRPr lang="en-US" sz="1500"/>
          </a:p>
        </p:txBody>
      </p:sp>
      <p:sp>
        <p:nvSpPr>
          <p:cNvPr id="1515316143" name="Text 32"/>
          <p:cNvSpPr txBox="1"/>
          <p:nvPr/>
        </p:nvSpPr>
        <p:spPr bwMode="auto">
          <a:xfrm>
            <a:off x="8211312" y="2157984"/>
            <a:ext cx="323057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Работает через роутеры и интернет.</a:t>
            </a:r>
            <a:endParaRPr lang="en-US" sz="1300"/>
          </a:p>
        </p:txBody>
      </p:sp>
      <p:sp>
        <p:nvSpPr>
          <p:cNvPr id="526654523" name="Shape 33"/>
          <p:cNvSpPr/>
          <p:nvPr/>
        </p:nvSpPr>
        <p:spPr bwMode="auto">
          <a:xfrm>
            <a:off x="8046720" y="2642616"/>
            <a:ext cx="3504895" cy="713232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844575879" name="Text 34"/>
          <p:cNvSpPr txBox="1"/>
          <p:nvPr/>
        </p:nvSpPr>
        <p:spPr bwMode="auto">
          <a:xfrm>
            <a:off x="8211312" y="2715768"/>
            <a:ext cx="323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2"/>
                </a:solidFill>
              </a:rPr>
              <a:t>Поток без ACK на каждый блок</a:t>
            </a:r>
            <a:endParaRPr lang="en-US" sz="1500"/>
          </a:p>
        </p:txBody>
      </p:sp>
      <p:sp>
        <p:nvSpPr>
          <p:cNvPr id="122420635" name="Text 35"/>
          <p:cNvSpPr txBox="1"/>
          <p:nvPr/>
        </p:nvSpPr>
        <p:spPr bwMode="auto">
          <a:xfrm>
            <a:off x="8211312" y="2999232"/>
            <a:ext cx="323057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Скорость упирается в канал</a:t>
            </a:r>
            <a:endParaRPr lang="en-US" sz="1300"/>
          </a:p>
        </p:txBody>
      </p:sp>
      <p:sp>
        <p:nvSpPr>
          <p:cNvPr id="250442419" name="Text 36"/>
          <p:cNvSpPr txBox="1"/>
          <p:nvPr/>
        </p:nvSpPr>
        <p:spPr bwMode="auto">
          <a:xfrm>
            <a:off x="8046720" y="3575303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tx1"/>
                </a:solidFill>
              </a:rPr>
              <a:t>Почему не подошёл</a:t>
            </a:r>
            <a:endParaRPr lang="en-US" sz="1800"/>
          </a:p>
        </p:txBody>
      </p:sp>
      <p:sp>
        <p:nvSpPr>
          <p:cNvPr id="207585329" name="Shape 37"/>
          <p:cNvSpPr/>
          <p:nvPr/>
        </p:nvSpPr>
        <p:spPr bwMode="auto">
          <a:xfrm>
            <a:off x="8046720" y="4050792"/>
            <a:ext cx="3504895" cy="91440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075374659" name="Text 38"/>
          <p:cNvSpPr txBox="1"/>
          <p:nvPr/>
        </p:nvSpPr>
        <p:spPr bwMode="auto">
          <a:xfrm>
            <a:off x="8211312" y="4123944"/>
            <a:ext cx="323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3"/>
                </a:solidFill>
              </a:rPr>
              <a:t>Без шифрования</a:t>
            </a:r>
            <a:endParaRPr lang="en-US" sz="1500"/>
          </a:p>
        </p:txBody>
      </p:sp>
      <p:sp>
        <p:nvSpPr>
          <p:cNvPr id="210451907" name="Text 39"/>
          <p:cNvSpPr txBox="1"/>
          <p:nvPr/>
        </p:nvSpPr>
        <p:spPr bwMode="auto">
          <a:xfrm>
            <a:off x="8211312" y="4407408"/>
            <a:ext cx="32305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Роутер в чужой сети или провайдер может подменить файл.</a:t>
            </a:r>
            <a:endParaRPr lang="en-US" sz="1300"/>
          </a:p>
        </p:txBody>
      </p:sp>
      <p:sp>
        <p:nvSpPr>
          <p:cNvPr id="1183485309" name="Shape 40"/>
          <p:cNvSpPr/>
          <p:nvPr/>
        </p:nvSpPr>
        <p:spPr bwMode="auto">
          <a:xfrm>
            <a:off x="8046720" y="5093208"/>
            <a:ext cx="3504895" cy="96012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2011440872" name="Text 41"/>
          <p:cNvSpPr txBox="1"/>
          <p:nvPr/>
        </p:nvSpPr>
        <p:spPr bwMode="auto">
          <a:xfrm>
            <a:off x="8211312" y="5166360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3"/>
                </a:solidFill>
              </a:rPr>
              <a:t>Адрес файла прошивка ноутбука берёт только из DHCP</a:t>
            </a:r>
            <a:endParaRPr lang="en-US" sz="1500"/>
          </a:p>
        </p:txBody>
      </p:sp>
      <p:sp>
        <p:nvSpPr>
          <p:cNvPr id="370997639" name="Text 42"/>
          <p:cNvSpPr txBox="1"/>
          <p:nvPr/>
        </p:nvSpPr>
        <p:spPr bwMode="auto">
          <a:xfrm>
            <a:off x="8211312" y="5678424"/>
            <a:ext cx="323057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Нужен свой DHCP в сети ноутбука.</a:t>
            </a:r>
            <a:endParaRPr lang="en-US" sz="1300"/>
          </a:p>
        </p:txBody>
      </p:sp>
      <p:sp>
        <p:nvSpPr>
          <p:cNvPr id="1195612922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040616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UEFI HTTPS Boot</a:t>
            </a:r>
            <a:endParaRPr lang="en-US" sz="2800"/>
          </a:p>
        </p:txBody>
      </p:sp>
      <p:sp>
        <p:nvSpPr>
          <p:cNvPr id="815637256" name="Text 1"/>
          <p:cNvSpPr txBox="1"/>
          <p:nvPr/>
        </p:nvSpPr>
        <p:spPr bwMode="auto">
          <a:xfrm>
            <a:off x="640080" y="13716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В проекте</a:t>
            </a:r>
            <a:endParaRPr lang="en-US" sz="1500"/>
          </a:p>
        </p:txBody>
      </p:sp>
      <p:sp>
        <p:nvSpPr>
          <p:cNvPr id="1979349622" name="Text 2"/>
          <p:cNvSpPr txBox="1"/>
          <p:nvPr/>
        </p:nvSpPr>
        <p:spPr bwMode="auto">
          <a:xfrm>
            <a:off x="640080" y="2788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С HTTPS Boot</a:t>
            </a:r>
            <a:endParaRPr lang="en-US" sz="1500"/>
          </a:p>
        </p:txBody>
      </p:sp>
      <p:sp>
        <p:nvSpPr>
          <p:cNvPr id="1195061400" name="Shape 3"/>
          <p:cNvSpPr/>
          <p:nvPr/>
        </p:nvSpPr>
        <p:spPr bwMode="auto">
          <a:xfrm>
            <a:off x="2468880" y="137160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080262889" name="Text 4"/>
          <p:cNvSpPr txBox="1"/>
          <p:nvPr/>
        </p:nvSpPr>
        <p:spPr bwMode="auto">
          <a:xfrm>
            <a:off x="2615184" y="137160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прошивка</a:t>
            </a:r>
            <a:endParaRPr lang="en-US" sz="1300"/>
          </a:p>
        </p:txBody>
      </p:sp>
      <p:sp>
        <p:nvSpPr>
          <p:cNvPr id="377731803" name="Text 5"/>
          <p:cNvSpPr txBox="1"/>
          <p:nvPr/>
        </p:nvSpPr>
        <p:spPr bwMode="auto">
          <a:xfrm>
            <a:off x="2542032" y="2029968"/>
            <a:ext cx="1414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</a:rPr>
              <a:t>BootOrder</a:t>
            </a:r>
            <a:endParaRPr lang="en-US" sz="1150"/>
          </a:p>
        </p:txBody>
      </p:sp>
      <p:sp>
        <p:nvSpPr>
          <p:cNvPr id="1197210698" name="Shape 6"/>
          <p:cNvSpPr/>
          <p:nvPr/>
        </p:nvSpPr>
        <p:spPr bwMode="auto">
          <a:xfrm>
            <a:off x="3965905" y="137160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rgbClr val="E9ECEF"/>
          </a:solidFill>
          <a:ln/>
        </p:spPr>
      </p:sp>
      <p:sp>
        <p:nvSpPr>
          <p:cNvPr id="743243154" name="Text 7"/>
          <p:cNvSpPr txBox="1"/>
          <p:nvPr/>
        </p:nvSpPr>
        <p:spPr bwMode="auto">
          <a:xfrm>
            <a:off x="4112209" y="137160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accent4"/>
                </a:solidFill>
              </a:rPr>
              <a:t>systemd-boot</a:t>
            </a:r>
            <a:endParaRPr lang="en-US" sz="1300"/>
          </a:p>
        </p:txBody>
      </p:sp>
      <p:sp>
        <p:nvSpPr>
          <p:cNvPr id="2103314670" name="Text 8"/>
          <p:cNvSpPr txBox="1"/>
          <p:nvPr/>
        </p:nvSpPr>
        <p:spPr bwMode="auto">
          <a:xfrm>
            <a:off x="4039057" y="2029968"/>
            <a:ext cx="1414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</a:rPr>
              <a:t>переключатель: Arch или iPXE</a:t>
            </a:r>
            <a:endParaRPr lang="en-US" sz="1150"/>
          </a:p>
        </p:txBody>
      </p:sp>
      <p:sp>
        <p:nvSpPr>
          <p:cNvPr id="451467859" name="Shape 9"/>
          <p:cNvSpPr/>
          <p:nvPr/>
        </p:nvSpPr>
        <p:spPr bwMode="auto">
          <a:xfrm>
            <a:off x="5462930" y="137160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rgbClr val="E9ECEF"/>
          </a:solidFill>
          <a:ln/>
        </p:spPr>
      </p:sp>
      <p:sp>
        <p:nvSpPr>
          <p:cNvPr id="1967795450" name="Text 10"/>
          <p:cNvSpPr txBox="1"/>
          <p:nvPr/>
        </p:nvSpPr>
        <p:spPr bwMode="auto">
          <a:xfrm>
            <a:off x="5609234" y="137160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accent4"/>
                </a:solidFill>
              </a:rPr>
              <a:t>iPXE.efi</a:t>
            </a:r>
            <a:endParaRPr lang="en-US" sz="1300"/>
          </a:p>
        </p:txBody>
      </p:sp>
      <p:sp>
        <p:nvSpPr>
          <p:cNvPr id="803326909" name="Text 11"/>
          <p:cNvSpPr txBox="1"/>
          <p:nvPr/>
        </p:nvSpPr>
        <p:spPr bwMode="auto">
          <a:xfrm>
            <a:off x="5536082" y="2029968"/>
            <a:ext cx="1414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</a:rPr>
              <a:t>DHCP, DNS, HTTPS</a:t>
            </a:r>
            <a:endParaRPr lang="en-US" sz="1150"/>
          </a:p>
        </p:txBody>
      </p:sp>
      <p:sp>
        <p:nvSpPr>
          <p:cNvPr id="1688201552" name="Shape 12"/>
          <p:cNvSpPr/>
          <p:nvPr/>
        </p:nvSpPr>
        <p:spPr bwMode="auto">
          <a:xfrm>
            <a:off x="6959956" y="137160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rgbClr val="E9ECEF"/>
          </a:solidFill>
          <a:ln/>
        </p:spPr>
      </p:sp>
      <p:sp>
        <p:nvSpPr>
          <p:cNvPr id="1130800626" name="Text 13"/>
          <p:cNvSpPr txBox="1"/>
          <p:nvPr/>
        </p:nvSpPr>
        <p:spPr bwMode="auto">
          <a:xfrm>
            <a:off x="7106260" y="137160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accent4"/>
                </a:solidFill>
              </a:rPr>
              <a:t>boot.ipxe</a:t>
            </a:r>
            <a:endParaRPr lang="en-US" sz="1300"/>
          </a:p>
        </p:txBody>
      </p:sp>
      <p:sp>
        <p:nvSpPr>
          <p:cNvPr id="1079039219" name="Text 14"/>
          <p:cNvSpPr txBox="1"/>
          <p:nvPr/>
        </p:nvSpPr>
        <p:spPr bwMode="auto">
          <a:xfrm>
            <a:off x="7033108" y="2029968"/>
            <a:ext cx="1414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</a:rPr>
              <a:t>скрипт что загрузить</a:t>
            </a:r>
            <a:endParaRPr lang="en-US" sz="1150"/>
          </a:p>
        </p:txBody>
      </p:sp>
      <p:sp>
        <p:nvSpPr>
          <p:cNvPr id="544841471" name="Shape 15"/>
          <p:cNvSpPr/>
          <p:nvPr/>
        </p:nvSpPr>
        <p:spPr bwMode="auto">
          <a:xfrm>
            <a:off x="8456981" y="137160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986005676" name="Text 16"/>
          <p:cNvSpPr txBox="1"/>
          <p:nvPr/>
        </p:nvSpPr>
        <p:spPr bwMode="auto">
          <a:xfrm>
            <a:off x="8603285" y="137160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UKI</a:t>
            </a:r>
            <a:endParaRPr lang="en-US" sz="1300"/>
          </a:p>
        </p:txBody>
      </p:sp>
      <p:sp>
        <p:nvSpPr>
          <p:cNvPr id="974216660" name="Text 17"/>
          <p:cNvSpPr txBox="1"/>
          <p:nvPr/>
        </p:nvSpPr>
        <p:spPr bwMode="auto">
          <a:xfrm>
            <a:off x="8530133" y="2029968"/>
            <a:ext cx="1414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</a:rPr>
              <a:t>ядро и initrd</a:t>
            </a:r>
            <a:endParaRPr lang="en-US" sz="1150"/>
          </a:p>
        </p:txBody>
      </p:sp>
      <p:sp>
        <p:nvSpPr>
          <p:cNvPr id="1281083610" name="Shape 18"/>
          <p:cNvSpPr/>
          <p:nvPr/>
        </p:nvSpPr>
        <p:spPr bwMode="auto">
          <a:xfrm>
            <a:off x="9954006" y="137160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53864472" name="Text 19"/>
          <p:cNvSpPr txBox="1"/>
          <p:nvPr/>
        </p:nvSpPr>
        <p:spPr bwMode="auto">
          <a:xfrm>
            <a:off x="10100310" y="137160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образы</a:t>
            </a:r>
            <a:endParaRPr lang="en-US" sz="1300"/>
          </a:p>
        </p:txBody>
      </p:sp>
      <p:sp>
        <p:nvSpPr>
          <p:cNvPr id="2034610714" name="Text 20"/>
          <p:cNvSpPr txBox="1"/>
          <p:nvPr/>
        </p:nvSpPr>
        <p:spPr bwMode="auto">
          <a:xfrm>
            <a:off x="10027158" y="2029968"/>
            <a:ext cx="1414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</a:rPr>
              <a:t>SHA-256, запись через dd</a:t>
            </a:r>
            <a:endParaRPr lang="en-US" sz="1150"/>
          </a:p>
        </p:txBody>
      </p:sp>
      <p:sp>
        <p:nvSpPr>
          <p:cNvPr id="917128189" name="Shape 21"/>
          <p:cNvSpPr/>
          <p:nvPr/>
        </p:nvSpPr>
        <p:spPr bwMode="auto">
          <a:xfrm>
            <a:off x="2468880" y="278892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913332835" name="Text 22"/>
          <p:cNvSpPr txBox="1"/>
          <p:nvPr/>
        </p:nvSpPr>
        <p:spPr bwMode="auto">
          <a:xfrm>
            <a:off x="2615184" y="278892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прошивка</a:t>
            </a:r>
            <a:endParaRPr lang="en-US" sz="1300"/>
          </a:p>
        </p:txBody>
      </p:sp>
      <p:sp>
        <p:nvSpPr>
          <p:cNvPr id="1397169768" name="Shape 23"/>
          <p:cNvSpPr/>
          <p:nvPr/>
        </p:nvSpPr>
        <p:spPr bwMode="auto">
          <a:xfrm>
            <a:off x="3965905" y="2788920"/>
            <a:ext cx="4591660" cy="566928"/>
          </a:xfrm>
          <a:custGeom>
            <a:avLst/>
            <a:gdLst/>
            <a:ahLst/>
            <a:cxnLst/>
            <a:rect l="l" t="t" r="r" b="b"/>
            <a:pathLst>
              <a:path w="4591660" h="566928" fill="norm" stroke="1" extrusionOk="0">
                <a:moveTo>
                  <a:pt x="0" y="0"/>
                </a:moveTo>
                <a:lnTo>
                  <a:pt x="4445356" y="0"/>
                </a:lnTo>
                <a:lnTo>
                  <a:pt x="4591660" y="283464"/>
                </a:lnTo>
                <a:lnTo>
                  <a:pt x="4445356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12856661" name="Text 24"/>
          <p:cNvSpPr txBox="1"/>
          <p:nvPr/>
        </p:nvSpPr>
        <p:spPr bwMode="auto">
          <a:xfrm>
            <a:off x="4112209" y="2788920"/>
            <a:ext cx="42990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accent1"/>
                </a:solidFill>
              </a:rPr>
              <a:t>HTTPS прямо из прошивки</a:t>
            </a:r>
            <a:endParaRPr lang="en-US" sz="1300"/>
          </a:p>
        </p:txBody>
      </p:sp>
      <p:sp>
        <p:nvSpPr>
          <p:cNvPr id="1226778582" name="Shape 25"/>
          <p:cNvSpPr/>
          <p:nvPr/>
        </p:nvSpPr>
        <p:spPr bwMode="auto">
          <a:xfrm>
            <a:off x="8456981" y="278892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532033551" name="Text 26"/>
          <p:cNvSpPr txBox="1"/>
          <p:nvPr/>
        </p:nvSpPr>
        <p:spPr bwMode="auto">
          <a:xfrm>
            <a:off x="8603285" y="278892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UKI</a:t>
            </a:r>
            <a:endParaRPr lang="en-US" sz="1300"/>
          </a:p>
        </p:txBody>
      </p:sp>
      <p:sp>
        <p:nvSpPr>
          <p:cNvPr id="278314257" name="Shape 27"/>
          <p:cNvSpPr/>
          <p:nvPr/>
        </p:nvSpPr>
        <p:spPr bwMode="auto">
          <a:xfrm>
            <a:off x="9954006" y="2788920"/>
            <a:ext cx="1597609" cy="566928"/>
          </a:xfrm>
          <a:custGeom>
            <a:avLst/>
            <a:gdLst/>
            <a:ahLst/>
            <a:cxnLst/>
            <a:rect l="l" t="t" r="r" b="b"/>
            <a:pathLst>
              <a:path w="1597609" h="566928" fill="norm" stroke="1" extrusionOk="0">
                <a:moveTo>
                  <a:pt x="0" y="0"/>
                </a:moveTo>
                <a:lnTo>
                  <a:pt x="1451305" y="0"/>
                </a:lnTo>
                <a:lnTo>
                  <a:pt x="1597609" y="283464"/>
                </a:lnTo>
                <a:lnTo>
                  <a:pt x="1451305" y="566928"/>
                </a:lnTo>
                <a:lnTo>
                  <a:pt x="0" y="566928"/>
                </a:lnTo>
                <a:lnTo>
                  <a:pt x="146304" y="28346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922188976" name="Text 28"/>
          <p:cNvSpPr txBox="1"/>
          <p:nvPr/>
        </p:nvSpPr>
        <p:spPr bwMode="auto">
          <a:xfrm>
            <a:off x="10100310" y="2788920"/>
            <a:ext cx="13050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образы</a:t>
            </a:r>
            <a:endParaRPr lang="en-US" sz="1300"/>
          </a:p>
        </p:txBody>
      </p:sp>
      <p:sp>
        <p:nvSpPr>
          <p:cNvPr id="518816769" name="Shape 29"/>
          <p:cNvSpPr/>
          <p:nvPr/>
        </p:nvSpPr>
        <p:spPr bwMode="auto">
          <a:xfrm>
            <a:off x="640080" y="3657600"/>
            <a:ext cx="3454298" cy="210312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770665684" name="Text 30"/>
          <p:cNvSpPr txBox="1"/>
          <p:nvPr/>
        </p:nvSpPr>
        <p:spPr bwMode="auto">
          <a:xfrm>
            <a:off x="804672" y="3730752"/>
            <a:ext cx="317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accent2"/>
                </a:solidFill>
              </a:rPr>
              <a:t>Что не нужно</a:t>
            </a:r>
            <a:endParaRPr lang="en-US" sz="1700"/>
          </a:p>
        </p:txBody>
      </p:sp>
      <p:sp>
        <p:nvSpPr>
          <p:cNvPr id="121567038" name="Text 31"/>
          <p:cNvSpPr txBox="1"/>
          <p:nvPr/>
        </p:nvSpPr>
        <p:spPr bwMode="auto">
          <a:xfrm>
            <a:off x="804672" y="4096512"/>
            <a:ext cx="317997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systemd-boot, ipxe.efi, osreboot.ipxe, boot.ipxe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скрипты build.sh и install-ipxe.sh</a:t>
            </a:r>
            <a:endParaRPr lang="en-US" sz="1400"/>
          </a:p>
        </p:txBody>
      </p:sp>
      <p:sp>
        <p:nvSpPr>
          <p:cNvPr id="1534019400" name="Shape 32"/>
          <p:cNvSpPr/>
          <p:nvPr/>
        </p:nvSpPr>
        <p:spPr bwMode="auto">
          <a:xfrm>
            <a:off x="4368698" y="3657600"/>
            <a:ext cx="3454298" cy="2103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46141669" name="Text 33"/>
          <p:cNvSpPr txBox="1"/>
          <p:nvPr/>
        </p:nvSpPr>
        <p:spPr bwMode="auto">
          <a:xfrm>
            <a:off x="4533290" y="3730752"/>
            <a:ext cx="317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</a:rPr>
              <a:t>Что нужно прошивке</a:t>
            </a:r>
            <a:endParaRPr lang="en-US" sz="1700"/>
          </a:p>
        </p:txBody>
      </p:sp>
      <p:sp>
        <p:nvSpPr>
          <p:cNvPr id="671583125" name="Text 34"/>
          <p:cNvSpPr txBox="1"/>
          <p:nvPr/>
        </p:nvSpPr>
        <p:spPr bwMode="auto">
          <a:xfrm>
            <a:off x="4533290" y="4096512"/>
            <a:ext cx="317997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модуль TLS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корневой сертификат в прошивке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запись с адресом сервера</a:t>
            </a:r>
            <a:endParaRPr lang="en-US" sz="1400"/>
          </a:p>
        </p:txBody>
      </p:sp>
      <p:sp>
        <p:nvSpPr>
          <p:cNvPr id="461174206" name="Shape 35"/>
          <p:cNvSpPr/>
          <p:nvPr/>
        </p:nvSpPr>
        <p:spPr bwMode="auto">
          <a:xfrm>
            <a:off x="8097317" y="3657600"/>
            <a:ext cx="3454298" cy="210312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734849153" name="Text 36"/>
          <p:cNvSpPr txBox="1"/>
          <p:nvPr/>
        </p:nvSpPr>
        <p:spPr bwMode="auto">
          <a:xfrm>
            <a:off x="8261909" y="3730752"/>
            <a:ext cx="317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accent3"/>
                </a:solidFill>
              </a:rPr>
              <a:t>Почему не у нас</a:t>
            </a:r>
            <a:endParaRPr lang="en-US" sz="1700"/>
          </a:p>
        </p:txBody>
      </p:sp>
      <p:sp>
        <p:nvSpPr>
          <p:cNvPr id="692031564" name="Text 37"/>
          <p:cNvSpPr txBox="1"/>
          <p:nvPr/>
        </p:nvSpPr>
        <p:spPr bwMode="auto">
          <a:xfrm>
            <a:off x="8261909" y="4096512"/>
            <a:ext cx="317997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модуля TLS в прошивке нет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запись с адресом прошивка удаляет при включении</a:t>
            </a:r>
            <a:endParaRPr lang="en-US" sz="1400"/>
          </a:p>
        </p:txBody>
      </p:sp>
      <p:sp>
        <p:nvSpPr>
          <p:cNvPr id="1090927347" name="Text 38"/>
          <p:cNvSpPr txBox="1"/>
          <p:nvPr/>
        </p:nvSpPr>
        <p:spPr bwMode="auto">
          <a:xfrm>
            <a:off x="804672" y="5102352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</a:rPr>
              <a:t>На диске ничего нет, переживёт стирание всего диска</a:t>
            </a:r>
            <a:endParaRPr lang="en-US" sz="1400"/>
          </a:p>
        </p:txBody>
      </p:sp>
      <p:sp>
        <p:nvSpPr>
          <p:cNvPr id="62254045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638890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BMC на плате сервера</a:t>
            </a:r>
            <a:endParaRPr lang="en-US" sz="2800"/>
          </a:p>
        </p:txBody>
      </p:sp>
      <p:sp>
        <p:nvSpPr>
          <p:cNvPr id="921498449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Baseboard Management Controller — контроллер управления системной платой</a:t>
            </a:r>
            <a:endParaRPr lang="en-US" sz="1500"/>
          </a:p>
        </p:txBody>
      </p:sp>
      <p:pic>
        <p:nvPicPr>
          <p:cNvPr id="920203400" name="Image 0" descr="Серверная плата OpenPower с BMC ASPEED AST240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080" y="1234440"/>
            <a:ext cx="5469825" cy="5029200"/>
          </a:xfrm>
          <a:prstGeom prst="rect">
            <a:avLst/>
          </a:prstGeom>
        </p:spPr>
      </p:pic>
      <p:sp>
        <p:nvSpPr>
          <p:cNvPr id="712705264" name="Shape 2"/>
          <p:cNvSpPr/>
          <p:nvPr/>
        </p:nvSpPr>
        <p:spPr bwMode="auto">
          <a:xfrm>
            <a:off x="2815288" y="4754880"/>
            <a:ext cx="472187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463594843" name="Text 3"/>
          <p:cNvSpPr txBox="1"/>
          <p:nvPr/>
        </p:nvSpPr>
        <p:spPr bwMode="auto">
          <a:xfrm>
            <a:off x="2220928" y="4608576"/>
            <a:ext cx="55778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tx1"/>
                </a:solidFill>
              </a:rPr>
              <a:t>BMC</a:t>
            </a:r>
            <a:endParaRPr lang="en-US" sz="1200"/>
          </a:p>
        </p:txBody>
      </p:sp>
      <p:sp>
        <p:nvSpPr>
          <p:cNvPr id="517719458" name="Shape 4"/>
          <p:cNvSpPr/>
          <p:nvPr/>
        </p:nvSpPr>
        <p:spPr bwMode="auto">
          <a:xfrm>
            <a:off x="3080590" y="5715092"/>
            <a:ext cx="436618" cy="20482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57841835" name="Text 5"/>
          <p:cNvSpPr txBox="1"/>
          <p:nvPr/>
        </p:nvSpPr>
        <p:spPr bwMode="auto">
          <a:xfrm>
            <a:off x="1846190" y="5538978"/>
            <a:ext cx="11978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tx1"/>
                </a:solidFill>
              </a:rPr>
              <a:t>Память BMC</a:t>
            </a:r>
            <a:endParaRPr lang="en-US" sz="1200"/>
          </a:p>
        </p:txBody>
      </p:sp>
      <p:sp>
        <p:nvSpPr>
          <p:cNvPr id="2113431581" name="Shape 6"/>
          <p:cNvSpPr/>
          <p:nvPr/>
        </p:nvSpPr>
        <p:spPr bwMode="auto">
          <a:xfrm flipH="1">
            <a:off x="4600233" y="1810251"/>
            <a:ext cx="478170" cy="530613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924840984" name="Text 7"/>
          <p:cNvSpPr txBox="1"/>
          <p:nvPr/>
        </p:nvSpPr>
        <p:spPr bwMode="auto">
          <a:xfrm>
            <a:off x="4955841" y="1490472"/>
            <a:ext cx="55778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tx1"/>
                </a:solidFill>
              </a:rPr>
              <a:t>VGA</a:t>
            </a:r>
            <a:endParaRPr lang="en-US" sz="1200"/>
          </a:p>
        </p:txBody>
      </p:sp>
      <p:sp>
        <p:nvSpPr>
          <p:cNvPr id="1721905957" name="Shape 8"/>
          <p:cNvSpPr/>
          <p:nvPr/>
        </p:nvSpPr>
        <p:spPr bwMode="auto">
          <a:xfrm flipH="1">
            <a:off x="1187062" y="1691863"/>
            <a:ext cx="100656" cy="286898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026986075" name="Text 9"/>
          <p:cNvSpPr txBox="1"/>
          <p:nvPr/>
        </p:nvSpPr>
        <p:spPr bwMode="auto">
          <a:xfrm>
            <a:off x="805565" y="1364742"/>
            <a:ext cx="109118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tx1"/>
                </a:solidFill>
              </a:rPr>
              <a:t>BMC_RJ45</a:t>
            </a:r>
            <a:endParaRPr lang="en-US" sz="1200"/>
          </a:p>
        </p:txBody>
      </p:sp>
      <p:sp>
        <p:nvSpPr>
          <p:cNvPr id="1936606272" name="Shape 10"/>
          <p:cNvSpPr/>
          <p:nvPr/>
        </p:nvSpPr>
        <p:spPr bwMode="auto">
          <a:xfrm flipH="1">
            <a:off x="2691264" y="1768460"/>
            <a:ext cx="95512" cy="421528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365355689" name="Text 11"/>
          <p:cNvSpPr txBox="1"/>
          <p:nvPr/>
        </p:nvSpPr>
        <p:spPr bwMode="auto">
          <a:xfrm>
            <a:off x="2122398" y="1440180"/>
            <a:ext cx="141122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tx1"/>
                </a:solidFill>
              </a:rPr>
              <a:t>PWR_RST_BTN</a:t>
            </a:r>
            <a:endParaRPr lang="en-US" sz="1200"/>
          </a:p>
        </p:txBody>
      </p:sp>
      <p:sp>
        <p:nvSpPr>
          <p:cNvPr id="133347817" name="Shape 12"/>
          <p:cNvSpPr/>
          <p:nvPr/>
        </p:nvSpPr>
        <p:spPr bwMode="auto">
          <a:xfrm flipH="1">
            <a:off x="5453526" y="4228610"/>
            <a:ext cx="250782" cy="425686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56346444" name="Text 13"/>
          <p:cNvSpPr txBox="1"/>
          <p:nvPr/>
        </p:nvSpPr>
        <p:spPr bwMode="auto">
          <a:xfrm>
            <a:off x="5476832" y="3904488"/>
            <a:ext cx="6644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chemeClr val="tx1"/>
                </a:solidFill>
              </a:rPr>
              <a:t>STBY</a:t>
            </a:r>
            <a:endParaRPr lang="en-US" sz="1200"/>
          </a:p>
        </p:txBody>
      </p:sp>
      <p:sp>
        <p:nvSpPr>
          <p:cNvPr id="581041084" name="Text 14"/>
          <p:cNvSpPr txBox="1"/>
          <p:nvPr/>
        </p:nvSpPr>
        <p:spPr bwMode="auto">
          <a:xfrm>
            <a:off x="6521385" y="1234440"/>
            <a:ext cx="5030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BMC</a:t>
            </a:r>
            <a:endParaRPr lang="en-US" sz="1450"/>
          </a:p>
        </p:txBody>
      </p:sp>
      <p:sp>
        <p:nvSpPr>
          <p:cNvPr id="777554003" name="Text 15"/>
          <p:cNvSpPr txBox="1"/>
          <p:nvPr/>
        </p:nvSpPr>
        <p:spPr bwMode="auto">
          <a:xfrm>
            <a:off x="6521385" y="1600200"/>
            <a:ext cx="5030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ASPEED AST2400 — второй компьютер на плате: свой процессор ARM и своя прошивка.</a:t>
            </a:r>
            <a:endParaRPr lang="en-US" sz="1300"/>
          </a:p>
        </p:txBody>
      </p:sp>
      <p:sp>
        <p:nvSpPr>
          <p:cNvPr id="1926568401" name="Text 16"/>
          <p:cNvSpPr txBox="1"/>
          <p:nvPr/>
        </p:nvSpPr>
        <p:spPr bwMode="auto">
          <a:xfrm>
            <a:off x="6521385" y="2167128"/>
            <a:ext cx="5030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Память BMC</a:t>
            </a:r>
            <a:endParaRPr lang="en-US" sz="1450"/>
          </a:p>
        </p:txBody>
      </p:sp>
      <p:sp>
        <p:nvSpPr>
          <p:cNvPr id="233807517" name="Text 17"/>
          <p:cNvSpPr txBox="1"/>
          <p:nvPr/>
        </p:nvSpPr>
        <p:spPr bwMode="auto">
          <a:xfrm>
            <a:off x="6521385" y="2532888"/>
            <a:ext cx="5030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Своя оперативная память.</a:t>
            </a:r>
            <a:endParaRPr lang="en-US" sz="1300"/>
          </a:p>
        </p:txBody>
      </p:sp>
      <p:sp>
        <p:nvSpPr>
          <p:cNvPr id="1345469279" name="Text 18"/>
          <p:cNvSpPr txBox="1"/>
          <p:nvPr/>
        </p:nvSpPr>
        <p:spPr bwMode="auto">
          <a:xfrm>
            <a:off x="6521385" y="2898648"/>
            <a:ext cx="5030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VGA</a:t>
            </a:r>
            <a:endParaRPr lang="en-US" sz="1450"/>
          </a:p>
        </p:txBody>
      </p:sp>
      <p:sp>
        <p:nvSpPr>
          <p:cNvPr id="1026327469" name="Text 19"/>
          <p:cNvSpPr txBox="1"/>
          <p:nvPr/>
        </p:nvSpPr>
        <p:spPr bwMode="auto">
          <a:xfrm>
            <a:off x="6521385" y="3264408"/>
            <a:ext cx="5030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Видеовыход сервера делает сам BMC: он видит экран и показывает его по сети (KVM).</a:t>
            </a:r>
            <a:endParaRPr lang="en-US" sz="1300"/>
          </a:p>
        </p:txBody>
      </p:sp>
      <p:sp>
        <p:nvSpPr>
          <p:cNvPr id="1327985878" name="Text 20"/>
          <p:cNvSpPr txBox="1"/>
          <p:nvPr/>
        </p:nvSpPr>
        <p:spPr bwMode="auto">
          <a:xfrm>
            <a:off x="6521385" y="3831336"/>
            <a:ext cx="5030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BMC_RJ45</a:t>
            </a:r>
            <a:endParaRPr lang="en-US" sz="1450"/>
          </a:p>
        </p:txBody>
      </p:sp>
      <p:sp>
        <p:nvSpPr>
          <p:cNvPr id="1613514254" name="Text 21"/>
          <p:cNvSpPr txBox="1"/>
          <p:nvPr/>
        </p:nvSpPr>
        <p:spPr bwMode="auto">
          <a:xfrm>
            <a:off x="6521385" y="4197096"/>
            <a:ext cx="5030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Свой сетевой порт для сети управления.</a:t>
            </a:r>
            <a:endParaRPr lang="en-US" sz="1300"/>
          </a:p>
        </p:txBody>
      </p:sp>
      <p:sp>
        <p:nvSpPr>
          <p:cNvPr id="653520389" name="Text 22"/>
          <p:cNvSpPr txBox="1"/>
          <p:nvPr/>
        </p:nvSpPr>
        <p:spPr bwMode="auto">
          <a:xfrm>
            <a:off x="6521385" y="4562856"/>
            <a:ext cx="5030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PWR_RST_BTN</a:t>
            </a:r>
            <a:endParaRPr lang="en-US" sz="1450"/>
          </a:p>
        </p:txBody>
      </p:sp>
      <p:sp>
        <p:nvSpPr>
          <p:cNvPr id="1021878236" name="Text 23"/>
          <p:cNvSpPr txBox="1"/>
          <p:nvPr/>
        </p:nvSpPr>
        <p:spPr bwMode="auto">
          <a:xfrm>
            <a:off x="6521385" y="4928616"/>
            <a:ext cx="5030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Линии кнопок питания и сброса. По команде Reset BMC замыкает их сам.</a:t>
            </a:r>
            <a:endParaRPr lang="en-US" sz="1300"/>
          </a:p>
        </p:txBody>
      </p:sp>
      <p:sp>
        <p:nvSpPr>
          <p:cNvPr id="691037745" name="Text 24"/>
          <p:cNvSpPr txBox="1"/>
          <p:nvPr/>
        </p:nvSpPr>
        <p:spPr bwMode="auto">
          <a:xfrm>
            <a:off x="6521385" y="5495544"/>
            <a:ext cx="5030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STBY</a:t>
            </a:r>
            <a:endParaRPr lang="en-US" sz="1450"/>
          </a:p>
        </p:txBody>
      </p:sp>
      <p:sp>
        <p:nvSpPr>
          <p:cNvPr id="1544501239" name="Text 25"/>
          <p:cNvSpPr txBox="1"/>
          <p:nvPr/>
        </p:nvSpPr>
        <p:spPr bwMode="auto">
          <a:xfrm>
            <a:off x="6521385" y="5861304"/>
            <a:ext cx="5030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Дежурное питание: BMC работает, даже при выключенном сервере.</a:t>
            </a:r>
            <a:endParaRPr lang="en-US" sz="1300"/>
          </a:p>
        </p:txBody>
      </p:sp>
      <p:sp>
        <p:nvSpPr>
          <p:cNvPr id="2103645802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99330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BMC: загрузка с виртуального CD</a:t>
            </a:r>
            <a:endParaRPr lang="en-US" sz="2800"/>
          </a:p>
        </p:txBody>
      </p:sp>
      <p:sp>
        <p:nvSpPr>
          <p:cNvPr id="315167701" name="Shape 1"/>
          <p:cNvSpPr/>
          <p:nvPr/>
        </p:nvSpPr>
        <p:spPr bwMode="auto">
          <a:xfrm>
            <a:off x="2514600" y="1325880"/>
            <a:ext cx="3291840" cy="4937760"/>
          </a:xfrm>
          <a:prstGeom prst="roundRect">
            <a:avLst>
              <a:gd name="adj" fmla="val 2778"/>
            </a:avLst>
          </a:prstGeom>
          <a:noFill/>
          <a:ln w="15875">
            <a:solidFill>
              <a:srgbClr val="9AA1A9"/>
            </a:solidFill>
            <a:prstDash val="dash"/>
          </a:ln>
        </p:spPr>
      </p:sp>
      <p:sp>
        <p:nvSpPr>
          <p:cNvPr id="492794691" name="Text 2"/>
          <p:cNvSpPr txBox="1"/>
          <p:nvPr/>
        </p:nvSpPr>
        <p:spPr bwMode="auto">
          <a:xfrm>
            <a:off x="2697480" y="1216151"/>
            <a:ext cx="114300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плата сервера</a:t>
            </a:r>
            <a:endParaRPr lang="en-US" sz="1100"/>
          </a:p>
        </p:txBody>
      </p:sp>
      <p:sp>
        <p:nvSpPr>
          <p:cNvPr id="1584619591" name="Shape 3"/>
          <p:cNvSpPr/>
          <p:nvPr/>
        </p:nvSpPr>
        <p:spPr bwMode="auto">
          <a:xfrm>
            <a:off x="548640" y="1508759"/>
            <a:ext cx="1280160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13776915" name="Text 4"/>
          <p:cNvSpPr txBox="1"/>
          <p:nvPr/>
        </p:nvSpPr>
        <p:spPr bwMode="auto">
          <a:xfrm>
            <a:off x="548640" y="1508759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Ironic / MAAS</a:t>
            </a:r>
            <a:endParaRPr lang="en-US" sz="1500"/>
          </a:p>
        </p:txBody>
      </p:sp>
      <p:sp>
        <p:nvSpPr>
          <p:cNvPr id="1935925146" name="Shape 5"/>
          <p:cNvSpPr/>
          <p:nvPr/>
        </p:nvSpPr>
        <p:spPr bwMode="auto">
          <a:xfrm>
            <a:off x="118872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1586403784" name="Shape 6"/>
          <p:cNvSpPr/>
          <p:nvPr/>
        </p:nvSpPr>
        <p:spPr bwMode="auto">
          <a:xfrm>
            <a:off x="2697480" y="1508759"/>
            <a:ext cx="128016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803230018" name="Text 7"/>
          <p:cNvSpPr txBox="1"/>
          <p:nvPr/>
        </p:nvSpPr>
        <p:spPr bwMode="auto">
          <a:xfrm>
            <a:off x="2697480" y="1563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BMC</a:t>
            </a:r>
            <a:endParaRPr lang="en-US" sz="1500"/>
          </a:p>
        </p:txBody>
      </p:sp>
      <p:sp>
        <p:nvSpPr>
          <p:cNvPr id="481905327" name="Text 8"/>
          <p:cNvSpPr txBox="1"/>
          <p:nvPr/>
        </p:nvSpPr>
        <p:spPr bwMode="auto">
          <a:xfrm>
            <a:off x="2770632" y="185623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Redfish, TCP 443</a:t>
            </a:r>
            <a:endParaRPr lang="en-US" sz="1100"/>
          </a:p>
        </p:txBody>
      </p:sp>
      <p:sp>
        <p:nvSpPr>
          <p:cNvPr id="287626012" name="Shape 9"/>
          <p:cNvSpPr/>
          <p:nvPr/>
        </p:nvSpPr>
        <p:spPr bwMode="auto">
          <a:xfrm>
            <a:off x="333756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1123262630" name="Shape 10"/>
          <p:cNvSpPr/>
          <p:nvPr/>
        </p:nvSpPr>
        <p:spPr bwMode="auto">
          <a:xfrm>
            <a:off x="4343400" y="1508759"/>
            <a:ext cx="128016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059377332" name="Text 11"/>
          <p:cNvSpPr txBox="1"/>
          <p:nvPr/>
        </p:nvSpPr>
        <p:spPr bwMode="auto">
          <a:xfrm>
            <a:off x="4343400" y="1563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Сервер</a:t>
            </a:r>
            <a:endParaRPr lang="en-US" sz="1500"/>
          </a:p>
        </p:txBody>
      </p:sp>
      <p:sp>
        <p:nvSpPr>
          <p:cNvPr id="371033448" name="Text 12"/>
          <p:cNvSpPr txBox="1"/>
          <p:nvPr/>
        </p:nvSpPr>
        <p:spPr bwMode="auto">
          <a:xfrm>
            <a:off x="4416552" y="185623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UEFI, ЦП, диск</a:t>
            </a:r>
            <a:endParaRPr lang="en-US" sz="1100"/>
          </a:p>
        </p:txBody>
      </p:sp>
      <p:sp>
        <p:nvSpPr>
          <p:cNvPr id="1466443446" name="Shape 13"/>
          <p:cNvSpPr/>
          <p:nvPr/>
        </p:nvSpPr>
        <p:spPr bwMode="auto">
          <a:xfrm>
            <a:off x="498348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2094458158" name="Shape 14"/>
          <p:cNvSpPr/>
          <p:nvPr/>
        </p:nvSpPr>
        <p:spPr bwMode="auto">
          <a:xfrm>
            <a:off x="5806440" y="1508759"/>
            <a:ext cx="128016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98380076" name="Text 15"/>
          <p:cNvSpPr txBox="1"/>
          <p:nvPr/>
        </p:nvSpPr>
        <p:spPr bwMode="auto">
          <a:xfrm>
            <a:off x="5806440" y="1563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ISO-сервер</a:t>
            </a:r>
            <a:endParaRPr lang="en-US" sz="1500"/>
          </a:p>
        </p:txBody>
      </p:sp>
      <p:sp>
        <p:nvSpPr>
          <p:cNvPr id="1670155140" name="Text 16"/>
          <p:cNvSpPr txBox="1"/>
          <p:nvPr/>
        </p:nvSpPr>
        <p:spPr bwMode="auto">
          <a:xfrm>
            <a:off x="5879592" y="185623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HTTPS</a:t>
            </a:r>
            <a:endParaRPr lang="en-US" sz="1100"/>
          </a:p>
        </p:txBody>
      </p:sp>
      <p:sp>
        <p:nvSpPr>
          <p:cNvPr id="1209285539" name="Shape 17"/>
          <p:cNvSpPr/>
          <p:nvPr/>
        </p:nvSpPr>
        <p:spPr bwMode="auto">
          <a:xfrm>
            <a:off x="6446520" y="2148840"/>
            <a:ext cx="0" cy="3977640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686972404" name="Shape 18"/>
          <p:cNvSpPr/>
          <p:nvPr/>
        </p:nvSpPr>
        <p:spPr bwMode="auto">
          <a:xfrm>
            <a:off x="1225296" y="2651760"/>
            <a:ext cx="207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44724837" name="Text 19"/>
          <p:cNvSpPr txBox="1"/>
          <p:nvPr/>
        </p:nvSpPr>
        <p:spPr bwMode="auto">
          <a:xfrm>
            <a:off x="1379220" y="2395728"/>
            <a:ext cx="176784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POST InsertMedia</a:t>
            </a:r>
            <a:endParaRPr lang="en-US" sz="1300"/>
          </a:p>
        </p:txBody>
      </p:sp>
      <p:sp>
        <p:nvSpPr>
          <p:cNvPr id="1842678095" name="Text 20"/>
          <p:cNvSpPr txBox="1"/>
          <p:nvPr/>
        </p:nvSpPr>
        <p:spPr bwMode="auto">
          <a:xfrm>
            <a:off x="1357249" y="2688336"/>
            <a:ext cx="1811782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ISO как виртуальный CD</a:t>
            </a:r>
            <a:endParaRPr lang="en-US" sz="1100"/>
          </a:p>
        </p:txBody>
      </p:sp>
      <p:sp>
        <p:nvSpPr>
          <p:cNvPr id="2453087" name="Shape 21"/>
          <p:cNvSpPr/>
          <p:nvPr/>
        </p:nvSpPr>
        <p:spPr bwMode="auto">
          <a:xfrm>
            <a:off x="1225296" y="3154680"/>
            <a:ext cx="207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79955948" name="Text 22"/>
          <p:cNvSpPr txBox="1"/>
          <p:nvPr/>
        </p:nvSpPr>
        <p:spPr bwMode="auto">
          <a:xfrm>
            <a:off x="1676400" y="2898648"/>
            <a:ext cx="117348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PATCH Boot</a:t>
            </a:r>
            <a:endParaRPr lang="en-US" sz="1300"/>
          </a:p>
        </p:txBody>
      </p:sp>
      <p:sp>
        <p:nvSpPr>
          <p:cNvPr id="1942811776" name="Text 23"/>
          <p:cNvSpPr txBox="1"/>
          <p:nvPr/>
        </p:nvSpPr>
        <p:spPr bwMode="auto">
          <a:xfrm>
            <a:off x="1320229" y="3191256"/>
            <a:ext cx="1885823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загрузка с CD, один раз</a:t>
            </a:r>
            <a:endParaRPr lang="en-US" sz="1100"/>
          </a:p>
        </p:txBody>
      </p:sp>
      <p:sp>
        <p:nvSpPr>
          <p:cNvPr id="1751024901" name="Shape 24"/>
          <p:cNvSpPr/>
          <p:nvPr/>
        </p:nvSpPr>
        <p:spPr bwMode="auto">
          <a:xfrm>
            <a:off x="1225296" y="3657600"/>
            <a:ext cx="20756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009742" name="Text 25"/>
          <p:cNvSpPr txBox="1"/>
          <p:nvPr/>
        </p:nvSpPr>
        <p:spPr bwMode="auto">
          <a:xfrm>
            <a:off x="1676400" y="3401568"/>
            <a:ext cx="117348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POST Reset</a:t>
            </a:r>
            <a:endParaRPr lang="en-US" sz="1300"/>
          </a:p>
        </p:txBody>
      </p:sp>
      <p:sp>
        <p:nvSpPr>
          <p:cNvPr id="885921427" name="Text 26"/>
          <p:cNvSpPr txBox="1"/>
          <p:nvPr/>
        </p:nvSpPr>
        <p:spPr bwMode="auto">
          <a:xfrm>
            <a:off x="1727454" y="3694176"/>
            <a:ext cx="1071372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перезагрузка</a:t>
            </a:r>
            <a:endParaRPr lang="en-US" sz="1100"/>
          </a:p>
        </p:txBody>
      </p:sp>
      <p:sp>
        <p:nvSpPr>
          <p:cNvPr id="889994395" name="Shape 27"/>
          <p:cNvSpPr/>
          <p:nvPr/>
        </p:nvSpPr>
        <p:spPr bwMode="auto">
          <a:xfrm>
            <a:off x="777240" y="3950208"/>
            <a:ext cx="635508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72361680" name="Shape 28"/>
          <p:cNvSpPr/>
          <p:nvPr/>
        </p:nvSpPr>
        <p:spPr bwMode="auto">
          <a:xfrm>
            <a:off x="3374136" y="4343400"/>
            <a:ext cx="157276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3704137" name="Text 29"/>
          <p:cNvSpPr txBox="1"/>
          <p:nvPr/>
        </p:nvSpPr>
        <p:spPr bwMode="auto">
          <a:xfrm>
            <a:off x="3821430" y="4087368"/>
            <a:ext cx="67818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Reset</a:t>
            </a:r>
            <a:endParaRPr lang="en-US" sz="1300"/>
          </a:p>
        </p:txBody>
      </p:sp>
      <p:sp>
        <p:nvSpPr>
          <p:cNvPr id="1987947268" name="Shape 30"/>
          <p:cNvSpPr/>
          <p:nvPr/>
        </p:nvSpPr>
        <p:spPr bwMode="auto">
          <a:xfrm flipH="1">
            <a:off x="3374136" y="4846320"/>
            <a:ext cx="1572768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headEnd type="triangle"/>
            <a:tailEnd type="triangle"/>
          </a:ln>
        </p:spPr>
      </p:sp>
      <p:sp>
        <p:nvSpPr>
          <p:cNvPr id="604636704" name="Text 31"/>
          <p:cNvSpPr txBox="1"/>
          <p:nvPr/>
        </p:nvSpPr>
        <p:spPr bwMode="auto">
          <a:xfrm>
            <a:off x="3392424" y="4590288"/>
            <a:ext cx="1536192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IPMI: boot flags</a:t>
            </a:r>
            <a:endParaRPr lang="en-US" sz="1150"/>
          </a:p>
        </p:txBody>
      </p:sp>
      <p:sp>
        <p:nvSpPr>
          <p:cNvPr id="857708459" name="Text 32"/>
          <p:cNvSpPr txBox="1"/>
          <p:nvPr/>
        </p:nvSpPr>
        <p:spPr bwMode="auto">
          <a:xfrm>
            <a:off x="3661854" y="4882896"/>
            <a:ext cx="997331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один раз CD</a:t>
            </a:r>
            <a:endParaRPr lang="en-US" sz="1100"/>
          </a:p>
        </p:txBody>
      </p:sp>
      <p:sp>
        <p:nvSpPr>
          <p:cNvPr id="1918786074" name="Shape 33"/>
          <p:cNvSpPr/>
          <p:nvPr/>
        </p:nvSpPr>
        <p:spPr bwMode="auto">
          <a:xfrm flipH="1">
            <a:off x="3374136" y="5349240"/>
            <a:ext cx="157276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43730563" name="Text 34"/>
          <p:cNvSpPr txBox="1"/>
          <p:nvPr/>
        </p:nvSpPr>
        <p:spPr bwMode="auto">
          <a:xfrm>
            <a:off x="3392424" y="5093208"/>
            <a:ext cx="1536192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USB: чтение CD</a:t>
            </a:r>
            <a:endParaRPr lang="en-US" sz="1300"/>
          </a:p>
        </p:txBody>
      </p:sp>
      <p:sp>
        <p:nvSpPr>
          <p:cNvPr id="652935216" name="Text 35"/>
          <p:cNvSpPr txBox="1"/>
          <p:nvPr/>
        </p:nvSpPr>
        <p:spPr bwMode="auto">
          <a:xfrm>
            <a:off x="3550793" y="5385816"/>
            <a:ext cx="1219454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accent2"/>
                </a:solidFill>
              </a:rPr>
              <a:t>ISO как USB-CD</a:t>
            </a:r>
            <a:endParaRPr lang="en-US" sz="1100"/>
          </a:p>
        </p:txBody>
      </p:sp>
      <p:sp>
        <p:nvSpPr>
          <p:cNvPr id="1602708178" name="Shape 36"/>
          <p:cNvSpPr/>
          <p:nvPr/>
        </p:nvSpPr>
        <p:spPr bwMode="auto">
          <a:xfrm>
            <a:off x="3374136" y="5870448"/>
            <a:ext cx="303580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76586826" name="Text 37"/>
          <p:cNvSpPr txBox="1"/>
          <p:nvPr/>
        </p:nvSpPr>
        <p:spPr bwMode="auto">
          <a:xfrm>
            <a:off x="4008120" y="5614416"/>
            <a:ext cx="176784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GET recovery.iso</a:t>
            </a:r>
            <a:endParaRPr lang="en-US" sz="1300"/>
          </a:p>
        </p:txBody>
      </p:sp>
      <p:sp>
        <p:nvSpPr>
          <p:cNvPr id="711013974" name="Text 38"/>
          <p:cNvSpPr txBox="1"/>
          <p:nvPr/>
        </p:nvSpPr>
        <p:spPr bwMode="auto">
          <a:xfrm>
            <a:off x="3801046" y="5907024"/>
            <a:ext cx="2181987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BMC берёт блоки CD по HTTPS</a:t>
            </a:r>
            <a:endParaRPr lang="en-US" sz="1100"/>
          </a:p>
        </p:txBody>
      </p:sp>
      <p:sp>
        <p:nvSpPr>
          <p:cNvPr id="992991168" name="Text 39"/>
          <p:cNvSpPr txBox="1"/>
          <p:nvPr/>
        </p:nvSpPr>
        <p:spPr bwMode="auto">
          <a:xfrm>
            <a:off x="7452360" y="1325880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tx1"/>
                </a:solidFill>
              </a:rPr>
              <a:t>Как это происходит</a:t>
            </a:r>
            <a:endParaRPr lang="en-US" sz="1800"/>
          </a:p>
        </p:txBody>
      </p:sp>
      <p:sp>
        <p:nvSpPr>
          <p:cNvPr id="1238476692" name="Text 40"/>
          <p:cNvSpPr txBox="1"/>
          <p:nvPr/>
        </p:nvSpPr>
        <p:spPr bwMode="auto">
          <a:xfrm>
            <a:off x="7452360" y="1801367"/>
            <a:ext cx="40992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  <a:defRPr/>
            </a:pPr>
            <a:r>
              <a:rPr lang="en-US" sz="1300">
                <a:solidFill>
                  <a:schemeClr val="tx1"/>
                </a:solidFill>
              </a:rPr>
              <a:t>Ironic по Redfish вставляет в виртуальный CD ссылку на recovery.iso.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  <a:defRPr/>
            </a:pPr>
            <a:r>
              <a:rPr lang="en-US" sz="1300">
                <a:solidFill>
                  <a:schemeClr val="tx1"/>
                </a:solidFill>
              </a:rPr>
              <a:t>Ставит загрузку с CD один раз и шлёт Reset.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  <a:defRPr/>
            </a:pPr>
            <a:r>
              <a:rPr lang="en-US" sz="1300">
                <a:solidFill>
                  <a:schemeClr val="tx1"/>
                </a:solidFill>
              </a:rPr>
              <a:t>BMC замыкает линию сброса, сервер стартует.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  <a:defRPr/>
            </a:pPr>
            <a:r>
              <a:rPr lang="en-US" sz="1300">
                <a:solidFill>
                  <a:schemeClr val="tx1"/>
                </a:solidFill>
              </a:rPr>
              <a:t>UEFI по IPMI узнаёт у BMC: грузиться с CD.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  <a:defRPr/>
            </a:pPr>
            <a:r>
              <a:rPr lang="en-US" sz="1300">
                <a:solidFill>
                  <a:schemeClr val="tx1"/>
                </a:solidFill>
              </a:rPr>
              <a:t>BMC эмулирует USB-привод CD: UEFI читает с него блоки, BMC качает их из ISO по HTTPS.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  <a:defRPr/>
            </a:pPr>
            <a:r>
              <a:rPr lang="en-US" sz="1300">
                <a:solidFill>
                  <a:schemeClr val="tx1"/>
                </a:solidFill>
              </a:rPr>
              <a:t>UEFI запускает Linux из ISO в RAM.</a:t>
            </a:r>
            <a:endParaRPr lang="en-US" sz="1300"/>
          </a:p>
        </p:txBody>
      </p:sp>
      <p:sp>
        <p:nvSpPr>
          <p:cNvPr id="1679725185" name="Shape 41"/>
          <p:cNvSpPr/>
          <p:nvPr/>
        </p:nvSpPr>
        <p:spPr bwMode="auto">
          <a:xfrm>
            <a:off x="7452360" y="4041648"/>
            <a:ext cx="4099255" cy="868680"/>
          </a:xfrm>
          <a:prstGeom prst="rect">
            <a:avLst/>
          </a:prstGeom>
          <a:solidFill>
            <a:srgbClr val="E9F5EC"/>
          </a:solidFill>
          <a:ln/>
        </p:spPr>
      </p:sp>
      <p:sp>
        <p:nvSpPr>
          <p:cNvPr id="926864781" name="Text 42"/>
          <p:cNvSpPr txBox="1"/>
          <p:nvPr/>
        </p:nvSpPr>
        <p:spPr bwMode="auto">
          <a:xfrm>
            <a:off x="7616952" y="4114800"/>
            <a:ext cx="3824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2"/>
                </a:solidFill>
              </a:rPr>
              <a:t>Чем лучше</a:t>
            </a:r>
            <a:endParaRPr lang="en-US" sz="1500"/>
          </a:p>
        </p:txBody>
      </p:sp>
      <p:sp>
        <p:nvSpPr>
          <p:cNvPr id="2033064812" name="Text 43"/>
          <p:cNvSpPr txBox="1"/>
          <p:nvPr/>
        </p:nvSpPr>
        <p:spPr bwMode="auto">
          <a:xfrm>
            <a:off x="7616952" y="4398264"/>
            <a:ext cx="38249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Серверу не нужны сеть, DHCP и HTTPS в прошивке.</a:t>
            </a:r>
            <a:endParaRPr lang="en-US" sz="1300"/>
          </a:p>
        </p:txBody>
      </p:sp>
      <p:sp>
        <p:nvSpPr>
          <p:cNvPr id="386006195" name="Shape 44"/>
          <p:cNvSpPr/>
          <p:nvPr/>
        </p:nvSpPr>
        <p:spPr bwMode="auto">
          <a:xfrm>
            <a:off x="7452360" y="5029200"/>
            <a:ext cx="4099255" cy="68580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725589917" name="Text 45"/>
          <p:cNvSpPr txBox="1"/>
          <p:nvPr/>
        </p:nvSpPr>
        <p:spPr bwMode="auto">
          <a:xfrm>
            <a:off x="7616952" y="5102352"/>
            <a:ext cx="3824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3"/>
                </a:solidFill>
              </a:rPr>
              <a:t>Почему не подошёл</a:t>
            </a:r>
            <a:endParaRPr lang="en-US" sz="1500"/>
          </a:p>
        </p:txBody>
      </p:sp>
      <p:sp>
        <p:nvSpPr>
          <p:cNvPr id="1710413132" name="Text 46"/>
          <p:cNvSpPr txBox="1"/>
          <p:nvPr/>
        </p:nvSpPr>
        <p:spPr bwMode="auto">
          <a:xfrm>
            <a:off x="7616952" y="5385816"/>
            <a:ext cx="3824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У ноутбука BMC нет.</a:t>
            </a:r>
            <a:endParaRPr lang="en-US" sz="1300"/>
          </a:p>
        </p:txBody>
      </p:sp>
      <p:sp>
        <p:nvSpPr>
          <p:cNvPr id="96992627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045030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Наш путь: HTTPS делает iPXE с диска</a:t>
            </a:r>
            <a:endParaRPr lang="en-US" sz="2800"/>
          </a:p>
        </p:txBody>
      </p:sp>
      <p:sp>
        <p:nvSpPr>
          <p:cNvPr id="553227531" name="Text 1"/>
          <p:cNvSpPr txBox="1"/>
          <p:nvPr/>
        </p:nvSpPr>
        <p:spPr bwMode="auto">
          <a:xfrm>
            <a:off x="640080" y="1234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accent3"/>
                </a:solidFill>
              </a:rPr>
              <a:t>×  </a:t>
            </a:r>
            <a:r>
              <a:rPr lang="en-US" sz="1600">
                <a:solidFill>
                  <a:schemeClr val="tx1"/>
                </a:solidFill>
              </a:rPr>
              <a:t>прошивка ноутбука не умеет HTTPS          </a:t>
            </a:r>
            <a:r>
              <a:rPr lang="en-US" sz="1600" b="1">
                <a:solidFill>
                  <a:schemeClr val="accent3"/>
                </a:solidFill>
              </a:rPr>
              <a:t>×  </a:t>
            </a:r>
            <a:r>
              <a:rPr lang="en-US" sz="1600">
                <a:solidFill>
                  <a:schemeClr val="tx1"/>
                </a:solidFill>
              </a:rPr>
              <a:t>свой DHCP в чужой сети не поставить          </a:t>
            </a:r>
            <a:r>
              <a:rPr lang="en-US" sz="1600" b="1">
                <a:solidFill>
                  <a:schemeClr val="accent3"/>
                </a:solidFill>
              </a:rPr>
              <a:t>×  </a:t>
            </a:r>
            <a:r>
              <a:rPr lang="en-US" sz="1600">
                <a:solidFill>
                  <a:schemeClr val="tx1"/>
                </a:solidFill>
              </a:rPr>
              <a:t>BMC у ноутбука нет</a:t>
            </a:r>
            <a:endParaRPr lang="en-US" sz="1600"/>
          </a:p>
        </p:txBody>
      </p:sp>
      <p:sp>
        <p:nvSpPr>
          <p:cNvPr id="1950423607" name="Shape 2"/>
          <p:cNvSpPr/>
          <p:nvPr/>
        </p:nvSpPr>
        <p:spPr bwMode="auto">
          <a:xfrm>
            <a:off x="640080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close/>
              </a:path>
            </a:pathLst>
          </a:custGeom>
          <a:solidFill>
            <a:schemeClr val="accent3"/>
          </a:solidFill>
          <a:ln/>
        </p:spPr>
      </p:sp>
      <p:sp>
        <p:nvSpPr>
          <p:cNvPr id="1711355299" name="Text 3"/>
          <p:cNvSpPr txBox="1"/>
          <p:nvPr/>
        </p:nvSpPr>
        <p:spPr bwMode="auto">
          <a:xfrm>
            <a:off x="786384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стирание</a:t>
            </a:r>
            <a:endParaRPr lang="en-US" sz="1100"/>
          </a:p>
        </p:txBody>
      </p:sp>
      <p:sp>
        <p:nvSpPr>
          <p:cNvPr id="1296211626" name="Shape 4"/>
          <p:cNvSpPr/>
          <p:nvPr/>
        </p:nvSpPr>
        <p:spPr bwMode="auto">
          <a:xfrm>
            <a:off x="1841297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091952135" name="Text 5"/>
          <p:cNvSpPr txBox="1"/>
          <p:nvPr/>
        </p:nvSpPr>
        <p:spPr bwMode="auto">
          <a:xfrm>
            <a:off x="1987601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прошивка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UEFI</a:t>
            </a:r>
            <a:endParaRPr lang="en-US" sz="1100"/>
          </a:p>
        </p:txBody>
      </p:sp>
      <p:sp>
        <p:nvSpPr>
          <p:cNvPr id="1349504125" name="Shape 6"/>
          <p:cNvSpPr/>
          <p:nvPr/>
        </p:nvSpPr>
        <p:spPr bwMode="auto">
          <a:xfrm>
            <a:off x="3042514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354739104" name="Text 7"/>
          <p:cNvSpPr txBox="1"/>
          <p:nvPr/>
        </p:nvSpPr>
        <p:spPr bwMode="auto">
          <a:xfrm>
            <a:off x="3188817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systemd-boot</a:t>
            </a:r>
            <a:endParaRPr lang="en-US" sz="1100"/>
          </a:p>
        </p:txBody>
      </p:sp>
      <p:sp>
        <p:nvSpPr>
          <p:cNvPr id="457555346" name="Shape 8"/>
          <p:cNvSpPr/>
          <p:nvPr/>
        </p:nvSpPr>
        <p:spPr bwMode="auto">
          <a:xfrm>
            <a:off x="4243730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951237050" name="Text 9"/>
          <p:cNvSpPr txBox="1"/>
          <p:nvPr/>
        </p:nvSpPr>
        <p:spPr bwMode="auto">
          <a:xfrm>
            <a:off x="4390034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iPXE</a:t>
            </a:r>
            <a:endParaRPr lang="en-US" sz="1100"/>
          </a:p>
        </p:txBody>
      </p:sp>
      <p:sp>
        <p:nvSpPr>
          <p:cNvPr id="778504743" name="Shape 10"/>
          <p:cNvSpPr/>
          <p:nvPr/>
        </p:nvSpPr>
        <p:spPr bwMode="auto">
          <a:xfrm>
            <a:off x="5444947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480490904" name="Text 11"/>
          <p:cNvSpPr txBox="1"/>
          <p:nvPr/>
        </p:nvSpPr>
        <p:spPr bwMode="auto">
          <a:xfrm>
            <a:off x="5591251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DHCP и DNS</a:t>
            </a:r>
            <a:endParaRPr lang="en-US" sz="1100"/>
          </a:p>
        </p:txBody>
      </p:sp>
      <p:sp>
        <p:nvSpPr>
          <p:cNvPr id="1607509324" name="Shape 12"/>
          <p:cNvSpPr/>
          <p:nvPr/>
        </p:nvSpPr>
        <p:spPr bwMode="auto">
          <a:xfrm>
            <a:off x="6646164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44112035" name="Text 13"/>
          <p:cNvSpPr txBox="1"/>
          <p:nvPr/>
        </p:nvSpPr>
        <p:spPr bwMode="auto">
          <a:xfrm>
            <a:off x="6792468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HTTPS</a:t>
            </a:r>
            <a:endParaRPr lang="en-US" sz="1100"/>
          </a:p>
        </p:txBody>
      </p:sp>
      <p:sp>
        <p:nvSpPr>
          <p:cNvPr id="1245514826" name="Shape 14"/>
          <p:cNvSpPr/>
          <p:nvPr/>
        </p:nvSpPr>
        <p:spPr bwMode="auto">
          <a:xfrm>
            <a:off x="7847381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2078647192" name="Text 15"/>
          <p:cNvSpPr txBox="1"/>
          <p:nvPr/>
        </p:nvSpPr>
        <p:spPr bwMode="auto">
          <a:xfrm>
            <a:off x="7993685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Linux запущен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в оперативке</a:t>
            </a:r>
            <a:endParaRPr lang="en-US" sz="1100"/>
          </a:p>
        </p:txBody>
      </p:sp>
      <p:sp>
        <p:nvSpPr>
          <p:cNvPr id="773624094" name="Shape 16"/>
          <p:cNvSpPr/>
          <p:nvPr/>
        </p:nvSpPr>
        <p:spPr bwMode="auto">
          <a:xfrm>
            <a:off x="9048598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335480826" name="Text 17"/>
          <p:cNvSpPr txBox="1"/>
          <p:nvPr/>
        </p:nvSpPr>
        <p:spPr bwMode="auto">
          <a:xfrm>
            <a:off x="9194902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запись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на диск</a:t>
            </a:r>
            <a:endParaRPr lang="en-US" sz="1100"/>
          </a:p>
        </p:txBody>
      </p:sp>
      <p:sp>
        <p:nvSpPr>
          <p:cNvPr id="1615735211" name="Shape 18"/>
          <p:cNvSpPr/>
          <p:nvPr/>
        </p:nvSpPr>
        <p:spPr bwMode="auto">
          <a:xfrm>
            <a:off x="10249814" y="1965960"/>
            <a:ext cx="1301800" cy="640080"/>
          </a:xfrm>
          <a:custGeom>
            <a:avLst/>
            <a:gdLst/>
            <a:ahLst/>
            <a:cxnLst/>
            <a:rect l="l" t="t" r="r" b="b"/>
            <a:pathLst>
              <a:path w="1301801" h="640080" fill="norm" stroke="1" extrusionOk="0">
                <a:moveTo>
                  <a:pt x="0" y="0"/>
                </a:moveTo>
                <a:lnTo>
                  <a:pt x="1155497" y="0"/>
                </a:lnTo>
                <a:lnTo>
                  <a:pt x="1301801" y="320040"/>
                </a:lnTo>
                <a:lnTo>
                  <a:pt x="1155497" y="640080"/>
                </a:lnTo>
                <a:lnTo>
                  <a:pt x="0" y="640080"/>
                </a:lnTo>
                <a:lnTo>
                  <a:pt x="146304" y="320040"/>
                </a:lnTo>
                <a:close/>
              </a:path>
            </a:pathLst>
          </a:custGeom>
          <a:solidFill>
            <a:schemeClr val="accent2"/>
          </a:solidFill>
          <a:ln/>
        </p:spPr>
      </p:sp>
      <p:sp>
        <p:nvSpPr>
          <p:cNvPr id="1525150199" name="Text 19"/>
          <p:cNvSpPr txBox="1"/>
          <p:nvPr/>
        </p:nvSpPr>
        <p:spPr bwMode="auto">
          <a:xfrm>
            <a:off x="10396118" y="1965960"/>
            <a:ext cx="100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загрузка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системы</a:t>
            </a:r>
            <a:endParaRPr lang="en-US" sz="1100"/>
          </a:p>
        </p:txBody>
      </p:sp>
      <p:sp>
        <p:nvSpPr>
          <p:cNvPr id="439165755" name="Shape 20"/>
          <p:cNvSpPr/>
          <p:nvPr/>
        </p:nvSpPr>
        <p:spPr bwMode="auto">
          <a:xfrm>
            <a:off x="694944" y="2651760"/>
            <a:ext cx="1082345" cy="73152"/>
          </a:xfrm>
          <a:custGeom>
            <a:avLst/>
            <a:gdLst/>
            <a:ahLst/>
            <a:cxnLst/>
            <a:rect l="l" t="t" r="r" b="b"/>
            <a:pathLst>
              <a:path w="1082345" h="73152" fill="norm" stroke="1" extrusionOk="0">
                <a:moveTo>
                  <a:pt x="0" y="0"/>
                </a:moveTo>
                <a:lnTo>
                  <a:pt x="0" y="45720"/>
                </a:lnTo>
                <a:quadBezTo>
                  <a:pt x="0" y="73152"/>
                  <a:pt x="27432" y="73152"/>
                </a:quadBezTo>
                <a:lnTo>
                  <a:pt x="1054913" y="73152"/>
                </a:lnTo>
                <a:quadBezTo>
                  <a:pt x="1082345" y="73152"/>
                  <a:pt x="1082345" y="45720"/>
                </a:quadBezTo>
                <a:lnTo>
                  <a:pt x="1082345" y="0"/>
                </a:lnTo>
              </a:path>
            </a:pathLst>
          </a:cu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1281972203" name="Text 21"/>
          <p:cNvSpPr txBox="1"/>
          <p:nvPr/>
        </p:nvSpPr>
        <p:spPr bwMode="auto">
          <a:xfrm>
            <a:off x="603504" y="2816352"/>
            <a:ext cx="12652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1 </a:t>
            </a:r>
            <a:r>
              <a:rPr lang="en-US" sz="1250">
                <a:solidFill>
                  <a:schemeClr val="tx1"/>
                </a:solidFill>
              </a:rPr>
              <a:t>стирание</a:t>
            </a:r>
            <a:endParaRPr lang="en-US" sz="1250"/>
          </a:p>
        </p:txBody>
      </p:sp>
      <p:sp>
        <p:nvSpPr>
          <p:cNvPr id="223742154" name="Shape 22"/>
          <p:cNvSpPr/>
          <p:nvPr/>
        </p:nvSpPr>
        <p:spPr bwMode="auto">
          <a:xfrm>
            <a:off x="1896161" y="2651760"/>
            <a:ext cx="4685995" cy="73152"/>
          </a:xfrm>
          <a:custGeom>
            <a:avLst/>
            <a:gdLst/>
            <a:ahLst/>
            <a:cxnLst/>
            <a:rect l="l" t="t" r="r" b="b"/>
            <a:pathLst>
              <a:path w="4685995" h="73152" fill="norm" stroke="1" extrusionOk="0">
                <a:moveTo>
                  <a:pt x="0" y="0"/>
                </a:moveTo>
                <a:lnTo>
                  <a:pt x="0" y="45720"/>
                </a:lnTo>
                <a:quadBezTo>
                  <a:pt x="0" y="73152"/>
                  <a:pt x="27432" y="73152"/>
                </a:quadBezTo>
                <a:lnTo>
                  <a:pt x="4658563" y="73152"/>
                </a:lnTo>
                <a:quadBezTo>
                  <a:pt x="4685995" y="73152"/>
                  <a:pt x="4685995" y="45720"/>
                </a:quadBezTo>
                <a:lnTo>
                  <a:pt x="4685995" y="0"/>
                </a:lnTo>
              </a:path>
            </a:pathLst>
          </a:cu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1755412139" name="Text 23"/>
          <p:cNvSpPr txBox="1"/>
          <p:nvPr/>
        </p:nvSpPr>
        <p:spPr bwMode="auto">
          <a:xfrm>
            <a:off x="1804721" y="2816352"/>
            <a:ext cx="48688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2 </a:t>
            </a:r>
            <a:r>
              <a:rPr lang="en-US" sz="1250">
                <a:solidFill>
                  <a:schemeClr val="tx1"/>
                </a:solidFill>
              </a:rPr>
              <a:t>сетевая загрузка</a:t>
            </a:r>
            <a:endParaRPr lang="en-US" sz="1250"/>
          </a:p>
        </p:txBody>
      </p:sp>
      <p:sp>
        <p:nvSpPr>
          <p:cNvPr id="1707815976" name="Shape 24"/>
          <p:cNvSpPr/>
          <p:nvPr/>
        </p:nvSpPr>
        <p:spPr bwMode="auto">
          <a:xfrm>
            <a:off x="6701028" y="2651760"/>
            <a:ext cx="1082345" cy="73152"/>
          </a:xfrm>
          <a:custGeom>
            <a:avLst/>
            <a:gdLst/>
            <a:ahLst/>
            <a:cxnLst/>
            <a:rect l="l" t="t" r="r" b="b"/>
            <a:pathLst>
              <a:path w="1082345" h="73152" fill="norm" stroke="1" extrusionOk="0">
                <a:moveTo>
                  <a:pt x="0" y="0"/>
                </a:moveTo>
                <a:lnTo>
                  <a:pt x="0" y="45720"/>
                </a:lnTo>
                <a:quadBezTo>
                  <a:pt x="0" y="73152"/>
                  <a:pt x="27432" y="73152"/>
                </a:quadBezTo>
                <a:lnTo>
                  <a:pt x="1054913" y="73152"/>
                </a:lnTo>
                <a:quadBezTo>
                  <a:pt x="1082345" y="73152"/>
                  <a:pt x="1082345" y="45720"/>
                </a:quadBezTo>
                <a:lnTo>
                  <a:pt x="1082345" y="0"/>
                </a:lnTo>
              </a:path>
            </a:pathLst>
          </a:cu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919633377" name="Text 25"/>
          <p:cNvSpPr txBox="1"/>
          <p:nvPr/>
        </p:nvSpPr>
        <p:spPr bwMode="auto">
          <a:xfrm>
            <a:off x="6609588" y="2816352"/>
            <a:ext cx="12652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3 </a:t>
            </a:r>
            <a:r>
              <a:rPr lang="en-US" sz="1250">
                <a:solidFill>
                  <a:schemeClr val="tx1"/>
                </a:solidFill>
              </a:rPr>
              <a:t>скачивание среды</a:t>
            </a:r>
            <a:endParaRPr lang="en-US" sz="1250"/>
          </a:p>
        </p:txBody>
      </p:sp>
      <p:sp>
        <p:nvSpPr>
          <p:cNvPr id="2063944852" name="Shape 26"/>
          <p:cNvSpPr/>
          <p:nvPr/>
        </p:nvSpPr>
        <p:spPr bwMode="auto">
          <a:xfrm>
            <a:off x="7902245" y="2651760"/>
            <a:ext cx="2283562" cy="73152"/>
          </a:xfrm>
          <a:custGeom>
            <a:avLst/>
            <a:gdLst/>
            <a:ahLst/>
            <a:cxnLst/>
            <a:rect l="l" t="t" r="r" b="b"/>
            <a:pathLst>
              <a:path w="2283562" h="73152" fill="norm" stroke="1" extrusionOk="0">
                <a:moveTo>
                  <a:pt x="0" y="0"/>
                </a:moveTo>
                <a:lnTo>
                  <a:pt x="0" y="45720"/>
                </a:lnTo>
                <a:quadBezTo>
                  <a:pt x="0" y="73152"/>
                  <a:pt x="27432" y="73152"/>
                </a:quadBezTo>
                <a:lnTo>
                  <a:pt x="2256130" y="73152"/>
                </a:lnTo>
                <a:quadBezTo>
                  <a:pt x="2283562" y="73152"/>
                  <a:pt x="2283562" y="45720"/>
                </a:quadBezTo>
                <a:lnTo>
                  <a:pt x="2283562" y="0"/>
                </a:lnTo>
              </a:path>
            </a:pathLst>
          </a:cu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478369175" name="Text 27"/>
          <p:cNvSpPr txBox="1"/>
          <p:nvPr/>
        </p:nvSpPr>
        <p:spPr bwMode="auto">
          <a:xfrm>
            <a:off x="7810805" y="2816352"/>
            <a:ext cx="246644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4 </a:t>
            </a:r>
            <a:r>
              <a:rPr lang="en-US" sz="1250">
                <a:solidFill>
                  <a:schemeClr val="tx1"/>
                </a:solidFill>
              </a:rPr>
              <a:t>запуск среды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5 </a:t>
            </a:r>
            <a:r>
              <a:rPr lang="en-US" sz="1250">
                <a:solidFill>
                  <a:schemeClr val="tx1"/>
                </a:solidFill>
              </a:rPr>
              <a:t>скачивание образов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6 </a:t>
            </a:r>
            <a:r>
              <a:rPr lang="en-US" sz="1250">
                <a:solidFill>
                  <a:schemeClr val="tx1"/>
                </a:solidFill>
              </a:rPr>
              <a:t>проверка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7 </a:t>
            </a:r>
            <a:r>
              <a:rPr lang="en-US" sz="1250">
                <a:solidFill>
                  <a:schemeClr val="tx1"/>
                </a:solidFill>
              </a:rPr>
              <a:t>запись</a:t>
            </a:r>
            <a:endParaRPr lang="en-US" sz="1250"/>
          </a:p>
        </p:txBody>
      </p:sp>
      <p:sp>
        <p:nvSpPr>
          <p:cNvPr id="660024570" name="Shape 28"/>
          <p:cNvSpPr/>
          <p:nvPr/>
        </p:nvSpPr>
        <p:spPr bwMode="auto">
          <a:xfrm>
            <a:off x="10304678" y="2651760"/>
            <a:ext cx="1082345" cy="73152"/>
          </a:xfrm>
          <a:custGeom>
            <a:avLst/>
            <a:gdLst/>
            <a:ahLst/>
            <a:cxnLst/>
            <a:rect l="l" t="t" r="r" b="b"/>
            <a:pathLst>
              <a:path w="1082345" h="73152" fill="norm" stroke="1" extrusionOk="0">
                <a:moveTo>
                  <a:pt x="0" y="0"/>
                </a:moveTo>
                <a:lnTo>
                  <a:pt x="0" y="45720"/>
                </a:lnTo>
                <a:quadBezTo>
                  <a:pt x="0" y="73152"/>
                  <a:pt x="27432" y="73152"/>
                </a:quadBezTo>
                <a:lnTo>
                  <a:pt x="1054913" y="73152"/>
                </a:lnTo>
                <a:quadBezTo>
                  <a:pt x="1082345" y="73152"/>
                  <a:pt x="1082345" y="45720"/>
                </a:quadBezTo>
                <a:lnTo>
                  <a:pt x="1082345" y="0"/>
                </a:lnTo>
              </a:path>
            </a:pathLst>
          </a:cu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287096527" name="Text 29"/>
          <p:cNvSpPr txBox="1"/>
          <p:nvPr/>
        </p:nvSpPr>
        <p:spPr bwMode="auto">
          <a:xfrm>
            <a:off x="10213238" y="2816352"/>
            <a:ext cx="12652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chemeClr val="accent1"/>
                </a:solidFill>
              </a:rPr>
              <a:t>8 </a:t>
            </a:r>
            <a:r>
              <a:rPr lang="en-US" sz="1250">
                <a:solidFill>
                  <a:schemeClr val="tx1"/>
                </a:solidFill>
              </a:rPr>
              <a:t>перезагрузка</a:t>
            </a:r>
            <a:endParaRPr lang="en-US" sz="1250"/>
          </a:p>
        </p:txBody>
      </p:sp>
      <p:sp>
        <p:nvSpPr>
          <p:cNvPr id="662613691" name="Shape 30"/>
          <p:cNvSpPr/>
          <p:nvPr/>
        </p:nvSpPr>
        <p:spPr bwMode="auto">
          <a:xfrm>
            <a:off x="640080" y="4434840"/>
            <a:ext cx="5318608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57142674" name="Text 31"/>
          <p:cNvSpPr txBox="1"/>
          <p:nvPr/>
        </p:nvSpPr>
        <p:spPr bwMode="auto">
          <a:xfrm>
            <a:off x="804672" y="4507992"/>
            <a:ext cx="504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Остаётся на ноутбуке</a:t>
            </a:r>
            <a:endParaRPr lang="en-US" sz="1600"/>
          </a:p>
        </p:txBody>
      </p:sp>
      <p:sp>
        <p:nvSpPr>
          <p:cNvPr id="1405106520" name="Text 32"/>
          <p:cNvSpPr txBox="1"/>
          <p:nvPr/>
        </p:nvSpPr>
        <p:spPr bwMode="auto">
          <a:xfrm>
            <a:off x="804672" y="4855464"/>
            <a:ext cx="50442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systemd-boot: переключатель Arch или iPXE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ipxe.efi: встроенный osreboot.ipxe и корни ISRG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LoaderEntryDefault в NVRAM: грузиться в iPXE</a:t>
            </a:r>
            <a:endParaRPr lang="en-US" sz="1400"/>
          </a:p>
        </p:txBody>
      </p:sp>
      <p:sp>
        <p:nvSpPr>
          <p:cNvPr id="1556263227" name="Shape 33"/>
          <p:cNvSpPr/>
          <p:nvPr/>
        </p:nvSpPr>
        <p:spPr bwMode="auto">
          <a:xfrm>
            <a:off x="6233008" y="4434840"/>
            <a:ext cx="5318608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97908864" name="Text 34"/>
          <p:cNvSpPr txBox="1"/>
          <p:nvPr/>
        </p:nvSpPr>
        <p:spPr bwMode="auto">
          <a:xfrm>
            <a:off x="6397600" y="4507992"/>
            <a:ext cx="504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Приходит с VPS по HTTPS</a:t>
            </a:r>
            <a:endParaRPr lang="en-US" sz="1600"/>
          </a:p>
        </p:txBody>
      </p:sp>
      <p:sp>
        <p:nvSpPr>
          <p:cNvPr id="1336960615" name="Text 35"/>
          <p:cNvSpPr txBox="1"/>
          <p:nvPr/>
        </p:nvSpPr>
        <p:spPr bwMode="auto">
          <a:xfrm>
            <a:off x="6397600" y="4855464"/>
            <a:ext cx="50442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boot.ipxe: что загрузить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osreboot-recovery.efi: UKI, Linux в оперативке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образы системы и SHA256SUMS</a:t>
            </a:r>
            <a:endParaRPr lang="en-US" sz="1400"/>
          </a:p>
        </p:txBody>
      </p:sp>
      <p:sp>
        <p:nvSpPr>
          <p:cNvPr id="177717502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429970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Репозиторий</a:t>
            </a:r>
            <a:endParaRPr lang="en-US" sz="2800"/>
          </a:p>
        </p:txBody>
      </p:sp>
      <p:sp>
        <p:nvSpPr>
          <p:cNvPr id="1158337024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github.com/Irenid/OSreboot</a:t>
            </a:r>
            <a:endParaRPr lang="en-US" sz="1500"/>
          </a:p>
        </p:txBody>
      </p:sp>
      <p:sp>
        <p:nvSpPr>
          <p:cNvPr id="384005414" name="Shape 2"/>
          <p:cNvSpPr/>
          <p:nvPr/>
        </p:nvSpPr>
        <p:spPr bwMode="auto">
          <a:xfrm>
            <a:off x="640080" y="1371600"/>
            <a:ext cx="10911535" cy="416966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83399061" name="Text 3"/>
          <p:cNvSpPr txBox="1"/>
          <p:nvPr/>
        </p:nvSpPr>
        <p:spPr bwMode="auto">
          <a:xfrm>
            <a:off x="91440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OSreboot/</a:t>
            </a:r>
            <a:endParaRPr lang="en-US" sz="1500"/>
          </a:p>
        </p:txBody>
      </p:sp>
      <p:sp>
        <p:nvSpPr>
          <p:cNvPr id="818464386" name="Text 4"/>
          <p:cNvSpPr txBox="1"/>
          <p:nvPr/>
        </p:nvSpPr>
        <p:spPr bwMode="auto">
          <a:xfrm>
            <a:off x="342900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accent4"/>
                </a:solidFill>
              </a:rPr>
              <a:t>Что внутри</a:t>
            </a:r>
            <a:endParaRPr lang="en-US" sz="1200"/>
          </a:p>
        </p:txBody>
      </p:sp>
      <p:sp>
        <p:nvSpPr>
          <p:cNvPr id="972567407" name="Shape 5"/>
          <p:cNvSpPr/>
          <p:nvPr/>
        </p:nvSpPr>
        <p:spPr bwMode="auto">
          <a:xfrm>
            <a:off x="987552" y="2148840"/>
            <a:ext cx="182880" cy="0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510070357" name="Text 6"/>
          <p:cNvSpPr txBox="1"/>
          <p:nvPr/>
        </p:nvSpPr>
        <p:spPr bwMode="auto">
          <a:xfrm>
            <a:off x="1243584" y="1933955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0-test-system/</a:t>
            </a:r>
            <a:endParaRPr lang="en-US" sz="1500"/>
          </a:p>
        </p:txBody>
      </p:sp>
      <p:sp>
        <p:nvSpPr>
          <p:cNvPr id="2042315111" name="Text 7"/>
          <p:cNvSpPr txBox="1"/>
          <p:nvPr/>
        </p:nvSpPr>
        <p:spPr bwMode="auto">
          <a:xfrm>
            <a:off x="3429000" y="1920240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Система (mkosi)</a:t>
            </a:r>
            <a:endParaRPr lang="en-US" sz="1400"/>
          </a:p>
        </p:txBody>
      </p:sp>
      <p:sp>
        <p:nvSpPr>
          <p:cNvPr id="1063649481" name="Shape 8"/>
          <p:cNvSpPr/>
          <p:nvPr/>
        </p:nvSpPr>
        <p:spPr bwMode="auto">
          <a:xfrm>
            <a:off x="987552" y="2606040"/>
            <a:ext cx="182880" cy="0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1742966736" name="Text 9"/>
          <p:cNvSpPr txBox="1"/>
          <p:nvPr/>
        </p:nvSpPr>
        <p:spPr bwMode="auto">
          <a:xfrm>
            <a:off x="1243584" y="23911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1-wipe/</a:t>
            </a:r>
            <a:endParaRPr lang="en-US" sz="1500"/>
          </a:p>
        </p:txBody>
      </p:sp>
      <p:sp>
        <p:nvSpPr>
          <p:cNvPr id="73343379" name="Text 10"/>
          <p:cNvSpPr txBox="1"/>
          <p:nvPr/>
        </p:nvSpPr>
        <p:spPr bwMode="auto">
          <a:xfrm>
            <a:off x="3429000" y="2377440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Скрипт затирание и сброс</a:t>
            </a:r>
            <a:endParaRPr lang="en-US" sz="1400"/>
          </a:p>
        </p:txBody>
      </p:sp>
      <p:sp>
        <p:nvSpPr>
          <p:cNvPr id="328516715" name="Shape 11"/>
          <p:cNvSpPr/>
          <p:nvPr/>
        </p:nvSpPr>
        <p:spPr bwMode="auto">
          <a:xfrm>
            <a:off x="987552" y="3063240"/>
            <a:ext cx="182880" cy="0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120342112" name="Text 12"/>
          <p:cNvSpPr txBox="1"/>
          <p:nvPr/>
        </p:nvSpPr>
        <p:spPr bwMode="auto">
          <a:xfrm>
            <a:off x="1243584" y="28483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2-ipxe/</a:t>
            </a:r>
            <a:endParaRPr lang="en-US" sz="1500"/>
          </a:p>
        </p:txBody>
      </p:sp>
      <p:sp>
        <p:nvSpPr>
          <p:cNvPr id="1398084001" name="Text 13"/>
          <p:cNvSpPr txBox="1"/>
          <p:nvPr/>
        </p:nvSpPr>
        <p:spPr bwMode="auto">
          <a:xfrm>
            <a:off x="3429000" y="2834640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Сборка iPXE, osreboot.ipxe, boot.ipxe</a:t>
            </a:r>
            <a:endParaRPr lang="en-US" sz="1400"/>
          </a:p>
        </p:txBody>
      </p:sp>
      <p:sp>
        <p:nvSpPr>
          <p:cNvPr id="1052162211" name="Shape 14"/>
          <p:cNvSpPr/>
          <p:nvPr/>
        </p:nvSpPr>
        <p:spPr bwMode="auto">
          <a:xfrm>
            <a:off x="987552" y="3520440"/>
            <a:ext cx="182880" cy="0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1061526701" name="Text 15"/>
          <p:cNvSpPr txBox="1"/>
          <p:nvPr/>
        </p:nvSpPr>
        <p:spPr bwMode="auto">
          <a:xfrm>
            <a:off x="1243584" y="33055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3-recovery/</a:t>
            </a:r>
            <a:endParaRPr lang="en-US" sz="1500"/>
          </a:p>
        </p:txBody>
      </p:sp>
      <p:sp>
        <p:nvSpPr>
          <p:cNvPr id="1041102697" name="Text 16"/>
          <p:cNvSpPr txBox="1"/>
          <p:nvPr/>
        </p:nvSpPr>
        <p:spPr bwMode="auto">
          <a:xfrm>
            <a:off x="3429000" y="3291840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UKI: osreboot-recovery — скачивание, SHA-256, dd</a:t>
            </a:r>
            <a:endParaRPr lang="en-US" sz="1400"/>
          </a:p>
        </p:txBody>
      </p:sp>
      <p:sp>
        <p:nvSpPr>
          <p:cNvPr id="1958839939" name="Shape 17"/>
          <p:cNvSpPr/>
          <p:nvPr/>
        </p:nvSpPr>
        <p:spPr bwMode="auto">
          <a:xfrm>
            <a:off x="1325880" y="3831336"/>
            <a:ext cx="1004285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958188798" name="Shape 18"/>
          <p:cNvSpPr/>
          <p:nvPr/>
        </p:nvSpPr>
        <p:spPr bwMode="auto">
          <a:xfrm>
            <a:off x="987552" y="4142232"/>
            <a:ext cx="182880" cy="0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1265243598" name="Text 19"/>
          <p:cNvSpPr txBox="1"/>
          <p:nvPr/>
        </p:nvSpPr>
        <p:spPr bwMode="auto">
          <a:xfrm>
            <a:off x="1243584" y="39273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client/</a:t>
            </a:r>
            <a:endParaRPr lang="en-US" sz="1500"/>
          </a:p>
        </p:txBody>
      </p:sp>
      <p:sp>
        <p:nvSpPr>
          <p:cNvPr id="1732740778" name="Text 20"/>
          <p:cNvSpPr txBox="1"/>
          <p:nvPr/>
        </p:nvSpPr>
        <p:spPr bwMode="auto">
          <a:xfrm>
            <a:off x="3429000" y="3913632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</a:rPr>
              <a:t>osreboot-client: heartbeat и этапы</a:t>
            </a:r>
            <a:endParaRPr lang="en-US" sz="1400"/>
          </a:p>
        </p:txBody>
      </p:sp>
      <p:sp>
        <p:nvSpPr>
          <p:cNvPr id="1782024407" name="Shape 21"/>
          <p:cNvSpPr/>
          <p:nvPr/>
        </p:nvSpPr>
        <p:spPr bwMode="auto">
          <a:xfrm>
            <a:off x="987552" y="4599432"/>
            <a:ext cx="182880" cy="0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1543911853" name="Text 22"/>
          <p:cNvSpPr txBox="1"/>
          <p:nvPr/>
        </p:nvSpPr>
        <p:spPr bwMode="auto">
          <a:xfrm>
            <a:off x="1243584" y="43845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server/</a:t>
            </a:r>
            <a:endParaRPr lang="en-US" sz="1500"/>
          </a:p>
        </p:txBody>
      </p:sp>
      <p:sp>
        <p:nvSpPr>
          <p:cNvPr id="1925522277" name="Text 23"/>
          <p:cNvSpPr txBox="1"/>
          <p:nvPr/>
        </p:nvSpPr>
        <p:spPr bwMode="auto">
          <a:xfrm>
            <a:off x="3429000" y="4370832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src/</a:t>
            </a:r>
            <a:r>
              <a:rPr lang="en-US" sz="1400">
                <a:solidFill>
                  <a:schemeClr val="tx1"/>
                </a:solidFill>
              </a:rPr>
              <a:t> сервер · </a:t>
            </a:r>
            <a:r>
              <a:rPr lang="en-US" sz="14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web/</a:t>
            </a:r>
            <a:r>
              <a:rPr lang="en-US" sz="1400">
                <a:solidFill>
                  <a:schemeClr val="tx1"/>
                </a:solidFill>
              </a:rPr>
              <a:t> страница · </a:t>
            </a:r>
            <a:r>
              <a:rPr lang="en-US" sz="14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deploy/</a:t>
            </a:r>
            <a:r>
              <a:rPr lang="en-US" sz="1400">
                <a:solidFill>
                  <a:schemeClr val="tx1"/>
                </a:solidFill>
              </a:rPr>
              <a:t> конфиги VPS</a:t>
            </a:r>
            <a:endParaRPr lang="en-US" sz="1400"/>
          </a:p>
        </p:txBody>
      </p:sp>
      <p:sp>
        <p:nvSpPr>
          <p:cNvPr id="1138554681" name="Shape 24"/>
          <p:cNvSpPr/>
          <p:nvPr/>
        </p:nvSpPr>
        <p:spPr bwMode="auto">
          <a:xfrm>
            <a:off x="1325880" y="4910328"/>
            <a:ext cx="1004285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883937563" name="Shape 25"/>
          <p:cNvSpPr/>
          <p:nvPr/>
        </p:nvSpPr>
        <p:spPr bwMode="auto">
          <a:xfrm>
            <a:off x="987552" y="5221224"/>
            <a:ext cx="182880" cy="0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354812818" name="Text 26"/>
          <p:cNvSpPr txBox="1"/>
          <p:nvPr/>
        </p:nvSpPr>
        <p:spPr bwMode="auto">
          <a:xfrm>
            <a:off x="1243584" y="50063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extra/</a:t>
            </a:r>
            <a:endParaRPr lang="en-US" sz="1500"/>
          </a:p>
        </p:txBody>
      </p:sp>
      <p:sp>
        <p:nvSpPr>
          <p:cNvPr id="493980919" name="Text 27"/>
          <p:cNvSpPr txBox="1"/>
          <p:nvPr/>
        </p:nvSpPr>
        <p:spPr bwMode="auto">
          <a:xfrm>
            <a:off x="3429000" y="4992624"/>
            <a:ext cx="7939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figures/</a:t>
            </a:r>
            <a:r>
              <a:rPr lang="en-US" sz="1400">
                <a:solidFill>
                  <a:schemeClr val="tx1"/>
                </a:solidFill>
              </a:rPr>
              <a:t> · </a:t>
            </a:r>
            <a:r>
              <a:rPr lang="en-US" sz="14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paper/</a:t>
            </a:r>
            <a:r>
              <a:rPr lang="en-US" sz="1400">
                <a:solidFill>
                  <a:schemeClr val="tx1"/>
                </a:solidFill>
              </a:rPr>
              <a:t> · </a:t>
            </a:r>
            <a:r>
              <a:rPr lang="en-US" sz="14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presentation/</a:t>
            </a:r>
            <a:r>
              <a:rPr lang="en-US" sz="1400">
                <a:solidFill>
                  <a:schemeClr val="tx1"/>
                </a:solidFill>
              </a:rPr>
              <a:t> · </a:t>
            </a:r>
            <a:r>
              <a:rPr lang="en-US" sz="14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results/</a:t>
            </a:r>
            <a:endParaRPr lang="en-US" sz="1400"/>
          </a:p>
        </p:txBody>
      </p:sp>
      <p:sp>
        <p:nvSpPr>
          <p:cNvPr id="1084224026" name="Shape 28"/>
          <p:cNvSpPr/>
          <p:nvPr/>
        </p:nvSpPr>
        <p:spPr bwMode="auto">
          <a:xfrm>
            <a:off x="987552" y="1865376"/>
            <a:ext cx="0" cy="3355848"/>
          </a:xfrm>
          <a:prstGeom prst="line">
            <a:avLst/>
          </a:prstGeom>
          <a:noFill/>
          <a:ln w="15875">
            <a:solidFill>
              <a:srgbClr val="9AA1A9"/>
            </a:solidFill>
            <a:prstDash val="solid"/>
          </a:ln>
        </p:spPr>
      </p:sp>
      <p:sp>
        <p:nvSpPr>
          <p:cNvPr id="4073829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93024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Стереть и перезагрузить</a:t>
            </a:r>
            <a:endParaRPr lang="en-US" sz="2800"/>
          </a:p>
        </p:txBody>
      </p:sp>
      <p:sp>
        <p:nvSpPr>
          <p:cNvPr id="645671277" name="Text 42"/>
          <p:cNvSpPr txBox="1"/>
          <p:nvPr/>
        </p:nvSpPr>
        <p:spPr bwMode="auto">
          <a:xfrm>
            <a:off x="8613648" y="1280160"/>
            <a:ext cx="2937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bootctl set-default</a:t>
            </a:r>
            <a:endParaRPr lang="en-US" sz="1450"/>
          </a:p>
        </p:txBody>
      </p:sp>
      <p:sp>
        <p:nvSpPr>
          <p:cNvPr id="736579830" name="Text 43"/>
          <p:cNvSpPr txBox="1"/>
          <p:nvPr/>
        </p:nvSpPr>
        <p:spPr bwMode="auto">
          <a:xfrm>
            <a:off x="8613648" y="1645920"/>
            <a:ext cx="29379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LoaderEntryDefault в NVRAM: все загрузки идут в iPXE</a:t>
            </a:r>
            <a:endParaRPr lang="en-US" sz="1300"/>
          </a:p>
        </p:txBody>
      </p:sp>
      <p:sp>
        <p:nvSpPr>
          <p:cNvPr id="548583093" name="Text 45"/>
          <p:cNvSpPr txBox="1"/>
          <p:nvPr/>
        </p:nvSpPr>
        <p:spPr bwMode="auto">
          <a:xfrm>
            <a:off x="8613648" y="2084832"/>
            <a:ext cx="2937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Отчёты серверу</a:t>
            </a:r>
            <a:endParaRPr lang="en-US" sz="1450"/>
          </a:p>
        </p:txBody>
      </p:sp>
      <p:sp>
        <p:nvSpPr>
          <p:cNvPr id="19917512" name="Text 46"/>
          <p:cNvSpPr txBox="1"/>
          <p:nvPr/>
        </p:nvSpPr>
        <p:spPr bwMode="auto">
          <a:xfrm>
            <a:off x="8613648" y="2450592"/>
            <a:ext cx="29379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heartbeat стоп, этапы wipe и netboot уходят, пока система цела</a:t>
            </a:r>
            <a:endParaRPr lang="en-US" sz="1300"/>
          </a:p>
        </p:txBody>
      </p:sp>
      <p:sp>
        <p:nvSpPr>
          <p:cNvPr id="876389471" name="Text 48"/>
          <p:cNvSpPr txBox="1"/>
          <p:nvPr/>
        </p:nvSpPr>
        <p:spPr bwMode="auto">
          <a:xfrm>
            <a:off x="8613648" y="2889504"/>
            <a:ext cx="2937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Затирание</a:t>
            </a:r>
            <a:endParaRPr lang="en-US" sz="1450"/>
          </a:p>
        </p:txBody>
      </p:sp>
      <p:sp>
        <p:nvSpPr>
          <p:cNvPr id="1145998031" name="Text 49"/>
          <p:cNvSpPr txBox="1"/>
          <p:nvPr/>
        </p:nvSpPr>
        <p:spPr bwMode="auto">
          <a:xfrm>
            <a:off x="8613648" y="3255264"/>
            <a:ext cx="29379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sysrq u: ФС только чтение, dd пишет нули в начало разделов</a:t>
            </a:r>
            <a:endParaRPr lang="en-US" sz="1300"/>
          </a:p>
        </p:txBody>
      </p:sp>
      <p:sp>
        <p:nvSpPr>
          <p:cNvPr id="675282231" name="Text 51"/>
          <p:cNvSpPr txBox="1"/>
          <p:nvPr/>
        </p:nvSpPr>
        <p:spPr bwMode="auto">
          <a:xfrm>
            <a:off x="8613648" y="3694176"/>
            <a:ext cx="2937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Сброс</a:t>
            </a:r>
            <a:endParaRPr lang="en-US" sz="1450"/>
          </a:p>
        </p:txBody>
      </p:sp>
      <p:sp>
        <p:nvSpPr>
          <p:cNvPr id="1143122399" name="Text 52"/>
          <p:cNvSpPr txBox="1"/>
          <p:nvPr/>
        </p:nvSpPr>
        <p:spPr bwMode="auto">
          <a:xfrm>
            <a:off x="8613648" y="4059936"/>
            <a:ext cx="29379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sysrq b: перезагрузка сразу, без выключения</a:t>
            </a:r>
            <a:endParaRPr lang="en-US" sz="1300"/>
          </a:p>
        </p:txBody>
      </p:sp>
      <p:sp>
        <p:nvSpPr>
          <p:cNvPr id="655970747" name="Text 55"/>
          <p:cNvSpPr txBox="1"/>
          <p:nvPr/>
        </p:nvSpPr>
        <p:spPr bwMode="auto">
          <a:xfrm>
            <a:off x="64008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chemeClr val="accent1"/>
                </a:solidFill>
              </a:rPr>
              <a:t>1 стирание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2 сетевая загрузка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3 скачивание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4 запуск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5 скачивание образов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6 проверка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7 запись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8 перезагрузка</a:t>
            </a:r>
            <a:endParaRPr lang="en-US" sz="1050"/>
          </a:p>
        </p:txBody>
      </p:sp>
      <p:sp>
        <p:nvSpPr>
          <p:cNvPr id="67590263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325065774" name="Picture 1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8852" y="1645919"/>
            <a:ext cx="7629525" cy="2905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907029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Как собирается ipxe.efi</a:t>
            </a:r>
            <a:endParaRPr lang="en-US" sz="2800"/>
          </a:p>
        </p:txBody>
      </p:sp>
      <p:sp>
        <p:nvSpPr>
          <p:cNvPr id="442699479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Osreboot.ipxe</a:t>
            </a:r>
            <a:endParaRPr lang="en-US" sz="1500"/>
          </a:p>
        </p:txBody>
      </p:sp>
      <p:sp>
        <p:nvSpPr>
          <p:cNvPr id="709025417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739236349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080" y="1170432"/>
            <a:ext cx="5972175" cy="2019299"/>
          </a:xfrm>
          <a:prstGeom prst="rect">
            <a:avLst/>
          </a:prstGeom>
        </p:spPr>
      </p:pic>
      <p:pic>
        <p:nvPicPr>
          <p:cNvPr id="2103526290" name="Picture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0080" y="3322048"/>
            <a:ext cx="8791574" cy="2295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038189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Как собирается ipxe.efi</a:t>
            </a:r>
            <a:endParaRPr lang="en-US" sz="2800"/>
          </a:p>
        </p:txBody>
      </p:sp>
      <p:sp>
        <p:nvSpPr>
          <p:cNvPr id="1616235685" name="Text 1"/>
          <p:cNvSpPr txBox="1"/>
          <p:nvPr/>
        </p:nvSpPr>
        <p:spPr bwMode="auto">
          <a:xfrm>
            <a:off x="640080" y="896112"/>
            <a:ext cx="10911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Build.sh</a:t>
            </a:r>
            <a:endParaRPr lang="en-US" sz="1500"/>
          </a:p>
        </p:txBody>
      </p:sp>
      <p:sp>
        <p:nvSpPr>
          <p:cNvPr id="128851815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4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349A5B9F-CEE5-0ECE-315E-4A9525F6DEB0}" type="slidenum">
              <a:rPr lang="en-US" b="0"/>
              <a:t>11</a:t>
            </a:fld>
            <a:endParaRPr lang="en-US"/>
          </a:p>
        </p:txBody>
      </p:sp>
      <p:pic>
        <p:nvPicPr>
          <p:cNvPr id="1582458523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080" y="1333499"/>
            <a:ext cx="4505324" cy="2095499"/>
          </a:xfrm>
          <a:prstGeom prst="rect">
            <a:avLst/>
          </a:prstGeom>
        </p:spPr>
      </p:pic>
      <p:pic>
        <p:nvPicPr>
          <p:cNvPr id="851684561" name="Picture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0080" y="3629434"/>
            <a:ext cx="7200900" cy="1857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036503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Как iPXE проверяет подлинность сервера</a:t>
            </a:r>
            <a:endParaRPr lang="en-US" sz="2800"/>
          </a:p>
        </p:txBody>
      </p:sp>
      <p:sp>
        <p:nvSpPr>
          <p:cNvPr id="1241434365" name="Shape 1"/>
          <p:cNvSpPr/>
          <p:nvPr/>
        </p:nvSpPr>
        <p:spPr bwMode="auto">
          <a:xfrm>
            <a:off x="594360" y="1371600"/>
            <a:ext cx="1737360" cy="621792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707717759" name="Text 2"/>
          <p:cNvSpPr txBox="1"/>
          <p:nvPr/>
        </p:nvSpPr>
        <p:spPr bwMode="auto">
          <a:xfrm>
            <a:off x="594360" y="1527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450" b="1">
                <a:solidFill>
                  <a:schemeClr val="bg1"/>
                </a:solidFill>
              </a:rPr>
              <a:t>iPXE</a:t>
            </a:r>
            <a:endParaRPr lang="en-US" sz="1450"/>
          </a:p>
        </p:txBody>
      </p:sp>
      <p:sp>
        <p:nvSpPr>
          <p:cNvPr id="1210020825" name="Shape 4"/>
          <p:cNvSpPr/>
          <p:nvPr/>
        </p:nvSpPr>
        <p:spPr bwMode="auto">
          <a:xfrm>
            <a:off x="1463040" y="1993392"/>
            <a:ext cx="0" cy="3995928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1194080358" name="Shape 5"/>
          <p:cNvSpPr/>
          <p:nvPr/>
        </p:nvSpPr>
        <p:spPr bwMode="auto">
          <a:xfrm>
            <a:off x="4800600" y="1371600"/>
            <a:ext cx="1737360" cy="62179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987181838" name="Text 6"/>
          <p:cNvSpPr txBox="1"/>
          <p:nvPr/>
        </p:nvSpPr>
        <p:spPr bwMode="auto">
          <a:xfrm>
            <a:off x="4800600" y="1408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nginx</a:t>
            </a:r>
            <a:endParaRPr lang="en-US" sz="1450"/>
          </a:p>
        </p:txBody>
      </p:sp>
      <p:sp>
        <p:nvSpPr>
          <p:cNvPr id="666643713" name="Text 7"/>
          <p:cNvSpPr txBox="1"/>
          <p:nvPr/>
        </p:nvSpPr>
        <p:spPr bwMode="auto">
          <a:xfrm>
            <a:off x="4800600" y="16916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chemeClr val="accent4"/>
                </a:solidFill>
              </a:rPr>
              <a:t>VPS</a:t>
            </a:r>
            <a:endParaRPr lang="en-US" sz="1150"/>
          </a:p>
        </p:txBody>
      </p:sp>
      <p:sp>
        <p:nvSpPr>
          <p:cNvPr id="1887676687" name="Shape 8"/>
          <p:cNvSpPr/>
          <p:nvPr/>
        </p:nvSpPr>
        <p:spPr bwMode="auto">
          <a:xfrm>
            <a:off x="5669280" y="1993392"/>
            <a:ext cx="0" cy="3995928"/>
          </a:xfrm>
          <a:prstGeom prst="line">
            <a:avLst/>
          </a:prstGeom>
          <a:noFill/>
          <a:ln w="12700">
            <a:solidFill>
              <a:srgbClr val="9AA1A9"/>
            </a:solidFill>
            <a:prstDash val="dash"/>
          </a:ln>
        </p:spPr>
      </p:sp>
      <p:sp>
        <p:nvSpPr>
          <p:cNvPr id="9912310" name="Shape 9"/>
          <p:cNvSpPr/>
          <p:nvPr/>
        </p:nvSpPr>
        <p:spPr bwMode="auto">
          <a:xfrm>
            <a:off x="1499616" y="2606040"/>
            <a:ext cx="41330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72465016" name="Text 10"/>
          <p:cNvSpPr txBox="1"/>
          <p:nvPr/>
        </p:nvSpPr>
        <p:spPr bwMode="auto">
          <a:xfrm>
            <a:off x="1554480" y="203911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1. ClientHello: версия TLS и </a:t>
            </a:r>
            <a:r>
              <a:rPr lang="ru-RU" sz="1300">
                <a:solidFill>
                  <a:schemeClr val="tx1"/>
                </a:solidFill>
              </a:rPr>
              <a:t>поддерживаемые </a:t>
            </a:r>
            <a:r>
              <a:rPr lang="en-US" sz="1300">
                <a:solidFill>
                  <a:schemeClr val="tx1"/>
                </a:solidFill>
              </a:rPr>
              <a:t>наборы шифров клиента</a:t>
            </a:r>
            <a:endParaRPr lang="en-US" sz="1300"/>
          </a:p>
        </p:txBody>
      </p:sp>
      <p:sp>
        <p:nvSpPr>
          <p:cNvPr id="1254179060" name="Shape 11"/>
          <p:cNvSpPr/>
          <p:nvPr/>
        </p:nvSpPr>
        <p:spPr bwMode="auto">
          <a:xfrm flipH="1">
            <a:off x="1499616" y="3520440"/>
            <a:ext cx="41330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38347903" name="Text 12"/>
          <p:cNvSpPr txBox="1"/>
          <p:nvPr/>
        </p:nvSpPr>
        <p:spPr bwMode="auto">
          <a:xfrm>
            <a:off x="1554480" y="295351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2. сертификаты: osreboot.epsti.site ← YE2 ← Root YE ← ISRG Root X2</a:t>
            </a:r>
            <a:endParaRPr lang="en-US" sz="1300"/>
          </a:p>
        </p:txBody>
      </p:sp>
      <p:sp>
        <p:nvSpPr>
          <p:cNvPr id="1310280374" name="Shape 13"/>
          <p:cNvSpPr/>
          <p:nvPr/>
        </p:nvSpPr>
        <p:spPr bwMode="auto">
          <a:xfrm>
            <a:off x="1499616" y="4526280"/>
            <a:ext cx="41330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1706273675" name="Text 14"/>
          <p:cNvSpPr txBox="1"/>
          <p:nvPr/>
        </p:nvSpPr>
        <p:spPr bwMode="auto">
          <a:xfrm>
            <a:off x="1554480" y="395935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3. ECDHE: общи</a:t>
            </a:r>
            <a:r>
              <a:rPr lang="en-US" sz="1300">
                <a:solidFill>
                  <a:schemeClr val="tx1"/>
                </a:solidFill>
              </a:rPr>
              <a:t>й</a:t>
            </a:r>
            <a:r>
              <a:rPr lang="en-US" sz="1300">
                <a:solidFill>
                  <a:schemeClr val="tx1"/>
                </a:solidFill>
              </a:rPr>
              <a:t> ключ вычисляют обе стороны, сервер подписывает свою часть</a:t>
            </a:r>
            <a:endParaRPr lang="en-US" sz="1300"/>
          </a:p>
        </p:txBody>
      </p:sp>
      <p:sp>
        <p:nvSpPr>
          <p:cNvPr id="149200522" name="Shape 15"/>
          <p:cNvSpPr/>
          <p:nvPr/>
        </p:nvSpPr>
        <p:spPr bwMode="auto">
          <a:xfrm>
            <a:off x="1499616" y="5532120"/>
            <a:ext cx="41330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977952031" name="Text 16"/>
          <p:cNvSpPr txBox="1"/>
          <p:nvPr/>
        </p:nvSpPr>
        <p:spPr bwMode="auto">
          <a:xfrm>
            <a:off x="1554480" y="496519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4. </a:t>
            </a:r>
            <a:r>
              <a:rPr lang="ru-RU" sz="1300">
                <a:solidFill>
                  <a:schemeClr val="tx1"/>
                </a:solidFill>
              </a:rPr>
              <a:t>Зашифровывается симметричным ключом </a:t>
            </a:r>
            <a:r>
              <a:rPr lang="en-US" sz="1300">
                <a:solidFill>
                  <a:schemeClr val="tx1"/>
                </a:solidFill>
              </a:rPr>
              <a:t>AES-256-GCM с GCM</a:t>
            </a:r>
            <a:r>
              <a:rPr lang="ru-RU" sz="1300">
                <a:solidFill>
                  <a:schemeClr val="tx1"/>
                </a:solidFill>
              </a:rPr>
              <a:t>-тегом</a:t>
            </a:r>
            <a:endParaRPr lang="en-US" sz="1300"/>
          </a:p>
        </p:txBody>
      </p:sp>
      <p:sp>
        <p:nvSpPr>
          <p:cNvPr id="117950193" name="Shape 17"/>
          <p:cNvSpPr/>
          <p:nvPr/>
        </p:nvSpPr>
        <p:spPr bwMode="auto">
          <a:xfrm flipH="0" flipV="0">
            <a:off x="6666890" y="1325880"/>
            <a:ext cx="4967934" cy="2244417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10159470" name="Text 18"/>
          <p:cNvSpPr txBox="1"/>
          <p:nvPr/>
        </p:nvSpPr>
        <p:spPr bwMode="auto">
          <a:xfrm>
            <a:off x="7135062" y="1417319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$ openssl s_client -tls1_2 -brief \</a:t>
            </a:r>
            <a:endParaRPr lang="en-US" sz="1100"/>
          </a:p>
        </p:txBody>
      </p:sp>
      <p:sp>
        <p:nvSpPr>
          <p:cNvPr id="1701741945" name="Text 19"/>
          <p:cNvSpPr txBox="1"/>
          <p:nvPr/>
        </p:nvSpPr>
        <p:spPr bwMode="auto">
          <a:xfrm>
            <a:off x="7135062" y="1673352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-connect osreboot.epsti.site:443 &lt;/dev/null</a:t>
            </a:r>
            <a:endParaRPr lang="en-US" sz="1100"/>
          </a:p>
        </p:txBody>
      </p:sp>
      <p:sp>
        <p:nvSpPr>
          <p:cNvPr id="459076078" name="Shape 20"/>
          <p:cNvSpPr/>
          <p:nvPr/>
        </p:nvSpPr>
        <p:spPr bwMode="auto">
          <a:xfrm>
            <a:off x="6688836" y="1929384"/>
            <a:ext cx="4945990" cy="25603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589645955" name="Text 21"/>
          <p:cNvSpPr txBox="1"/>
          <p:nvPr/>
        </p:nvSpPr>
        <p:spPr bwMode="auto">
          <a:xfrm>
            <a:off x="6783018" y="1943100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1518200374" name="Text 22"/>
          <p:cNvSpPr txBox="1"/>
          <p:nvPr/>
        </p:nvSpPr>
        <p:spPr bwMode="auto">
          <a:xfrm>
            <a:off x="7135062" y="1929384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Protocol version: TLSv1.2</a:t>
            </a:r>
            <a:endParaRPr lang="en-US" sz="1100"/>
          </a:p>
        </p:txBody>
      </p:sp>
      <p:sp>
        <p:nvSpPr>
          <p:cNvPr id="230261175" name="Shape 23"/>
          <p:cNvSpPr/>
          <p:nvPr/>
        </p:nvSpPr>
        <p:spPr bwMode="auto">
          <a:xfrm>
            <a:off x="6688836" y="2185416"/>
            <a:ext cx="4945990" cy="25603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717339610" name="Text 24"/>
          <p:cNvSpPr txBox="1"/>
          <p:nvPr/>
        </p:nvSpPr>
        <p:spPr bwMode="auto">
          <a:xfrm>
            <a:off x="7135062" y="2185416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Ciphersuite: ECDHE-ECDSA-AES256-GCM-SHA384</a:t>
            </a:r>
            <a:endParaRPr lang="en-US" sz="1100"/>
          </a:p>
        </p:txBody>
      </p:sp>
      <p:sp>
        <p:nvSpPr>
          <p:cNvPr id="1547189653" name="Shape 25"/>
          <p:cNvSpPr/>
          <p:nvPr/>
        </p:nvSpPr>
        <p:spPr bwMode="auto">
          <a:xfrm>
            <a:off x="6688836" y="2441448"/>
            <a:ext cx="4945990" cy="25603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403278796" name="Text 26"/>
          <p:cNvSpPr txBox="1"/>
          <p:nvPr/>
        </p:nvSpPr>
        <p:spPr bwMode="auto">
          <a:xfrm>
            <a:off x="6783018" y="245516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2</a:t>
            </a:r>
            <a:endParaRPr lang="en-US" sz="1050"/>
          </a:p>
        </p:txBody>
      </p:sp>
      <p:sp>
        <p:nvSpPr>
          <p:cNvPr id="826347582" name="Text 27"/>
          <p:cNvSpPr txBox="1"/>
          <p:nvPr/>
        </p:nvSpPr>
        <p:spPr bwMode="auto">
          <a:xfrm>
            <a:off x="7135062" y="2441448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Peer certificate: CN=osreboot.epsti.site</a:t>
            </a:r>
            <a:endParaRPr lang="en-US" sz="1100"/>
          </a:p>
        </p:txBody>
      </p:sp>
      <p:sp>
        <p:nvSpPr>
          <p:cNvPr id="1241325803" name="Shape 28"/>
          <p:cNvSpPr/>
          <p:nvPr/>
        </p:nvSpPr>
        <p:spPr bwMode="auto">
          <a:xfrm>
            <a:off x="6688836" y="2697480"/>
            <a:ext cx="4945990" cy="25603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819941100" name="Text 29"/>
          <p:cNvSpPr txBox="1"/>
          <p:nvPr/>
        </p:nvSpPr>
        <p:spPr bwMode="auto">
          <a:xfrm>
            <a:off x="7135062" y="2697480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Hash used: SHA256</a:t>
            </a:r>
            <a:endParaRPr lang="en-US" sz="1100"/>
          </a:p>
        </p:txBody>
      </p:sp>
      <p:sp>
        <p:nvSpPr>
          <p:cNvPr id="238465119" name="Shape 30"/>
          <p:cNvSpPr/>
          <p:nvPr/>
        </p:nvSpPr>
        <p:spPr bwMode="auto">
          <a:xfrm>
            <a:off x="6688836" y="2953512"/>
            <a:ext cx="4945990" cy="25603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64921222" name="Text 31"/>
          <p:cNvSpPr txBox="1"/>
          <p:nvPr/>
        </p:nvSpPr>
        <p:spPr bwMode="auto">
          <a:xfrm>
            <a:off x="7135062" y="2953512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Signature type: ecdsa_secp256r1_sha256</a:t>
            </a:r>
            <a:endParaRPr lang="en-US" sz="1100"/>
          </a:p>
        </p:txBody>
      </p:sp>
      <p:sp>
        <p:nvSpPr>
          <p:cNvPr id="23667173" name="Shape 32"/>
          <p:cNvSpPr/>
          <p:nvPr/>
        </p:nvSpPr>
        <p:spPr bwMode="auto">
          <a:xfrm>
            <a:off x="6688836" y="3209544"/>
            <a:ext cx="4945990" cy="25603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56408142" name="Text 33"/>
          <p:cNvSpPr txBox="1"/>
          <p:nvPr/>
        </p:nvSpPr>
        <p:spPr bwMode="auto">
          <a:xfrm>
            <a:off x="7135062" y="3209544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Verification: OK</a:t>
            </a:r>
            <a:endParaRPr lang="en-US" sz="1100"/>
          </a:p>
        </p:txBody>
      </p:sp>
      <p:sp>
        <p:nvSpPr>
          <p:cNvPr id="1361439957" name="Text 38"/>
          <p:cNvSpPr txBox="1"/>
          <p:nvPr/>
        </p:nvSpPr>
        <p:spPr bwMode="auto">
          <a:xfrm>
            <a:off x="6688836" y="3803904"/>
            <a:ext cx="4967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</a:rPr>
              <a:t>Что проверяет iPXE</a:t>
            </a:r>
            <a:endParaRPr lang="en-US" sz="1700"/>
          </a:p>
        </p:txBody>
      </p:sp>
      <p:sp>
        <p:nvSpPr>
          <p:cNvPr id="1500642008" name="Text 39"/>
          <p:cNvSpPr txBox="1"/>
          <p:nvPr/>
        </p:nvSpPr>
        <p:spPr bwMode="auto">
          <a:xfrm>
            <a:off x="6688836" y="4215384"/>
            <a:ext cx="49679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цепочка ведёт к корню, вшитому в ipxe.efi: только ISRG X1 и X2</a:t>
            </a:r>
            <a:endParaRPr lang="en-US" sz="1400"/>
          </a:p>
          <a:p>
            <a:pPr marL="203200" indent="-203200">
              <a:spcAft>
                <a:spcPts val="5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имя osreboot.epsti.site и сроки сертификата</a:t>
            </a:r>
            <a:endParaRPr lang="en-US" sz="1400"/>
          </a:p>
          <a:p>
            <a:pPr marL="203200" indent="-203200">
              <a:spcAft>
                <a:spcPts val="5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подпись в шаге 3: у сервера есть закрытый ключ</a:t>
            </a:r>
            <a:endParaRPr lang="en-US" sz="1400"/>
          </a:p>
        </p:txBody>
      </p:sp>
      <p:sp>
        <p:nvSpPr>
          <p:cNvPr id="142169782" name="Text 40"/>
          <p:cNvSpPr txBox="1"/>
          <p:nvPr/>
        </p:nvSpPr>
        <p:spPr bwMode="auto">
          <a:xfrm>
            <a:off x="64008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4"/>
                </a:solidFill>
              </a:rPr>
              <a:t>1 стирание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2 сетевая загрузка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3 скачивание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4 запуск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5 скачивание образов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6 проверка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7 запись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8 перезагрузка</a:t>
            </a:r>
            <a:endParaRPr lang="en-US" sz="1050"/>
          </a:p>
        </p:txBody>
      </p:sp>
      <p:sp>
        <p:nvSpPr>
          <p:cNvPr id="15408205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524295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Как mkosi собирает среду восстановления</a:t>
            </a:r>
            <a:endParaRPr lang="en-US" sz="2800"/>
          </a:p>
        </p:txBody>
      </p:sp>
      <p:sp>
        <p:nvSpPr>
          <p:cNvPr id="1653311938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UKI (Unified Kernel Image) — ядро, initrd и командная строка ядра в одном файле EFI</a:t>
            </a:r>
            <a:endParaRPr lang="en-US" sz="1500"/>
          </a:p>
        </p:txBody>
      </p:sp>
      <p:sp>
        <p:nvSpPr>
          <p:cNvPr id="711964259" name="Shape 58"/>
          <p:cNvSpPr/>
          <p:nvPr/>
        </p:nvSpPr>
        <p:spPr bwMode="auto">
          <a:xfrm flipH="0" flipV="0">
            <a:off x="6446520" y="1325880"/>
            <a:ext cx="5105094" cy="46177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11170628" name="Text 59"/>
          <p:cNvSpPr txBox="1"/>
          <p:nvPr/>
        </p:nvSpPr>
        <p:spPr bwMode="auto">
          <a:xfrm>
            <a:off x="6720840" y="1417320"/>
            <a:ext cx="4785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$ mkosi -C 3-recovery build</a:t>
            </a:r>
            <a:endParaRPr lang="en-US" sz="1100"/>
          </a:p>
        </p:txBody>
      </p:sp>
      <p:sp>
        <p:nvSpPr>
          <p:cNvPr id="1709552317" name="Shape 61"/>
          <p:cNvSpPr/>
          <p:nvPr/>
        </p:nvSpPr>
        <p:spPr bwMode="auto">
          <a:xfrm>
            <a:off x="6446520" y="1979676"/>
            <a:ext cx="5105095" cy="2962656"/>
          </a:xfrm>
          <a:prstGeom prst="roundRect">
            <a:avLst>
              <a:gd name="adj" fmla="val 1852"/>
            </a:avLst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58607324" name="Text 63"/>
          <p:cNvSpPr txBox="1"/>
          <p:nvPr/>
        </p:nvSpPr>
        <p:spPr bwMode="auto">
          <a:xfrm>
            <a:off x="6583680" y="1979676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osreboot-recovery.efi</a:t>
            </a:r>
            <a:r>
              <a:rPr lang="en-US" sz="1400">
                <a:solidFill>
                  <a:schemeClr val="accent4"/>
                </a:solidFill>
              </a:rPr>
              <a:t>   132 MiB, один файл</a:t>
            </a:r>
            <a:endParaRPr lang="en-US" sz="1400"/>
          </a:p>
        </p:txBody>
      </p:sp>
      <p:sp>
        <p:nvSpPr>
          <p:cNvPr id="1362834934" name="Shape 64"/>
          <p:cNvSpPr/>
          <p:nvPr/>
        </p:nvSpPr>
        <p:spPr bwMode="auto">
          <a:xfrm>
            <a:off x="6583680" y="2436876"/>
            <a:ext cx="4830775" cy="53035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54714469" name="Text 65"/>
          <p:cNvSpPr txBox="1"/>
          <p:nvPr/>
        </p:nvSpPr>
        <p:spPr bwMode="auto">
          <a:xfrm>
            <a:off x="6720840" y="2436876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.text</a:t>
            </a:r>
            <a:endParaRPr lang="en-US" sz="1300"/>
          </a:p>
        </p:txBody>
      </p:sp>
      <p:sp>
        <p:nvSpPr>
          <p:cNvPr id="1072087392" name="Text 66"/>
          <p:cNvSpPr txBox="1"/>
          <p:nvPr/>
        </p:nvSpPr>
        <p:spPr bwMode="auto">
          <a:xfrm>
            <a:off x="6720840" y="270205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0,1 MiB</a:t>
            </a:r>
            <a:endParaRPr lang="en-US" sz="1100"/>
          </a:p>
        </p:txBody>
      </p:sp>
      <p:sp>
        <p:nvSpPr>
          <p:cNvPr id="1720412848" name="Text 67"/>
          <p:cNvSpPr txBox="1"/>
          <p:nvPr/>
        </p:nvSpPr>
        <p:spPr bwMode="auto">
          <a:xfrm>
            <a:off x="7818120" y="2436876"/>
            <a:ext cx="3504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</a:rPr>
              <a:t>systemd-stub: запускает ядро</a:t>
            </a:r>
            <a:endParaRPr lang="en-US" sz="1250"/>
          </a:p>
        </p:txBody>
      </p:sp>
      <p:sp>
        <p:nvSpPr>
          <p:cNvPr id="1598295286" name="Shape 68"/>
          <p:cNvSpPr/>
          <p:nvPr/>
        </p:nvSpPr>
        <p:spPr bwMode="auto">
          <a:xfrm>
            <a:off x="6583680" y="3040380"/>
            <a:ext cx="4830775" cy="53035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71080888" name="Text 69"/>
          <p:cNvSpPr txBox="1"/>
          <p:nvPr/>
        </p:nvSpPr>
        <p:spPr bwMode="auto">
          <a:xfrm>
            <a:off x="6720840" y="3040380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.cmdline</a:t>
            </a:r>
            <a:endParaRPr lang="en-US" sz="1300"/>
          </a:p>
        </p:txBody>
      </p:sp>
      <p:sp>
        <p:nvSpPr>
          <p:cNvPr id="943954383" name="Text 70"/>
          <p:cNvSpPr txBox="1"/>
          <p:nvPr/>
        </p:nvSpPr>
        <p:spPr bwMode="auto">
          <a:xfrm>
            <a:off x="6720840" y="330555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22 байта</a:t>
            </a:r>
            <a:endParaRPr lang="en-US" sz="1100"/>
          </a:p>
        </p:txBody>
      </p:sp>
      <p:sp>
        <p:nvSpPr>
          <p:cNvPr id="971749728" name="Text 71"/>
          <p:cNvSpPr txBox="1"/>
          <p:nvPr/>
        </p:nvSpPr>
        <p:spPr bwMode="auto">
          <a:xfrm>
            <a:off x="7818120" y="3040380"/>
            <a:ext cx="323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</a:rPr>
              <a:t>systemd.firstboot=off</a:t>
            </a:r>
            <a:endParaRPr lang="en-US" sz="1250"/>
          </a:p>
        </p:txBody>
      </p:sp>
      <p:sp>
        <p:nvSpPr>
          <p:cNvPr id="1453780346" name="Shape 73"/>
          <p:cNvSpPr/>
          <p:nvPr/>
        </p:nvSpPr>
        <p:spPr bwMode="auto">
          <a:xfrm>
            <a:off x="6583680" y="3643884"/>
            <a:ext cx="4830775" cy="53035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3357129" name="Text 74"/>
          <p:cNvSpPr txBox="1"/>
          <p:nvPr/>
        </p:nvSpPr>
        <p:spPr bwMode="auto">
          <a:xfrm>
            <a:off x="6720840" y="3643884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.linux</a:t>
            </a:r>
            <a:endParaRPr lang="en-US" sz="1300"/>
          </a:p>
        </p:txBody>
      </p:sp>
      <p:sp>
        <p:nvSpPr>
          <p:cNvPr id="542092158" name="Text 75"/>
          <p:cNvSpPr txBox="1"/>
          <p:nvPr/>
        </p:nvSpPr>
        <p:spPr bwMode="auto">
          <a:xfrm>
            <a:off x="6720840" y="390906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16,4 MiB</a:t>
            </a:r>
            <a:endParaRPr lang="en-US" sz="1100"/>
          </a:p>
        </p:txBody>
      </p:sp>
      <p:sp>
        <p:nvSpPr>
          <p:cNvPr id="267242594" name="Text 76"/>
          <p:cNvSpPr txBox="1"/>
          <p:nvPr/>
        </p:nvSpPr>
        <p:spPr bwMode="auto">
          <a:xfrm>
            <a:off x="7818120" y="3643884"/>
            <a:ext cx="323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</a:rPr>
              <a:t>ядро Linux 7.2.11</a:t>
            </a:r>
            <a:endParaRPr lang="en-US" sz="1250"/>
          </a:p>
        </p:txBody>
      </p:sp>
      <p:sp>
        <p:nvSpPr>
          <p:cNvPr id="1539684181" name="Shape 78"/>
          <p:cNvSpPr/>
          <p:nvPr/>
        </p:nvSpPr>
        <p:spPr bwMode="auto">
          <a:xfrm>
            <a:off x="6583680" y="4247388"/>
            <a:ext cx="4830775" cy="53035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72601528" name="Text 79"/>
          <p:cNvSpPr txBox="1"/>
          <p:nvPr/>
        </p:nvSpPr>
        <p:spPr bwMode="auto">
          <a:xfrm>
            <a:off x="6720840" y="4247388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.initrd</a:t>
            </a:r>
            <a:endParaRPr lang="en-US" sz="1300"/>
          </a:p>
        </p:txBody>
      </p:sp>
      <p:sp>
        <p:nvSpPr>
          <p:cNvPr id="63002892" name="Text 80"/>
          <p:cNvSpPr txBox="1"/>
          <p:nvPr/>
        </p:nvSpPr>
        <p:spPr bwMode="auto">
          <a:xfrm>
            <a:off x="6720840" y="451256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</a:rPr>
              <a:t>115,7 MiB</a:t>
            </a:r>
            <a:endParaRPr lang="en-US" sz="1100"/>
          </a:p>
        </p:txBody>
      </p:sp>
      <p:sp>
        <p:nvSpPr>
          <p:cNvPr id="403976585" name="Text 81"/>
          <p:cNvSpPr txBox="1"/>
          <p:nvPr/>
        </p:nvSpPr>
        <p:spPr bwMode="auto">
          <a:xfrm>
            <a:off x="7818120" y="4247388"/>
            <a:ext cx="26819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chemeClr val="tx1"/>
                </a:solidFill>
              </a:rPr>
              <a:t>пакеты, драйверы, скрипты</a:t>
            </a:r>
            <a:endParaRPr lang="en-US" sz="1250"/>
          </a:p>
        </p:txBody>
      </p:sp>
      <p:sp>
        <p:nvSpPr>
          <p:cNvPr id="88494052" name="Text 85"/>
          <p:cNvSpPr txBox="1"/>
          <p:nvPr/>
        </p:nvSpPr>
        <p:spPr bwMode="auto">
          <a:xfrm>
            <a:off x="6446520" y="5193792"/>
            <a:ext cx="5105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</a:rPr>
              <a:t>Запуск: </a:t>
            </a:r>
            <a:r>
              <a:rPr lang="en-US" sz="1300">
                <a:solidFill>
                  <a:schemeClr val="tx1"/>
                </a:solidFill>
              </a:rPr>
              <a:t>iPXE передаёт файл прошивке UEFI → systemd-stub достаёт ядро, initrd и командную строку → ядро распаковывает .initrd в оперативную память и запускает из неё systemd. </a:t>
            </a:r>
            <a:r>
              <a:rPr lang="ru-RU" sz="1300">
                <a:solidFill>
                  <a:schemeClr val="tx1"/>
                </a:solidFill>
              </a:rPr>
              <a:t>Всё загружается в оперативную память.</a:t>
            </a:r>
            <a:endParaRPr lang="en-US" sz="1300"/>
          </a:p>
        </p:txBody>
      </p:sp>
      <p:sp>
        <p:nvSpPr>
          <p:cNvPr id="77919300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1636855246" name="Picture 31"/>
          <p:cNvPicPr>
            <a:picLocks noChangeAspect="1"/>
          </p:cNvPicPr>
          <p:nvPr/>
        </p:nvPicPr>
        <p:blipFill rotWithShape="1">
          <a:blip r:embed="rId3"/>
          <a:srcRect l="0" t="0" r="3674" b="0"/>
          <a:stretch/>
        </p:blipFill>
        <p:spPr bwMode="auto">
          <a:xfrm flipH="0" flipV="0">
            <a:off x="452819" y="1356235"/>
            <a:ext cx="5931468" cy="44289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823295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Скачать, проверить, записать</a:t>
            </a:r>
            <a:endParaRPr lang="en-US" sz="2800"/>
          </a:p>
        </p:txBody>
      </p:sp>
      <p:sp>
        <p:nvSpPr>
          <p:cNvPr id="2107306774" name="Shape 1"/>
          <p:cNvSpPr/>
          <p:nvPr/>
        </p:nvSpPr>
        <p:spPr bwMode="auto">
          <a:xfrm>
            <a:off x="640080" y="1280160"/>
            <a:ext cx="10911535" cy="301751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68698977" name="Text 2"/>
          <p:cNvSpPr txBox="1"/>
          <p:nvPr/>
        </p:nvSpPr>
        <p:spPr bwMode="auto">
          <a:xfrm>
            <a:off x="822960" y="12801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3-recovery/mkosi.extra/usr/local/sbin/osreboot-recovery</a:t>
            </a:r>
            <a:endParaRPr lang="en-US" sz="1100"/>
          </a:p>
        </p:txBody>
      </p:sp>
      <p:sp>
        <p:nvSpPr>
          <p:cNvPr id="1231621309" name="Shape 3"/>
          <p:cNvSpPr/>
          <p:nvPr/>
        </p:nvSpPr>
        <p:spPr bwMode="auto">
          <a:xfrm>
            <a:off x="640080" y="1645920"/>
            <a:ext cx="10911535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676639192" name="Shape 4"/>
          <p:cNvSpPr/>
          <p:nvPr/>
        </p:nvSpPr>
        <p:spPr bwMode="auto">
          <a:xfrm>
            <a:off x="651052" y="1737360"/>
            <a:ext cx="10889588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45077049" name="Text 5"/>
          <p:cNvSpPr txBox="1"/>
          <p:nvPr/>
        </p:nvSpPr>
        <p:spPr bwMode="auto">
          <a:xfrm>
            <a:off x="745236" y="174650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1950733699" name="Text 6"/>
          <p:cNvSpPr txBox="1"/>
          <p:nvPr/>
        </p:nvSpPr>
        <p:spPr bwMode="auto">
          <a:xfrm>
            <a:off x="1024128" y="173736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176</a:t>
            </a:r>
            <a:endParaRPr lang="en-US" sz="1050"/>
          </a:p>
        </p:txBody>
      </p:sp>
      <p:sp>
        <p:nvSpPr>
          <p:cNvPr id="1004428845" name="Text 7"/>
          <p:cNvSpPr txBox="1"/>
          <p:nvPr/>
        </p:nvSpPr>
        <p:spPr bwMode="auto">
          <a:xfrm>
            <a:off x="1554480" y="1737360"/>
            <a:ext cx="99514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while [ "$(file_size "$file")" -lt "${zst_size[$image]}" ]; do</a:t>
            </a:r>
            <a:endParaRPr lang="en-US" sz="1200"/>
          </a:p>
        </p:txBody>
      </p:sp>
      <p:sp>
        <p:nvSpPr>
          <p:cNvPr id="823041093" name="Shape 8"/>
          <p:cNvSpPr/>
          <p:nvPr/>
        </p:nvSpPr>
        <p:spPr bwMode="auto">
          <a:xfrm>
            <a:off x="651052" y="1984248"/>
            <a:ext cx="10889588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144003349" name="Text 9"/>
          <p:cNvSpPr txBox="1"/>
          <p:nvPr/>
        </p:nvSpPr>
        <p:spPr bwMode="auto">
          <a:xfrm>
            <a:off x="1024128" y="198424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177</a:t>
            </a:r>
            <a:endParaRPr lang="en-US" sz="1050"/>
          </a:p>
        </p:txBody>
      </p:sp>
      <p:sp>
        <p:nvSpPr>
          <p:cNvPr id="510457953" name="Text 10"/>
          <p:cNvSpPr txBox="1"/>
          <p:nvPr/>
        </p:nvSpPr>
        <p:spPr bwMode="auto">
          <a:xfrm>
            <a:off x="1554480" y="1984248"/>
            <a:ext cx="99514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fetch -C - -o "$file" "$FILES/$image.zst" &amp;</a:t>
            </a:r>
            <a:endParaRPr lang="en-US" sz="1200"/>
          </a:p>
        </p:txBody>
      </p:sp>
      <p:sp>
        <p:nvSpPr>
          <p:cNvPr id="44425484" name="Text 11"/>
          <p:cNvSpPr txBox="1"/>
          <p:nvPr/>
        </p:nvSpPr>
        <p:spPr bwMode="auto">
          <a:xfrm>
            <a:off x="1554480" y="2231136"/>
            <a:ext cx="99514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200"/>
          </a:p>
        </p:txBody>
      </p:sp>
      <p:sp>
        <p:nvSpPr>
          <p:cNvPr id="438125099" name="Shape 12"/>
          <p:cNvSpPr/>
          <p:nvPr/>
        </p:nvSpPr>
        <p:spPr bwMode="auto">
          <a:xfrm>
            <a:off x="651052" y="2478024"/>
            <a:ext cx="10889588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87422299" name="Text 13"/>
          <p:cNvSpPr txBox="1"/>
          <p:nvPr/>
        </p:nvSpPr>
        <p:spPr bwMode="auto">
          <a:xfrm>
            <a:off x="745236" y="2487167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2</a:t>
            </a:r>
            <a:endParaRPr lang="en-US" sz="1050"/>
          </a:p>
        </p:txBody>
      </p:sp>
      <p:sp>
        <p:nvSpPr>
          <p:cNvPr id="1647405446" name="Text 14"/>
          <p:cNvSpPr txBox="1"/>
          <p:nvPr/>
        </p:nvSpPr>
        <p:spPr bwMode="auto">
          <a:xfrm>
            <a:off x="1024128" y="2478024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202</a:t>
            </a:r>
            <a:endParaRPr lang="en-US" sz="1050"/>
          </a:p>
        </p:txBody>
      </p:sp>
      <p:sp>
        <p:nvSpPr>
          <p:cNvPr id="63321766" name="Text 15"/>
          <p:cNvSpPr txBox="1"/>
          <p:nvPr/>
        </p:nvSpPr>
        <p:spPr bwMode="auto">
          <a:xfrm>
            <a:off x="1554480" y="2478024"/>
            <a:ext cx="99514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  [ "$(zstd -dcq "$file" | sha256sum | cut -d' ' -f1)" != "${checksum[$image]}" ]; then</a:t>
            </a:r>
            <a:endParaRPr lang="en-US" sz="1200"/>
          </a:p>
        </p:txBody>
      </p:sp>
      <p:sp>
        <p:nvSpPr>
          <p:cNvPr id="1879754096" name="Text 16"/>
          <p:cNvSpPr txBox="1"/>
          <p:nvPr/>
        </p:nvSpPr>
        <p:spPr bwMode="auto">
          <a:xfrm>
            <a:off x="1554480" y="2724910"/>
            <a:ext cx="99514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200"/>
          </a:p>
        </p:txBody>
      </p:sp>
      <p:sp>
        <p:nvSpPr>
          <p:cNvPr id="1831621022" name="Shape 17"/>
          <p:cNvSpPr/>
          <p:nvPr/>
        </p:nvSpPr>
        <p:spPr bwMode="auto">
          <a:xfrm>
            <a:off x="651052" y="2971800"/>
            <a:ext cx="10889588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679392310" name="Text 18"/>
          <p:cNvSpPr txBox="1"/>
          <p:nvPr/>
        </p:nvSpPr>
        <p:spPr bwMode="auto">
          <a:xfrm>
            <a:off x="745236" y="298094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1492209579" name="Text 19"/>
          <p:cNvSpPr txBox="1"/>
          <p:nvPr/>
        </p:nvSpPr>
        <p:spPr bwMode="auto">
          <a:xfrm>
            <a:off x="1024128" y="297180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245</a:t>
            </a:r>
            <a:endParaRPr lang="en-US" sz="1050"/>
          </a:p>
        </p:txBody>
      </p:sp>
      <p:sp>
        <p:nvSpPr>
          <p:cNvPr id="805426998" name="Text 20"/>
          <p:cNvSpPr txBox="1"/>
          <p:nvPr/>
        </p:nvSpPr>
        <p:spPr bwMode="auto">
          <a:xfrm>
            <a:off x="1554480" y="2971800"/>
            <a:ext cx="99514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zstd -dcq "$WORK/$image.zst" | dd of="$dev" bs=4M iflag=fullblock oflag=direct status=none &amp;</a:t>
            </a:r>
            <a:endParaRPr lang="en-US" sz="1200"/>
          </a:p>
        </p:txBody>
      </p:sp>
      <p:sp>
        <p:nvSpPr>
          <p:cNvPr id="886008589" name="Text 21"/>
          <p:cNvSpPr txBox="1"/>
          <p:nvPr/>
        </p:nvSpPr>
        <p:spPr bwMode="auto">
          <a:xfrm>
            <a:off x="1554480" y="3218688"/>
            <a:ext cx="99514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200"/>
          </a:p>
        </p:txBody>
      </p:sp>
      <p:sp>
        <p:nvSpPr>
          <p:cNvPr id="1349089301" name="Shape 22"/>
          <p:cNvSpPr/>
          <p:nvPr/>
        </p:nvSpPr>
        <p:spPr bwMode="auto">
          <a:xfrm>
            <a:off x="651052" y="3465576"/>
            <a:ext cx="10889588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12279711" name="Text 23"/>
          <p:cNvSpPr txBox="1"/>
          <p:nvPr/>
        </p:nvSpPr>
        <p:spPr bwMode="auto">
          <a:xfrm>
            <a:off x="745236" y="3474720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1400647842" name="Text 24"/>
          <p:cNvSpPr txBox="1"/>
          <p:nvPr/>
        </p:nvSpPr>
        <p:spPr bwMode="auto">
          <a:xfrm>
            <a:off x="1024128" y="346557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258</a:t>
            </a:r>
            <a:endParaRPr lang="en-US" sz="1050"/>
          </a:p>
        </p:txBody>
      </p:sp>
      <p:sp>
        <p:nvSpPr>
          <p:cNvPr id="15747152" name="Text 25"/>
          <p:cNvSpPr txBox="1"/>
          <p:nvPr/>
        </p:nvSpPr>
        <p:spPr bwMode="auto">
          <a:xfrm>
            <a:off x="1554480" y="3465576"/>
            <a:ext cx="99514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[ "$(head -c "${size[$image]}" "$dev" | sha256sum | cut -d' ' -f1)" = "${checksum[$image]}" ] ||</a:t>
            </a:r>
            <a:endParaRPr lang="en-US" sz="1200"/>
          </a:p>
        </p:txBody>
      </p:sp>
      <p:sp>
        <p:nvSpPr>
          <p:cNvPr id="1734674513" name="Text 26"/>
          <p:cNvSpPr txBox="1"/>
          <p:nvPr/>
        </p:nvSpPr>
        <p:spPr bwMode="auto">
          <a:xfrm>
            <a:off x="1554480" y="3712464"/>
            <a:ext cx="99514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200"/>
          </a:p>
        </p:txBody>
      </p:sp>
      <p:sp>
        <p:nvSpPr>
          <p:cNvPr id="245475593" name="Shape 27"/>
          <p:cNvSpPr/>
          <p:nvPr/>
        </p:nvSpPr>
        <p:spPr bwMode="auto">
          <a:xfrm>
            <a:off x="651052" y="3959352"/>
            <a:ext cx="10889588" cy="2468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077384578" name="Text 28"/>
          <p:cNvSpPr txBox="1"/>
          <p:nvPr/>
        </p:nvSpPr>
        <p:spPr bwMode="auto">
          <a:xfrm>
            <a:off x="745236" y="396849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4</a:t>
            </a:r>
            <a:endParaRPr lang="en-US" sz="1050"/>
          </a:p>
        </p:txBody>
      </p:sp>
      <p:sp>
        <p:nvSpPr>
          <p:cNvPr id="420819401" name="Text 29"/>
          <p:cNvSpPr txBox="1"/>
          <p:nvPr/>
        </p:nvSpPr>
        <p:spPr bwMode="auto">
          <a:xfrm>
            <a:off x="1024128" y="39593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291</a:t>
            </a:r>
            <a:endParaRPr lang="en-US" sz="1050"/>
          </a:p>
        </p:txBody>
      </p:sp>
      <p:sp>
        <p:nvSpPr>
          <p:cNvPr id="336010407" name="Text 30"/>
          <p:cNvSpPr txBox="1"/>
          <p:nvPr/>
        </p:nvSpPr>
        <p:spPr bwMode="auto">
          <a:xfrm>
            <a:off x="1554480" y="3959352"/>
            <a:ext cx="99514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efibootmgr --bootnext "$entry" &gt;/dev/null</a:t>
            </a:r>
            <a:endParaRPr lang="en-US" sz="1200"/>
          </a:p>
        </p:txBody>
      </p:sp>
      <p:sp>
        <p:nvSpPr>
          <p:cNvPr id="1205210239" name="Text 31"/>
          <p:cNvSpPr txBox="1"/>
          <p:nvPr/>
        </p:nvSpPr>
        <p:spPr bwMode="auto">
          <a:xfrm>
            <a:off x="640080" y="446227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1</a:t>
            </a:r>
            <a:endParaRPr lang="en-US" sz="1100"/>
          </a:p>
        </p:txBody>
      </p:sp>
      <p:sp>
        <p:nvSpPr>
          <p:cNvPr id="1022586941" name="Text 32"/>
          <p:cNvSpPr txBox="1"/>
          <p:nvPr/>
        </p:nvSpPr>
        <p:spPr bwMode="auto">
          <a:xfrm>
            <a:off x="1024128" y="4434840"/>
            <a:ext cx="3311499" cy="310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Докачка</a:t>
            </a:r>
            <a:endParaRPr lang="en-US" sz="1450"/>
          </a:p>
        </p:txBody>
      </p:sp>
      <p:sp>
        <p:nvSpPr>
          <p:cNvPr id="1170106841" name="Text 33"/>
          <p:cNvSpPr txBox="1"/>
          <p:nvPr/>
        </p:nvSpPr>
        <p:spPr bwMode="auto">
          <a:xfrm>
            <a:off x="1024128" y="4800600"/>
            <a:ext cx="3311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curl -C - после обрыва продолжает с того байта, где остановился</a:t>
            </a:r>
            <a:endParaRPr lang="en-US" sz="1300"/>
          </a:p>
        </p:txBody>
      </p:sp>
      <p:sp>
        <p:nvSpPr>
          <p:cNvPr id="778506072" name="Text 34"/>
          <p:cNvSpPr txBox="1"/>
          <p:nvPr/>
        </p:nvSpPr>
        <p:spPr bwMode="auto">
          <a:xfrm>
            <a:off x="4655667" y="446227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2</a:t>
            </a:r>
            <a:endParaRPr lang="en-US" sz="1100"/>
          </a:p>
        </p:txBody>
      </p:sp>
      <p:sp>
        <p:nvSpPr>
          <p:cNvPr id="339919210" name="Text 35"/>
          <p:cNvSpPr txBox="1"/>
          <p:nvPr/>
        </p:nvSpPr>
        <p:spPr bwMode="auto">
          <a:xfrm>
            <a:off x="5039715" y="4434840"/>
            <a:ext cx="3311499" cy="310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Проверка до записи</a:t>
            </a:r>
            <a:endParaRPr lang="en-US" sz="1450"/>
          </a:p>
        </p:txBody>
      </p:sp>
      <p:sp>
        <p:nvSpPr>
          <p:cNvPr id="1782723028" name="Text 36"/>
          <p:cNvSpPr txBox="1"/>
          <p:nvPr/>
        </p:nvSpPr>
        <p:spPr bwMode="auto">
          <a:xfrm>
            <a:off x="5039715" y="4800600"/>
            <a:ext cx="3311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SHA-256 сверяется с SHA256SUMS; не сошлось — скачать заново, до 3 раз</a:t>
            </a:r>
            <a:endParaRPr lang="en-US" sz="1300"/>
          </a:p>
        </p:txBody>
      </p:sp>
      <p:sp>
        <p:nvSpPr>
          <p:cNvPr id="1961799463" name="Text 37"/>
          <p:cNvSpPr txBox="1"/>
          <p:nvPr/>
        </p:nvSpPr>
        <p:spPr bwMode="auto">
          <a:xfrm>
            <a:off x="640080" y="537667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3</a:t>
            </a:r>
            <a:endParaRPr lang="en-US" sz="1100"/>
          </a:p>
        </p:txBody>
      </p:sp>
      <p:sp>
        <p:nvSpPr>
          <p:cNvPr id="1016410608" name="Text 38"/>
          <p:cNvSpPr txBox="1"/>
          <p:nvPr/>
        </p:nvSpPr>
        <p:spPr bwMode="auto">
          <a:xfrm>
            <a:off x="1024128" y="5349240"/>
            <a:ext cx="3311499" cy="310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Запись и сверка</a:t>
            </a:r>
            <a:endParaRPr lang="en-US" sz="1450"/>
          </a:p>
        </p:txBody>
      </p:sp>
      <p:sp>
        <p:nvSpPr>
          <p:cNvPr id="1145707429" name="Text 39"/>
          <p:cNvSpPr txBox="1"/>
          <p:nvPr/>
        </p:nvSpPr>
        <p:spPr bwMode="auto">
          <a:xfrm>
            <a:off x="1024128" y="5715000"/>
            <a:ext cx="3311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zstd | dd пишет раздел, потом раздел читается обратно и сверяется</a:t>
            </a:r>
            <a:endParaRPr lang="en-US" sz="1300"/>
          </a:p>
        </p:txBody>
      </p:sp>
      <p:sp>
        <p:nvSpPr>
          <p:cNvPr id="1688188678" name="Text 40"/>
          <p:cNvSpPr txBox="1"/>
          <p:nvPr/>
        </p:nvSpPr>
        <p:spPr bwMode="auto">
          <a:xfrm>
            <a:off x="4655667" y="537667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chemeClr val="bg1"/>
                </a:solidFill>
              </a:rPr>
              <a:t>4</a:t>
            </a:r>
            <a:endParaRPr lang="en-US" sz="1100"/>
          </a:p>
        </p:txBody>
      </p:sp>
      <p:sp>
        <p:nvSpPr>
          <p:cNvPr id="153002589" name="Text 41"/>
          <p:cNvSpPr txBox="1"/>
          <p:nvPr/>
        </p:nvSpPr>
        <p:spPr bwMode="auto">
          <a:xfrm>
            <a:off x="5039715" y="5349240"/>
            <a:ext cx="3311499" cy="310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BootNext</a:t>
            </a:r>
            <a:endParaRPr lang="en-US" sz="1450"/>
          </a:p>
        </p:txBody>
      </p:sp>
      <p:sp>
        <p:nvSpPr>
          <p:cNvPr id="745604865" name="Text 42"/>
          <p:cNvSpPr txBox="1"/>
          <p:nvPr/>
        </p:nvSpPr>
        <p:spPr bwMode="auto">
          <a:xfrm>
            <a:off x="5039715" y="5715000"/>
            <a:ext cx="3311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accent4"/>
                </a:solidFill>
              </a:rPr>
              <a:t>следующая загрузка, один раз, — в восстановленную систему</a:t>
            </a:r>
            <a:endParaRPr lang="en-US" sz="1300"/>
          </a:p>
        </p:txBody>
      </p:sp>
      <p:sp>
        <p:nvSpPr>
          <p:cNvPr id="823456409" name="Text 46"/>
          <p:cNvSpPr txBox="1"/>
          <p:nvPr/>
        </p:nvSpPr>
        <p:spPr bwMode="auto">
          <a:xfrm>
            <a:off x="64008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4"/>
                </a:solidFill>
              </a:rPr>
              <a:t>1 стирание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2 сетевая загрузка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3 скачивание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4 запуск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5 скачивание образов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6 проверка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7 запись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8 перезагрузка</a:t>
            </a:r>
            <a:endParaRPr lang="en-US" sz="1050"/>
          </a:p>
        </p:txBody>
      </p:sp>
      <p:sp>
        <p:nvSpPr>
          <p:cNvPr id="180982903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06D6EF66-5713-CAE9-E770-F3188F9355EE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302282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Система</a:t>
            </a:r>
            <a:endParaRPr lang="en-US" sz="2800"/>
          </a:p>
        </p:txBody>
      </p:sp>
      <p:sp>
        <p:nvSpPr>
          <p:cNvPr id="1455795023" name="Text 1"/>
          <p:cNvSpPr txBox="1"/>
          <p:nvPr/>
        </p:nvSpPr>
        <p:spPr bwMode="auto">
          <a:xfrm>
            <a:off x="640080" y="89611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accent4"/>
                </a:solidFill>
              </a:rPr>
              <a:t>0-test-system — система, которую стирают и восстанавливают; её тоже собирает mkosi</a:t>
            </a:r>
            <a:endParaRPr lang="en-US" sz="1500"/>
          </a:p>
        </p:txBody>
      </p:sp>
      <p:sp>
        <p:nvSpPr>
          <p:cNvPr id="1202528258" name="Shape 2"/>
          <p:cNvSpPr/>
          <p:nvPr/>
        </p:nvSpPr>
        <p:spPr bwMode="auto">
          <a:xfrm>
            <a:off x="640080" y="1325880"/>
            <a:ext cx="685800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34044025" name="Text 3"/>
          <p:cNvSpPr txBox="1"/>
          <p:nvPr/>
        </p:nvSpPr>
        <p:spPr bwMode="auto">
          <a:xfrm>
            <a:off x="822960" y="13258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0-test-system/mkosi.conf</a:t>
            </a:r>
            <a:endParaRPr lang="en-US" sz="1100"/>
          </a:p>
        </p:txBody>
      </p:sp>
      <p:sp>
        <p:nvSpPr>
          <p:cNvPr id="937407320" name="Shape 4"/>
          <p:cNvSpPr/>
          <p:nvPr/>
        </p:nvSpPr>
        <p:spPr bwMode="auto">
          <a:xfrm>
            <a:off x="640080" y="1691640"/>
            <a:ext cx="685800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416095394" name="Shape 5"/>
          <p:cNvSpPr/>
          <p:nvPr/>
        </p:nvSpPr>
        <p:spPr bwMode="auto">
          <a:xfrm>
            <a:off x="651053" y="1783080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619169256" name="Text 6"/>
          <p:cNvSpPr txBox="1"/>
          <p:nvPr/>
        </p:nvSpPr>
        <p:spPr bwMode="auto">
          <a:xfrm>
            <a:off x="745236" y="1787651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1608908900" name="Text 7"/>
          <p:cNvSpPr txBox="1"/>
          <p:nvPr/>
        </p:nvSpPr>
        <p:spPr bwMode="auto">
          <a:xfrm>
            <a:off x="1024128" y="178308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7</a:t>
            </a:r>
            <a:endParaRPr lang="en-US" sz="900"/>
          </a:p>
        </p:txBody>
      </p:sp>
      <p:sp>
        <p:nvSpPr>
          <p:cNvPr id="835013627" name="Text 8"/>
          <p:cNvSpPr txBox="1"/>
          <p:nvPr/>
        </p:nvSpPr>
        <p:spPr bwMode="auto">
          <a:xfrm>
            <a:off x="1371600" y="1783080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Format=</a:t>
            </a:r>
            <a:r>
              <a:rPr lang="en-US" sz="1050">
                <a:solidFill>
                  <a:srgbClr val="FF0000"/>
                </a:solidFill>
                <a:latin typeface="JetBrainsMonoNL NF"/>
                <a:ea typeface="JetBrainsMonoNL NF"/>
                <a:cs typeface="JetBrainsMonoNL NF"/>
              </a:rPr>
              <a:t>disk</a:t>
            </a:r>
            <a:endParaRPr lang="en-US" sz="1050"/>
          </a:p>
        </p:txBody>
      </p:sp>
      <p:sp>
        <p:nvSpPr>
          <p:cNvPr id="683360578" name="Shape 9"/>
          <p:cNvSpPr/>
          <p:nvPr/>
        </p:nvSpPr>
        <p:spPr bwMode="auto">
          <a:xfrm>
            <a:off x="651053" y="2020824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48798873" name="Text 10"/>
          <p:cNvSpPr txBox="1"/>
          <p:nvPr/>
        </p:nvSpPr>
        <p:spPr bwMode="auto">
          <a:xfrm>
            <a:off x="1024128" y="2020824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10</a:t>
            </a:r>
            <a:endParaRPr lang="en-US" sz="900"/>
          </a:p>
        </p:txBody>
      </p:sp>
      <p:sp>
        <p:nvSpPr>
          <p:cNvPr id="176806837" name="Text 11"/>
          <p:cNvSpPr txBox="1"/>
          <p:nvPr/>
        </p:nvSpPr>
        <p:spPr bwMode="auto">
          <a:xfrm>
            <a:off x="1371600" y="2020824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SplitArtifacts=partitions</a:t>
            </a:r>
            <a:endParaRPr lang="en-US" sz="1050"/>
          </a:p>
        </p:txBody>
      </p:sp>
      <p:sp>
        <p:nvSpPr>
          <p:cNvPr id="998759868" name="Text 12"/>
          <p:cNvSpPr txBox="1"/>
          <p:nvPr/>
        </p:nvSpPr>
        <p:spPr bwMode="auto">
          <a:xfrm>
            <a:off x="1371600" y="2258568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050"/>
          </a:p>
        </p:txBody>
      </p:sp>
      <p:sp>
        <p:nvSpPr>
          <p:cNvPr id="955552506" name="Shape 13"/>
          <p:cNvSpPr/>
          <p:nvPr/>
        </p:nvSpPr>
        <p:spPr bwMode="auto">
          <a:xfrm>
            <a:off x="651053" y="2496312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01543139" name="Text 14"/>
          <p:cNvSpPr txBox="1"/>
          <p:nvPr/>
        </p:nvSpPr>
        <p:spPr bwMode="auto">
          <a:xfrm>
            <a:off x="745236" y="250088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2</a:t>
            </a:r>
            <a:endParaRPr lang="en-US" sz="1050"/>
          </a:p>
        </p:txBody>
      </p:sp>
      <p:sp>
        <p:nvSpPr>
          <p:cNvPr id="1623299553" name="Text 15"/>
          <p:cNvSpPr txBox="1"/>
          <p:nvPr/>
        </p:nvSpPr>
        <p:spPr bwMode="auto">
          <a:xfrm>
            <a:off x="1024128" y="249631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15</a:t>
            </a:r>
            <a:endParaRPr lang="en-US" sz="900"/>
          </a:p>
        </p:txBody>
      </p:sp>
      <p:sp>
        <p:nvSpPr>
          <p:cNvPr id="1042305383" name="Text 16"/>
          <p:cNvSpPr txBox="1"/>
          <p:nvPr/>
        </p:nvSpPr>
        <p:spPr bwMode="auto">
          <a:xfrm>
            <a:off x="1371600" y="249631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Bootloader=systemd-boot</a:t>
            </a:r>
            <a:endParaRPr lang="en-US" sz="1050"/>
          </a:p>
        </p:txBody>
      </p:sp>
      <p:sp>
        <p:nvSpPr>
          <p:cNvPr id="130400251" name="Shape 17"/>
          <p:cNvSpPr/>
          <p:nvPr/>
        </p:nvSpPr>
        <p:spPr bwMode="auto">
          <a:xfrm>
            <a:off x="651053" y="2734056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07151072" name="Text 18"/>
          <p:cNvSpPr txBox="1"/>
          <p:nvPr/>
        </p:nvSpPr>
        <p:spPr bwMode="auto">
          <a:xfrm>
            <a:off x="1024128" y="27340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16</a:t>
            </a:r>
            <a:endParaRPr lang="en-US" sz="900"/>
          </a:p>
        </p:txBody>
      </p:sp>
      <p:sp>
        <p:nvSpPr>
          <p:cNvPr id="1983265382" name="Text 19"/>
          <p:cNvSpPr txBox="1"/>
          <p:nvPr/>
        </p:nvSpPr>
        <p:spPr bwMode="auto">
          <a:xfrm>
            <a:off x="1371600" y="2734056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UnifiedKernelImages=unsigned</a:t>
            </a:r>
            <a:endParaRPr lang="en-US" sz="1050"/>
          </a:p>
        </p:txBody>
      </p:sp>
      <p:sp>
        <p:nvSpPr>
          <p:cNvPr id="1400662505" name="Text 20"/>
          <p:cNvSpPr txBox="1"/>
          <p:nvPr/>
        </p:nvSpPr>
        <p:spPr bwMode="auto">
          <a:xfrm>
            <a:off x="1371600" y="2971800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⋮</a:t>
            </a:r>
            <a:endParaRPr lang="en-US" sz="1050"/>
          </a:p>
        </p:txBody>
      </p:sp>
      <p:sp>
        <p:nvSpPr>
          <p:cNvPr id="997186934" name="Shape 21"/>
          <p:cNvSpPr/>
          <p:nvPr/>
        </p:nvSpPr>
        <p:spPr bwMode="auto">
          <a:xfrm>
            <a:off x="651053" y="3209544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233414660" name="Text 22"/>
          <p:cNvSpPr txBox="1"/>
          <p:nvPr/>
        </p:nvSpPr>
        <p:spPr bwMode="auto">
          <a:xfrm>
            <a:off x="745236" y="321411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571285680" name="Text 23"/>
          <p:cNvSpPr txBox="1"/>
          <p:nvPr/>
        </p:nvSpPr>
        <p:spPr bwMode="auto">
          <a:xfrm>
            <a:off x="1024128" y="3209544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30</a:t>
            </a:r>
            <a:endParaRPr lang="en-US" sz="900"/>
          </a:p>
        </p:txBody>
      </p:sp>
      <p:sp>
        <p:nvSpPr>
          <p:cNvPr id="1950563069" name="Text 24"/>
          <p:cNvSpPr txBox="1"/>
          <p:nvPr/>
        </p:nvSpPr>
        <p:spPr bwMode="auto">
          <a:xfrm>
            <a:off x="1371600" y="3209544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ExtraTrees=</a:t>
            </a:r>
            <a:endParaRPr lang="en-US" sz="1050"/>
          </a:p>
        </p:txBody>
      </p:sp>
      <p:sp>
        <p:nvSpPr>
          <p:cNvPr id="1732887729" name="Shape 25"/>
          <p:cNvSpPr/>
          <p:nvPr/>
        </p:nvSpPr>
        <p:spPr bwMode="auto">
          <a:xfrm>
            <a:off x="651053" y="3447288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896423512" name="Text 26"/>
          <p:cNvSpPr txBox="1"/>
          <p:nvPr/>
        </p:nvSpPr>
        <p:spPr bwMode="auto">
          <a:xfrm>
            <a:off x="1024128" y="3447288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31</a:t>
            </a:r>
            <a:endParaRPr lang="en-US" sz="900"/>
          </a:p>
        </p:txBody>
      </p:sp>
      <p:sp>
        <p:nvSpPr>
          <p:cNvPr id="1059757845" name="Text 27"/>
          <p:cNvSpPr txBox="1"/>
          <p:nvPr/>
        </p:nvSpPr>
        <p:spPr bwMode="auto">
          <a:xfrm>
            <a:off x="1371600" y="3447288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    ../client:/usr/local/lib/osreboot-client</a:t>
            </a:r>
            <a:endParaRPr lang="en-US" sz="1050"/>
          </a:p>
        </p:txBody>
      </p:sp>
      <p:sp>
        <p:nvSpPr>
          <p:cNvPr id="1815550968" name="Shape 28"/>
          <p:cNvSpPr/>
          <p:nvPr/>
        </p:nvSpPr>
        <p:spPr bwMode="auto">
          <a:xfrm>
            <a:off x="651053" y="3685032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073981533" name="Text 29"/>
          <p:cNvSpPr txBox="1"/>
          <p:nvPr/>
        </p:nvSpPr>
        <p:spPr bwMode="auto">
          <a:xfrm>
            <a:off x="1024128" y="368503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32</a:t>
            </a:r>
            <a:endParaRPr lang="en-US" sz="900"/>
          </a:p>
        </p:txBody>
      </p:sp>
      <p:sp>
        <p:nvSpPr>
          <p:cNvPr id="153961596" name="Text 30"/>
          <p:cNvSpPr txBox="1"/>
          <p:nvPr/>
        </p:nvSpPr>
        <p:spPr bwMode="auto">
          <a:xfrm>
            <a:off x="1371600" y="368503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      ../1-wipe:/usr/local/sbin</a:t>
            </a:r>
            <a:endParaRPr lang="en-US" sz="1050"/>
          </a:p>
        </p:txBody>
      </p:sp>
      <p:sp>
        <p:nvSpPr>
          <p:cNvPr id="532331673" name="Shape 31"/>
          <p:cNvSpPr/>
          <p:nvPr/>
        </p:nvSpPr>
        <p:spPr bwMode="auto">
          <a:xfrm>
            <a:off x="651053" y="3922776"/>
            <a:ext cx="6836054" cy="23774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71004285" name="Text 32"/>
          <p:cNvSpPr txBox="1"/>
          <p:nvPr/>
        </p:nvSpPr>
        <p:spPr bwMode="auto">
          <a:xfrm>
            <a:off x="745236" y="3927348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4</a:t>
            </a:r>
            <a:endParaRPr lang="en-US" sz="1050"/>
          </a:p>
        </p:txBody>
      </p:sp>
      <p:sp>
        <p:nvSpPr>
          <p:cNvPr id="1029282990" name="Text 33"/>
          <p:cNvSpPr txBox="1"/>
          <p:nvPr/>
        </p:nvSpPr>
        <p:spPr bwMode="auto">
          <a:xfrm>
            <a:off x="1024128" y="392277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chemeClr val="accent4"/>
                </a:solidFill>
                <a:latin typeface="JetBrainsMonoNL NF"/>
                <a:ea typeface="JetBrainsMonoNL NF"/>
                <a:cs typeface="JetBrainsMonoNL NF"/>
              </a:rPr>
              <a:t>34</a:t>
            </a:r>
            <a:endParaRPr lang="en-US" sz="900"/>
          </a:p>
        </p:txBody>
      </p:sp>
      <p:sp>
        <p:nvSpPr>
          <p:cNvPr id="417485396" name="Text 34"/>
          <p:cNvSpPr txBox="1"/>
          <p:nvPr/>
        </p:nvSpPr>
        <p:spPr bwMode="auto">
          <a:xfrm>
            <a:off x="1371600" y="3922776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KernelCommandLine=root=PARTLABEL=osreboot-root rw systemd.firstboot=off</a:t>
            </a:r>
            <a:endParaRPr lang="en-US" sz="1050"/>
          </a:p>
        </p:txBody>
      </p:sp>
      <p:sp>
        <p:nvSpPr>
          <p:cNvPr id="478533445" name="Shape 35"/>
          <p:cNvSpPr/>
          <p:nvPr/>
        </p:nvSpPr>
        <p:spPr bwMode="auto">
          <a:xfrm>
            <a:off x="640080" y="4389120"/>
            <a:ext cx="6858000" cy="113385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42828851" name="Text 36"/>
          <p:cNvSpPr txBox="1"/>
          <p:nvPr/>
        </p:nvSpPr>
        <p:spPr bwMode="auto">
          <a:xfrm>
            <a:off x="914400" y="4480560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$ du -h 0-test-system/mkosi.output/*</a:t>
            </a:r>
            <a:endParaRPr lang="en-US" sz="1100"/>
          </a:p>
        </p:txBody>
      </p:sp>
      <p:sp>
        <p:nvSpPr>
          <p:cNvPr id="2019214736" name="Text 37"/>
          <p:cNvSpPr txBox="1"/>
          <p:nvPr/>
        </p:nvSpPr>
        <p:spPr bwMode="auto">
          <a:xfrm>
            <a:off x="914400" y="4718304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85M   0-test-system/mkosi.output/osreboot-test.esp.raw.zst</a:t>
            </a:r>
            <a:endParaRPr lang="en-US" sz="1100"/>
          </a:p>
        </p:txBody>
      </p:sp>
      <p:sp>
        <p:nvSpPr>
          <p:cNvPr id="1082328571" name="Text 38"/>
          <p:cNvSpPr txBox="1"/>
          <p:nvPr/>
        </p:nvSpPr>
        <p:spPr bwMode="auto">
          <a:xfrm>
            <a:off x="914400" y="4956048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321M  0-test-system/mkosi.output/osreboot-test.root-x86-64.raw.zst</a:t>
            </a:r>
            <a:endParaRPr lang="en-US" sz="1100"/>
          </a:p>
        </p:txBody>
      </p:sp>
      <p:sp>
        <p:nvSpPr>
          <p:cNvPr id="698318687" name="Text 39"/>
          <p:cNvSpPr txBox="1"/>
          <p:nvPr/>
        </p:nvSpPr>
        <p:spPr bwMode="auto">
          <a:xfrm>
            <a:off x="914400" y="5193792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4.0K  0-test-system/mkosi.output/SHA256SUMS</a:t>
            </a:r>
            <a:endParaRPr lang="en-US" sz="1100"/>
          </a:p>
        </p:txBody>
      </p:sp>
      <p:sp>
        <p:nvSpPr>
          <p:cNvPr id="186159537" name="Text 40"/>
          <p:cNvSpPr txBox="1"/>
          <p:nvPr/>
        </p:nvSpPr>
        <p:spPr bwMode="auto">
          <a:xfrm>
            <a:off x="7872984" y="138988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1</a:t>
            </a:r>
            <a:endParaRPr lang="en-US" sz="1050"/>
          </a:p>
        </p:txBody>
      </p:sp>
      <p:sp>
        <p:nvSpPr>
          <p:cNvPr id="1097707361" name="Text 41"/>
          <p:cNvSpPr txBox="1"/>
          <p:nvPr/>
        </p:nvSpPr>
        <p:spPr bwMode="auto">
          <a:xfrm>
            <a:off x="8211312" y="1325880"/>
            <a:ext cx="3340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Format=disk</a:t>
            </a:r>
            <a:r>
              <a:rPr lang="en-US" sz="1250">
                <a:solidFill>
                  <a:schemeClr val="accent4"/>
                </a:solidFill>
              </a:rPr>
              <a:t> — по образу на раздел</a:t>
            </a:r>
            <a:endParaRPr lang="en-US" sz="1250"/>
          </a:p>
        </p:txBody>
      </p:sp>
      <p:sp>
        <p:nvSpPr>
          <p:cNvPr id="1823031689" name="Text 42"/>
          <p:cNvSpPr txBox="1"/>
          <p:nvPr/>
        </p:nvSpPr>
        <p:spPr bwMode="auto">
          <a:xfrm>
            <a:off x="7872984" y="175564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2</a:t>
            </a:r>
            <a:endParaRPr lang="en-US" sz="1050"/>
          </a:p>
        </p:txBody>
      </p:sp>
      <p:sp>
        <p:nvSpPr>
          <p:cNvPr id="1123493360" name="Text 43"/>
          <p:cNvSpPr txBox="1"/>
          <p:nvPr/>
        </p:nvSpPr>
        <p:spPr bwMode="auto">
          <a:xfrm>
            <a:off x="8211312" y="1691640"/>
            <a:ext cx="3340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Bootloader</a:t>
            </a:r>
            <a:r>
              <a:rPr lang="en-US" sz="1250">
                <a:solidFill>
                  <a:schemeClr val="accent4"/>
                </a:solidFill>
              </a:rPr>
              <a:t> — systemd-boot и UKI на ESP</a:t>
            </a:r>
            <a:endParaRPr lang="en-US" sz="1250"/>
          </a:p>
        </p:txBody>
      </p:sp>
      <p:sp>
        <p:nvSpPr>
          <p:cNvPr id="2014810376" name="Text 44"/>
          <p:cNvSpPr txBox="1"/>
          <p:nvPr/>
        </p:nvSpPr>
        <p:spPr bwMode="auto">
          <a:xfrm>
            <a:off x="7872984" y="212140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3</a:t>
            </a:r>
            <a:endParaRPr lang="en-US" sz="1050"/>
          </a:p>
        </p:txBody>
      </p:sp>
      <p:sp>
        <p:nvSpPr>
          <p:cNvPr id="771314462" name="Text 45"/>
          <p:cNvSpPr txBox="1"/>
          <p:nvPr/>
        </p:nvSpPr>
        <p:spPr bwMode="auto">
          <a:xfrm>
            <a:off x="8211312" y="2057400"/>
            <a:ext cx="3340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ExtraTrees</a:t>
            </a:r>
            <a:r>
              <a:rPr lang="en-US" sz="1250">
                <a:solidFill>
                  <a:schemeClr val="accent4"/>
                </a:solidFill>
              </a:rPr>
              <a:t> — клиент и osreboot-wipe</a:t>
            </a:r>
            <a:endParaRPr lang="en-US" sz="1250"/>
          </a:p>
        </p:txBody>
      </p:sp>
      <p:sp>
        <p:nvSpPr>
          <p:cNvPr id="2009292280" name="Text 46"/>
          <p:cNvSpPr txBox="1"/>
          <p:nvPr/>
        </p:nvSpPr>
        <p:spPr bwMode="auto">
          <a:xfrm>
            <a:off x="7872984" y="248716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chemeClr val="bg1"/>
                </a:solidFill>
              </a:rPr>
              <a:t>4</a:t>
            </a:r>
            <a:endParaRPr lang="en-US" sz="1050"/>
          </a:p>
        </p:txBody>
      </p:sp>
      <p:sp>
        <p:nvSpPr>
          <p:cNvPr id="948311772" name="Text 47"/>
          <p:cNvSpPr txBox="1"/>
          <p:nvPr/>
        </p:nvSpPr>
        <p:spPr bwMode="auto">
          <a:xfrm>
            <a:off x="8211312" y="2423160"/>
            <a:ext cx="3340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root=</a:t>
            </a:r>
            <a:r>
              <a:rPr lang="en-US" sz="1250">
                <a:solidFill>
                  <a:schemeClr val="accent4"/>
                </a:solidFill>
              </a:rPr>
              <a:t> — корень по метке раздела</a:t>
            </a:r>
            <a:endParaRPr lang="en-US" sz="1250"/>
          </a:p>
        </p:txBody>
      </p:sp>
      <p:sp>
        <p:nvSpPr>
          <p:cNvPr id="581765577" name="Text 48"/>
          <p:cNvSpPr txBox="1"/>
          <p:nvPr/>
        </p:nvSpPr>
        <p:spPr bwMode="auto">
          <a:xfrm>
            <a:off x="7863840" y="2926080"/>
            <a:ext cx="3687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chemeClr val="tx1"/>
                </a:solidFill>
              </a:rPr>
              <a:t>При загрузке</a:t>
            </a:r>
            <a:endParaRPr lang="en-US" sz="1450"/>
          </a:p>
        </p:txBody>
      </p:sp>
      <p:sp>
        <p:nvSpPr>
          <p:cNvPr id="909117297" name="Text 49"/>
          <p:cNvSpPr txBox="1"/>
          <p:nvPr/>
        </p:nvSpPr>
        <p:spPr bwMode="auto">
          <a:xfrm>
            <a:off x="7863840" y="3246120"/>
            <a:ext cx="3687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  <a:defRPr/>
            </a:pPr>
            <a:r>
              <a:rPr lang="en-US" sz="1250">
                <a:solidFill>
                  <a:schemeClr val="tx1"/>
                </a:solidFill>
              </a:rPr>
              <a:t>BootNext → systemd-boot тестовой системы</a:t>
            </a:r>
            <a:endParaRPr lang="en-US" sz="1250"/>
          </a:p>
          <a:p>
            <a:pPr marL="203200" indent="-203200">
              <a:spcAft>
                <a:spcPts val="300"/>
              </a:spcAft>
              <a:buSzPct val="100000"/>
              <a:buChar char="•"/>
              <a:defRPr/>
            </a:pPr>
            <a:r>
              <a:rPr lang="en-US" sz="1250">
                <a:solidFill>
                  <a:schemeClr val="tx1"/>
                </a:solidFill>
              </a:rPr>
              <a:t>netboot-off снимает LoaderEntryDefault</a:t>
            </a:r>
            <a:endParaRPr lang="en-US" sz="1250"/>
          </a:p>
          <a:p>
            <a:pPr marL="203200" indent="-203200">
              <a:spcAft>
                <a:spcPts val="300"/>
              </a:spcAft>
              <a:buSzPct val="100000"/>
              <a:buChar char="•"/>
              <a:defRPr/>
            </a:pPr>
            <a:r>
              <a:rPr lang="en-US" sz="1250">
                <a:solidFill>
                  <a:schemeClr val="tx1"/>
                </a:solidFill>
              </a:rPr>
              <a:t>heartbeat с новым boot ID: простой закрыт</a:t>
            </a:r>
            <a:endParaRPr lang="en-US" sz="1250"/>
          </a:p>
        </p:txBody>
      </p:sp>
      <p:sp>
        <p:nvSpPr>
          <p:cNvPr id="743282506" name="Text 53"/>
          <p:cNvSpPr txBox="1"/>
          <p:nvPr/>
        </p:nvSpPr>
        <p:spPr bwMode="auto">
          <a:xfrm>
            <a:off x="64008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4"/>
                </a:solidFill>
              </a:rPr>
              <a:t>1 стирание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2 сетевая загрузка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3 скачивание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4 запуск среды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5 скачивание образов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6 проверка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>
                <a:solidFill>
                  <a:schemeClr val="accent4"/>
                </a:solidFill>
              </a:rPr>
              <a:t>7 запись</a:t>
            </a:r>
            <a:r>
              <a:rPr lang="en-US" sz="1050">
                <a:solidFill>
                  <a:schemeClr val="tx1"/>
                </a:solidFill>
              </a:rPr>
              <a:t>     </a:t>
            </a:r>
            <a:r>
              <a:rPr lang="en-US" sz="1050" b="1">
                <a:solidFill>
                  <a:schemeClr val="accent1"/>
                </a:solidFill>
              </a:rPr>
              <a:t>8 перезагрузка</a:t>
            </a:r>
            <a:endParaRPr lang="en-US" sz="1050"/>
          </a:p>
        </p:txBody>
      </p:sp>
      <p:sp>
        <p:nvSpPr>
          <p:cNvPr id="78476633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886970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Простой меряет сервер</a:t>
            </a:r>
            <a:endParaRPr lang="en-US" sz="2800"/>
          </a:p>
        </p:txBody>
      </p:sp>
      <p:sp>
        <p:nvSpPr>
          <p:cNvPr id="1247821041" name="Shape 1"/>
          <p:cNvSpPr/>
          <p:nvPr/>
        </p:nvSpPr>
        <p:spPr bwMode="auto">
          <a:xfrm>
            <a:off x="640080" y="2514600"/>
            <a:ext cx="10911535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69882151" name="Shape 2"/>
          <p:cNvSpPr/>
          <p:nvPr/>
        </p:nvSpPr>
        <p:spPr bwMode="auto">
          <a:xfrm>
            <a:off x="685800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22172379" name="Shape 3"/>
          <p:cNvSpPr/>
          <p:nvPr/>
        </p:nvSpPr>
        <p:spPr bwMode="auto">
          <a:xfrm>
            <a:off x="1024128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76537973" name="Shape 4"/>
          <p:cNvSpPr/>
          <p:nvPr/>
        </p:nvSpPr>
        <p:spPr bwMode="auto">
          <a:xfrm>
            <a:off x="1362455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87249354" name="Shape 5"/>
          <p:cNvSpPr/>
          <p:nvPr/>
        </p:nvSpPr>
        <p:spPr bwMode="auto">
          <a:xfrm>
            <a:off x="1700784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91361157" name="Shape 6"/>
          <p:cNvSpPr/>
          <p:nvPr/>
        </p:nvSpPr>
        <p:spPr bwMode="auto">
          <a:xfrm>
            <a:off x="2039112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39385123" name="Shape 7"/>
          <p:cNvSpPr/>
          <p:nvPr/>
        </p:nvSpPr>
        <p:spPr bwMode="auto">
          <a:xfrm>
            <a:off x="2377440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04884798" name="Shape 8"/>
          <p:cNvSpPr/>
          <p:nvPr/>
        </p:nvSpPr>
        <p:spPr bwMode="auto">
          <a:xfrm>
            <a:off x="2715768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00945694" name="Shape 9"/>
          <p:cNvSpPr/>
          <p:nvPr/>
        </p:nvSpPr>
        <p:spPr bwMode="auto">
          <a:xfrm>
            <a:off x="3054096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31389466" name="Shape 10"/>
          <p:cNvSpPr/>
          <p:nvPr/>
        </p:nvSpPr>
        <p:spPr bwMode="auto">
          <a:xfrm>
            <a:off x="3392424" y="242316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108520108" name="Shape 11"/>
          <p:cNvSpPr/>
          <p:nvPr/>
        </p:nvSpPr>
        <p:spPr bwMode="auto">
          <a:xfrm>
            <a:off x="7955280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18201127" name="Shape 12"/>
          <p:cNvSpPr/>
          <p:nvPr/>
        </p:nvSpPr>
        <p:spPr bwMode="auto">
          <a:xfrm>
            <a:off x="8293607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58414162" name="Shape 13"/>
          <p:cNvSpPr/>
          <p:nvPr/>
        </p:nvSpPr>
        <p:spPr bwMode="auto">
          <a:xfrm>
            <a:off x="8631936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35473304" name="Shape 14"/>
          <p:cNvSpPr/>
          <p:nvPr/>
        </p:nvSpPr>
        <p:spPr bwMode="auto">
          <a:xfrm>
            <a:off x="8970264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26792002" name="Shape 15"/>
          <p:cNvSpPr/>
          <p:nvPr/>
        </p:nvSpPr>
        <p:spPr bwMode="auto">
          <a:xfrm>
            <a:off x="9308592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96779543" name="Shape 16"/>
          <p:cNvSpPr/>
          <p:nvPr/>
        </p:nvSpPr>
        <p:spPr bwMode="auto">
          <a:xfrm>
            <a:off x="9646920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18866019" name="Shape 17"/>
          <p:cNvSpPr/>
          <p:nvPr/>
        </p:nvSpPr>
        <p:spPr bwMode="auto">
          <a:xfrm>
            <a:off x="9985248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9926881" name="Shape 18"/>
          <p:cNvSpPr/>
          <p:nvPr/>
        </p:nvSpPr>
        <p:spPr bwMode="auto">
          <a:xfrm>
            <a:off x="10323576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02954747" name="Shape 19"/>
          <p:cNvSpPr/>
          <p:nvPr/>
        </p:nvSpPr>
        <p:spPr bwMode="auto">
          <a:xfrm>
            <a:off x="10661904" y="24231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76261968" name="Shape 20"/>
          <p:cNvSpPr/>
          <p:nvPr/>
        </p:nvSpPr>
        <p:spPr bwMode="auto">
          <a:xfrm>
            <a:off x="3703320" y="2221992"/>
            <a:ext cx="3931920" cy="585216"/>
          </a:xfrm>
          <a:prstGeom prst="rect">
            <a:avLst/>
          </a:prstGeom>
          <a:solidFill>
            <a:srgbClr val="FBE9E9"/>
          </a:solidFill>
          <a:ln/>
        </p:spPr>
      </p:sp>
      <p:sp>
        <p:nvSpPr>
          <p:cNvPr id="821778198" name="Text 21"/>
          <p:cNvSpPr txBox="1"/>
          <p:nvPr/>
        </p:nvSpPr>
        <p:spPr bwMode="auto">
          <a:xfrm>
            <a:off x="3703320" y="222199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accent3"/>
                </a:solidFill>
              </a:rPr>
              <a:t>простой ≈ 165 с (не в масштабе)</a:t>
            </a:r>
            <a:endParaRPr lang="en-US" sz="1500"/>
          </a:p>
        </p:txBody>
      </p:sp>
      <p:sp>
        <p:nvSpPr>
          <p:cNvPr id="2146631273" name="Text 22"/>
          <p:cNvSpPr txBox="1"/>
          <p:nvPr/>
        </p:nvSpPr>
        <p:spPr bwMode="auto">
          <a:xfrm>
            <a:off x="64008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boot ID a71f…</a:t>
            </a:r>
            <a:endParaRPr lang="en-US" sz="1350"/>
          </a:p>
        </p:txBody>
      </p:sp>
      <p:sp>
        <p:nvSpPr>
          <p:cNvPr id="1333874865" name="Text 23"/>
          <p:cNvSpPr txBox="1"/>
          <p:nvPr/>
        </p:nvSpPr>
        <p:spPr bwMode="auto">
          <a:xfrm>
            <a:off x="795528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accent2"/>
                </a:solidFill>
                <a:latin typeface="JetBrainsMonoNL NF"/>
                <a:ea typeface="JetBrainsMonoNL NF"/>
                <a:cs typeface="JetBrainsMonoNL NF"/>
              </a:rPr>
              <a:t>boot ID 3c08… — новый</a:t>
            </a:r>
            <a:endParaRPr lang="en-US" sz="1350"/>
          </a:p>
        </p:txBody>
      </p:sp>
      <p:sp>
        <p:nvSpPr>
          <p:cNvPr id="782562500" name="Text 24"/>
          <p:cNvSpPr txBox="1"/>
          <p:nvPr/>
        </p:nvSpPr>
        <p:spPr bwMode="auto">
          <a:xfrm>
            <a:off x="3154680" y="1737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chemeClr val="accent4"/>
                </a:solidFill>
              </a:rPr>
              <a:t>3 с без heartbeat — сервер открывает простой</a:t>
            </a:r>
            <a:endParaRPr lang="en-US" sz="1250"/>
          </a:p>
        </p:txBody>
      </p:sp>
      <p:sp>
        <p:nvSpPr>
          <p:cNvPr id="1706223776" name="Text 25"/>
          <p:cNvSpPr txBox="1"/>
          <p:nvPr/>
        </p:nvSpPr>
        <p:spPr bwMode="auto">
          <a:xfrm>
            <a:off x="251460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chemeClr val="accent4"/>
                </a:solidFill>
              </a:rPr>
              <a:t>начало: последний сигнал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>
                <a:solidFill>
                  <a:schemeClr val="accent4"/>
                </a:solidFill>
              </a:rPr>
              <a:t>по часам сервера</a:t>
            </a:r>
            <a:endParaRPr lang="en-US" sz="1250"/>
          </a:p>
        </p:txBody>
      </p:sp>
      <p:sp>
        <p:nvSpPr>
          <p:cNvPr id="2002013252" name="Text 26"/>
          <p:cNvSpPr txBox="1"/>
          <p:nvPr/>
        </p:nvSpPr>
        <p:spPr bwMode="auto">
          <a:xfrm>
            <a:off x="644652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chemeClr val="accent4"/>
                </a:solidFill>
              </a:rPr>
              <a:t>конец: первый сигнал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>
                <a:solidFill>
                  <a:schemeClr val="accent4"/>
                </a:solidFill>
              </a:rPr>
              <a:t>по часам сервера</a:t>
            </a:r>
            <a:endParaRPr lang="en-US" sz="1250"/>
          </a:p>
        </p:txBody>
      </p:sp>
      <p:sp>
        <p:nvSpPr>
          <p:cNvPr id="393486709" name="Text 27"/>
          <p:cNvSpPr txBox="1"/>
          <p:nvPr/>
        </p:nvSpPr>
        <p:spPr bwMode="auto">
          <a:xfrm>
            <a:off x="640080" y="374904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  <a:defRPr/>
            </a:pPr>
            <a:r>
              <a:rPr lang="en-US" sz="1700">
                <a:solidFill>
                  <a:schemeClr val="tx1"/>
                </a:solidFill>
              </a:rPr>
              <a:t>Раз в секунду ноутбук шлёт heartbeat с boot ID</a:t>
            </a:r>
            <a:endParaRPr lang="en-US" sz="1700"/>
          </a:p>
          <a:p>
            <a:pPr marL="203200" indent="-203200">
              <a:spcAft>
                <a:spcPts val="1000"/>
              </a:spcAft>
              <a:buSzPct val="100000"/>
              <a:buChar char="•"/>
              <a:defRPr/>
            </a:pPr>
            <a:r>
              <a:rPr lang="en-US" sz="1700">
                <a:solidFill>
                  <a:schemeClr val="tx1"/>
                </a:solidFill>
              </a:rPr>
              <a:t>Таймаут 3 с влияет только на то, когда простой станет виден, а не на его длину</a:t>
            </a:r>
            <a:endParaRPr lang="en-US" sz="1700"/>
          </a:p>
          <a:p>
            <a:pPr marL="203200" indent="-203200">
              <a:spcAft>
                <a:spcPts val="1000"/>
              </a:spcAft>
              <a:buSzPct val="100000"/>
              <a:buChar char="•"/>
              <a:defRPr/>
            </a:pPr>
            <a:r>
              <a:rPr lang="en-US" sz="1700">
                <a:solidFill>
                  <a:schemeClr val="tx1"/>
                </a:solidFill>
              </a:rPr>
              <a:t>Отчёты об этапах раскладывают простой на части</a:t>
            </a:r>
            <a:endParaRPr lang="en-US" sz="1700"/>
          </a:p>
        </p:txBody>
      </p:sp>
      <p:sp>
        <p:nvSpPr>
          <p:cNvPr id="1495407395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30747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Итоги</a:t>
            </a:r>
            <a:endParaRPr lang="en-US" sz="2800"/>
          </a:p>
        </p:txBody>
      </p:sp>
      <p:sp>
        <p:nvSpPr>
          <p:cNvPr id="1217422971" name="Text 1"/>
          <p:cNvSpPr txBox="1"/>
          <p:nvPr/>
        </p:nvSpPr>
        <p:spPr bwMode="auto">
          <a:xfrm>
            <a:off x="640080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3600" b="1">
                <a:solidFill>
                  <a:schemeClr val="accent1"/>
                </a:solidFill>
              </a:rPr>
              <a:t>1</a:t>
            </a:r>
            <a:endParaRPr lang="en-US" sz="3600"/>
          </a:p>
        </p:txBody>
      </p:sp>
      <p:sp>
        <p:nvSpPr>
          <p:cNvPr id="795608726" name="Text 2"/>
          <p:cNvSpPr txBox="1"/>
          <p:nvPr/>
        </p:nvSpPr>
        <p:spPr bwMode="auto">
          <a:xfrm>
            <a:off x="1325880" y="1463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100" b="1">
                <a:solidFill>
                  <a:schemeClr val="tx1"/>
                </a:solidFill>
              </a:rPr>
              <a:t>Работает</a:t>
            </a:r>
            <a:endParaRPr lang="en-US" sz="2100"/>
          </a:p>
        </p:txBody>
      </p:sp>
      <p:sp>
        <p:nvSpPr>
          <p:cNvPr id="1610041577" name="Text 3"/>
          <p:cNvSpPr txBox="1"/>
          <p:nvPr/>
        </p:nvSpPr>
        <p:spPr bwMode="auto">
          <a:xfrm>
            <a:off x="1325880" y="19202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50">
                <a:solidFill>
                  <a:schemeClr val="accent4"/>
                </a:solidFill>
              </a:rPr>
              <a:t>Ноутбук без BMC сам поднимает стёртую систему через интернет: UEFI → systemd-boot → iPXE по HTTPS → Linux в памяти → проверка и запись</a:t>
            </a:r>
            <a:endParaRPr lang="en-US" sz="1550"/>
          </a:p>
        </p:txBody>
      </p:sp>
      <p:sp>
        <p:nvSpPr>
          <p:cNvPr id="2099971045" name="Text 4"/>
          <p:cNvSpPr txBox="1"/>
          <p:nvPr/>
        </p:nvSpPr>
        <p:spPr bwMode="auto">
          <a:xfrm>
            <a:off x="640080" y="2670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3600" b="1">
                <a:solidFill>
                  <a:schemeClr val="accent1"/>
                </a:solidFill>
              </a:rPr>
              <a:t>2</a:t>
            </a:r>
            <a:endParaRPr lang="en-US" sz="3600"/>
          </a:p>
        </p:txBody>
      </p:sp>
      <p:sp>
        <p:nvSpPr>
          <p:cNvPr id="544509688" name="Text 5"/>
          <p:cNvSpPr txBox="1"/>
          <p:nvPr/>
        </p:nvSpPr>
        <p:spPr bwMode="auto">
          <a:xfrm>
            <a:off x="1325880" y="2743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ru-RU" sz="2100" b="1">
                <a:solidFill>
                  <a:schemeClr val="tx1"/>
                </a:solidFill>
              </a:rPr>
              <a:t>Система настраиваемая</a:t>
            </a:r>
            <a:endParaRPr lang="en-US" sz="2100"/>
          </a:p>
        </p:txBody>
      </p:sp>
      <p:sp>
        <p:nvSpPr>
          <p:cNvPr id="382637814" name="Text 6"/>
          <p:cNvSpPr txBox="1"/>
          <p:nvPr/>
        </p:nvSpPr>
        <p:spPr bwMode="auto">
          <a:xfrm>
            <a:off x="1325880" y="32004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ru-RU" sz="1550">
                <a:solidFill>
                  <a:schemeClr val="accent4"/>
                </a:solidFill>
              </a:rPr>
              <a:t>Система восстановления это линукс с </a:t>
            </a:r>
            <a:r>
              <a:rPr lang="en-US" sz="1550">
                <a:solidFill>
                  <a:schemeClr val="accent4"/>
                </a:solidFill>
              </a:rPr>
              <a:t>bash</a:t>
            </a:r>
            <a:r>
              <a:rPr lang="ru-RU" sz="1550">
                <a:solidFill>
                  <a:schemeClr val="accent4"/>
                </a:solidFill>
              </a:rPr>
              <a:t>. Всё можно изменить.</a:t>
            </a:r>
            <a:endParaRPr lang="en-US" sz="1550"/>
          </a:p>
        </p:txBody>
      </p:sp>
      <p:sp>
        <p:nvSpPr>
          <p:cNvPr id="89141964" name="Text 7"/>
          <p:cNvSpPr txBox="1"/>
          <p:nvPr/>
        </p:nvSpPr>
        <p:spPr bwMode="auto">
          <a:xfrm>
            <a:off x="640080" y="3950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3600" b="1">
                <a:solidFill>
                  <a:schemeClr val="accent1"/>
                </a:solidFill>
              </a:rPr>
              <a:t>3</a:t>
            </a:r>
            <a:endParaRPr lang="en-US" sz="3600"/>
          </a:p>
        </p:txBody>
      </p:sp>
      <p:sp>
        <p:nvSpPr>
          <p:cNvPr id="912208599" name="Text 8"/>
          <p:cNvSpPr txBox="1"/>
          <p:nvPr/>
        </p:nvSpPr>
        <p:spPr bwMode="auto">
          <a:xfrm>
            <a:off x="1325880" y="4023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100" b="1">
                <a:solidFill>
                  <a:schemeClr val="tx1"/>
                </a:solidFill>
              </a:rPr>
              <a:t>Безопасно</a:t>
            </a:r>
            <a:endParaRPr lang="en-US" sz="2100"/>
          </a:p>
        </p:txBody>
      </p:sp>
      <p:sp>
        <p:nvSpPr>
          <p:cNvPr id="721726083" name="Text 9"/>
          <p:cNvSpPr txBox="1"/>
          <p:nvPr/>
        </p:nvSpPr>
        <p:spPr bwMode="auto">
          <a:xfrm>
            <a:off x="1325880" y="44805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50">
                <a:solidFill>
                  <a:schemeClr val="accent4"/>
                </a:solidFill>
              </a:rPr>
              <a:t>HTTPS с проверкой сервера, SHA-256, секреты в TPM</a:t>
            </a:r>
            <a:endParaRPr lang="en-US" sz="1550"/>
          </a:p>
        </p:txBody>
      </p:sp>
      <p:sp>
        <p:nvSpPr>
          <p:cNvPr id="607405575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257272" name="Text 0"/>
          <p:cNvSpPr/>
          <p:nvPr>
            <p:ph type="title" idx="100" hasCustomPrompt="1"/>
          </p:nvPr>
        </p:nvSpPr>
        <p:spPr bwMode="auto"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Спасибо! Вопросы?</a:t>
            </a:r>
            <a:endParaRPr lang="en-US" sz="2800"/>
          </a:p>
        </p:txBody>
      </p:sp>
      <p:pic>
        <p:nvPicPr>
          <p:cNvPr id="2113525984" name="Image 0" descr="QR-код: github.com/Irenid/OSreboo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63878" y="1600200"/>
            <a:ext cx="1828800" cy="1828800"/>
          </a:xfrm>
          <a:prstGeom prst="rect">
            <a:avLst/>
          </a:prstGeom>
        </p:spPr>
      </p:pic>
      <p:sp>
        <p:nvSpPr>
          <p:cNvPr id="1178763374" name="Text 1"/>
          <p:cNvSpPr txBox="1"/>
          <p:nvPr/>
        </p:nvSpPr>
        <p:spPr bwMode="auto">
          <a:xfrm>
            <a:off x="1135278" y="3611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Репозиторий</a:t>
            </a:r>
            <a:endParaRPr lang="en-US" sz="1600"/>
          </a:p>
        </p:txBody>
      </p:sp>
      <p:sp>
        <p:nvSpPr>
          <p:cNvPr id="1281983464" name="Text 2"/>
          <p:cNvSpPr txBox="1"/>
          <p:nvPr/>
        </p:nvSpPr>
        <p:spPr bwMode="auto">
          <a:xfrm>
            <a:off x="1135278" y="3977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github.com/Irenid/OSreboot</a:t>
            </a:r>
            <a:endParaRPr lang="en-US" sz="1200"/>
          </a:p>
        </p:txBody>
      </p:sp>
      <p:pic>
        <p:nvPicPr>
          <p:cNvPr id="1940465353" name="Image 1" descr="QR-код: osreboot.epsti.sit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939778" y="1600200"/>
            <a:ext cx="1828800" cy="1828800"/>
          </a:xfrm>
          <a:prstGeom prst="rect">
            <a:avLst/>
          </a:prstGeom>
        </p:spPr>
      </p:pic>
      <p:sp>
        <p:nvSpPr>
          <p:cNvPr id="274903289" name="Text 3"/>
          <p:cNvSpPr txBox="1"/>
          <p:nvPr/>
        </p:nvSpPr>
        <p:spPr bwMode="auto">
          <a:xfrm>
            <a:off x="4711178" y="3611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Страница состояния</a:t>
            </a:r>
            <a:endParaRPr lang="en-US" sz="1600"/>
          </a:p>
        </p:txBody>
      </p:sp>
      <p:sp>
        <p:nvSpPr>
          <p:cNvPr id="2021841897" name="Text 4"/>
          <p:cNvSpPr txBox="1"/>
          <p:nvPr/>
        </p:nvSpPr>
        <p:spPr bwMode="auto">
          <a:xfrm>
            <a:off x="4711178" y="3977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osreboot.epsti.site</a:t>
            </a:r>
            <a:endParaRPr lang="en-US" sz="1200"/>
          </a:p>
        </p:txBody>
      </p:sp>
      <p:pic>
        <p:nvPicPr>
          <p:cNvPr id="1709693034" name="Image 2" descr="QR-код: paper.epsti.site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455878" y="1600200"/>
            <a:ext cx="1828800" cy="1828800"/>
          </a:xfrm>
          <a:prstGeom prst="rect">
            <a:avLst/>
          </a:prstGeom>
        </p:spPr>
      </p:pic>
      <p:sp>
        <p:nvSpPr>
          <p:cNvPr id="1283278265" name="Text 5"/>
          <p:cNvSpPr txBox="1"/>
          <p:nvPr/>
        </p:nvSpPr>
        <p:spPr bwMode="auto">
          <a:xfrm>
            <a:off x="8227278" y="3611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tx1"/>
                </a:solidFill>
              </a:rPr>
              <a:t>Статья</a:t>
            </a:r>
            <a:endParaRPr lang="en-US" sz="1600"/>
          </a:p>
        </p:txBody>
      </p:sp>
      <p:sp>
        <p:nvSpPr>
          <p:cNvPr id="513364800" name="Text 6"/>
          <p:cNvSpPr txBox="1"/>
          <p:nvPr/>
        </p:nvSpPr>
        <p:spPr bwMode="auto">
          <a:xfrm>
            <a:off x="8227278" y="3977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paper.epsti.site</a:t>
            </a:r>
            <a:endParaRPr lang="en-US" sz="1200"/>
          </a:p>
        </p:txBody>
      </p:sp>
      <p:sp>
        <p:nvSpPr>
          <p:cNvPr id="186685755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927821" name="Text 1"/>
          <p:cNvSpPr/>
          <p:nvPr>
            <p:ph type="title" idx="101" hasCustomPrompt="1"/>
          </p:nvPr>
        </p:nvSpPr>
        <p:spPr bwMode="auto">
          <a:xfrm>
            <a:off x="640080" y="411480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chemeClr val="tx1"/>
                </a:solidFill>
              </a:rPr>
              <a:t>Что внутри файлов .efi</a:t>
            </a:r>
            <a:endParaRPr lang="en-US" sz="2800"/>
          </a:p>
        </p:txBody>
      </p:sp>
      <p:sp>
        <p:nvSpPr>
          <p:cNvPr id="1145418443" name="Text 1"/>
          <p:cNvSpPr txBox="1"/>
          <p:nvPr/>
        </p:nvSpPr>
        <p:spPr bwMode="auto">
          <a:xfrm>
            <a:off x="9722815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u="sng">
                <a:solidFill>
                  <a:schemeClr val="accent1"/>
                </a:solidFill>
                <a:hlinkClick r:id="rId3" action="ppaction://hlinksldjump" tooltip="К слайду с вопросами"/>
              </a:rPr>
              <a:t>← к вопросам</a:t>
            </a:r>
            <a:endParaRPr lang="en-US" sz="1400"/>
          </a:p>
        </p:txBody>
      </p:sp>
      <p:sp>
        <p:nvSpPr>
          <p:cNvPr id="1784179208" name="Shape 2"/>
          <p:cNvSpPr/>
          <p:nvPr/>
        </p:nvSpPr>
        <p:spPr bwMode="auto">
          <a:xfrm>
            <a:off x="640080" y="1325880"/>
            <a:ext cx="5250028" cy="171907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2535048" name="Text 3"/>
          <p:cNvSpPr txBox="1"/>
          <p:nvPr/>
        </p:nvSpPr>
        <p:spPr bwMode="auto">
          <a:xfrm>
            <a:off x="868680" y="1417320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$ objdump -h 2-ipxe/out/ipxe.efi</a:t>
            </a:r>
            <a:endParaRPr lang="en-US" sz="1100"/>
          </a:p>
        </p:txBody>
      </p:sp>
      <p:sp>
        <p:nvSpPr>
          <p:cNvPr id="1148653241" name="Text 4"/>
          <p:cNvSpPr txBox="1"/>
          <p:nvPr/>
        </p:nvSpPr>
        <p:spPr bwMode="auto">
          <a:xfrm>
            <a:off x="868680" y="1673352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Idx Name          Size</a:t>
            </a:r>
            <a:endParaRPr lang="en-US" sz="1100"/>
          </a:p>
        </p:txBody>
      </p:sp>
      <p:sp>
        <p:nvSpPr>
          <p:cNvPr id="626141117" name="Text 5"/>
          <p:cNvSpPr txBox="1"/>
          <p:nvPr/>
        </p:nvSpPr>
        <p:spPr bwMode="auto">
          <a:xfrm>
            <a:off x="868680" y="1929384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0 .text         000c0c2e</a:t>
            </a:r>
            <a:endParaRPr lang="en-US" sz="1100"/>
          </a:p>
        </p:txBody>
      </p:sp>
      <p:sp>
        <p:nvSpPr>
          <p:cNvPr id="1167125716" name="Text 6"/>
          <p:cNvSpPr txBox="1"/>
          <p:nvPr/>
        </p:nvSpPr>
        <p:spPr bwMode="auto">
          <a:xfrm>
            <a:off x="868680" y="2185416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1 .rodata       0002e9dc</a:t>
            </a:r>
            <a:endParaRPr lang="en-US" sz="1100"/>
          </a:p>
        </p:txBody>
      </p:sp>
      <p:sp>
        <p:nvSpPr>
          <p:cNvPr id="1736887976" name="Text 7"/>
          <p:cNvSpPr txBox="1"/>
          <p:nvPr/>
        </p:nvSpPr>
        <p:spPr bwMode="auto">
          <a:xfrm>
            <a:off x="868680" y="2441448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2 .data         0002b338</a:t>
            </a:r>
            <a:endParaRPr lang="en-US" sz="1100"/>
          </a:p>
        </p:txBody>
      </p:sp>
      <p:sp>
        <p:nvSpPr>
          <p:cNvPr id="1255681278" name="Text 8"/>
          <p:cNvSpPr txBox="1"/>
          <p:nvPr/>
        </p:nvSpPr>
        <p:spPr bwMode="auto">
          <a:xfrm>
            <a:off x="868680" y="2697480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3 .bss          00408600</a:t>
            </a:r>
            <a:endParaRPr lang="en-US" sz="1100"/>
          </a:p>
        </p:txBody>
      </p:sp>
      <p:sp>
        <p:nvSpPr>
          <p:cNvPr id="234577690" name="Text 9"/>
          <p:cNvSpPr txBox="1"/>
          <p:nvPr/>
        </p:nvSpPr>
        <p:spPr bwMode="auto">
          <a:xfrm>
            <a:off x="640080" y="3154680"/>
            <a:ext cx="5250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ipxe.efi, 1,1 MiB: ipxe, не Linux</a:t>
            </a:r>
            <a:endParaRPr lang="en-US" sz="1500"/>
          </a:p>
        </p:txBody>
      </p:sp>
      <p:sp>
        <p:nvSpPr>
          <p:cNvPr id="1237420986" name="Text 10"/>
          <p:cNvSpPr txBox="1"/>
          <p:nvPr/>
        </p:nvSpPr>
        <p:spPr bwMode="auto">
          <a:xfrm>
            <a:off x="640080" y="3584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.text</a:t>
            </a:r>
            <a:endParaRPr lang="en-US" sz="1300"/>
          </a:p>
        </p:txBody>
      </p:sp>
      <p:sp>
        <p:nvSpPr>
          <p:cNvPr id="1134065128" name="Text 11"/>
          <p:cNvSpPr txBox="1"/>
          <p:nvPr/>
        </p:nvSpPr>
        <p:spPr bwMode="auto">
          <a:xfrm>
            <a:off x="640080" y="38404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0,75 MiB</a:t>
            </a:r>
            <a:endParaRPr lang="en-US" sz="1200"/>
          </a:p>
        </p:txBody>
      </p:sp>
      <p:sp>
        <p:nvSpPr>
          <p:cNvPr id="108622330" name="Text 12"/>
          <p:cNvSpPr txBox="1"/>
          <p:nvPr/>
        </p:nvSpPr>
        <p:spPr bwMode="auto">
          <a:xfrm>
            <a:off x="1828800" y="358444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код iPXE: драйверы сетевых карт, TCP/IP, DHCP, DNS, TLS, HTTP</a:t>
            </a:r>
            <a:endParaRPr lang="en-US" sz="1300"/>
          </a:p>
        </p:txBody>
      </p:sp>
      <p:sp>
        <p:nvSpPr>
          <p:cNvPr id="1365472554" name="Text 13"/>
          <p:cNvSpPr txBox="1"/>
          <p:nvPr/>
        </p:nvSpPr>
        <p:spPr bwMode="auto">
          <a:xfrm>
            <a:off x="640080" y="4133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.rodata</a:t>
            </a:r>
            <a:endParaRPr lang="en-US" sz="1300"/>
          </a:p>
        </p:txBody>
      </p:sp>
      <p:sp>
        <p:nvSpPr>
          <p:cNvPr id="1488537154" name="Text 14"/>
          <p:cNvSpPr txBox="1"/>
          <p:nvPr/>
        </p:nvSpPr>
        <p:spPr bwMode="auto">
          <a:xfrm>
            <a:off x="640080" y="4389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0,18 MiB</a:t>
            </a:r>
            <a:endParaRPr lang="en-US" sz="1200"/>
          </a:p>
        </p:txBody>
      </p:sp>
      <p:sp>
        <p:nvSpPr>
          <p:cNvPr id="1619561347" name="Text 15"/>
          <p:cNvSpPr txBox="1"/>
          <p:nvPr/>
        </p:nvSpPr>
        <p:spPr bwMode="auto">
          <a:xfrm>
            <a:off x="1828800" y="413308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данные, в том числе вшитые корни ISRG X1 и X2</a:t>
            </a:r>
            <a:endParaRPr lang="en-US" sz="1300"/>
          </a:p>
        </p:txBody>
      </p:sp>
      <p:sp>
        <p:nvSpPr>
          <p:cNvPr id="844264186" name="Text 16"/>
          <p:cNvSpPr txBox="1"/>
          <p:nvPr/>
        </p:nvSpPr>
        <p:spPr bwMode="auto">
          <a:xfrm>
            <a:off x="640080" y="4681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.data</a:t>
            </a:r>
            <a:endParaRPr lang="en-US" sz="1300"/>
          </a:p>
        </p:txBody>
      </p:sp>
      <p:sp>
        <p:nvSpPr>
          <p:cNvPr id="1255194881" name="Text 17"/>
          <p:cNvSpPr txBox="1"/>
          <p:nvPr/>
        </p:nvSpPr>
        <p:spPr bwMode="auto">
          <a:xfrm>
            <a:off x="640080" y="49377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0,17 MiB</a:t>
            </a:r>
            <a:endParaRPr lang="en-US" sz="1200"/>
          </a:p>
        </p:txBody>
      </p:sp>
      <p:sp>
        <p:nvSpPr>
          <p:cNvPr id="1670277727" name="Text 18"/>
          <p:cNvSpPr txBox="1"/>
          <p:nvPr/>
        </p:nvSpPr>
        <p:spPr bwMode="auto">
          <a:xfrm>
            <a:off x="1828800" y="468172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данные, в том числе вшитый сценарий osreboot.ipxe</a:t>
            </a:r>
            <a:endParaRPr lang="en-US" sz="1300"/>
          </a:p>
        </p:txBody>
      </p:sp>
      <p:sp>
        <p:nvSpPr>
          <p:cNvPr id="1575867576" name="Text 19"/>
          <p:cNvSpPr txBox="1"/>
          <p:nvPr/>
        </p:nvSpPr>
        <p:spPr bwMode="auto">
          <a:xfrm>
            <a:off x="640080" y="5230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.bss</a:t>
            </a:r>
            <a:endParaRPr lang="en-US" sz="1300"/>
          </a:p>
        </p:txBody>
      </p:sp>
      <p:sp>
        <p:nvSpPr>
          <p:cNvPr id="2096270206" name="Text 20"/>
          <p:cNvSpPr txBox="1"/>
          <p:nvPr/>
        </p:nvSpPr>
        <p:spPr bwMode="auto">
          <a:xfrm>
            <a:off x="640080" y="54864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4 MiB</a:t>
            </a:r>
            <a:endParaRPr lang="en-US" sz="1200"/>
          </a:p>
        </p:txBody>
      </p:sp>
      <p:sp>
        <p:nvSpPr>
          <p:cNvPr id="2035577750" name="Text 21"/>
          <p:cNvSpPr txBox="1"/>
          <p:nvPr/>
        </p:nvSpPr>
        <p:spPr bwMode="auto">
          <a:xfrm>
            <a:off x="1828800" y="523036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место под переменные; в файле не хранится</a:t>
            </a:r>
            <a:endParaRPr lang="en-US" sz="1300"/>
          </a:p>
        </p:txBody>
      </p:sp>
      <p:sp>
        <p:nvSpPr>
          <p:cNvPr id="441010764" name="Shape 22"/>
          <p:cNvSpPr/>
          <p:nvPr/>
        </p:nvSpPr>
        <p:spPr bwMode="auto">
          <a:xfrm>
            <a:off x="6301588" y="1325880"/>
            <a:ext cx="5250028" cy="171907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06889497" name="Text 23"/>
          <p:cNvSpPr txBox="1"/>
          <p:nvPr/>
        </p:nvSpPr>
        <p:spPr bwMode="auto">
          <a:xfrm>
            <a:off x="6530188" y="1417320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$ objdump -h 3-recovery/mkosi.output/osreboot-recovery.efi</a:t>
            </a:r>
            <a:endParaRPr lang="en-US" sz="1100"/>
          </a:p>
        </p:txBody>
      </p:sp>
      <p:sp>
        <p:nvSpPr>
          <p:cNvPr id="1022816479" name="Text 24"/>
          <p:cNvSpPr txBox="1"/>
          <p:nvPr/>
        </p:nvSpPr>
        <p:spPr bwMode="auto">
          <a:xfrm>
            <a:off x="6530188" y="1673352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Idx Name          Size</a:t>
            </a:r>
            <a:endParaRPr lang="en-US" sz="1100"/>
          </a:p>
        </p:txBody>
      </p:sp>
      <p:sp>
        <p:nvSpPr>
          <p:cNvPr id="1896432134" name="Text 25"/>
          <p:cNvSpPr txBox="1"/>
          <p:nvPr/>
        </p:nvSpPr>
        <p:spPr bwMode="auto">
          <a:xfrm>
            <a:off x="6530188" y="1929384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0 .text         00017b4e</a:t>
            </a:r>
            <a:endParaRPr lang="en-US" sz="1100"/>
          </a:p>
        </p:txBody>
      </p:sp>
      <p:sp>
        <p:nvSpPr>
          <p:cNvPr id="40483545" name="Text 26"/>
          <p:cNvSpPr txBox="1"/>
          <p:nvPr/>
        </p:nvSpPr>
        <p:spPr bwMode="auto">
          <a:xfrm>
            <a:off x="6530188" y="2185416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7 .cmdline      00000016</a:t>
            </a:r>
            <a:endParaRPr lang="en-US" sz="1100"/>
          </a:p>
        </p:txBody>
      </p:sp>
      <p:sp>
        <p:nvSpPr>
          <p:cNvPr id="1276278197" name="Text 27"/>
          <p:cNvSpPr txBox="1"/>
          <p:nvPr/>
        </p:nvSpPr>
        <p:spPr bwMode="auto">
          <a:xfrm>
            <a:off x="6530188" y="2441448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 9 .linux        01072200</a:t>
            </a:r>
            <a:endParaRPr lang="en-US" sz="1100"/>
          </a:p>
        </p:txBody>
      </p:sp>
      <p:sp>
        <p:nvSpPr>
          <p:cNvPr id="1659490988" name="Text 28"/>
          <p:cNvSpPr txBox="1"/>
          <p:nvPr/>
        </p:nvSpPr>
        <p:spPr bwMode="auto">
          <a:xfrm>
            <a:off x="6530188" y="2697480"/>
            <a:ext cx="497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 10 .initrd       073b5a4c</a:t>
            </a:r>
            <a:endParaRPr lang="en-US" sz="1100"/>
          </a:p>
        </p:txBody>
      </p:sp>
      <p:sp>
        <p:nvSpPr>
          <p:cNvPr id="1427438173" name="Text 29"/>
          <p:cNvSpPr txBox="1"/>
          <p:nvPr/>
        </p:nvSpPr>
        <p:spPr bwMode="auto">
          <a:xfrm>
            <a:off x="6301588" y="3154680"/>
            <a:ext cx="5250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</a:rPr>
              <a:t>osreboot-recovery.efi, 132 MiB: Linux целиком (UKI)</a:t>
            </a:r>
            <a:endParaRPr lang="en-US" sz="1500"/>
          </a:p>
        </p:txBody>
      </p:sp>
      <p:sp>
        <p:nvSpPr>
          <p:cNvPr id="1470047167" name="Text 30"/>
          <p:cNvSpPr txBox="1"/>
          <p:nvPr/>
        </p:nvSpPr>
        <p:spPr bwMode="auto">
          <a:xfrm>
            <a:off x="6301588" y="3584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.text</a:t>
            </a:r>
            <a:endParaRPr lang="en-US" sz="1300"/>
          </a:p>
        </p:txBody>
      </p:sp>
      <p:sp>
        <p:nvSpPr>
          <p:cNvPr id="788416410" name="Text 31"/>
          <p:cNvSpPr txBox="1"/>
          <p:nvPr/>
        </p:nvSpPr>
        <p:spPr bwMode="auto">
          <a:xfrm>
            <a:off x="6301588" y="38404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0,1 MiB</a:t>
            </a:r>
            <a:endParaRPr lang="en-US" sz="1200"/>
          </a:p>
        </p:txBody>
      </p:sp>
      <p:sp>
        <p:nvSpPr>
          <p:cNvPr id="1065907216" name="Text 32"/>
          <p:cNvSpPr txBox="1"/>
          <p:nvPr/>
        </p:nvSpPr>
        <p:spPr bwMode="auto">
          <a:xfrm>
            <a:off x="7490308" y="358444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systemd-stub: запускает ядро</a:t>
            </a:r>
            <a:endParaRPr lang="en-US" sz="1300"/>
          </a:p>
        </p:txBody>
      </p:sp>
      <p:sp>
        <p:nvSpPr>
          <p:cNvPr id="2041726119" name="Text 33"/>
          <p:cNvSpPr txBox="1"/>
          <p:nvPr/>
        </p:nvSpPr>
        <p:spPr bwMode="auto">
          <a:xfrm>
            <a:off x="6301588" y="4133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.cmdline</a:t>
            </a:r>
            <a:endParaRPr lang="en-US" sz="1300"/>
          </a:p>
        </p:txBody>
      </p:sp>
      <p:sp>
        <p:nvSpPr>
          <p:cNvPr id="1442420931" name="Text 34"/>
          <p:cNvSpPr txBox="1"/>
          <p:nvPr/>
        </p:nvSpPr>
        <p:spPr bwMode="auto">
          <a:xfrm>
            <a:off x="6301588" y="4389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22 байта</a:t>
            </a:r>
            <a:endParaRPr lang="en-US" sz="1200"/>
          </a:p>
        </p:txBody>
      </p:sp>
      <p:sp>
        <p:nvSpPr>
          <p:cNvPr id="232144163" name="Text 35"/>
          <p:cNvSpPr txBox="1"/>
          <p:nvPr/>
        </p:nvSpPr>
        <p:spPr bwMode="auto">
          <a:xfrm>
            <a:off x="7490308" y="413308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systemd.firstboot=off</a:t>
            </a:r>
            <a:endParaRPr lang="en-US" sz="1300"/>
          </a:p>
        </p:txBody>
      </p:sp>
      <p:sp>
        <p:nvSpPr>
          <p:cNvPr id="950574780" name="Text 36"/>
          <p:cNvSpPr txBox="1"/>
          <p:nvPr/>
        </p:nvSpPr>
        <p:spPr bwMode="auto">
          <a:xfrm>
            <a:off x="6301588" y="4681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.linux</a:t>
            </a:r>
            <a:endParaRPr lang="en-US" sz="1300"/>
          </a:p>
        </p:txBody>
      </p:sp>
      <p:sp>
        <p:nvSpPr>
          <p:cNvPr id="1576677351" name="Text 37"/>
          <p:cNvSpPr txBox="1"/>
          <p:nvPr/>
        </p:nvSpPr>
        <p:spPr bwMode="auto">
          <a:xfrm>
            <a:off x="6301588" y="49377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16,4 MiB</a:t>
            </a:r>
            <a:endParaRPr lang="en-US" sz="1200"/>
          </a:p>
        </p:txBody>
      </p:sp>
      <p:sp>
        <p:nvSpPr>
          <p:cNvPr id="278505792" name="Text 38"/>
          <p:cNvSpPr txBox="1"/>
          <p:nvPr/>
        </p:nvSpPr>
        <p:spPr bwMode="auto">
          <a:xfrm>
            <a:off x="7490308" y="468172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ядро Linux 7.2.11</a:t>
            </a:r>
            <a:endParaRPr lang="en-US" sz="1300"/>
          </a:p>
        </p:txBody>
      </p:sp>
      <p:sp>
        <p:nvSpPr>
          <p:cNvPr id="1268596217" name="Text 39"/>
          <p:cNvSpPr txBox="1"/>
          <p:nvPr/>
        </p:nvSpPr>
        <p:spPr bwMode="auto">
          <a:xfrm>
            <a:off x="6301588" y="5230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JetBrainsMonoNL NF"/>
                <a:ea typeface="JetBrainsMonoNL NF"/>
                <a:cs typeface="JetBrainsMonoNL NF"/>
              </a:rPr>
              <a:t>.initrd</a:t>
            </a:r>
            <a:endParaRPr lang="en-US" sz="1300"/>
          </a:p>
        </p:txBody>
      </p:sp>
      <p:sp>
        <p:nvSpPr>
          <p:cNvPr id="542036921" name="Text 40"/>
          <p:cNvSpPr txBox="1"/>
          <p:nvPr/>
        </p:nvSpPr>
        <p:spPr bwMode="auto">
          <a:xfrm>
            <a:off x="6301588" y="54864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115,7 MiB</a:t>
            </a:r>
            <a:endParaRPr lang="en-US" sz="1200"/>
          </a:p>
        </p:txBody>
      </p:sp>
      <p:sp>
        <p:nvSpPr>
          <p:cNvPr id="251895487" name="Text 41"/>
          <p:cNvSpPr txBox="1"/>
          <p:nvPr/>
        </p:nvSpPr>
        <p:spPr bwMode="auto">
          <a:xfrm>
            <a:off x="7490308" y="5230368"/>
            <a:ext cx="40613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tx1"/>
                </a:solidFill>
              </a:rPr>
              <a:t>вся система: 13 107 файлов — bash, curl, zstd, dd, osreboot-recovery</a:t>
            </a:r>
            <a:endParaRPr lang="en-US" sz="1300"/>
          </a:p>
        </p:txBody>
      </p:sp>
      <p:sp>
        <p:nvSpPr>
          <p:cNvPr id="1064066624" name="Text 42"/>
          <p:cNvSpPr txBox="1"/>
          <p:nvPr/>
        </p:nvSpPr>
        <p:spPr bwMode="auto">
          <a:xfrm>
            <a:off x="640080" y="59436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/>
                </a:solidFill>
              </a:rPr>
              <a:t>Размеры в выводе objdump шестнадцатеричные: 000c0c2e = 789 550 байт ≈ 0,75 MiB. Остальные столбцы и секции не показаны.</a:t>
            </a:r>
            <a:endParaRPr lang="en-US" sz="1200"/>
          </a:p>
        </p:txBody>
      </p:sp>
      <p:sp>
        <p:nvSpPr>
          <p:cNvPr id="11795820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20095" y="6382512"/>
            <a:ext cx="73152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636E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Sreboot">
  <a:themeElements>
    <a:clrScheme name="OSreboot">
      <a:dk1>
        <a:srgbClr val="1F2328"/>
      </a:dk1>
      <a:lt1>
        <a:srgbClr val="FFFFFF"/>
      </a:lt1>
      <a:dk2>
        <a:srgbClr val="1F2328"/>
      </a:dk2>
      <a:lt2>
        <a:srgbClr val="F6F8FA"/>
      </a:lt2>
      <a:accent1>
        <a:srgbClr val="D9480F"/>
      </a:accent1>
      <a:accent2>
        <a:srgbClr val="2B8A3E"/>
      </a:accent2>
      <a:accent3>
        <a:srgbClr val="C92A2A"/>
      </a:accent3>
      <a:accent4>
        <a:srgbClr val="59636E"/>
      </a:accent4>
      <a:accent5>
        <a:srgbClr val="D0D7DE"/>
      </a:accent5>
      <a:accent6>
        <a:srgbClr val="FFF0E0"/>
      </a:accent6>
      <a:hlink>
        <a:srgbClr val="D9480F"/>
      </a:hlink>
      <a:folHlink>
        <a:srgbClr val="D9480F"/>
      </a:folHlink>
    </a:clrScheme>
    <a:fontScheme name="OSrebo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Sreboot">
  <a:themeElements>
    <a:clrScheme name="OSreboot">
      <a:dk1>
        <a:srgbClr val="1F2328"/>
      </a:dk1>
      <a:lt1>
        <a:srgbClr val="FFFFFF"/>
      </a:lt1>
      <a:dk2>
        <a:srgbClr val="1F2328"/>
      </a:dk2>
      <a:lt2>
        <a:srgbClr val="F6F8FA"/>
      </a:lt2>
      <a:accent1>
        <a:srgbClr val="D9480F"/>
      </a:accent1>
      <a:accent2>
        <a:srgbClr val="2B8A3E"/>
      </a:accent2>
      <a:accent3>
        <a:srgbClr val="C92A2A"/>
      </a:accent3>
      <a:accent4>
        <a:srgbClr val="59636E"/>
      </a:accent4>
      <a:accent5>
        <a:srgbClr val="D0D7DE"/>
      </a:accent5>
      <a:accent6>
        <a:srgbClr val="FFF0E0"/>
      </a:accent6>
      <a:hlink>
        <a:srgbClr val="D9480F"/>
      </a:hlink>
      <a:folHlink>
        <a:srgbClr val="D9480F"/>
      </a:folHlink>
    </a:clrScheme>
    <a:fontScheme name="OSrebo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Sreboot">
  <a:themeElements>
    <a:clrScheme name="OSreboot">
      <a:dk1>
        <a:srgbClr val="1F2328"/>
      </a:dk1>
      <a:lt1>
        <a:srgbClr val="FFFFFF"/>
      </a:lt1>
      <a:dk2>
        <a:srgbClr val="1F2328"/>
      </a:dk2>
      <a:lt2>
        <a:srgbClr val="F6F8FA"/>
      </a:lt2>
      <a:accent1>
        <a:srgbClr val="D9480F"/>
      </a:accent1>
      <a:accent2>
        <a:srgbClr val="2B8A3E"/>
      </a:accent2>
      <a:accent3>
        <a:srgbClr val="C92A2A"/>
      </a:accent3>
      <a:accent4>
        <a:srgbClr val="59636E"/>
      </a:accent4>
      <a:accent5>
        <a:srgbClr val="D0D7DE"/>
      </a:accent5>
      <a:accent6>
        <a:srgbClr val="FFF0E0"/>
      </a:accent6>
      <a:hlink>
        <a:srgbClr val="D9480F"/>
      </a:hlink>
      <a:folHlink>
        <a:srgbClr val="D9480F"/>
      </a:folHlink>
    </a:clrScheme>
    <a:fontScheme name="OSrebo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ONLYOFFICE/10.0.0.169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OSreboot</dc:title>
  <dc:subject>PptxGenJS Presentation</dc:subject>
  <dc:creator>Рыжов Иван</dc:creator>
  <cp:lastModifiedBy/>
  <cp:revision>3</cp:revision>
  <dcterms:created xsi:type="dcterms:W3CDTF">2026-10-30T22:19:41Z</dcterms:created>
  <dcterms:modified xsi:type="dcterms:W3CDTF">2026-10-31T04:27:34Z</dcterms:modified>
</cp:coreProperties>
</file>