
<file path=[Content_Types].xml><?xml version="1.0" encoding="utf-8"?>
<Types xmlns="http://schemas.openxmlformats.org/package/2006/content-types">
  <Default Extension="xml" ContentType="application/xml"/>
  <Default Extension="xlsx" ContentType="application/vnd.openxmlformats-officedocument.spreadsheetml.sheet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27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slides/slide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21.xml" ContentType="application/vnd.openxmlformats-officedocument.presentationml.notesSlide+xml"/>
  <Override PartName="/ppt/notesSlides/notesSlide14.xml" ContentType="application/vnd.openxmlformats-officedocument.presentationml.notes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Slides/notesSlide22.xml" ContentType="application/vnd.openxmlformats-officedocument.presentationml.notesSlide+xml"/>
  <Override PartName="/ppt/slideLayouts/slideLayout4.xml" ContentType="application/vnd.openxmlformats-officedocument.presentationml.slideLayout+xml"/>
  <Override PartName="/ppt/notesSlides/notesSlide20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2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28.xml" ContentType="application/vnd.openxmlformats-officedocument.presentationml.notesSlide+xml"/>
  <Override PartName="/ppt/charts/chart1.xml" ContentType="application/vnd.openxmlformats-officedocument.drawingml.chart+xml"/>
  <Override PartName="/ppt/slides/slide12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viewProps.xml" ContentType="application/vnd.openxmlformats-officedocument.presentationml.viewProps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docProps/core.xml" ContentType="application/vnd.openxmlformats-package.core-properties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notesSlides/notesSlide6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theme/theme3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6.xml" ContentType="application/vnd.openxmlformats-officedocument.presentationml.slide+xml"/>
  <Override PartName="/ppt/theme/theme2.xml" ContentType="application/vnd.openxmlformats-officedocument.theme+xml"/>
  <Override PartName="/ppt/slides/slide13.xml" ContentType="application/vnd.openxmlformats-officedocument.presentationml.slide+xml"/>
  <Override PartName="/ppt/slides/slide7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slides/slide28.xml" ContentType="application/vnd.openxmlformats-officedocument.presentationml.slide+xml"/>
  <Override PartName="/ppt/slides/slide20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22.xml" ContentType="application/vnd.openxmlformats-officedocument.presentationml.slide+xml"/>
  <Override PartName="/ppt/handoutMasters/handoutMaster1.xml" ContentType="application/vnd.openxmlformats-officedocument.presentationml.handoutMaster+xml"/>
  <Override PartName="/ppt/slides/slide19.xml" ContentType="application/vnd.openxmlformats-officedocument.presentationml.slide+xml"/>
  <Override PartName="/ppt/slides/slide23.xml" ContentType="application/vnd.openxmlformats-officedocument.presentationml.slide+xml"/>
  <Override PartName="/ppt/slides/slide26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</p:sldIdLst>
  <p:sldSz cx="12192000" cy="6858000"/>
  <p:notesSz cx="6858000" cy="12192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theme" Target="theme/theme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notesMaster" Target="notesMasters/notesMaster1.xml"/><Relationship Id="rId34" Type="http://schemas.openxmlformats.org/officeDocument/2006/relationships/handoutMaster" Target="handoutMasters/handoutMaster1.xml"/><Relationship Id="rId35" Type="http://schemas.openxmlformats.org/officeDocument/2006/relationships/presProps" Target="presProps.xml" /><Relationship Id="rId36" Type="http://schemas.openxmlformats.org/officeDocument/2006/relationships/tableStyles" Target="tableStyles.xml" /><Relationship Id="rId37" Type="http://schemas.openxmlformats.org/officeDocument/2006/relationships/viewProps" Target="viewProps.xml" 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roundedCorners val="1"/>
  <mc:AlternateContent>
    <mc:Choice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400" b="0" i="0" u="none" strike="noStrike">
                <a:solidFill>
                  <a:srgbClr val="59636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59636E"/>
                </a:solidFill>
                <a:latin typeface="+mn-lt"/>
              </a:rPr>
              <a:t>На что ушли 165,7 с: прогон 23.10, 18:53 МСК</a:t>
            </a:r>
            <a:endParaRPr/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Секунды</c:v>
                </c:pt>
              </c:strCache>
            </c:strRef>
          </c:tx>
          <c:spPr bwMode="auto">
            <a:prstGeom prst="rect">
              <a:avLst/>
            </a:prstGeom>
            <a:solidFill>
              <a:srgbClr val="D9480F"/>
            </a:solidFill>
            <a:effectLst/>
          </c:spPr>
          <c:invertIfNegative val="0"/>
          <c:dPt>
            <c:idx val="0"/>
            <c:invertIfNegative val="0"/>
            <c:bubble3D val="0"/>
            <c:spPr bwMode="auto">
              <a:prstGeom prst="rect">
                <a:avLst/>
              </a:prstGeom>
              <a:solidFill>
                <a:srgbClr val="D9480F"/>
              </a:solidFill>
              <a:effectLst/>
            </c:spPr>
          </c:dPt>
          <c:dPt>
            <c:idx val="1"/>
            <c:invertIfNegative val="0"/>
            <c:bubble3D val="0"/>
            <c:spPr bwMode="auto">
              <a:prstGeom prst="rect">
                <a:avLst/>
              </a:prstGeom>
              <a:solidFill>
                <a:srgbClr val="A8AFB7"/>
              </a:solidFill>
              <a:effectLst/>
            </c:spPr>
          </c:dPt>
          <c:dPt>
            <c:idx val="2"/>
            <c:invertIfNegative val="0"/>
            <c:bubble3D val="0"/>
            <c:spPr bwMode="auto">
              <a:prstGeom prst="rect">
                <a:avLst/>
              </a:prstGeom>
              <a:solidFill>
                <a:srgbClr val="A8AFB7"/>
              </a:solidFill>
              <a:effectLst/>
            </c:spPr>
          </c:dPt>
          <c:dPt>
            <c:idx val="3"/>
            <c:invertIfNegative val="0"/>
            <c:bubble3D val="0"/>
            <c:spPr bwMode="auto">
              <a:prstGeom prst="rect">
                <a:avLst/>
              </a:prstGeom>
              <a:solidFill>
                <a:srgbClr val="A8AFB7"/>
              </a:solidFill>
              <a:effectLst/>
            </c:spPr>
          </c:dPt>
          <c:dLbls>
            <c:numFmt formatCode="0.0&quot; с&quot;" sourceLinked="0"/>
            <c:showBubbleSize val="0"/>
            <c:showCatName val="0"/>
            <c:showLeaderLines val="0"/>
            <c:showLegendKey val="0"/>
            <c:showPercent val="0"/>
            <c:showSerName val="0"/>
            <c:showVal val="1"/>
            <c:txPr>
              <a:bodyPr/>
              <a:lstStyle/>
              <a:p>
                <a:pPr>
                  <a:defRPr sz="1500" b="0" i="0" u="none" strike="noStrike">
                    <a:solidFill>
                      <a:srgbClr val="1F2328"/>
                    </a:solidFill>
                    <a:latin typeface="+mn-lt"/>
                  </a:defRPr>
                </a:pPr>
                <a:endParaRPr/>
              </a:p>
            </c:txPr>
          </c:dLbls>
          <c:cat>
            <c:multiLvlStrRef>
              <c:f>Sheet1!$A$2:$A$5</c:f>
              <c:multiLvlStrCache>
                <c:ptCount val="4"/>
                <c:lvl>
                  <c:pt idx="0">
                    <c:v>Загрузки машины</c:v>
                  </c:pt>
                  <c:pt idx="1">
                    <c:v>Скачивание</c:v>
                  </c:pt>
                  <c:pt idx="2">
                    <c:v>Проверка и запись</c:v>
                  </c:pt>
                  <c:pt idx="3">
                    <c:v>Прочее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94.5</c:v>
                </c:pt>
                <c:pt idx="1">
                  <c:v>57</c:v>
                </c:pt>
                <c:pt idx="2">
                  <c:v>13.1</c:v>
                </c:pt>
                <c:pt idx="3">
                  <c:v>1.1</c:v>
                </c:pt>
              </c:numCache>
            </c:numRef>
          </c:val>
        </c:ser>
        <c:dLbls>
          <c:numFmt formatCode="0.0&quot; с&quot;" sourceLinked="0"/>
          <c:showBubbleSize val="0"/>
          <c:showCatName val="0"/>
          <c:showLeaderLines val="0"/>
          <c:showLegendKey val="0"/>
          <c:showPercent val="0"/>
          <c:showSerName val="0"/>
          <c:showVal val="1"/>
          <c:txPr>
            <a:bodyPr/>
            <a:lstStyle/>
            <a:p>
              <a:pPr>
                <a:defRPr sz="1500" b="0" i="0" u="none" strike="noStrike">
                  <a:solidFill>
                    <a:srgbClr val="1F2328"/>
                  </a:solidFill>
                  <a:latin typeface="+mn-lt"/>
                </a:defRPr>
              </a:pPr>
              <a:endParaRPr/>
            </a:p>
          </c:txPr>
        </c:dLbls>
        <c:gapWidth val="55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 bwMode="auto">
          <a:prstGeom prst="rect">
            <a:avLst/>
          </a:prstGeom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1F232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.000000"/>
        </c:scaling>
        <c:delete val="1"/>
        <c:axPos val="b"/>
        <c:numFmt formatCode="General" sourceLinked="0"/>
        <c:majorTickMark val="out"/>
        <c:minorTickMark val="none"/>
        <c:tickLblPos val="low"/>
        <c:spPr bwMode="auto">
          <a:prstGeom prst="rect">
            <a:avLst/>
          </a:prstGeom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 bwMode="auto">
        <a:prstGeom prst="rect">
          <a:avLst/>
        </a:prstGeom>
        <a:noFill/>
        <a:ln>
          <a:noFill/>
        </a:ln>
        <a:effectLst/>
      </c:spPr>
    </c:plotArea>
    <c:plotVisOnly val="1"/>
    <c:dispBlanksAs val="span"/>
    <c:showDLblsOverMax val="0"/>
  </c:chart>
  <c:spPr bwMode="auto">
    <a:xfrm rot="0">
      <a:off x="5120640" y="1325880"/>
      <a:ext cx="6428232" cy="3840480"/>
    </a:xfrm>
    <a:prstGeom prst="rect">
      <a:avLst/>
    </a:prstGeom>
    <a:noFill/>
    <a:ln>
      <a:noFill/>
    </a:ln>
    <a:effectLst/>
  </c:spPr>
  <c:externalData r:id="rId1"/>
</c:chartSpace>
</file>

<file path=ppt/embeddings/_rels/Microsoft_Excel_Worksheet1.xlsx.rels><?xml version="1.0" encoding="UTF-8" standalone="yes"?><Relationships xmlns="http://schemas.openxmlformats.org/package/2006/relationships"></Relationships>
</file>

<file path=ppt/handoutMasters/_rels/handout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76401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611716"/>
          </a:xfrm>
          <a:prstGeom prst="rect">
            <a:avLst/>
          </a:prstGeom>
        </p:spPr>
        <p:txBody>
          <a:bodyPr vert="horz" lIns="91440" tIns="45720" rIns="91440" bIns="45720" anchor="t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30920388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6200" y="0"/>
            <a:ext cx="2971800" cy="611716"/>
          </a:xfrm>
          <a:prstGeom prst="rect">
            <a:avLst/>
          </a:prstGeom>
        </p:spPr>
        <p:txBody>
          <a:bodyPr vert="horz" lIns="91440" tIns="45720" rIns="91440" bIns="45720" anchor="t"/>
          <a:lstStyle>
            <a:lvl1pPr algn="r">
              <a:defRPr sz="1200"/>
            </a:lvl1pPr>
          </a:lstStyle>
          <a:p>
            <a:pPr>
              <a:defRPr/>
            </a:pPr>
            <a:fld id="{41073885-339D-D1C5-947B-5C08655FA259}" type="datetimeFigureOut">
              <a:rPr lang="en-US"/>
              <a:t/>
            </a:fld>
            <a:endParaRPr/>
          </a:p>
        </p:txBody>
      </p:sp>
      <p:sp>
        <p:nvSpPr>
          <p:cNvPr id="1329667600" name="Footer Placeholder 3"/>
          <p:cNvSpPr>
            <a:spLocks noGrp="1"/>
          </p:cNvSpPr>
          <p:nvPr>
            <p:ph type="ftr" sz="quarter" idx="2"/>
          </p:nvPr>
        </p:nvSpPr>
        <p:spPr bwMode="auto">
          <a:xfrm>
            <a:off x="0" y="11580284"/>
            <a:ext cx="2971800" cy="611716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140963621" name="Slide Number Placeholder 4"/>
          <p:cNvSpPr>
            <a:spLocks noGrp="1"/>
          </p:cNvSpPr>
          <p:nvPr>
            <p:ph type="sldNum" sz="quarter" idx="3"/>
          </p:nvPr>
        </p:nvSpPr>
        <p:spPr bwMode="auto">
          <a:xfrm>
            <a:off x="3886200" y="11580284"/>
            <a:ext cx="2971800" cy="611716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>
              <a:defRPr/>
            </a:pPr>
            <a:fld id="{9102A6F8-6FD6-A2F9-3325-C288750D347F}" type="slidenum">
              <a:rPr/>
              <a:t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298459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57891632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205046119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661402577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33341495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1512498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 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 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57082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917893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ВРЕМЯ: 0:20</a:t>
            </a:r>
            <a:br>
              <a:rPr lang="en-US"/>
            </a:br>
            <a:r>
              <a:rPr lang="en-US"/>
              <a:t>Представься. Одна фраза о проекте: ноутбук, у которого стёрли систему, сам скачивает её из интернета и восстанавливается, без человека рядом.</a:t>
            </a:r>
            <a:endParaRPr lang="en-US"/>
          </a:p>
        </p:txBody>
      </p:sp>
      <p:sp>
        <p:nvSpPr>
          <p:cNvPr id="18171365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68104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72103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ВРЕМЯ: 1:15</a:t>
            </a:r>
            <a:br>
              <a:rPr lang="en-US"/>
            </a:br>
            <a:r>
              <a:rPr lang="en-US"/>
              <a:t>Задача (условия — строкой под заголовком): после команды osreboot-wipe ноутбук сам, без человека, загружается по сети с VPS, скачивает образы по HTTPS и пишет их на диск. От чужой сети нужны только DHCP и выход на порт 443.</a:t>
            </a:r>
            <a:br>
              <a:rPr lang="en-US"/>
            </a:br>
            <a:r>
              <a:rPr lang="en-US"/>
              <a:t>Главная схема доклада. Сверху оранжевым — наш путь, восемь этапов: прошивка UEFI, systemd-boot, iPXE, DHCP и DNS, HTTPS, Linux в оперативке, запись на диск, система работает. Под каждым этапом мелко — что он делает.</a:t>
            </a:r>
            <a:br>
              <a:rPr lang="en-US"/>
            </a:br>
            <a:r>
              <a:rPr lang="en-US"/>
              <a:t>Linux в оперативке — среда восстановления: iPXE скачивает её по HTTPS одним файлом UKI (ядро и initrd), и она работает в оперативной памяти, потому что диск пуст. Она скачивает с VPS образы системы, сверяет SHA-256 и пишет их на диск через dd. Потом BootNext: следующая загрузка — в восстановленную систему. Эти три последних этапа у всех путей одинаковые.</a:t>
            </a:r>
            <a:br>
              <a:rPr lang="en-US"/>
            </a:br>
            <a:r>
              <a:rPr lang="en-US"/>
              <a:t>Ниже — другие пути, по строке на каждый, у каждого из них дальше свой слайд. Их этапы стоят под похожим этапом нашего пути. Столбец «сетевой клиент»: у нас это iPXE, у BMC — второй компьютер. Под DHCP: для PXE и HTTP Boot нужен свой DHCP-сервер. «Источник образа»: TFTP-, HTTP- или HTTPS-сервер, у BMC — ISO по сети. Прошивку у других путей не рисую: с неё начинается любой путь.</a:t>
            </a:r>
            <a:br>
              <a:rPr lang="en-US"/>
            </a:br>
            <a:r>
              <a:rPr lang="en-US"/>
              <a:t>Справа в той же строке — почему путь не подошёл. PXE работает только в своей сети и без шифрования. HTTP Boot тоже нужен свой DHCP-сервер, а файл по дороге можно подменить. Прошивка ноутбука не умеет HTTPS. BMC есть только у серверов.</a:t>
            </a:r>
            <a:br>
              <a:rPr lang="en-US"/>
            </a:br>
            <a:r>
              <a:rPr lang="en-US"/>
              <a:t>Вывод (его показывает слайд 8, здесь — одной фразой): короткие пути требуют HTTPS в прошивке или свой DHCP в сети. У ноутбука в чужой сети нет ни того, ни другого. Поэтому наш путь самый длинный: systemd-boot и iPXE лежат на диске и делают то, чего не умеет прошивка.</a:t>
            </a:r>
            <a:br>
              <a:rPr lang="en-US"/>
            </a:br>
            <a:r>
              <a:rPr lang="en-US"/>
              <a:t>Флешку не показываю: её должен вставить человек, а задача — обойтись без него. Восстановление от производителя (Dell BIOSConnect, HP) — та же загрузка по HTTPS из прошивки, только их система с их серверов. Если спросят про раздел восстановления: копия системы на том же диске занимает место и устаревает. У нас на диске только маленький iPXE, а свежая система приходит с сервера. Если стереть весь диск, пропадут оба — это ограничение со слайда 22.</a:t>
            </a:r>
            <a:br>
              <a:rPr lang="en-US"/>
            </a:br>
            <a:r>
              <a:rPr lang="en-US"/>
              <a:t>ПЕРЕХОД: «Дальше коротко про каждый путь».</a:t>
            </a:r>
            <a:endParaRPr lang="en-US"/>
          </a:p>
        </p:txBody>
      </p:sp>
      <p:sp>
        <p:nvSpPr>
          <p:cNvPr id="1065220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23562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136615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ВРЕМЯ: 0:45</a:t>
            </a:r>
            <a:br>
              <a:rPr lang="en-US"/>
            </a:br>
            <a:r>
              <a:rPr lang="en-US"/>
              <a:t>PXE (Preboot eXecution Environment) — сетевая загрузка, встроенная в прошивку: DHCP плюс TFTP. Так загружают серверы в дата-центрах (MAAS, Ironic): там своя сеть и свой DHCP-сервер. У ноутбука пункт PXE тоже есть: Boot0003 «EFI PXE 0 for IPv4».</a:t>
            </a:r>
            <a:br>
              <a:rPr lang="en-US"/>
            </a:br>
            <a:r>
              <a:rPr lang="en-US"/>
              <a:t>DHCP. Шаг 1: DHCPDISCOVER. У PXE-клиента ещё нет IP, поэтому он шлёт broadcast на 255.255.255.255, UDP-порт 67. В опции 60 он пишет «PXEClient:Arch:00007»: по ней DHCP-сервер узнаёт клиента PXE, 7 — это x64 UEFI. Шаг 2: DHCPOFFER — сервер предлагает IP 192.168.1.50, в поле заголовка next-server (siaddr) ставит адрес TFTP-сервера 192.168.1.10, а в опции 67 — имя файла. Опцию 66 (имя TFTP-сервера) прошивка UEFI не читает: адрес берёт из next-server, а если оно пустое — из опции 54, адреса самого DHCP-сервера. Серая стрелка — DHCPREQUEST и DHCPACK: клиент принимает предложение, сервер подтверждает. Вместе это DORA.</a:t>
            </a:r>
            <a:br>
              <a:rPr lang="en-US"/>
            </a:br>
            <a:r>
              <a:rPr lang="en-US"/>
              <a:t>TFTP. Шаг 3: RRQ — запрос на чтение boot.efi на UDP-порт 69. Шаг 4: сервер шлёт файл блоками DATA по 512 байт, клиент на каждый блок отвечает ACK с его номером, и только после ACK сервер шлёт следующий. Блок меньше 512 байт — последний. Затем прошивка запускает boot.efi.</a:t>
            </a:r>
            <a:br>
              <a:rPr lang="en-US"/>
            </a:br>
            <a:r>
              <a:rPr lang="en-US"/>
              <a:t>Справа — проблемы, красные слова на схеме ведут к ним. Только своя сеть: DHCPDISCOVER — broadcast (шаг 1), роутер его не пересылает, поэтому DHCP-сервер должен быть в сегменте ноутбука, а сеть на защите чужая. Без шифрования и проверки: DHCP и TFTP не проверяют, кто отвечает. Любой узел сети может ответить раньше настоящего сервера (rogue DHCP) или подменить UDP-пакеты, и прошивка запустит чужой .efi. Ждёт ACK: это stop-and-wait, один блок за RTT. До сервера в интернете RTT 50 мс: 512 байт за 50 мс — 10 КБ/с, UKI в 132 МиБ шёл бы почти 4 часа.</a:t>
            </a:r>
            <a:br>
              <a:rPr lang="en-US"/>
            </a:br>
            <a:r>
              <a:rPr lang="en-US"/>
              <a:t>Если спросят про DHCP relay: роутер может пересылать запросы DHCP на сервер в другой сети (ip helper-address), но это настраивает хозяин сети, в чужой сети мы так не можем. Про proxyDHCP: такой сервер не мешает хозяйскому DHCP и выдаёт только опции загрузки, но это всё равно своя машина в сети ноутбука. Про блоки побольше: клиент может договориться о блоке до 1468 байт (опция blksize под MTU 1500), это около 29 КБ/с — всё равно больше часа. Есть ещё опция windowsize (RFC 7440): несколько блоков на один ACK; поддерживает ли её прошивка ноутбука, не проверял. Даже быстрый TFTP не решает первые две проблемы. Про Secure Boot: он проверил бы подпись boot.efi, но на ноутбуке он выключен (слайд 22).</a:t>
            </a:r>
            <a:br>
              <a:rPr lang="en-US"/>
            </a:br>
            <a:r>
              <a:rPr lang="en-US"/>
              <a:t>ПЕРЕХОД: «Прошивки умеют и по HTTP».</a:t>
            </a:r>
            <a:endParaRPr lang="en-US"/>
          </a:p>
        </p:txBody>
      </p:sp>
      <p:sp>
        <p:nvSpPr>
          <p:cNvPr id="6098236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98806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59441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ВРЕМЯ: 0:45</a:t>
            </a:r>
            <a:br>
              <a:rPr lang="en-US"/>
            </a:br>
            <a:r>
              <a:rPr lang="en-US"/>
              <a:t>С UEFI 2.5 прошивка умеет скачивать загрузочный файл по HTTP. Схема как у PXE, отличия в двух местах: в DHCP и в том, как идёт файл.</a:t>
            </a:r>
            <a:br>
              <a:rPr lang="en-US"/>
            </a:br>
            <a:r>
              <a:rPr lang="en-US"/>
              <a:t>DHCP. Шаг 1: DHCPDISCOVER — тот же broadcast, но в опции 60 «HTTPClient:Arch:00016»: клиент сообщает, что он клиент HTTP Boot, 16 — это x64 UEFI по HTTP. Шаг 2: DHCPOFFER — IP, а в опции 67 уже не имя файла, а полный URL, например http://203.0.113.10/boot.efi. next-server не нужен: адрес сервера уже внутри URL. Сервер тоже ставит в ответ опцию 60 «HTTPClient»: по ней прошивка отличает предложение с URL от простой выдачи IP. Серая стрелка — DHCPREQUEST и DHCPACK, как в PXE.</a:t>
            </a:r>
            <a:br>
              <a:rPr lang="en-US"/>
            </a:br>
            <a:r>
              <a:rPr lang="en-US"/>
              <a:t>HTTP. Сначала TCP-соединение: SYN, SYN-ACK, ACK. Шаг 3: GET /boot.efi на порт 80. Шаг 4: ответ 200 OK. TCP шлёт файл потоком: много пакетов подряд, не дожидаясь подтверждения каждого (окно TCP). Прошивка кладёт файл в оперативную память и запускает.</a:t>
            </a:r>
            <a:br>
              <a:rPr lang="en-US"/>
            </a:br>
            <a:r>
              <a:rPr lang="en-US"/>
              <a:t>Пунктирная рамка — сеть ноутбука. DHCP-сервер внутри неё: URL по-прежнему приходит от DHCP, а broadcast за роутер не уходит. HTTP-сервер снаружи: TCP проходит через роутеры, поэтому сервер может быть в интернете. 203.0.113.10 — адрес из диапазона для документации.</a:t>
            </a:r>
            <a:br>
              <a:rPr lang="en-US"/>
            </a:br>
            <a:r>
              <a:rPr lang="en-US"/>
              <a:t>Зелёное — чем лучше PXE: TCP работает через роутеры и интернет, а файл приходит целиком и быстрее TFTP: TCP держит в пути много пакетов и не ждёт подтверждения каждого.</a:t>
            </a:r>
            <a:br>
              <a:rPr lang="en-US"/>
            </a:br>
            <a:r>
              <a:rPr lang="en-US"/>
              <a:t>Красное — почему не подошёл. Без шифрования: роутер в чужой сети или провайдер может подменить файл, а он работает под root и пишет на диск. Адрес файла прошивка ноутбука берёт только из DHCP, значит, нужен свой DHCP в сети ноутбука.</a:t>
            </a:r>
            <a:br>
              <a:rPr lang="en-US"/>
            </a:br>
            <a:r>
              <a:rPr lang="en-US"/>
              <a:t>Если спросят, проверял ли: на ноутбуке 23.10 пункт с адресом сервера прошивка удаляет при следующем включении — в логе nginx ни одного запроса. Свой пункт HTTP Boot берёт адрес только от DHCP.</a:t>
            </a:r>
            <a:br>
              <a:rPr lang="en-US"/>
            </a:br>
            <a:r>
              <a:rPr lang="en-US"/>
              <a:t>Если спросят, как можно было бы: свой DHCP в сети ноутбука. Дома да, на защите сеть чужая. Этот вариант не проверял — так и говори.</a:t>
            </a:r>
            <a:br>
              <a:rPr lang="en-US"/>
            </a:br>
            <a:r>
              <a:rPr lang="en-US"/>
              <a:t>ПЕРЕХОД: «А если прошивка умеет HTTPS?».</a:t>
            </a:r>
            <a:endParaRPr lang="en-US"/>
          </a:p>
        </p:txBody>
      </p:sp>
      <p:sp>
        <p:nvSpPr>
          <p:cNvPr id="11907913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22435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35031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ВРЕМЯ: 1:00</a:t>
            </a:r>
            <a:br>
              <a:rPr lang="en-US"/>
            </a:br>
            <a:r>
              <a:rPr lang="en-US"/>
              <a:t>Верхний ряд — проект, под каждым звеном — что оно делает. Прошивка загружает первую запись BootOrder — systemd-boot основной системы. systemd-boot — переключатель: если в переменной LoaderEntryDefault записан пункт osreboot-ipxe.conf (его ставит osreboot-wipe, строка 78), он запускает iPXE, иначе Arch. iPXE.efi — сетевой загрузчик: DHCP, DNS с запасными 1.1.1.1 и 8.8.8.8, HTTPS с вшитыми корневыми сертификатами ISRG, при ошибке начинает заново через 10 секунд. boot.ipxe — скрипт на сервере, 350 байт: скачать и запустить UKI. Он на сервере, чтобы менять, что загружать, не трогая ноутбук. UKI — ядро и initrd в одном .efi, система восстановления работает в памяти. Она скачивает образы, сверяет SHA-256 и пишет их через dd.</a:t>
            </a:r>
            <a:br>
              <a:rPr lang="en-US"/>
            </a:br>
            <a:r>
              <a:rPr lang="en-US"/>
              <a:t>Почему переключатель — systemd-boot, а не BootOrder или BootNext: прошивка Insyde сама создаёт записи и занимает их номера. 23.10 под номером записи iPXE (Boot0005) она записала свою «EFI Hard Drive», и BootNext загрузил не то. Сейчас (проверено 30.10) номера 0005 и 0006 заняты её записями EFI HTTP. Первую запись BootOrder она не трогала ни разу, а переменную LoaderEntryDefault не трогает вообще — ею управляет ОС.</a:t>
            </a:r>
            <a:br>
              <a:rPr lang="en-US"/>
            </a:br>
            <a:r>
              <a:rPr lang="en-US"/>
              <a:t>Нижний ряд — если бы прошивка умела HTTPS: «прошивка → UKI → образы». Серые звенья исчезли бы.</a:t>
            </a:r>
            <a:br>
              <a:rPr lang="en-US"/>
            </a:br>
            <a:r>
              <a:rPr lang="en-US"/>
              <a:t>Зелёная карточка — что не нужно: systemd-boot, ipxe.efi, оба сценария iPXE, скрипты сборки и установки. На диске ничего не нужно — такая загрузка переживёт стирание всего диска.</a:t>
            </a:r>
            <a:br>
              <a:rPr lang="en-US"/>
            </a:br>
            <a:r>
              <a:rPr lang="en-US"/>
              <a:t>Серая — что нужно прошивке: модуль TLS, корневой сертификат, записанный в прошивку, и запись с адресом сервера, которая переживает перезагрузку (или адрес от DHCP — но это снова свой DHCP, слайд 4).</a:t>
            </a:r>
            <a:br>
              <a:rPr lang="en-US"/>
            </a:br>
            <a:r>
              <a:rPr lang="en-US"/>
              <a:t>Красная — почему не у нас: модуля TLS в прошивке ноутбука нет; запись HTTP Boot с адресом сервера, созданную вручную, прошивка удаляет при следующем включении (проверено 23.10, в логе nginx ни одного запроса). Если спросят, почему не встроить HTTPS в прошивку: только перепрошивкой микросхемы, а неудачная запись превращает ноутбук в «кирпич».</a:t>
            </a:r>
            <a:br>
              <a:rPr lang="en-US"/>
            </a:br>
            <a:r>
              <a:rPr lang="en-US"/>
              <a:t>Если спросят про готовые решения: так работает Dell BIOSConnect, но только со своими серверами.</a:t>
            </a:r>
            <a:br>
              <a:rPr lang="en-US"/>
            </a:br>
            <a:r>
              <a:rPr lang="en-US"/>
              <a:t>ПЕРЕХОД: «Есть путь, где прошивке не нужна сеть вообще: на серверах загрузкой управляет второй компьютер — BMC».</a:t>
            </a:r>
            <a:endParaRPr lang="en-US"/>
          </a:p>
        </p:txBody>
      </p:sp>
      <p:sp>
        <p:nvSpPr>
          <p:cNvPr id="16903082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57928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904971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ВРЕМЯ: 0:40</a:t>
            </a:r>
            <a:br>
              <a:rPr lang="en-US"/>
            </a:br>
            <a:r>
              <a:rPr lang="en-US"/>
              <a:t>BMC — Baseboard Management Controller, контроллер управления системной платой. Так он выглядит на настоящей серверной плате OpenPower. Фото повёрнуто, чтобы надпись на чипе читалась.</a:t>
            </a:r>
            <a:br>
              <a:rPr lang="en-US"/>
            </a:br>
            <a:r>
              <a:rPr lang="en-US"/>
              <a:t>BMC — чип ASPEED AST2400: отдельный компьютер с процессором ARM и своей прошивкой. Рядом на плате так и написано: BMC.</a:t>
            </a:r>
            <a:br>
              <a:rPr lang="en-US"/>
            </a:br>
            <a:r>
              <a:rPr lang="en-US"/>
              <a:t>Память BMC — его собственная оперативная память, чип Micron DDR3. Основная память сервера — в синих слотах, они за краем фото.</a:t>
            </a:r>
            <a:br>
              <a:rPr lang="en-US"/>
            </a:br>
            <a:r>
              <a:rPr lang="en-US"/>
              <a:t>VGA — разъём для монитора. Изображение для монитора делает сам AST2400, в нём встроена видеокарта сервера. Поэтому BMC видит экран и показывает его по сети.</a:t>
            </a:r>
            <a:br>
              <a:rPr lang="en-US"/>
            </a:br>
            <a:r>
              <a:rPr lang="en-US"/>
              <a:t>BMC_RJ45 — собственный сетевой порт BMC, не основная сетевая карта сервера. Его включают в сеть управления, через него приходят команды Redfish.</a:t>
            </a:r>
            <a:br>
              <a:rPr lang="en-US"/>
            </a:br>
            <a:r>
              <a:rPr lang="en-US"/>
              <a:t>PWR_RST_BTN — линии кнопок питания и сброса. BMC замыкает их сам по команде Reset.</a:t>
            </a:r>
            <a:br>
              <a:rPr lang="en-US"/>
            </a:br>
            <a:r>
              <a:rPr lang="en-US"/>
              <a:t>STBY — дежурное питание. Оно есть, пока кабель в розетке, даже когда сервер выключен, поэтому BMC работает всегда.</a:t>
            </a:r>
            <a:br>
              <a:rPr lang="en-US"/>
            </a:br>
            <a:r>
              <a:rPr lang="en-US"/>
              <a:t>ПЕРЕХОД: «Как BMC загружает сервер по сети — на следующем слайде».</a:t>
            </a:r>
            <a:br>
              <a:rPr lang="en-US"/>
            </a:br>
            <a:r>
              <a:rPr lang="en-US"/>
              <a:t>Фото: Stewart Smith, CC BY-SA 2.0, Wikimedia Commons (повёрнуто и обрезано).</a:t>
            </a:r>
            <a:endParaRPr lang="en-US"/>
          </a:p>
        </p:txBody>
      </p:sp>
      <p:sp>
        <p:nvSpPr>
          <p:cNvPr id="21333768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57968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62607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ВРЕМЯ: 0:50</a:t>
            </a:r>
            <a:br>
              <a:rPr lang="en-US"/>
            </a:br>
            <a:r>
              <a:rPr lang="en-US"/>
              <a:t>Так BMC загружает сервер с ISO по сети. Это называется виртуальный носитель (virtual media). Слева тот, кто управляет: OpenStack Ironic, MAAS или человек с curl. Пунктир — плата сервера: BMC и сам сервер рядом.</a:t>
            </a:r>
            <a:br>
              <a:rPr lang="en-US"/>
            </a:br>
            <a:r>
              <a:rPr lang="en-US"/>
              <a:t>Выше линии — три запроса Redfish по HTTPS на порт BMC. POST InsertMedia: вставить в виртуальный CD образ по ссылке https://…/recovery.iso. PATCH Boot — свойство Boot у Systems/1: следующая загрузка с CD, один раз (BootSourceOverrideTarget Cd, Enabled Once). POST Reset с ForceRestart: перезагрузить сразу, ОС на стёртом диске всё равно нет. На слайде у запросов только имена; полные пути вида /redfish/v1/Managers/1/VirtualMedia/CD1/Actions/VirtualMedia.InsertMedia у разных производителей разные.</a:t>
            </a:r>
            <a:br>
              <a:rPr lang="en-US"/>
            </a:br>
            <a:r>
              <a:rPr lang="en-US"/>
              <a:t>Ниже линии — что происходит на плате. BMC замыкает линию кнопки сброса, сервер стартует. Прошивка UEFI по IPMI запрашивает у BMC параметры загрузки (boot flags) и получает: с CD, один раз.</a:t>
            </a:r>
            <a:br>
              <a:rPr lang="en-US"/>
            </a:br>
            <a:r>
              <a:rPr lang="en-US"/>
              <a:t>BMC подключён к USB сервера и эмулирует USB-привод CD. Прошивка видит обычный привод и читает с него блоки. Эти блоки BMC берёт из recovery.iso на ISO-сервере по HTTPS. Сервер загружает Linux с этого CD, дальше всё как у других путей: скачать образы, проверить, записать.</a:t>
            </a:r>
            <a:br>
              <a:rPr lang="en-US"/>
            </a:br>
            <a:r>
              <a:rPr lang="en-US"/>
              <a:t>Справа те же шаги текстом, по порядку схемы. Внизу зелёное — чем лучше: серверу не нужны своя сеть, DHCP и HTTPS в прошивке, всё по HTTPS делает BMC. Красное — почему не подошёл: у ноутбука BMC нет, он есть только у серверов.</a:t>
            </a:r>
            <a:br>
              <a:rPr lang="en-US"/>
            </a:br>
            <a:r>
              <a:rPr lang="en-US"/>
              <a:t>Если спросят про сеть: порт BMC обычно включают в отдельную сеть управления. Про ноутбуки: похожее есть в бизнес-ноутбуках с Intel vPro (AMT), у потребительского ноутбука его нет. Читает ли BMC ISO по частям или скачивает целиком, зависит от производителя. На живом BMC команды не проверял — они по документации Redfish.</a:t>
            </a:r>
            <a:br>
              <a:rPr lang="en-US"/>
            </a:br>
            <a:r>
              <a:rPr lang="en-US"/>
              <a:t>ПЕРЕХОД: «У ноутбука нет ни BMC, ни HTTPS в прошивке. Что остаётся — на следующем слайде».</a:t>
            </a:r>
            <a:endParaRPr lang="en-US"/>
          </a:p>
        </p:txBody>
      </p:sp>
      <p:sp>
        <p:nvSpPr>
          <p:cNvPr id="8893312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65916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337383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ВРЕМЯ: 0:40</a:t>
            </a:r>
            <a:br>
              <a:rPr lang="en-US"/>
            </a:br>
            <a:r>
              <a:rPr lang="en-US"/>
              <a:t>Итог сравнения. Ни один путь ноутбуку не подходит: прошивка не умеет HTTPS, свой DHCP в чужой сети не поставить, BMC у ноутбука нет. Поэтому то, чего не умеет прошивка, делает iPXE, который лежит на диске. Отсюда наш путь самый длинный.</a:t>
            </a:r>
            <a:br>
              <a:rPr lang="en-US"/>
            </a:br>
            <a:r>
              <a:rPr lang="en-US"/>
              <a:t>Цепочка та же, что на слайде 2, только впереди стирание: всё запускает команда osreboot-wipe. Под цепочкой — этапы со страницы состояния (та же полоса будет внизу следующих слайдов). Дальше по этапам, у каждого свой слайд: стирание — 10; как собран ipxe.efi — 11; сетевая загрузка — 12; HTTPS — 13; как собрана среда восстановления — 14; скачивание, проверка и запись — 15; восстановленная система — 16; секреты в TPM — 17.</a:t>
            </a:r>
            <a:br>
              <a:rPr lang="en-US"/>
            </a:br>
            <a:r>
              <a:rPr lang="en-US"/>
              <a:t>Внизу — что лежит на ноутбуке и что приходит с сервера. На ноутбуке только маленькие части: systemd-boot основной системы, ipxe.efi со встроенным сценарием и корневыми сертификатами ISRG, и переменная LoaderEntryDefault в NVRAM. Всё остальное каждый раз приходит с VPS по HTTPS: boot.ipxe, среда восстановления (UKI), образы и SHA256SUMS. Поэтому раздел EFI с iPXE должен уцелеть — это ограничение со слайда 22.</a:t>
            </a:r>
            <a:br>
              <a:rPr lang="en-US"/>
            </a:br>
            <a:r>
              <a:rPr lang="en-US"/>
              <a:t>ПЕРЕХОД: «Каждый этап — своя папка в репозитории».</a:t>
            </a:r>
            <a:endParaRPr lang="en-US"/>
          </a:p>
        </p:txBody>
      </p:sp>
      <p:sp>
        <p:nvSpPr>
          <p:cNvPr id="6540754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82616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07393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ВРЕМЯ: 0:40</a:t>
            </a:r>
            <a:br>
              <a:rPr lang="en-US"/>
            </a:br>
            <a:r>
              <a:rPr lang="en-US"/>
              <a:t>Каждый этап цепочки — своя папка, номер в имени — порядок этапов.</a:t>
            </a:r>
            <a:br>
              <a:rPr lang="en-US"/>
            </a:br>
            <a:r>
              <a:rPr lang="en-US"/>
              <a:t>0-test-system — тестовая система, её собирает mkosi: её мы стираем и восстанавливаем, о ней слайд 16. 1-wipe — команда стирания osreboot-wipe; mkosi при сборке кладёт её в тестовую систему. 2-ipxe — сборка iPXE со встроенным сценарием osreboot.ipxe и сценарий boot.ipxe, который лежит на сервере. 3-recovery — среда восстановления: UKI, внутри Linux и скрипт osreboot-recovery.</a:t>
            </a:r>
            <a:br>
              <a:rPr lang="en-US"/>
            </a:br>
            <a:r>
              <a:rPr lang="en-US"/>
              <a:t>client — скрипт на sh и curl: heartbeat раз в секунду и отчёты об этапах; он есть и в тестовой системе, и в среде восстановления. server — сервер на VPS: код на Node.js в src, страница состояния в web, конфиги nginx, systemd и sshd в deploy.</a:t>
            </a:r>
            <a:br>
              <a:rPr lang="en-US"/>
            </a:br>
            <a:r>
              <a:rPr lang="en-US"/>
              <a:t>extra — всё, что в цепочке не участвует: рисунки для README, сайт статьи, эта презентация и замеры со скриптом серии прогонов.</a:t>
            </a:r>
            <a:br>
              <a:rPr lang="en-US"/>
            </a:br>
            <a:r>
              <a:rPr lang="en-US"/>
              <a:t>ПЕРЕХОД: «Дальше по ходу прогона: стирание, папка 1-wipe. Систему из папки 0 покажу в конце — её восстановление и есть результат».</a:t>
            </a:r>
            <a:endParaRPr lang="en-US"/>
          </a:p>
        </p:txBody>
      </p:sp>
      <p:sp>
        <p:nvSpPr>
          <p:cNvPr id="4417309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3943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87818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ВРЕМЯ: 0:40</a:t>
            </a:r>
            <a:br>
              <a:rPr lang="en-US"/>
            </a:br>
            <a:r>
              <a:rPr lang="en-US"/>
              <a:t>Этап 1 — команда, которая на демо «уничтожает» систему. Номера строк настоящие.</a:t>
            </a:r>
            <a:br>
              <a:rPr lang="en-US"/>
            </a:br>
            <a:r>
              <a:rPr lang="en-US"/>
              <a:t>1: bootctl set-default записывает в NVRAM переменную LoaderEntryDefault. С ней каждая загрузка идёт в iPXE, даже если выдернуть питание. Две строки над ней снимают разовые BootNext и oneshot, чтобы они не перебили этот выбор. Снимает LoaderEntryDefault osreboot-netboot-off, когда восстановленная система запустилась (слайд 16).</a:t>
            </a:r>
            <a:br>
              <a:rPr lang="en-US"/>
            </a:br>
            <a:r>
              <a:rPr lang="en-US"/>
              <a:t>2: heartbeat останавливается, последние отчёты уходят до стирания: после него отправлять уже нечем.</a:t>
            </a:r>
            <a:br>
              <a:rPr lang="en-US"/>
            </a:br>
            <a:r>
              <a:rPr lang="en-US"/>
              <a:t>3: sysrq u — ядро переводит файловые системы в режим только чтения, чтобы они не записали свои данные поверх нулей. Потом dd пишет нули в начало обоих тестовых разделов.</a:t>
            </a:r>
            <a:br>
              <a:rPr lang="en-US"/>
            </a:br>
            <a:r>
              <a:rPr lang="en-US"/>
              <a:t>4: sysrq b — мгновенный сброс.</a:t>
            </a:r>
            <a:br>
              <a:rPr lang="en-US"/>
            </a:br>
            <a:r>
              <a:rPr lang="en-US"/>
              <a:t>Внизу — мой терминал: план, который печатает команда, и обрыв SSH — ноутбук ушёл в перезагрузку.</a:t>
            </a:r>
            <a:br>
              <a:rPr lang="en-US"/>
            </a:br>
            <a:r>
              <a:rPr lang="en-US"/>
              <a:t>Как снять shot-1-wipe: пока на ноутбуке тестовая система, в терминале ПК: ssh -p 2221 root@epsti.site osreboot-wipe --apply (это и есть начало прогона; без --apply команда только печатает план). Обрезать до строк от команды до «Connection … closed»: полоса широкая и низкая. Файл — private/deck/img/shot-1-wipe.png.</a:t>
            </a:r>
            <a:br>
              <a:rPr lang="en-US"/>
            </a:br>
            <a:r>
              <a:rPr lang="en-US"/>
              <a:t>ПЕРЕХОД: «После сброса systemd-boot видит LoaderEntryDefault и запускает iPXE. Откуда ipxe.efi на диске — следующий слайд».</a:t>
            </a:r>
            <a:endParaRPr lang="en-US"/>
          </a:p>
        </p:txBody>
      </p:sp>
      <p:sp>
        <p:nvSpPr>
          <p:cNvPr id="3075213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14143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59497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ВРЕМЯ: 0:45</a:t>
            </a:r>
            <a:br>
              <a:rPr lang="en-US"/>
            </a:br>
            <a:r>
              <a:rPr lang="en-US"/>
              <a:t>Это подготовка, до любого прогона: откуда на ноутбуке ipxe.efi.</a:t>
            </a:r>
            <a:br>
              <a:rPr lang="en-US"/>
            </a:br>
            <a:r>
              <a:rPr lang="en-US"/>
              <a:t>1: iPXE собирается из исходников на закреплённом коммите — каждая сборка берёт ту же, проверенную версию.</a:t>
            </a:r>
            <a:br>
              <a:rPr lang="en-US"/>
            </a:br>
            <a:r>
              <a:rPr lang="en-US"/>
              <a:t>2: в файл general.h дописываются опции: HTTPS и команда nslookup. В обычной сборке iPXE их нет.</a:t>
            </a:r>
            <a:br>
              <a:rPr lang="en-US"/>
            </a:br>
            <a:r>
              <a:rPr lang="en-US"/>
              <a:t>3: sed подставляет адрес сервера вместо @HOST@ в сценарий osreboot.ipxe.</a:t>
            </a:r>
            <a:br>
              <a:rPr lang="en-US"/>
            </a:br>
            <a:r>
              <a:rPr lang="en-US"/>
              <a:t>4–5: make собирает bin-x86_64-efi/ipxe.efi. EMBED вшивает сценарий в сам файл, TRUST и CERT — корневые сертификаты Let's Encrypt ISRG X1 и X2: iPXE будет доверять только им. Получается программа EFI на 1,1 МБ; что у неё внутри — запасной слайд 25.</a:t>
            </a:r>
            <a:br>
              <a:rPr lang="en-US"/>
            </a:br>
            <a:r>
              <a:rPr lang="en-US"/>
              <a:t>6: install-ipxe.sh копирует её на ESP основной системы как /EFI/osreboot/ipxe.efi и добавляет пункт osreboot-ipxe.conf в меню systemd-boot. Сначала копия с .new, потом mv: если пропадёт питание, останется старый или новый файл, но не половина. По умолчанию по-прежнему грузится Arch.</a:t>
            </a:r>
            <a:br>
              <a:rPr lang="en-US"/>
            </a:br>
            <a:r>
              <a:rPr lang="en-US"/>
              <a:t>Справа — моё фото: меню systemd-boot на ноутбуке сразу после стирания. Выбран пункт iPXE: его сделал выбором по умолчанию osreboot-wipe.</a:t>
            </a:r>
            <a:br>
              <a:rPr lang="en-US"/>
            </a:br>
            <a:r>
              <a:rPr lang="en-US"/>
              <a:t>Как снять shot-2-menu: во время прогона, в первые секунды после стирания, сфотографировать экран ноутбука телефоном — меню видно 5 с (timeout 5 в loader.conf). Файл — private/deck/img/shot-2-menu.jpg.</a:t>
            </a:r>
            <a:br>
              <a:rPr lang="en-US"/>
            </a:br>
            <a:r>
              <a:rPr lang="en-US"/>
              <a:t>ПЕРЕХОД: «Что iPXE делает после запуска».</a:t>
            </a:r>
            <a:endParaRPr lang="en-US"/>
          </a:p>
        </p:txBody>
      </p:sp>
      <p:sp>
        <p:nvSpPr>
          <p:cNvPr id="2061150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47333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426703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ВРЕМЯ: 0:40</a:t>
            </a:r>
            <a:br>
              <a:rPr lang="en-US"/>
            </a:br>
            <a:r>
              <a:rPr lang="en-US"/>
              <a:t>Под заголовком: iPXE — открытая реализация PXE, к которой добавлены загрузка по HTTP и HTTPS и скрипты (так он описан в README проекта).</a:t>
            </a:r>
            <a:br>
              <a:rPr lang="en-US"/>
            </a:br>
            <a:r>
              <a:rPr lang="en-US"/>
              <a:t>Этапы 2–3. Слева сверху сценарий osreboot.ipxe — он вшит в ipxe.efi при сборке. Снизу boot.ipxe — он лежит на сервере. Справа — моё фото экрана ноутбука в это время.</a:t>
            </a:r>
            <a:br>
              <a:rPr lang="en-US"/>
            </a:br>
            <a:r>
              <a:rPr lang="en-US"/>
              <a:t>1: dhcp — iPXE получает IP, шлюз и DNS от DHCP-сервера той сети, куда подключён ноутбук.</a:t>
            </a:r>
            <a:br>
              <a:rPr lang="en-US"/>
            </a:br>
            <a:r>
              <a:rPr lang="en-US"/>
              <a:t>2: nslookup находит адрес сервера. Домашние роутеры иногда отвечают ошибкой, поэтому три попытки, потом публичные DNS 1.1.1.1 и 8.8.8.8.</a:t>
            </a:r>
            <a:br>
              <a:rPr lang="en-US"/>
            </a:br>
            <a:r>
              <a:rPr lang="en-US"/>
              <a:t>3: chain скачивает boot.ipxe по HTTPS и запускает его. Сертификат сервера iPXE проверяет по корням Let's Encrypt, вшитым в ipxe.efi, — об этом следующий слайд.</a:t>
            </a:r>
            <a:br>
              <a:rPr lang="en-US"/>
            </a:br>
            <a:r>
              <a:rPr lang="en-US"/>
              <a:t>4: если что-то сорвалось — кабель, сервер, — через 10 секунд всё сначала. Выдернутый кабель только ставит загрузку на паузу.</a:t>
            </a:r>
            <a:br>
              <a:rPr lang="en-US"/>
            </a:br>
            <a:r>
              <a:rPr lang="en-US"/>
              <a:t>5: boot.ipxe скачивает osreboot-recovery.efi — Linux в одном файле — и запускает его в памяти. Что грузить дальше, решает сервер: ноутбук трогать не нужно.</a:t>
            </a:r>
            <a:br>
              <a:rPr lang="en-US"/>
            </a:br>
            <a:r>
              <a:rPr lang="en-US"/>
              <a:t>Как снять shot-3-ipxe: в том же прогоне, после меню systemd-boot, сфотографировать экран, когда видны строки «Address …», «… is …» и загрузка https://…/boot.ipxe (первые ~30 с). Файл — private/deck/img/shot-3-ipxe.jpg.</a:t>
            </a:r>
            <a:br>
              <a:rPr lang="en-US"/>
            </a:br>
            <a:r>
              <a:rPr lang="en-US"/>
              <a:t>ПЕРЕХОД: «Как iPXE убеждается, что сервер настоящий».</a:t>
            </a:r>
            <a:endParaRPr lang="en-US"/>
          </a:p>
        </p:txBody>
      </p:sp>
      <p:sp>
        <p:nvSpPr>
          <p:cNvPr id="16975097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22841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405401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ВРЕМЯ: 1:00</a:t>
            </a:r>
            <a:br>
              <a:rPr lang="en-US"/>
            </a:br>
            <a:r>
              <a:rPr lang="en-US"/>
              <a:t>Шаг 1: iPXE говорит, какие шифры умеет.</a:t>
            </a:r>
            <a:br>
              <a:rPr lang="en-US"/>
            </a:br>
            <a:r>
              <a:rPr lang="en-US"/>
              <a:t>Шаг 2: сервер присылает цепочку сертификатов. iPXE проверяет, что она ведёт к корневому сертификату, который вшит в ipxe.efi — доверяем только ISRG X1 и X2 от Let's Encrypt. Ещё имя и сроки.</a:t>
            </a:r>
            <a:br>
              <a:rPr lang="en-US"/>
            </a:br>
            <a:r>
              <a:rPr lang="en-US"/>
              <a:t>Шаг 3: обмен ключами ECDHE. Обе стороны вычисляют общий ключ, по сети он не передаётся. Сервер подписывает свою часть закрытым ключом — так доказывает, что сертификат его, а не скопирован.</a:t>
            </a:r>
            <a:br>
              <a:rPr lang="en-US"/>
            </a:br>
            <a:r>
              <a:rPr lang="en-US"/>
              <a:t>Шаг 4: дальше каждая запись шифруется AES-256-GCM и несёт метку целостности: подмену любого байта заметят.</a:t>
            </a:r>
            <a:br>
              <a:rPr lang="en-US"/>
            </a:br>
            <a:r>
              <a:rPr lang="en-US"/>
              <a:t>Справа — то же рукопожатие с моим сервером, снятое openssl на ПК. 1: TLS 1.2 и набор шифров ECDHE-ECDSA-AES256-GCM-SHA384 — его nginx выбирает и для iPXE. 2: сертификат osreboot.epsti.site прошёл проверку, подпись ECDSA. 3: временный ключ X25519 для ECDHE.</a:t>
            </a:r>
            <a:br>
              <a:rPr lang="en-US"/>
            </a:br>
            <a:r>
              <a:rPr lang="en-US"/>
              <a:t>Поверх TLS ещё два слоя: SHA-256 образов и секреты (токен, SSH-ключи), зашифрованные TPM ноутбука, — слайд 17.</a:t>
            </a:r>
            <a:br>
              <a:rPr lang="en-US"/>
            </a:br>
            <a:r>
              <a:rPr lang="en-US"/>
              <a:t>ПЕРЕХОД: «Так iPXE скачивает osreboot-recovery.efi. Что это за файл и как его собирает mkosi».</a:t>
            </a:r>
            <a:endParaRPr lang="en-US"/>
          </a:p>
        </p:txBody>
      </p:sp>
      <p:sp>
        <p:nvSpPr>
          <p:cNvPr id="12525964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03539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40804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ВРЕМЯ: 0:45</a:t>
            </a:r>
            <a:br>
              <a:rPr lang="en-US"/>
            </a:br>
            <a:r>
              <a:rPr lang="en-US"/>
              <a:t>Что за файл скачал iPXE. Среду восстановления собирает mkosi по файлу 3-recovery/mkosi.conf, одной командой mkosi -C 3-recovery build.</a:t>
            </a:r>
            <a:br>
              <a:rPr lang="en-US"/>
            </a:br>
            <a:r>
              <a:rPr lang="en-US"/>
              <a:t>1: Format=uki — результат один файл EFI, UKI. Справа его секции, размеры из objdump -h.</a:t>
            </a:r>
            <a:br>
              <a:rPr lang="en-US"/>
            </a:br>
            <a:r>
              <a:rPr lang="en-US"/>
              <a:t>2: Packages — пакеты Arch: ядро linux, bash, curl, zstd и остальное. Ядро идёт в секцию .linux, всё остальное — в .initrd.</a:t>
            </a:r>
            <a:br>
              <a:rPr lang="en-US"/>
            </a:br>
            <a:r>
              <a:rPr lang="en-US"/>
              <a:t>3: KernelModules — только нужные драйверы: сеть, TPM, NVMe, ext4. Среда скачивается при каждом восстановлении, поэтому лишнее не берём.</a:t>
            </a:r>
            <a:br>
              <a:rPr lang="en-US"/>
            </a:br>
            <a:r>
              <a:rPr lang="en-US"/>
              <a:t>4: ExtraTrees — файлы поверх пакетов: настройки сети и SSH из 0-test-system и клиент heartbeat.</a:t>
            </a:r>
            <a:br>
              <a:rPr lang="en-US"/>
            </a:br>
            <a:r>
              <a:rPr lang="en-US"/>
              <a:t>5: KernelCommandLine — командная строка ядра, секция .cmdline.</a:t>
            </a:r>
            <a:br>
              <a:rPr lang="en-US"/>
            </a:br>
            <a:r>
              <a:rPr lang="en-US"/>
              <a:t>Запуск: iPXE отдаёт файл прошивке, прошивка запускает заглушку systemd-stub из .text. Она достаёт из своих секций ядро, initrd и командную строку и запускает ядро. Ядро распаковывает .initrd в оперативную память и запускает systemd прямо оттуда: вся система живёт в памяти, поэтому диск можно перезаписывать целиком.</a:t>
            </a:r>
            <a:br>
              <a:rPr lang="en-US"/>
            </a:br>
            <a:r>
              <a:rPr lang="en-US"/>
              <a:t>ПЕРЕХОД: «Среда запущена в памяти. Что она делает с диском».</a:t>
            </a:r>
            <a:endParaRPr lang="en-US"/>
          </a:p>
        </p:txBody>
      </p:sp>
      <p:sp>
        <p:nvSpPr>
          <p:cNvPr id="18324596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86390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95284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ВРЕМЯ: 0:40</a:t>
            </a:r>
            <a:br>
              <a:rPr lang="en-US"/>
            </a:br>
            <a:r>
              <a:rPr lang="en-US"/>
              <a:t>Этапы 4–7 — скрипт osreboot-recovery. Он работает в Linux, который целиком в памяти: диск в это время пустой.</a:t>
            </a:r>
            <a:br>
              <a:rPr lang="en-US"/>
            </a:br>
            <a:r>
              <a:rPr lang="en-US"/>
              <a:t>1: fetch — это curl с таймаутами (функция на строке 67). С ключом -C - после обрыва он продолжает с того байта, где остановился, а цикл while повторяет, пока файл не скачан целиком. Поэтому выдернутый кабель только ставит восстановление на паузу.</a:t>
            </a:r>
            <a:br>
              <a:rPr lang="en-US"/>
            </a:br>
            <a:r>
              <a:rPr lang="en-US"/>
              <a:t>2: до записи SHA-256 каждого образа сверяется с SHA256SUMS. Не сошлось — образ качается заново, всего до трёх раз.</a:t>
            </a:r>
            <a:br>
              <a:rPr lang="en-US"/>
            </a:br>
            <a:r>
              <a:rPr lang="en-US"/>
              <a:t>3: zstd распаковывает образ, dd пишет его в раздел. Потом раздел читается обратно, и SHA-256 сверяется ещё раз.</a:t>
            </a:r>
            <a:br>
              <a:rPr lang="en-US"/>
            </a:br>
            <a:r>
              <a:rPr lang="en-US"/>
              <a:t>4: efibootmgr ставит BootNext: следующая загрузка, один раз, — в восстановленную систему.</a:t>
            </a:r>
            <a:br>
              <a:rPr lang="en-US"/>
            </a:br>
            <a:r>
              <a:rPr lang="en-US"/>
              <a:t>Справа — моё фото экрана: среда сама пишет, что делает.</a:t>
            </a:r>
            <a:br>
              <a:rPr lang="en-US"/>
            </a:br>
            <a:r>
              <a:rPr lang="en-US"/>
              <a:t>Как снять shot-4-recovery: в том же прогоне, примерно с 70-й секунды, сфотографировать экран, когда видны строки «== Downloading the images», «== Checking the images against SHA256SUMS», «== Writing the images». Файл — private/deck/img/shot-4-recovery.jpg.</a:t>
            </a:r>
            <a:br>
              <a:rPr lang="en-US"/>
            </a:br>
            <a:r>
              <a:rPr lang="en-US"/>
              <a:t>ПЕРЕХОД: «BootNext — и загружается восстановленная система».</a:t>
            </a:r>
            <a:endParaRPr lang="en-US"/>
          </a:p>
        </p:txBody>
      </p:sp>
      <p:sp>
        <p:nvSpPr>
          <p:cNvPr id="16889883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97814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737759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ВРЕМЯ: 0:40</a:t>
            </a:r>
            <a:br>
              <a:rPr lang="en-US"/>
            </a:br>
            <a:r>
              <a:rPr lang="en-US"/>
              <a:t>Этап 8 и папка 0. Восстановленная система — это тестовая система из 0-test-system. Её тоже собирает mkosi, только в другом формате.</a:t>
            </a:r>
            <a:br>
              <a:rPr lang="en-US"/>
            </a:br>
            <a:r>
              <a:rPr lang="en-US"/>
              <a:t>1: Format=disk и SplitArtifacts=partitions — mkosi делает диск с разделами и кладёт каждый раздел отдельным образом. Под кодом — что получилось: образы ESP (85 МБ) и корня (321 МБ) в zstd и SHA256SUMS. Эти три файла лежат на сервере, их и качает среда восстановления.</a:t>
            </a:r>
            <a:br>
              <a:rPr lang="en-US"/>
            </a:br>
            <a:r>
              <a:rPr lang="en-US"/>
              <a:t>2: на ESP — systemd-boot и UKI тестовой системы.</a:t>
            </a:r>
            <a:br>
              <a:rPr lang="en-US"/>
            </a:br>
            <a:r>
              <a:rPr lang="en-US"/>
              <a:t>3: ExtraTrees кладёт в систему клиент heartbeat и команду стирания из 1-wipe.</a:t>
            </a:r>
            <a:br>
              <a:rPr lang="en-US"/>
            </a:br>
            <a:r>
              <a:rPr lang="en-US"/>
              <a:t>4: корень ищется по метке раздела osreboot-root.</a:t>
            </a:r>
            <a:br>
              <a:rPr lang="en-US"/>
            </a:br>
            <a:r>
              <a:rPr lang="en-US"/>
              <a:t>При загрузке: BootNext запускает systemd-boot тестовой системы. Служба osreboot-netboot-off снимает LoaderEntryDefault, который поставил osreboot-wipe, — следующая загрузка уже не в iPXE. Клиент шлёт heartbeat с новым boot ID, и сервер закрывает простой.</a:t>
            </a:r>
            <a:br>
              <a:rPr lang="en-US"/>
            </a:br>
            <a:r>
              <a:rPr lang="en-US"/>
              <a:t>Справа — мой терминал: конец лога восстановления. Среда восстановления живёт в памяти, поэтому перед перезагрузкой сохранила свой лог на восстановленный диск.</a:t>
            </a:r>
            <a:br>
              <a:rPr lang="en-US"/>
            </a:br>
            <a:r>
              <a:rPr lang="en-US"/>
              <a:t>Как снять shot-5-log: после прогона, в терминале ПК: ssh -p 2221 root@epsti.site tail /var/log/osreboot/recovery.log (последняя строка «Restored in … s»). Лог от прошлого прогона уже лежит на тестовой системе, новый прогон для него не нужен. Файл — private/deck/img/shot-5-log.png.</a:t>
            </a:r>
            <a:br>
              <a:rPr lang="en-US"/>
            </a:br>
            <a:r>
              <a:rPr lang="en-US"/>
              <a:t>ПЕРЕХОД: «В публичных образах лежат токен и SSH-ключи. Почему их нельзя украсть».</a:t>
            </a:r>
            <a:endParaRPr lang="en-US"/>
          </a:p>
        </p:txBody>
      </p:sp>
      <p:sp>
        <p:nvSpPr>
          <p:cNvPr id="4609036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99189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5877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ВРЕМЯ: 1:00</a:t>
            </a:r>
            <a:br>
              <a:rPr lang="en-US"/>
            </a:br>
            <a:r>
              <a:rPr lang="en-US"/>
              <a:t>Образы и среда восстановления лежат на сервере открыто: скачать их может кто угодно. А в них нужны секреты: токен для сервера и SSH-ключи туннеля и хоста. Их защищает TPM.</a:t>
            </a:r>
            <a:br>
              <a:rPr lang="en-US"/>
            </a:br>
            <a:r>
              <a:rPr lang="en-US"/>
              <a:t>TPM — отдельный чип на плате или блок внутри процессора. В нём есть свой главный ключ хранения, SRK; его закрытая часть никогда не выходит из чипа.</a:t>
            </a:r>
            <a:br>
              <a:rPr lang="en-US"/>
            </a:br>
            <a:r>
              <a:rPr lang="en-US"/>
              <a:t>Шифрование — один раз, на этом ноутбуке: systemd-creds encrypt --with-key=tpm2 (write-test-system.sh, строка 151; SSH-ключи — make-ssh-credentials.sh, строка 38). systemd берёт случайный секрет, 32 байта, и отдаёт его TPM. TPM запечатывает секрет — шифрует своим SRK — и возвращает blob. Из секрета systemd делает ключ AES-256-GCM и шифрует им токен. В файл .cred идут blob и зашифрованный токен; он лежит в образе.</a:t>
            </a:r>
            <a:br>
              <a:rPr lang="en-US"/>
            </a:br>
            <a:r>
              <a:rPr lang="en-US"/>
              <a:t>Расшифровка — при каждой загрузке: служба heartbeat объявляет LoadCredentialEncrypted=osreboot-token (osreboot-heartbeat.service, строка 9). systemd отдаёт blob в TPM, TPM распечатывает секрет, systemd получает ключ и кладёт токен в /run/credentials/ этой службы: только в памяти, видит только она.</a:t>
            </a:r>
            <a:br>
              <a:rPr lang="en-US"/>
            </a:br>
            <a:r>
              <a:rPr lang="en-US"/>
              <a:t>Что даёт: .cred с другой машины не открыть — там другой TPM. Ключ в чипе, а не на диске, поэтому после стирания и восстановления токен открывается снова.</a:t>
            </a:r>
            <a:br>
              <a:rPr lang="en-US"/>
            </a:br>
            <a:r>
              <a:rPr lang="en-US"/>
              <a:t>Чего не даёт: ключ не привязан к PCR — регистрам TPM, куда прошивка пишет хеши загруженного кода (по умолчанию systemd-creds не привязывает, man systemd-creds). Значит, root в любой системе на этом ноутбуке откроет токен. Так нужно: среда восстановления — другая система, и она тоже открывает токен.</a:t>
            </a:r>
            <a:br>
              <a:rPr lang="en-US"/>
            </a:br>
            <a:r>
              <a:rPr lang="en-US"/>
              <a:t>Подробнее о пути токена — запасной слайд 27.</a:t>
            </a:r>
            <a:br>
              <a:rPr lang="en-US"/>
            </a:br>
            <a:r>
              <a:rPr lang="en-US"/>
              <a:t>ПЕРЕХОД: «Так прогон видит ноутбук. А так — сервер».</a:t>
            </a:r>
            <a:endParaRPr lang="en-US"/>
          </a:p>
        </p:txBody>
      </p:sp>
      <p:sp>
        <p:nvSpPr>
          <p:cNvPr id="14194197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09258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59472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ВРЕМЯ: 0:30</a:t>
            </a:r>
            <a:br>
              <a:rPr lang="en-US"/>
            </a:br>
            <a:r>
              <a:rPr lang="en-US"/>
              <a:t>Слева — страница состояния: ноутбук сам отчитывается об этапах, сервер показывает их и меряет простой. Справа — журнал nginx на VPS: что ноутбук скачивал. boot.ipxe и среду качает iPXE (в строке его User-Agent), образы — curl из среды восстановления; код 200 — файл целиком, 206 — докачка после обрыва.</a:t>
            </a:r>
            <a:br>
              <a:rPr lang="en-US"/>
            </a:br>
            <a:r>
              <a:rPr lang="en-US"/>
              <a:t>Как снять: shot-6-status — окно браузера с https://osreboot.epsti.site во время прогона (видны этапы) или сразу после (виден простой). shot-7-nginx — в терминале ПК: ssh root@epsti.site "zgrep -h 'GET /files/' /var/log/nginx/access.log* | awk '{print $4, $7, $9, $10, $12}' | tail -n 15". awk оставляет время, файл, код ответа, размер и программу; домашний IP ($1) на слайд не попадает.</a:t>
            </a:r>
            <a:br>
              <a:rPr lang="en-US"/>
            </a:br>
            <a:r>
              <a:rPr lang="en-US"/>
              <a:t>ПЕРЕХОД: «Простой меряет именно сервер — как, на следующем слайде».</a:t>
            </a:r>
            <a:endParaRPr lang="en-US"/>
          </a:p>
        </p:txBody>
      </p:sp>
      <p:sp>
        <p:nvSpPr>
          <p:cNvPr id="14738983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68972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10052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ВРЕМЯ: 0:30</a:t>
            </a:r>
            <a:br>
              <a:rPr lang="en-US"/>
            </a:br>
            <a:r>
              <a:rPr lang="en-US"/>
              <a:t>Ноутбук раз в секунду шлёт heartbeat с boot ID — случайным номером текущей загрузки.</a:t>
            </a:r>
            <a:br>
              <a:rPr lang="en-US"/>
            </a:br>
            <a:r>
              <a:rPr lang="en-US"/>
              <a:t>Три секунды без heartbeat — сервер открывает простой. Начало — последний сигнал по часам сервера, конец — первый сигнал с новым boot ID.</a:t>
            </a:r>
            <a:br>
              <a:rPr lang="en-US"/>
            </a:br>
            <a:r>
              <a:rPr lang="en-US"/>
              <a:t>Таймаут влияет только на то, когда простой станет виден, а не на его длину.</a:t>
            </a:r>
            <a:br>
              <a:rPr lang="en-US"/>
            </a:br>
            <a:r>
              <a:rPr lang="en-US"/>
              <a:t>Спроси зал про перезагрузку за 2 с. Ответ: да, заметит — boot ID поменяется.</a:t>
            </a:r>
            <a:br>
              <a:rPr lang="en-US"/>
            </a:br>
            <a:r>
              <a:rPr lang="en-US"/>
              <a:t>ПЕРЕХОД: «Что показали прогоны».</a:t>
            </a:r>
            <a:endParaRPr lang="en-US"/>
          </a:p>
        </p:txBody>
      </p:sp>
      <p:sp>
        <p:nvSpPr>
          <p:cNvPr id="13239109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4447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954384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ВРЕМЯ: 0:45</a:t>
            </a:r>
            <a:br>
              <a:rPr lang="en-US"/>
            </a:br>
            <a:r>
              <a:rPr lang="en-US"/>
              <a:t>165 секунд — медиана четырёх полных прогонов, от 164,0 до 165,7 с. Разброс меньше двух секунд, но это один ноутбук и одна сеть — ещё не статистика.</a:t>
            </a:r>
            <a:br>
              <a:rPr lang="en-US"/>
            </a:br>
            <a:r>
              <a:rPr lang="en-US"/>
              <a:t>На что ушли секунды в прогоне 23.10: загрузки машины 94,5 с — 57 %; скачивание 57 с — 34 %; проверка и запись 13 с — 8 %.</a:t>
            </a:r>
            <a:br>
              <a:rPr lang="en-US"/>
            </a:br>
            <a:r>
              <a:rPr lang="en-US"/>
              <a:t>Вывод: ускорять нужно загрузки. Скачивание упиралось в порт ноутбука на 100 Мбит/с: 11 MiB/с.</a:t>
            </a:r>
            <a:br>
              <a:rPr lang="en-US"/>
            </a:br>
            <a:r>
              <a:rPr lang="en-US"/>
              <a:t>ПЕРЕХОД: «Теперь проверим вживую».</a:t>
            </a:r>
            <a:endParaRPr lang="en-US"/>
          </a:p>
        </p:txBody>
      </p:sp>
      <p:sp>
        <p:nvSpPr>
          <p:cNvPr id="10929397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58595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19060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ВРЕМЯ: ~3:00 (сам прогон ≈ 165 с)</a:t>
            </a:r>
            <a:br>
              <a:rPr lang="en-US"/>
            </a:br>
            <a:r>
              <a:rPr lang="en-US"/>
              <a:t>Попроси открыть страницу по QR. Запусти osreboot-wipe --apply в тестовой системе.</a:t>
            </a:r>
            <a:br>
              <a:rPr lang="en-US"/>
            </a:br>
            <a:r>
              <a:rPr lang="en-US"/>
              <a:t>Пока идёт восстановление, веди по списку: сейчас прошивка и iPXE, теперь качается среда, Linux стартовал в памяти, качаются образы, проверка, запись, перезагрузка.</a:t>
            </a:r>
            <a:br>
              <a:rPr lang="en-US"/>
            </a:br>
            <a:r>
              <a:rPr lang="en-US"/>
              <a:t>Если сеть зала не даёт выйти на 443 — запасной план: видео прогона.</a:t>
            </a:r>
            <a:endParaRPr lang="en-US"/>
          </a:p>
        </p:txBody>
      </p:sp>
      <p:sp>
        <p:nvSpPr>
          <p:cNvPr id="7063980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89923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17450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ВРЕМЯ: 0:40</a:t>
            </a:r>
            <a:br>
              <a:rPr lang="en-US"/>
            </a:br>
            <a:r>
              <a:rPr lang="en-US"/>
              <a:t>Скажи честно, чего проект не умеет. Главное ограничение — раздел EFI с iPXE должен уцелеть.</a:t>
            </a:r>
            <a:br>
              <a:rPr lang="en-US"/>
            </a:br>
            <a:r>
              <a:rPr lang="en-US"/>
              <a:t>Запуск сейчас — по команде; нужен счётчик неудачных загрузок, он уже есть в systemd-boot.</a:t>
            </a:r>
            <a:br>
              <a:rPr lang="en-US"/>
            </a:br>
            <a:r>
              <a:rPr lang="en-US"/>
              <a:t>Цепочка не подписана: Secure Boot выключен. Кто управляет сервером, тот управляет восстановлением.</a:t>
            </a:r>
            <a:br>
              <a:rPr lang="en-US"/>
            </a:br>
            <a:r>
              <a:rPr lang="en-US"/>
              <a:t>Прогонов пока мало — нужна серия.</a:t>
            </a:r>
            <a:endParaRPr lang="en-US"/>
          </a:p>
        </p:txBody>
      </p:sp>
      <p:sp>
        <p:nvSpPr>
          <p:cNvPr id="15131999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02992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37157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ВРЕМЯ: 0:30</a:t>
            </a:r>
            <a:br>
              <a:rPr lang="en-US"/>
            </a:br>
            <a:r>
              <a:rPr lang="en-US"/>
              <a:t>Три итога: работает; около 165 секунд; безопасно и измеримо.</a:t>
            </a:r>
            <a:br>
              <a:rPr lang="en-US"/>
            </a:br>
            <a:r>
              <a:rPr lang="en-US"/>
              <a:t>Финальная мысль: путь самый длинный, но это единственный путь, который работает на этом ноутбуке в чужой сети и с HTTPS.</a:t>
            </a:r>
            <a:endParaRPr lang="en-US"/>
          </a:p>
        </p:txBody>
      </p:sp>
      <p:sp>
        <p:nvSpPr>
          <p:cNvPr id="7037481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22161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682877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Вопросы. Запасные слайды открываются по ссылкам справа, с каждого есть ссылка «← к вопросам».</a:t>
            </a:r>
            <a:br>
              <a:rPr lang="en-US"/>
            </a:br>
            <a:r>
              <a:rPr lang="en-US"/>
              <a:t>Частые вопросы: почему не PXE, HTTP, HTTPS Boot или BMC (слайды 3–7), что будет, если стереть весь диск (ограничение 1).</a:t>
            </a:r>
            <a:endParaRPr lang="en-US"/>
          </a:p>
        </p:txBody>
      </p:sp>
      <p:sp>
        <p:nvSpPr>
          <p:cNvPr id="16884438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75941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74858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Если спросят, что такое .efi и где там Linux. ipxe.efi — отдельная программа на 1,1 МБ; UKI — заглушка systemd-stub плюс ядро и архив системы как секции одного файла.</a:t>
            </a:r>
            <a:endParaRPr lang="en-US"/>
          </a:p>
        </p:txBody>
      </p:sp>
      <p:sp>
        <p:nvSpPr>
          <p:cNvPr id="14968593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96183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29884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Если спросят, как сервер считает простой, когда перезагрузка быстрее таймаута: новый boot ID сам открывает и закрывает простой. Код проверен тестами server/src/monitor.test.ts.</a:t>
            </a:r>
            <a:endParaRPr lang="en-US"/>
          </a:p>
        </p:txBody>
      </p:sp>
      <p:sp>
        <p:nvSpPr>
          <p:cNvPr id="21076227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00422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275245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Если спросят, где ноутбук хранит пароль к серверу: токен зашифрован TPM, на сервере только его хеш.</a:t>
            </a:r>
            <a:endParaRPr lang="en-US"/>
          </a:p>
        </p:txBody>
      </p:sp>
      <p:sp>
        <p:nvSpPr>
          <p:cNvPr id="7621028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81278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2409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Разброс маленький: среда восстановления 54,0–57,1 с, весь простой 164,0–165,7 с. Прерванный прогон — честно: канал до VPS тогда упал до 0,25 MiB/s.</a:t>
            </a:r>
            <a:endParaRPr lang="en-US"/>
          </a:p>
        </p:txBody>
      </p:sp>
      <p:sp>
        <p:nvSpPr>
          <p:cNvPr id="15216280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LE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5787146" name="Text 0"/>
          <p:cNvSpPr/>
          <p:nvPr>
            <p:ph type="title" idx="100" hasCustomPrompt="1"/>
          </p:nvPr>
        </p:nvSpPr>
        <p:spPr bwMode="auto">
          <a:xfrm>
            <a:off x="640080" y="1600200"/>
            <a:ext cx="100584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6000" b="1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  <a:defRPr/>
            </a:pPr>
            <a:endParaRPr lang="en-US" sz="6000"/>
          </a:p>
        </p:txBody>
      </p:sp>
      <p:sp>
        <p:nvSpPr>
          <p:cNvPr id="1068187270" name="Text 0"/>
          <p:cNvSpPr/>
          <p:nvPr>
            <p:ph type="body" idx="101" hasCustomPrompt="1"/>
          </p:nvPr>
        </p:nvSpPr>
        <p:spPr bwMode="auto">
          <a:xfrm>
            <a:off x="640080" y="2880360"/>
            <a:ext cx="10515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400">
                <a:solidFill>
                  <a:schemeClr val="accent4"/>
                </a:solidFill>
              </a:defRPr>
            </a:lvl1pPr>
          </a:lstStyle>
          <a:p>
            <a:pPr marL="0" indent="0" algn="l">
              <a:buNone/>
              <a:defRPr/>
            </a:pPr>
            <a:endParaRPr lang="en-US" sz="240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9888247" name="Text 0"/>
          <p:cNvSpPr/>
          <p:nvPr>
            <p:ph type="title" idx="100" hasCustomPrompt="1"/>
          </p:nvPr>
        </p:nvSpPr>
        <p:spPr bwMode="auto">
          <a:xfrm>
            <a:off x="640080" y="411480"/>
            <a:ext cx="1091153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  <a:defRPr/>
            </a:pPr>
            <a:endParaRPr lang="en-US" sz="2800"/>
          </a:p>
        </p:txBody>
      </p:sp>
      <p:sp>
        <p:nvSpPr>
          <p:cNvPr id="1147564713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0820095" y="6382512"/>
            <a:ext cx="73152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9636E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BACKUP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2486792" name="Text 0"/>
          <p:cNvSpPr/>
          <p:nvPr/>
        </p:nvSpPr>
        <p:spPr bwMode="auto">
          <a:xfrm>
            <a:off x="64008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accent4"/>
                </a:solidFill>
              </a:rPr>
              <a:t>Запасной слайд</a:t>
            </a:r>
            <a:endParaRPr lang="en-US" sz="1100"/>
          </a:p>
        </p:txBody>
      </p:sp>
      <p:sp>
        <p:nvSpPr>
          <p:cNvPr id="1554601204" name="Text 1"/>
          <p:cNvSpPr/>
          <p:nvPr>
            <p:ph type="title" idx="101" hasCustomPrompt="1"/>
          </p:nvPr>
        </p:nvSpPr>
        <p:spPr bwMode="auto">
          <a:xfrm>
            <a:off x="640080" y="411480"/>
            <a:ext cx="889985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  <a:defRPr/>
            </a:pPr>
            <a:endParaRPr lang="en-US" sz="2800"/>
          </a:p>
        </p:txBody>
      </p:sp>
      <p:sp>
        <p:nvSpPr>
          <p:cNvPr id="1661151590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0820095" y="6382512"/>
            <a:ext cx="73152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9636E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876799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0820095" y="6382512"/>
            <a:ext cx="73152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9636E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chart" Target="../charts/chart1.xml" 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slide" Target="slide25.xml"/><Relationship Id="rId7" Type="http://schemas.openxmlformats.org/officeDocument/2006/relationships/slide" Target="slide26.xml"/><Relationship Id="rId8" Type="http://schemas.openxmlformats.org/officeDocument/2006/relationships/slide" Target="slide27.xml"/><Relationship Id="rId9" Type="http://schemas.openxmlformats.org/officeDocument/2006/relationships/slide" Target="slide28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Relationship Id="rId3" Type="http://schemas.openxmlformats.org/officeDocument/2006/relationships/slide" Target="slide24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slide" Target="slide24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Relationship Id="rId3" Type="http://schemas.openxmlformats.org/officeDocument/2006/relationships/slide" Target="slide24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Relationship Id="rId3" Type="http://schemas.openxmlformats.org/officeDocument/2006/relationships/slide" Target="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1964040" name="Text 0"/>
          <p:cNvSpPr/>
          <p:nvPr>
            <p:ph type="title" idx="100" hasCustomPrompt="1"/>
          </p:nvPr>
        </p:nvSpPr>
        <p:spPr bwMode="auto">
          <a:xfrm>
            <a:off x="640080" y="16002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  <a:defRPr/>
            </a:pPr>
            <a:r>
              <a:rPr lang="en-US" sz="6000" b="1">
                <a:solidFill>
                  <a:schemeClr val="tx1"/>
                </a:solidFill>
              </a:rPr>
              <a:t>OSreboot</a:t>
            </a:r>
            <a:endParaRPr lang="en-US" sz="6000"/>
          </a:p>
        </p:txBody>
      </p:sp>
      <p:sp>
        <p:nvSpPr>
          <p:cNvPr id="470206055" name="Text 0"/>
          <p:cNvSpPr/>
          <p:nvPr>
            <p:ph type="body" idx="101" hasCustomPrompt="1"/>
          </p:nvPr>
        </p:nvSpPr>
        <p:spPr bwMode="auto">
          <a:xfrm>
            <a:off x="640080" y="28803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400">
                <a:solidFill>
                  <a:schemeClr val="accent4"/>
                </a:solidFill>
              </a:rPr>
              <a:t>Ноутбук сам восстанавливает стёртую систему через интернет</a:t>
            </a:r>
            <a:endParaRPr lang="en-US" sz="2400"/>
          </a:p>
        </p:txBody>
      </p:sp>
      <p:sp>
        <p:nvSpPr>
          <p:cNvPr id="1670406161" name="Text 2"/>
          <p:cNvSpPr txBox="1"/>
          <p:nvPr/>
        </p:nvSpPr>
        <p:spPr bwMode="auto">
          <a:xfrm>
            <a:off x="640080" y="5532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800">
                <a:solidFill>
                  <a:schemeClr val="tx1"/>
                </a:solidFill>
              </a:rPr>
              <a:t>Рыжов Иван, группа ВПИ 26</a:t>
            </a:r>
            <a:endParaRPr lang="en-US" sz="1800"/>
          </a:p>
        </p:txBody>
      </p:sp>
      <p:sp>
        <p:nvSpPr>
          <p:cNvPr id="697869508" name="Text 3"/>
          <p:cNvSpPr txBox="1"/>
          <p:nvPr/>
        </p:nvSpPr>
        <p:spPr bwMode="auto">
          <a:xfrm>
            <a:off x="640080" y="5943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accent4"/>
                </a:solidFill>
              </a:rPr>
              <a:t>2026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693982" name="Text 0"/>
          <p:cNvSpPr/>
          <p:nvPr>
            <p:ph type="title" idx="100" hasCustomPrompt="1"/>
          </p:nvPr>
        </p:nvSpPr>
        <p:spPr bwMode="auto">
          <a:xfrm>
            <a:off x="640080" y="4114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800" b="1">
                <a:solidFill>
                  <a:schemeClr val="tx1"/>
                </a:solidFill>
              </a:rPr>
              <a:t>Как загрузить систему без диска?</a:t>
            </a:r>
            <a:endParaRPr lang="en-US" sz="2800"/>
          </a:p>
        </p:txBody>
      </p:sp>
      <p:sp>
        <p:nvSpPr>
          <p:cNvPr id="785085886" name="Text 1"/>
          <p:cNvSpPr txBox="1"/>
          <p:nvPr/>
        </p:nvSpPr>
        <p:spPr bwMode="auto">
          <a:xfrm>
            <a:off x="640080" y="89611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chemeClr val="accent4"/>
                </a:solidFill>
              </a:rPr>
              <a:t>Условия: без человека · чужая сеть · система на диске стёрта</a:t>
            </a:r>
            <a:endParaRPr lang="en-US" sz="1500"/>
          </a:p>
        </p:txBody>
      </p:sp>
      <p:sp>
        <p:nvSpPr>
          <p:cNvPr id="513822436" name="Shape 2"/>
          <p:cNvSpPr/>
          <p:nvPr/>
        </p:nvSpPr>
        <p:spPr bwMode="auto">
          <a:xfrm>
            <a:off x="640080" y="1627632"/>
            <a:ext cx="1451953" cy="566928"/>
          </a:xfrm>
          <a:custGeom>
            <a:avLst/>
            <a:gdLst/>
            <a:ahLst/>
            <a:cxnLst/>
            <a:rect l="l" t="t" r="r" b="b"/>
            <a:pathLst>
              <a:path w="1451953" h="566928" fill="norm" stroke="1" extrusionOk="0">
                <a:moveTo>
                  <a:pt x="0" y="0"/>
                </a:moveTo>
                <a:lnTo>
                  <a:pt x="1305649" y="0"/>
                </a:lnTo>
                <a:lnTo>
                  <a:pt x="1451953" y="283464"/>
                </a:lnTo>
                <a:lnTo>
                  <a:pt x="1305649" y="566928"/>
                </a:lnTo>
                <a:lnTo>
                  <a:pt x="0" y="566928"/>
                </a:lnTo>
                <a:close/>
              </a:path>
            </a:pathLst>
          </a:custGeom>
          <a:solidFill>
            <a:schemeClr val="accent1"/>
          </a:solidFill>
          <a:ln/>
        </p:spPr>
      </p:sp>
      <p:sp>
        <p:nvSpPr>
          <p:cNvPr id="1264924847" name="Text 3"/>
          <p:cNvSpPr txBox="1"/>
          <p:nvPr/>
        </p:nvSpPr>
        <p:spPr bwMode="auto">
          <a:xfrm>
            <a:off x="786384" y="1627632"/>
            <a:ext cx="115934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chemeClr val="bg1"/>
                </a:solidFill>
              </a:rPr>
              <a:t>прошивка</a:t>
            </a:r>
            <a:endParaRPr lang="en-US" sz="1200"/>
          </a:p>
          <a:p>
            <a:pPr marL="0" indent="0" algn="ctr">
              <a:buNone/>
              <a:defRPr/>
            </a:pPr>
            <a:r>
              <a:rPr lang="en-US" sz="1200" b="1">
                <a:solidFill>
                  <a:schemeClr val="bg1"/>
                </a:solidFill>
              </a:rPr>
              <a:t>UEFI</a:t>
            </a:r>
            <a:endParaRPr lang="en-US" sz="1200"/>
          </a:p>
        </p:txBody>
      </p:sp>
      <p:sp>
        <p:nvSpPr>
          <p:cNvPr id="1433670069" name="Shape 4"/>
          <p:cNvSpPr/>
          <p:nvPr/>
        </p:nvSpPr>
        <p:spPr bwMode="auto">
          <a:xfrm>
            <a:off x="1991449" y="1627632"/>
            <a:ext cx="1451953" cy="566928"/>
          </a:xfrm>
          <a:custGeom>
            <a:avLst/>
            <a:gdLst/>
            <a:ahLst/>
            <a:cxnLst/>
            <a:rect l="l" t="t" r="r" b="b"/>
            <a:pathLst>
              <a:path w="1451953" h="566928" fill="norm" stroke="1" extrusionOk="0">
                <a:moveTo>
                  <a:pt x="0" y="0"/>
                </a:moveTo>
                <a:lnTo>
                  <a:pt x="1305649" y="0"/>
                </a:lnTo>
                <a:lnTo>
                  <a:pt x="1451953" y="283464"/>
                </a:lnTo>
                <a:lnTo>
                  <a:pt x="1305649" y="566928"/>
                </a:lnTo>
                <a:lnTo>
                  <a:pt x="0" y="566928"/>
                </a:lnTo>
                <a:lnTo>
                  <a:pt x="146304" y="283464"/>
                </a:lnTo>
                <a:close/>
              </a:path>
            </a:pathLst>
          </a:custGeom>
          <a:solidFill>
            <a:schemeClr val="accent1"/>
          </a:solidFill>
          <a:ln/>
        </p:spPr>
      </p:sp>
      <p:sp>
        <p:nvSpPr>
          <p:cNvPr id="2030893333" name="Text 5"/>
          <p:cNvSpPr txBox="1"/>
          <p:nvPr/>
        </p:nvSpPr>
        <p:spPr bwMode="auto">
          <a:xfrm>
            <a:off x="2137753" y="1627632"/>
            <a:ext cx="115934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chemeClr val="bg1"/>
                </a:solidFill>
              </a:rPr>
              <a:t>systemd-boot</a:t>
            </a:r>
            <a:endParaRPr lang="en-US" sz="1200"/>
          </a:p>
        </p:txBody>
      </p:sp>
      <p:sp>
        <p:nvSpPr>
          <p:cNvPr id="1913161526" name="Shape 6"/>
          <p:cNvSpPr/>
          <p:nvPr/>
        </p:nvSpPr>
        <p:spPr bwMode="auto">
          <a:xfrm>
            <a:off x="3342818" y="1627632"/>
            <a:ext cx="1451953" cy="566928"/>
          </a:xfrm>
          <a:custGeom>
            <a:avLst/>
            <a:gdLst/>
            <a:ahLst/>
            <a:cxnLst/>
            <a:rect l="l" t="t" r="r" b="b"/>
            <a:pathLst>
              <a:path w="1451953" h="566928" fill="norm" stroke="1" extrusionOk="0">
                <a:moveTo>
                  <a:pt x="0" y="0"/>
                </a:moveTo>
                <a:lnTo>
                  <a:pt x="1305649" y="0"/>
                </a:lnTo>
                <a:lnTo>
                  <a:pt x="1451953" y="283464"/>
                </a:lnTo>
                <a:lnTo>
                  <a:pt x="1305649" y="566928"/>
                </a:lnTo>
                <a:lnTo>
                  <a:pt x="0" y="566928"/>
                </a:lnTo>
                <a:lnTo>
                  <a:pt x="146304" y="283464"/>
                </a:lnTo>
                <a:close/>
              </a:path>
            </a:pathLst>
          </a:custGeom>
          <a:solidFill>
            <a:schemeClr val="accent1"/>
          </a:solidFill>
          <a:ln/>
        </p:spPr>
      </p:sp>
      <p:sp>
        <p:nvSpPr>
          <p:cNvPr id="121291937" name="Text 7"/>
          <p:cNvSpPr txBox="1"/>
          <p:nvPr/>
        </p:nvSpPr>
        <p:spPr bwMode="auto">
          <a:xfrm>
            <a:off x="3489122" y="1627632"/>
            <a:ext cx="115934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chemeClr val="bg1"/>
                </a:solidFill>
              </a:rPr>
              <a:t>iPXE</a:t>
            </a:r>
            <a:endParaRPr lang="en-US" sz="1200"/>
          </a:p>
        </p:txBody>
      </p:sp>
      <p:sp>
        <p:nvSpPr>
          <p:cNvPr id="1659388797" name="Shape 8"/>
          <p:cNvSpPr/>
          <p:nvPr/>
        </p:nvSpPr>
        <p:spPr bwMode="auto">
          <a:xfrm>
            <a:off x="4694187" y="1627632"/>
            <a:ext cx="1451953" cy="566928"/>
          </a:xfrm>
          <a:custGeom>
            <a:avLst/>
            <a:gdLst/>
            <a:ahLst/>
            <a:cxnLst/>
            <a:rect l="l" t="t" r="r" b="b"/>
            <a:pathLst>
              <a:path w="1451953" h="566928" fill="norm" stroke="1" extrusionOk="0">
                <a:moveTo>
                  <a:pt x="0" y="0"/>
                </a:moveTo>
                <a:lnTo>
                  <a:pt x="1305649" y="0"/>
                </a:lnTo>
                <a:lnTo>
                  <a:pt x="1451953" y="283464"/>
                </a:lnTo>
                <a:lnTo>
                  <a:pt x="1305649" y="566928"/>
                </a:lnTo>
                <a:lnTo>
                  <a:pt x="0" y="566928"/>
                </a:lnTo>
                <a:lnTo>
                  <a:pt x="146304" y="283464"/>
                </a:lnTo>
                <a:close/>
              </a:path>
            </a:pathLst>
          </a:custGeom>
          <a:solidFill>
            <a:schemeClr val="accent1"/>
          </a:solidFill>
          <a:ln/>
        </p:spPr>
      </p:sp>
      <p:sp>
        <p:nvSpPr>
          <p:cNvPr id="770466687" name="Text 9"/>
          <p:cNvSpPr txBox="1"/>
          <p:nvPr/>
        </p:nvSpPr>
        <p:spPr bwMode="auto">
          <a:xfrm>
            <a:off x="4840490" y="1627632"/>
            <a:ext cx="115934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chemeClr val="bg1"/>
                </a:solidFill>
              </a:rPr>
              <a:t>DHCP и DNS</a:t>
            </a:r>
            <a:endParaRPr lang="en-US" sz="1200"/>
          </a:p>
        </p:txBody>
      </p:sp>
      <p:sp>
        <p:nvSpPr>
          <p:cNvPr id="566074162" name="Shape 10"/>
          <p:cNvSpPr/>
          <p:nvPr/>
        </p:nvSpPr>
        <p:spPr bwMode="auto">
          <a:xfrm>
            <a:off x="6045556" y="1627632"/>
            <a:ext cx="1451953" cy="566928"/>
          </a:xfrm>
          <a:custGeom>
            <a:avLst/>
            <a:gdLst/>
            <a:ahLst/>
            <a:cxnLst/>
            <a:rect l="l" t="t" r="r" b="b"/>
            <a:pathLst>
              <a:path w="1451953" h="566928" fill="norm" stroke="1" extrusionOk="0">
                <a:moveTo>
                  <a:pt x="0" y="0"/>
                </a:moveTo>
                <a:lnTo>
                  <a:pt x="1305649" y="0"/>
                </a:lnTo>
                <a:lnTo>
                  <a:pt x="1451953" y="283464"/>
                </a:lnTo>
                <a:lnTo>
                  <a:pt x="1305649" y="566928"/>
                </a:lnTo>
                <a:lnTo>
                  <a:pt x="0" y="566928"/>
                </a:lnTo>
                <a:lnTo>
                  <a:pt x="146304" y="283464"/>
                </a:lnTo>
                <a:close/>
              </a:path>
            </a:pathLst>
          </a:custGeom>
          <a:solidFill>
            <a:schemeClr val="accent1"/>
          </a:solidFill>
          <a:ln/>
        </p:spPr>
      </p:sp>
      <p:sp>
        <p:nvSpPr>
          <p:cNvPr id="1531077141" name="Text 11"/>
          <p:cNvSpPr txBox="1"/>
          <p:nvPr/>
        </p:nvSpPr>
        <p:spPr bwMode="auto">
          <a:xfrm>
            <a:off x="6191860" y="1627632"/>
            <a:ext cx="115934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chemeClr val="bg1"/>
                </a:solidFill>
              </a:rPr>
              <a:t>HTTPS</a:t>
            </a:r>
            <a:endParaRPr lang="en-US" sz="1200"/>
          </a:p>
        </p:txBody>
      </p:sp>
      <p:sp>
        <p:nvSpPr>
          <p:cNvPr id="1563403219" name="Shape 12"/>
          <p:cNvSpPr/>
          <p:nvPr/>
        </p:nvSpPr>
        <p:spPr bwMode="auto">
          <a:xfrm>
            <a:off x="7396925" y="1627632"/>
            <a:ext cx="1451953" cy="566928"/>
          </a:xfrm>
          <a:custGeom>
            <a:avLst/>
            <a:gdLst/>
            <a:ahLst/>
            <a:cxnLst/>
            <a:rect l="l" t="t" r="r" b="b"/>
            <a:pathLst>
              <a:path w="1451953" h="566928" fill="norm" stroke="1" extrusionOk="0">
                <a:moveTo>
                  <a:pt x="0" y="0"/>
                </a:moveTo>
                <a:lnTo>
                  <a:pt x="1305649" y="0"/>
                </a:lnTo>
                <a:lnTo>
                  <a:pt x="1451953" y="283464"/>
                </a:lnTo>
                <a:lnTo>
                  <a:pt x="1305649" y="566928"/>
                </a:lnTo>
                <a:lnTo>
                  <a:pt x="0" y="566928"/>
                </a:lnTo>
                <a:lnTo>
                  <a:pt x="146304" y="283464"/>
                </a:lnTo>
                <a:close/>
              </a:path>
            </a:pathLst>
          </a:custGeom>
          <a:solidFill>
            <a:schemeClr val="accent1"/>
          </a:solidFill>
          <a:ln/>
        </p:spPr>
      </p:sp>
      <p:sp>
        <p:nvSpPr>
          <p:cNvPr id="1865835882" name="Text 13"/>
          <p:cNvSpPr txBox="1"/>
          <p:nvPr/>
        </p:nvSpPr>
        <p:spPr bwMode="auto">
          <a:xfrm>
            <a:off x="7543229" y="1627632"/>
            <a:ext cx="115934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chemeClr val="bg1"/>
                </a:solidFill>
              </a:rPr>
              <a:t>Linux запущен</a:t>
            </a:r>
            <a:endParaRPr lang="en-US" sz="1200"/>
          </a:p>
          <a:p>
            <a:pPr marL="0" indent="0" algn="ctr">
              <a:buNone/>
              <a:defRPr/>
            </a:pPr>
            <a:r>
              <a:rPr lang="en-US" sz="1200" b="1">
                <a:solidFill>
                  <a:schemeClr val="bg1"/>
                </a:solidFill>
              </a:rPr>
              <a:t>в оперативке</a:t>
            </a:r>
            <a:endParaRPr lang="en-US" sz="1200"/>
          </a:p>
        </p:txBody>
      </p:sp>
      <p:sp>
        <p:nvSpPr>
          <p:cNvPr id="121000250" name="Shape 14"/>
          <p:cNvSpPr/>
          <p:nvPr/>
        </p:nvSpPr>
        <p:spPr bwMode="auto">
          <a:xfrm>
            <a:off x="8748293" y="1627632"/>
            <a:ext cx="1451953" cy="566928"/>
          </a:xfrm>
          <a:custGeom>
            <a:avLst/>
            <a:gdLst/>
            <a:ahLst/>
            <a:cxnLst/>
            <a:rect l="l" t="t" r="r" b="b"/>
            <a:pathLst>
              <a:path w="1451953" h="566928" fill="norm" stroke="1" extrusionOk="0">
                <a:moveTo>
                  <a:pt x="0" y="0"/>
                </a:moveTo>
                <a:lnTo>
                  <a:pt x="1305649" y="0"/>
                </a:lnTo>
                <a:lnTo>
                  <a:pt x="1451953" y="283464"/>
                </a:lnTo>
                <a:lnTo>
                  <a:pt x="1305649" y="566928"/>
                </a:lnTo>
                <a:lnTo>
                  <a:pt x="0" y="566928"/>
                </a:lnTo>
                <a:lnTo>
                  <a:pt x="146304" y="283464"/>
                </a:lnTo>
                <a:close/>
              </a:path>
            </a:pathLst>
          </a:custGeom>
          <a:solidFill>
            <a:schemeClr val="accent1"/>
          </a:solidFill>
          <a:ln/>
        </p:spPr>
      </p:sp>
      <p:sp>
        <p:nvSpPr>
          <p:cNvPr id="2032013921" name="Text 15"/>
          <p:cNvSpPr txBox="1"/>
          <p:nvPr/>
        </p:nvSpPr>
        <p:spPr bwMode="auto">
          <a:xfrm>
            <a:off x="8894597" y="1627632"/>
            <a:ext cx="115934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chemeClr val="bg1"/>
                </a:solidFill>
              </a:rPr>
              <a:t>запись</a:t>
            </a:r>
            <a:endParaRPr lang="en-US" sz="1200"/>
          </a:p>
          <a:p>
            <a:pPr marL="0" indent="0" algn="ctr">
              <a:buNone/>
              <a:defRPr/>
            </a:pPr>
            <a:r>
              <a:rPr lang="en-US" sz="1200" b="1">
                <a:solidFill>
                  <a:schemeClr val="bg1"/>
                </a:solidFill>
              </a:rPr>
              <a:t>на диск</a:t>
            </a:r>
            <a:endParaRPr lang="en-US" sz="1200"/>
          </a:p>
        </p:txBody>
      </p:sp>
      <p:sp>
        <p:nvSpPr>
          <p:cNvPr id="2102471786" name="Shape 16"/>
          <p:cNvSpPr/>
          <p:nvPr/>
        </p:nvSpPr>
        <p:spPr bwMode="auto">
          <a:xfrm>
            <a:off x="10099662" y="1627632"/>
            <a:ext cx="1451953" cy="566928"/>
          </a:xfrm>
          <a:custGeom>
            <a:avLst/>
            <a:gdLst/>
            <a:ahLst/>
            <a:cxnLst/>
            <a:rect l="l" t="t" r="r" b="b"/>
            <a:pathLst>
              <a:path w="1451953" h="566928" fill="norm" stroke="1" extrusionOk="0">
                <a:moveTo>
                  <a:pt x="0" y="0"/>
                </a:moveTo>
                <a:lnTo>
                  <a:pt x="1305649" y="0"/>
                </a:lnTo>
                <a:lnTo>
                  <a:pt x="1451953" y="283464"/>
                </a:lnTo>
                <a:lnTo>
                  <a:pt x="1305649" y="566928"/>
                </a:lnTo>
                <a:lnTo>
                  <a:pt x="0" y="566928"/>
                </a:lnTo>
                <a:lnTo>
                  <a:pt x="146304" y="283464"/>
                </a:lnTo>
                <a:close/>
              </a:path>
            </a:pathLst>
          </a:custGeom>
          <a:solidFill>
            <a:schemeClr val="accent2"/>
          </a:solidFill>
          <a:ln/>
        </p:spPr>
      </p:sp>
      <p:sp>
        <p:nvSpPr>
          <p:cNvPr id="726508947" name="Text 17"/>
          <p:cNvSpPr txBox="1"/>
          <p:nvPr/>
        </p:nvSpPr>
        <p:spPr bwMode="auto">
          <a:xfrm>
            <a:off x="10245966" y="1627632"/>
            <a:ext cx="115934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chemeClr val="bg1"/>
                </a:solidFill>
              </a:rPr>
              <a:t>загрузка</a:t>
            </a:r>
            <a:endParaRPr lang="en-US" sz="1200"/>
          </a:p>
          <a:p>
            <a:pPr marL="0" indent="0" algn="ctr">
              <a:buNone/>
              <a:defRPr/>
            </a:pPr>
            <a:r>
              <a:rPr lang="en-US" sz="1200" b="1">
                <a:solidFill>
                  <a:schemeClr val="bg1"/>
                </a:solidFill>
              </a:rPr>
              <a:t>системы</a:t>
            </a:r>
            <a:endParaRPr lang="en-US" sz="1200"/>
          </a:p>
        </p:txBody>
      </p:sp>
      <p:sp>
        <p:nvSpPr>
          <p:cNvPr id="1840371072" name="Shape 18"/>
          <p:cNvSpPr/>
          <p:nvPr/>
        </p:nvSpPr>
        <p:spPr bwMode="auto">
          <a:xfrm>
            <a:off x="7464533" y="1536192"/>
            <a:ext cx="4019473" cy="64008"/>
          </a:xfrm>
          <a:custGeom>
            <a:avLst/>
            <a:gdLst/>
            <a:ahLst/>
            <a:cxnLst/>
            <a:rect l="l" t="t" r="r" b="b"/>
            <a:pathLst>
              <a:path w="4019474" h="64008" fill="norm" stroke="1" extrusionOk="0">
                <a:moveTo>
                  <a:pt x="0" y="64008"/>
                </a:moveTo>
                <a:lnTo>
                  <a:pt x="0" y="27432"/>
                </a:lnTo>
                <a:quadBezTo>
                  <a:pt x="0" y="0"/>
                  <a:pt x="27432" y="0"/>
                </a:quadBezTo>
                <a:lnTo>
                  <a:pt x="3992042" y="0"/>
                </a:lnTo>
                <a:quadBezTo>
                  <a:pt x="4019474" y="0"/>
                  <a:pt x="4019474" y="27432"/>
                </a:quadBezTo>
                <a:lnTo>
                  <a:pt x="4019474" y="64008"/>
                </a:lnTo>
              </a:path>
            </a:pathLst>
          </a:custGeom>
          <a:noFill/>
          <a:ln w="15875">
            <a:solidFill>
              <a:srgbClr val="9AA1A9"/>
            </a:solidFill>
            <a:prstDash val="solid"/>
          </a:ln>
        </p:spPr>
      </p:sp>
      <p:sp>
        <p:nvSpPr>
          <p:cNvPr id="370470179" name="Text 19"/>
          <p:cNvSpPr txBox="1"/>
          <p:nvPr/>
        </p:nvSpPr>
        <p:spPr bwMode="auto">
          <a:xfrm>
            <a:off x="7464533" y="1261872"/>
            <a:ext cx="401947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chemeClr val="accent4"/>
                </a:solidFill>
              </a:rPr>
              <a:t>У всех путей одинаково</a:t>
            </a:r>
            <a:endParaRPr lang="en-US" sz="1200"/>
          </a:p>
        </p:txBody>
      </p:sp>
      <p:sp>
        <p:nvSpPr>
          <p:cNvPr id="118239061" name="Shape 20"/>
          <p:cNvSpPr/>
          <p:nvPr/>
        </p:nvSpPr>
        <p:spPr bwMode="auto">
          <a:xfrm>
            <a:off x="6771532" y="2231136"/>
            <a:ext cx="0" cy="3191256"/>
          </a:xfrm>
          <a:prstGeom prst="line">
            <a:avLst/>
          </a:prstGeom>
          <a:noFill/>
          <a:ln w="12700">
            <a:solidFill>
              <a:srgbClr val="9AA1A9"/>
            </a:solidFill>
            <a:prstDash val="dash"/>
          </a:ln>
        </p:spPr>
      </p:sp>
      <p:sp>
        <p:nvSpPr>
          <p:cNvPr id="1548601173" name="Text 21"/>
          <p:cNvSpPr txBox="1"/>
          <p:nvPr/>
        </p:nvSpPr>
        <p:spPr bwMode="auto">
          <a:xfrm>
            <a:off x="716832" y="2267712"/>
            <a:ext cx="1298448" cy="36576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chemeClr val="accent4"/>
                </a:solidFill>
              </a:rPr>
              <a:t>встроена в плату</a:t>
            </a:r>
            <a:endParaRPr lang="en-US" sz="1100"/>
          </a:p>
        </p:txBody>
      </p:sp>
      <p:sp>
        <p:nvSpPr>
          <p:cNvPr id="1431351809" name="Text 22"/>
          <p:cNvSpPr txBox="1"/>
          <p:nvPr/>
        </p:nvSpPr>
        <p:spPr bwMode="auto">
          <a:xfrm>
            <a:off x="2068201" y="2267712"/>
            <a:ext cx="1298448" cy="36576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chemeClr val="accent4"/>
                </a:solidFill>
              </a:rPr>
              <a:t>переключатель: Arch или iPXE</a:t>
            </a:r>
            <a:endParaRPr lang="en-US" sz="1100"/>
          </a:p>
        </p:txBody>
      </p:sp>
      <p:sp>
        <p:nvSpPr>
          <p:cNvPr id="1621725494" name="Text 23"/>
          <p:cNvSpPr txBox="1"/>
          <p:nvPr/>
        </p:nvSpPr>
        <p:spPr bwMode="auto">
          <a:xfrm>
            <a:off x="3419570" y="2267712"/>
            <a:ext cx="1298448" cy="36576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chemeClr val="accent4"/>
                </a:solidFill>
              </a:rPr>
              <a:t>сетевой загрузчик</a:t>
            </a:r>
            <a:endParaRPr lang="en-US" sz="1100"/>
          </a:p>
        </p:txBody>
      </p:sp>
      <p:sp>
        <p:nvSpPr>
          <p:cNvPr id="1796443213" name="Text 24"/>
          <p:cNvSpPr txBox="1"/>
          <p:nvPr/>
        </p:nvSpPr>
        <p:spPr bwMode="auto">
          <a:xfrm>
            <a:off x="4770939" y="2267712"/>
            <a:ext cx="1298448" cy="36576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chemeClr val="accent4"/>
                </a:solidFill>
              </a:rPr>
              <a:t>IP по DHCP, IP сервера по DNS</a:t>
            </a:r>
            <a:endParaRPr lang="en-US" sz="1100"/>
          </a:p>
        </p:txBody>
      </p:sp>
      <p:sp>
        <p:nvSpPr>
          <p:cNvPr id="1961936194" name="Text 25"/>
          <p:cNvSpPr txBox="1"/>
          <p:nvPr/>
        </p:nvSpPr>
        <p:spPr bwMode="auto">
          <a:xfrm>
            <a:off x="6122308" y="2267712"/>
            <a:ext cx="1298448" cy="36576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chemeClr val="accent4"/>
                </a:solidFill>
              </a:rPr>
              <a:t>UKI с проверкой сертификата</a:t>
            </a:r>
            <a:endParaRPr lang="en-US" sz="1100"/>
          </a:p>
        </p:txBody>
      </p:sp>
      <p:sp>
        <p:nvSpPr>
          <p:cNvPr id="1905495644" name="Text 26"/>
          <p:cNvSpPr txBox="1"/>
          <p:nvPr/>
        </p:nvSpPr>
        <p:spPr bwMode="auto">
          <a:xfrm>
            <a:off x="7473677" y="2267712"/>
            <a:ext cx="1298448" cy="36576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chemeClr val="accent4"/>
                </a:solidFill>
              </a:rPr>
              <a:t>среда восстановления</a:t>
            </a:r>
            <a:endParaRPr lang="en-US" sz="1100"/>
          </a:p>
        </p:txBody>
      </p:sp>
      <p:sp>
        <p:nvSpPr>
          <p:cNvPr id="361174873" name="Text 27"/>
          <p:cNvSpPr txBox="1"/>
          <p:nvPr/>
        </p:nvSpPr>
        <p:spPr bwMode="auto">
          <a:xfrm>
            <a:off x="8825046" y="2267712"/>
            <a:ext cx="1298448" cy="36576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chemeClr val="accent4"/>
                </a:solidFill>
              </a:rPr>
              <a:t>образы с VPS, SHA-256, dd</a:t>
            </a:r>
            <a:endParaRPr lang="en-US" sz="1100"/>
          </a:p>
        </p:txBody>
      </p:sp>
      <p:sp>
        <p:nvSpPr>
          <p:cNvPr id="2006908703" name="Text 28"/>
          <p:cNvSpPr txBox="1"/>
          <p:nvPr/>
        </p:nvSpPr>
        <p:spPr bwMode="auto">
          <a:xfrm>
            <a:off x="640080" y="2770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chemeClr val="accent4"/>
                </a:solidFill>
              </a:rPr>
              <a:t>Другие пути</a:t>
            </a:r>
            <a:endParaRPr lang="en-US" sz="1400"/>
          </a:p>
        </p:txBody>
      </p:sp>
      <p:sp>
        <p:nvSpPr>
          <p:cNvPr id="43709406" name="Text 29"/>
          <p:cNvSpPr txBox="1"/>
          <p:nvPr/>
        </p:nvSpPr>
        <p:spPr bwMode="auto">
          <a:xfrm>
            <a:off x="7772400" y="2770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chemeClr val="accent4"/>
                </a:solidFill>
              </a:rPr>
              <a:t>Почему не подошёл</a:t>
            </a:r>
            <a:endParaRPr lang="en-US" sz="1400"/>
          </a:p>
        </p:txBody>
      </p:sp>
      <p:sp>
        <p:nvSpPr>
          <p:cNvPr id="1647691790" name="Text 30"/>
          <p:cNvSpPr txBox="1"/>
          <p:nvPr/>
        </p:nvSpPr>
        <p:spPr bwMode="auto">
          <a:xfrm>
            <a:off x="3411950" y="2770632"/>
            <a:ext cx="1313687" cy="2743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chemeClr val="accent4"/>
                </a:solidFill>
              </a:rPr>
              <a:t>сетевой клиент</a:t>
            </a:r>
            <a:endParaRPr lang="en-US" sz="1200"/>
          </a:p>
        </p:txBody>
      </p:sp>
      <p:sp>
        <p:nvSpPr>
          <p:cNvPr id="2145047934" name="Text 31"/>
          <p:cNvSpPr txBox="1"/>
          <p:nvPr/>
        </p:nvSpPr>
        <p:spPr bwMode="auto">
          <a:xfrm>
            <a:off x="6074302" y="2770632"/>
            <a:ext cx="1394460" cy="2743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chemeClr val="accent4"/>
                </a:solidFill>
              </a:rPr>
              <a:t>источник образа</a:t>
            </a:r>
            <a:endParaRPr lang="en-US" sz="1200"/>
          </a:p>
        </p:txBody>
      </p:sp>
      <p:sp>
        <p:nvSpPr>
          <p:cNvPr id="2008410827" name="Shape 32"/>
          <p:cNvSpPr/>
          <p:nvPr/>
        </p:nvSpPr>
        <p:spPr bwMode="auto">
          <a:xfrm>
            <a:off x="640080" y="3154680"/>
            <a:ext cx="1091153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40420765" name="Text 33"/>
          <p:cNvSpPr txBox="1"/>
          <p:nvPr/>
        </p:nvSpPr>
        <p:spPr bwMode="auto">
          <a:xfrm>
            <a:off x="640080" y="315468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tx1"/>
                </a:solidFill>
              </a:rPr>
              <a:t>PXE</a:t>
            </a:r>
            <a:endParaRPr lang="en-US" sz="1500"/>
          </a:p>
        </p:txBody>
      </p:sp>
      <p:sp>
        <p:nvSpPr>
          <p:cNvPr id="1286922972" name="Shape 34"/>
          <p:cNvSpPr/>
          <p:nvPr/>
        </p:nvSpPr>
        <p:spPr bwMode="auto">
          <a:xfrm>
            <a:off x="5420163" y="3438144"/>
            <a:ext cx="1351369" cy="0"/>
          </a:xfrm>
          <a:prstGeom prst="line">
            <a:avLst/>
          </a:prstGeom>
          <a:noFill/>
          <a:ln w="19050">
            <a:solidFill>
              <a:srgbClr val="9AA1A9"/>
            </a:solidFill>
            <a:prstDash val="solid"/>
          </a:ln>
        </p:spPr>
      </p:sp>
      <p:sp>
        <p:nvSpPr>
          <p:cNvPr id="261898264" name="Text 35"/>
          <p:cNvSpPr txBox="1"/>
          <p:nvPr/>
        </p:nvSpPr>
        <p:spPr bwMode="auto">
          <a:xfrm>
            <a:off x="4901240" y="3282696"/>
            <a:ext cx="1037844" cy="310896"/>
          </a:xfrm>
          <a:prstGeom prst="roundRect">
            <a:avLst>
              <a:gd name="adj" fmla="val 23529"/>
            </a:avLst>
          </a:prstGeom>
          <a:solidFill>
            <a:schemeClr val="bg1"/>
          </a:solidFill>
          <a:ln w="12700">
            <a:solidFill>
              <a:srgbClr val="9AA1A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chemeClr val="tx1"/>
                </a:solidFill>
              </a:rPr>
              <a:t>свой DHCP</a:t>
            </a:r>
            <a:endParaRPr lang="en-US" sz="1200"/>
          </a:p>
        </p:txBody>
      </p:sp>
      <p:sp>
        <p:nvSpPr>
          <p:cNvPr id="705075065" name="Text 36"/>
          <p:cNvSpPr txBox="1"/>
          <p:nvPr/>
        </p:nvSpPr>
        <p:spPr bwMode="auto">
          <a:xfrm>
            <a:off x="6171838" y="3282696"/>
            <a:ext cx="1199388" cy="310896"/>
          </a:xfrm>
          <a:prstGeom prst="roundRect">
            <a:avLst>
              <a:gd name="adj" fmla="val 23529"/>
            </a:avLst>
          </a:prstGeom>
          <a:solidFill>
            <a:schemeClr val="bg1"/>
          </a:solidFill>
          <a:ln w="12700">
            <a:solidFill>
              <a:srgbClr val="9AA1A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chemeClr val="tx1"/>
                </a:solidFill>
              </a:rPr>
              <a:t>TFTP-сервер</a:t>
            </a:r>
            <a:endParaRPr lang="en-US" sz="1200"/>
          </a:p>
        </p:txBody>
      </p:sp>
      <p:sp>
        <p:nvSpPr>
          <p:cNvPr id="1774555795" name="Text 37"/>
          <p:cNvSpPr txBox="1"/>
          <p:nvPr/>
        </p:nvSpPr>
        <p:spPr bwMode="auto">
          <a:xfrm>
            <a:off x="7772400" y="3154680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chemeClr val="accent3"/>
                </a:solidFill>
              </a:rPr>
              <a:t>×</a:t>
            </a:r>
            <a:endParaRPr lang="en-US" sz="1800"/>
          </a:p>
        </p:txBody>
      </p:sp>
      <p:sp>
        <p:nvSpPr>
          <p:cNvPr id="40764606" name="Text 38"/>
          <p:cNvSpPr txBox="1"/>
          <p:nvPr/>
        </p:nvSpPr>
        <p:spPr bwMode="auto">
          <a:xfrm>
            <a:off x="8065008" y="3154680"/>
            <a:ext cx="34866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50">
                <a:solidFill>
                  <a:schemeClr val="tx1"/>
                </a:solidFill>
              </a:rPr>
              <a:t>только в локальной сети и без шифрования</a:t>
            </a:r>
            <a:endParaRPr lang="en-US" sz="1350"/>
          </a:p>
        </p:txBody>
      </p:sp>
      <p:sp>
        <p:nvSpPr>
          <p:cNvPr id="522484106" name="Shape 39"/>
          <p:cNvSpPr/>
          <p:nvPr/>
        </p:nvSpPr>
        <p:spPr bwMode="auto">
          <a:xfrm>
            <a:off x="640080" y="3721608"/>
            <a:ext cx="1091153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400645877" name="Text 40"/>
          <p:cNvSpPr txBox="1"/>
          <p:nvPr/>
        </p:nvSpPr>
        <p:spPr bwMode="auto">
          <a:xfrm>
            <a:off x="640080" y="372160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tx1"/>
                </a:solidFill>
              </a:rPr>
              <a:t>UEFI HTTP Boot</a:t>
            </a:r>
            <a:endParaRPr lang="en-US" sz="1500"/>
          </a:p>
        </p:txBody>
      </p:sp>
      <p:sp>
        <p:nvSpPr>
          <p:cNvPr id="652821707" name="Shape 41"/>
          <p:cNvSpPr/>
          <p:nvPr/>
        </p:nvSpPr>
        <p:spPr bwMode="auto">
          <a:xfrm>
            <a:off x="5420163" y="4005072"/>
            <a:ext cx="1351369" cy="0"/>
          </a:xfrm>
          <a:prstGeom prst="line">
            <a:avLst/>
          </a:prstGeom>
          <a:noFill/>
          <a:ln w="19050">
            <a:solidFill>
              <a:srgbClr val="9AA1A9"/>
            </a:solidFill>
            <a:prstDash val="solid"/>
          </a:ln>
        </p:spPr>
      </p:sp>
      <p:sp>
        <p:nvSpPr>
          <p:cNvPr id="2081540842" name="Text 42"/>
          <p:cNvSpPr txBox="1"/>
          <p:nvPr/>
        </p:nvSpPr>
        <p:spPr bwMode="auto">
          <a:xfrm>
            <a:off x="4901240" y="3849624"/>
            <a:ext cx="1037844" cy="310896"/>
          </a:xfrm>
          <a:prstGeom prst="roundRect">
            <a:avLst>
              <a:gd name="adj" fmla="val 23529"/>
            </a:avLst>
          </a:prstGeom>
          <a:solidFill>
            <a:schemeClr val="bg1"/>
          </a:solidFill>
          <a:ln w="12700">
            <a:solidFill>
              <a:srgbClr val="9AA1A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chemeClr val="tx1"/>
                </a:solidFill>
              </a:rPr>
              <a:t>свой DHCP</a:t>
            </a:r>
            <a:endParaRPr lang="en-US" sz="1200"/>
          </a:p>
        </p:txBody>
      </p:sp>
      <p:sp>
        <p:nvSpPr>
          <p:cNvPr id="762370985" name="Text 43"/>
          <p:cNvSpPr txBox="1"/>
          <p:nvPr/>
        </p:nvSpPr>
        <p:spPr bwMode="auto">
          <a:xfrm>
            <a:off x="6171838" y="3849624"/>
            <a:ext cx="1199388" cy="310896"/>
          </a:xfrm>
          <a:prstGeom prst="roundRect">
            <a:avLst>
              <a:gd name="adj" fmla="val 23529"/>
            </a:avLst>
          </a:prstGeom>
          <a:solidFill>
            <a:schemeClr val="bg1"/>
          </a:solidFill>
          <a:ln w="12700">
            <a:solidFill>
              <a:srgbClr val="9AA1A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chemeClr val="tx1"/>
                </a:solidFill>
              </a:rPr>
              <a:t>HTTP-сервер</a:t>
            </a:r>
            <a:endParaRPr lang="en-US" sz="1200"/>
          </a:p>
        </p:txBody>
      </p:sp>
      <p:sp>
        <p:nvSpPr>
          <p:cNvPr id="2094082188" name="Text 44"/>
          <p:cNvSpPr txBox="1"/>
          <p:nvPr/>
        </p:nvSpPr>
        <p:spPr bwMode="auto">
          <a:xfrm>
            <a:off x="7772400" y="3721608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chemeClr val="accent3"/>
                </a:solidFill>
              </a:rPr>
              <a:t>×</a:t>
            </a:r>
            <a:endParaRPr lang="en-US" sz="1800"/>
          </a:p>
        </p:txBody>
      </p:sp>
      <p:sp>
        <p:nvSpPr>
          <p:cNvPr id="1304933039" name="Text 45"/>
          <p:cNvSpPr txBox="1"/>
          <p:nvPr/>
        </p:nvSpPr>
        <p:spPr bwMode="auto">
          <a:xfrm>
            <a:off x="8065008" y="3721608"/>
            <a:ext cx="34866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50">
                <a:solidFill>
                  <a:schemeClr val="tx1"/>
                </a:solidFill>
              </a:rPr>
              <a:t>нужен свой DHCP, файл можно подменить</a:t>
            </a:r>
            <a:endParaRPr lang="en-US" sz="1350"/>
          </a:p>
        </p:txBody>
      </p:sp>
      <p:sp>
        <p:nvSpPr>
          <p:cNvPr id="1234341267" name="Shape 46"/>
          <p:cNvSpPr/>
          <p:nvPr/>
        </p:nvSpPr>
        <p:spPr bwMode="auto">
          <a:xfrm>
            <a:off x="640080" y="4288536"/>
            <a:ext cx="1091153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270842360" name="Text 47"/>
          <p:cNvSpPr txBox="1"/>
          <p:nvPr/>
        </p:nvSpPr>
        <p:spPr bwMode="auto">
          <a:xfrm>
            <a:off x="640080" y="4288536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tx1"/>
                </a:solidFill>
              </a:rPr>
              <a:t>UEFI HTTPS Boot</a:t>
            </a:r>
            <a:endParaRPr lang="en-US" sz="1500"/>
          </a:p>
        </p:txBody>
      </p:sp>
      <p:sp>
        <p:nvSpPr>
          <p:cNvPr id="1160658014" name="Text 48"/>
          <p:cNvSpPr txBox="1"/>
          <p:nvPr/>
        </p:nvSpPr>
        <p:spPr bwMode="auto">
          <a:xfrm>
            <a:off x="6131452" y="4416552"/>
            <a:ext cx="1280160" cy="310896"/>
          </a:xfrm>
          <a:prstGeom prst="roundRect">
            <a:avLst>
              <a:gd name="adj" fmla="val 23529"/>
            </a:avLst>
          </a:prstGeom>
          <a:solidFill>
            <a:schemeClr val="bg1"/>
          </a:solidFill>
          <a:ln w="12700">
            <a:solidFill>
              <a:srgbClr val="9AA1A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chemeClr val="tx1"/>
                </a:solidFill>
              </a:rPr>
              <a:t>HTTPS-сервер</a:t>
            </a:r>
            <a:endParaRPr lang="en-US" sz="1200"/>
          </a:p>
        </p:txBody>
      </p:sp>
      <p:sp>
        <p:nvSpPr>
          <p:cNvPr id="491532866" name="Text 49"/>
          <p:cNvSpPr txBox="1"/>
          <p:nvPr/>
        </p:nvSpPr>
        <p:spPr bwMode="auto">
          <a:xfrm>
            <a:off x="7772400" y="4288536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chemeClr val="accent3"/>
                </a:solidFill>
              </a:rPr>
              <a:t>×</a:t>
            </a:r>
            <a:endParaRPr lang="en-US" sz="1800"/>
          </a:p>
        </p:txBody>
      </p:sp>
      <p:sp>
        <p:nvSpPr>
          <p:cNvPr id="1443888301" name="Text 50"/>
          <p:cNvSpPr txBox="1"/>
          <p:nvPr/>
        </p:nvSpPr>
        <p:spPr bwMode="auto">
          <a:xfrm>
            <a:off x="8065008" y="4288536"/>
            <a:ext cx="34866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50">
                <a:solidFill>
                  <a:schemeClr val="tx1"/>
                </a:solidFill>
              </a:rPr>
              <a:t>прошивка ноутбука не поддерживает HTTPS</a:t>
            </a:r>
            <a:endParaRPr lang="en-US" sz="1350"/>
          </a:p>
        </p:txBody>
      </p:sp>
      <p:sp>
        <p:nvSpPr>
          <p:cNvPr id="785806889" name="Shape 51"/>
          <p:cNvSpPr/>
          <p:nvPr/>
        </p:nvSpPr>
        <p:spPr bwMode="auto">
          <a:xfrm>
            <a:off x="640080" y="4855464"/>
            <a:ext cx="1091153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562339983" name="Text 52"/>
          <p:cNvSpPr txBox="1"/>
          <p:nvPr/>
        </p:nvSpPr>
        <p:spPr bwMode="auto">
          <a:xfrm>
            <a:off x="640080" y="4855464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tx1"/>
                </a:solidFill>
              </a:rPr>
              <a:t>BMC</a:t>
            </a:r>
            <a:endParaRPr lang="en-US" sz="1500"/>
          </a:p>
        </p:txBody>
      </p:sp>
      <p:sp>
        <p:nvSpPr>
          <p:cNvPr id="733885023" name="Shape 53"/>
          <p:cNvSpPr/>
          <p:nvPr/>
        </p:nvSpPr>
        <p:spPr bwMode="auto">
          <a:xfrm>
            <a:off x="4068794" y="5138928"/>
            <a:ext cx="2702738" cy="0"/>
          </a:xfrm>
          <a:prstGeom prst="line">
            <a:avLst/>
          </a:prstGeom>
          <a:noFill/>
          <a:ln w="19050">
            <a:solidFill>
              <a:srgbClr val="9AA1A9"/>
            </a:solidFill>
            <a:prstDash val="solid"/>
          </a:ln>
        </p:spPr>
      </p:sp>
      <p:sp>
        <p:nvSpPr>
          <p:cNvPr id="1399395292" name="Text 54"/>
          <p:cNvSpPr txBox="1"/>
          <p:nvPr/>
        </p:nvSpPr>
        <p:spPr bwMode="auto">
          <a:xfrm>
            <a:off x="3267170" y="4983480"/>
            <a:ext cx="1603248" cy="310896"/>
          </a:xfrm>
          <a:prstGeom prst="roundRect">
            <a:avLst>
              <a:gd name="adj" fmla="val 23529"/>
            </a:avLst>
          </a:prstGeom>
          <a:solidFill>
            <a:schemeClr val="bg1"/>
          </a:solidFill>
          <a:ln w="12700">
            <a:solidFill>
              <a:srgbClr val="9AA1A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chemeClr val="tx1"/>
                </a:solidFill>
              </a:rPr>
              <a:t>второй компьютер</a:t>
            </a:r>
            <a:endParaRPr lang="en-US" sz="1200"/>
          </a:p>
        </p:txBody>
      </p:sp>
      <p:sp>
        <p:nvSpPr>
          <p:cNvPr id="2042831718" name="Text 55"/>
          <p:cNvSpPr txBox="1"/>
          <p:nvPr/>
        </p:nvSpPr>
        <p:spPr bwMode="auto">
          <a:xfrm>
            <a:off x="6171838" y="4983480"/>
            <a:ext cx="1199388" cy="310896"/>
          </a:xfrm>
          <a:prstGeom prst="roundRect">
            <a:avLst>
              <a:gd name="adj" fmla="val 23529"/>
            </a:avLst>
          </a:prstGeom>
          <a:solidFill>
            <a:schemeClr val="bg1"/>
          </a:solidFill>
          <a:ln w="12700">
            <a:solidFill>
              <a:srgbClr val="9AA1A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chemeClr val="tx1"/>
                </a:solidFill>
              </a:rPr>
              <a:t>ISO по сети</a:t>
            </a:r>
            <a:endParaRPr lang="en-US" sz="1200"/>
          </a:p>
        </p:txBody>
      </p:sp>
      <p:sp>
        <p:nvSpPr>
          <p:cNvPr id="1844852601" name="Text 56"/>
          <p:cNvSpPr txBox="1"/>
          <p:nvPr/>
        </p:nvSpPr>
        <p:spPr bwMode="auto">
          <a:xfrm>
            <a:off x="7772400" y="4855464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chemeClr val="accent3"/>
                </a:solidFill>
              </a:rPr>
              <a:t>×</a:t>
            </a:r>
            <a:endParaRPr lang="en-US" sz="1800"/>
          </a:p>
        </p:txBody>
      </p:sp>
      <p:sp>
        <p:nvSpPr>
          <p:cNvPr id="1782495006" name="Text 57"/>
          <p:cNvSpPr txBox="1"/>
          <p:nvPr/>
        </p:nvSpPr>
        <p:spPr bwMode="auto">
          <a:xfrm>
            <a:off x="8065008" y="4855464"/>
            <a:ext cx="34866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50">
                <a:solidFill>
                  <a:schemeClr val="tx1"/>
                </a:solidFill>
              </a:rPr>
              <a:t>нет BMC</a:t>
            </a:r>
            <a:endParaRPr lang="en-US" sz="1350"/>
          </a:p>
        </p:txBody>
      </p:sp>
      <p:sp>
        <p:nvSpPr>
          <p:cNvPr id="1719914216" name="Shape 58"/>
          <p:cNvSpPr/>
          <p:nvPr/>
        </p:nvSpPr>
        <p:spPr bwMode="auto">
          <a:xfrm>
            <a:off x="640080" y="5422392"/>
            <a:ext cx="1091153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076603028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0820095" y="6382512"/>
            <a:ext cx="73152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9636E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7806653" name="Text 0"/>
          <p:cNvSpPr/>
          <p:nvPr>
            <p:ph type="title" idx="100" hasCustomPrompt="1"/>
          </p:nvPr>
        </p:nvSpPr>
        <p:spPr bwMode="auto">
          <a:xfrm>
            <a:off x="640080" y="4114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800" b="1">
                <a:solidFill>
                  <a:schemeClr val="tx1"/>
                </a:solidFill>
              </a:rPr>
              <a:t>PXE — загрузка по локальной сети</a:t>
            </a:r>
            <a:endParaRPr lang="en-US" sz="2800"/>
          </a:p>
        </p:txBody>
      </p:sp>
      <p:sp>
        <p:nvSpPr>
          <p:cNvPr id="1827995221" name="Text 1"/>
          <p:cNvSpPr txBox="1"/>
          <p:nvPr/>
        </p:nvSpPr>
        <p:spPr bwMode="auto">
          <a:xfrm>
            <a:off x="640080" y="89611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chemeClr val="accent4"/>
                </a:solidFill>
              </a:rPr>
              <a:t>Preboot eXecution Environment — среда выполнения до загрузки ОС</a:t>
            </a:r>
            <a:endParaRPr lang="en-US" sz="1500"/>
          </a:p>
        </p:txBody>
      </p:sp>
      <p:sp>
        <p:nvSpPr>
          <p:cNvPr id="1581177872" name="Shape 2"/>
          <p:cNvSpPr/>
          <p:nvPr/>
        </p:nvSpPr>
        <p:spPr bwMode="auto">
          <a:xfrm>
            <a:off x="640080" y="1325880"/>
            <a:ext cx="6903720" cy="4937760"/>
          </a:xfrm>
          <a:prstGeom prst="roundRect">
            <a:avLst>
              <a:gd name="adj" fmla="val 1852"/>
            </a:avLst>
          </a:prstGeom>
          <a:noFill/>
          <a:ln w="15875">
            <a:solidFill>
              <a:srgbClr val="9AA1A9"/>
            </a:solidFill>
            <a:prstDash val="dash"/>
          </a:ln>
        </p:spPr>
      </p:sp>
      <p:sp>
        <p:nvSpPr>
          <p:cNvPr id="871598707" name="Shape 3"/>
          <p:cNvSpPr/>
          <p:nvPr/>
        </p:nvSpPr>
        <p:spPr bwMode="auto">
          <a:xfrm>
            <a:off x="800100" y="1508759"/>
            <a:ext cx="1600200" cy="640080"/>
          </a:xfrm>
          <a:prstGeom prst="roundRect">
            <a:avLst>
              <a:gd name="adj" fmla="val 8571"/>
            </a:avLst>
          </a:prstGeom>
          <a:solidFill>
            <a:schemeClr val="tx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604978721" name="Text 4"/>
          <p:cNvSpPr txBox="1"/>
          <p:nvPr/>
        </p:nvSpPr>
        <p:spPr bwMode="auto">
          <a:xfrm>
            <a:off x="800100" y="1508759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chemeClr val="bg1"/>
                </a:solidFill>
              </a:rPr>
              <a:t>Ноутбук</a:t>
            </a:r>
            <a:endParaRPr lang="en-US" sz="1500"/>
          </a:p>
        </p:txBody>
      </p:sp>
      <p:sp>
        <p:nvSpPr>
          <p:cNvPr id="1673498016" name="Shape 5"/>
          <p:cNvSpPr/>
          <p:nvPr/>
        </p:nvSpPr>
        <p:spPr bwMode="auto">
          <a:xfrm>
            <a:off x="1600200" y="2148840"/>
            <a:ext cx="0" cy="3977640"/>
          </a:xfrm>
          <a:prstGeom prst="line">
            <a:avLst/>
          </a:prstGeom>
          <a:noFill/>
          <a:ln w="12700">
            <a:solidFill>
              <a:srgbClr val="9AA1A9"/>
            </a:solidFill>
            <a:prstDash val="dash"/>
          </a:ln>
        </p:spPr>
      </p:sp>
      <p:sp>
        <p:nvSpPr>
          <p:cNvPr id="749685584" name="Shape 6"/>
          <p:cNvSpPr/>
          <p:nvPr/>
        </p:nvSpPr>
        <p:spPr bwMode="auto">
          <a:xfrm>
            <a:off x="3634740" y="1508759"/>
            <a:ext cx="1600200" cy="64008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799170539" name="Text 7"/>
          <p:cNvSpPr txBox="1"/>
          <p:nvPr/>
        </p:nvSpPr>
        <p:spPr bwMode="auto">
          <a:xfrm>
            <a:off x="3634740" y="156362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chemeClr val="tx1"/>
                </a:solidFill>
              </a:rPr>
              <a:t>DHCP-сервер</a:t>
            </a:r>
            <a:endParaRPr lang="en-US" sz="1500"/>
          </a:p>
        </p:txBody>
      </p:sp>
      <p:sp>
        <p:nvSpPr>
          <p:cNvPr id="301434250" name="Text 8"/>
          <p:cNvSpPr txBox="1"/>
          <p:nvPr/>
        </p:nvSpPr>
        <p:spPr bwMode="auto">
          <a:xfrm>
            <a:off x="3707892" y="1856232"/>
            <a:ext cx="1453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chemeClr val="accent4"/>
                </a:solidFill>
              </a:rPr>
              <a:t>UDP 67</a:t>
            </a:r>
            <a:endParaRPr lang="en-US" sz="1200"/>
          </a:p>
        </p:txBody>
      </p:sp>
      <p:sp>
        <p:nvSpPr>
          <p:cNvPr id="1503458910" name="Shape 9"/>
          <p:cNvSpPr/>
          <p:nvPr/>
        </p:nvSpPr>
        <p:spPr bwMode="auto">
          <a:xfrm>
            <a:off x="4434840" y="2148840"/>
            <a:ext cx="0" cy="3977640"/>
          </a:xfrm>
          <a:prstGeom prst="line">
            <a:avLst/>
          </a:prstGeom>
          <a:noFill/>
          <a:ln w="12700">
            <a:solidFill>
              <a:srgbClr val="9AA1A9"/>
            </a:solidFill>
            <a:prstDash val="dash"/>
          </a:ln>
        </p:spPr>
      </p:sp>
      <p:sp>
        <p:nvSpPr>
          <p:cNvPr id="2105159580" name="Shape 10"/>
          <p:cNvSpPr/>
          <p:nvPr/>
        </p:nvSpPr>
        <p:spPr bwMode="auto">
          <a:xfrm>
            <a:off x="5692140" y="1508759"/>
            <a:ext cx="1600200" cy="64008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19940493" name="Text 11"/>
          <p:cNvSpPr txBox="1"/>
          <p:nvPr/>
        </p:nvSpPr>
        <p:spPr bwMode="auto">
          <a:xfrm>
            <a:off x="5692140" y="156362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chemeClr val="tx1"/>
                </a:solidFill>
              </a:rPr>
              <a:t>TFTP-сервер</a:t>
            </a:r>
            <a:endParaRPr lang="en-US" sz="1500"/>
          </a:p>
        </p:txBody>
      </p:sp>
      <p:sp>
        <p:nvSpPr>
          <p:cNvPr id="402683713" name="Text 12"/>
          <p:cNvSpPr txBox="1"/>
          <p:nvPr/>
        </p:nvSpPr>
        <p:spPr bwMode="auto">
          <a:xfrm>
            <a:off x="5765292" y="1856232"/>
            <a:ext cx="1453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chemeClr val="accent4"/>
                </a:solidFill>
              </a:rPr>
              <a:t>UDP 69</a:t>
            </a:r>
            <a:endParaRPr lang="en-US" sz="1200"/>
          </a:p>
        </p:txBody>
      </p:sp>
      <p:sp>
        <p:nvSpPr>
          <p:cNvPr id="1007631606" name="Shape 13"/>
          <p:cNvSpPr/>
          <p:nvPr/>
        </p:nvSpPr>
        <p:spPr bwMode="auto">
          <a:xfrm>
            <a:off x="6492240" y="2148840"/>
            <a:ext cx="0" cy="3977640"/>
          </a:xfrm>
          <a:prstGeom prst="line">
            <a:avLst/>
          </a:prstGeom>
          <a:noFill/>
          <a:ln w="12700">
            <a:solidFill>
              <a:srgbClr val="9AA1A9"/>
            </a:solidFill>
            <a:prstDash val="dash"/>
          </a:ln>
        </p:spPr>
      </p:sp>
      <p:sp>
        <p:nvSpPr>
          <p:cNvPr id="202385784" name="Shape 14"/>
          <p:cNvSpPr/>
          <p:nvPr/>
        </p:nvSpPr>
        <p:spPr bwMode="auto">
          <a:xfrm>
            <a:off x="1636776" y="2788920"/>
            <a:ext cx="27614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978999868" name="Text 15"/>
          <p:cNvSpPr txBox="1"/>
          <p:nvPr/>
        </p:nvSpPr>
        <p:spPr bwMode="auto">
          <a:xfrm>
            <a:off x="2331720" y="2532888"/>
            <a:ext cx="1371600" cy="219456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DHCPDISCOVER</a:t>
            </a:r>
            <a:endParaRPr lang="en-US" sz="1300"/>
          </a:p>
        </p:txBody>
      </p:sp>
      <p:sp>
        <p:nvSpPr>
          <p:cNvPr id="740611262" name="Text 16"/>
          <p:cNvSpPr txBox="1"/>
          <p:nvPr/>
        </p:nvSpPr>
        <p:spPr bwMode="auto">
          <a:xfrm>
            <a:off x="1815465" y="2825496"/>
            <a:ext cx="2404110" cy="18288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chemeClr val="accent4"/>
                </a:solidFill>
              </a:rPr>
              <a:t>broadcast, опция 60: PXEClient</a:t>
            </a:r>
            <a:endParaRPr lang="en-US" sz="1100"/>
          </a:p>
        </p:txBody>
      </p:sp>
      <p:sp>
        <p:nvSpPr>
          <p:cNvPr id="1301923729" name="Shape 17"/>
          <p:cNvSpPr/>
          <p:nvPr/>
        </p:nvSpPr>
        <p:spPr bwMode="auto">
          <a:xfrm flipH="1">
            <a:off x="1636776" y="3383280"/>
            <a:ext cx="27614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332410452" name="Text 18"/>
          <p:cNvSpPr txBox="1"/>
          <p:nvPr/>
        </p:nvSpPr>
        <p:spPr bwMode="auto">
          <a:xfrm>
            <a:off x="2480310" y="3127248"/>
            <a:ext cx="1074420" cy="219456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DHCPOFFER</a:t>
            </a:r>
            <a:endParaRPr lang="en-US" sz="1300"/>
          </a:p>
        </p:txBody>
      </p:sp>
      <p:sp>
        <p:nvSpPr>
          <p:cNvPr id="1426886476" name="Text 19"/>
          <p:cNvSpPr txBox="1"/>
          <p:nvPr/>
        </p:nvSpPr>
        <p:spPr bwMode="auto">
          <a:xfrm>
            <a:off x="1655063" y="3419856"/>
            <a:ext cx="2724911" cy="36576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chemeClr val="accent4"/>
                </a:solidFill>
              </a:rPr>
              <a:t>IP 192.168.1.50, next-server 192.168.1.10</a:t>
            </a:r>
            <a:endParaRPr lang="en-US" sz="1100"/>
          </a:p>
          <a:p>
            <a:pPr marL="0" indent="0" algn="ctr">
              <a:buNone/>
              <a:defRPr/>
            </a:pPr>
            <a:r>
              <a:rPr lang="en-US" sz="1100">
                <a:solidFill>
                  <a:schemeClr val="accent4"/>
                </a:solidFill>
              </a:rPr>
              <a:t>опция 67: boot.efi</a:t>
            </a:r>
            <a:endParaRPr lang="en-US" sz="1100"/>
          </a:p>
        </p:txBody>
      </p:sp>
      <p:sp>
        <p:nvSpPr>
          <p:cNvPr id="409908219" name="Shape 20"/>
          <p:cNvSpPr/>
          <p:nvPr/>
        </p:nvSpPr>
        <p:spPr bwMode="auto">
          <a:xfrm>
            <a:off x="1636776" y="4114800"/>
            <a:ext cx="2761488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  <a:headEnd type="triangle"/>
            <a:tailEnd type="triangle"/>
          </a:ln>
        </p:spPr>
      </p:sp>
      <p:sp>
        <p:nvSpPr>
          <p:cNvPr id="731807642" name="Text 21"/>
          <p:cNvSpPr txBox="1"/>
          <p:nvPr/>
        </p:nvSpPr>
        <p:spPr bwMode="auto">
          <a:xfrm>
            <a:off x="2005965" y="3858768"/>
            <a:ext cx="2023110" cy="219456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  <a:defRPr/>
            </a:pPr>
            <a:r>
              <a:rPr lang="en-US" sz="115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DHCPREQUEST / DHCPACK</a:t>
            </a:r>
            <a:endParaRPr lang="en-US" sz="1150"/>
          </a:p>
        </p:txBody>
      </p:sp>
      <p:sp>
        <p:nvSpPr>
          <p:cNvPr id="580688781" name="Shape 22"/>
          <p:cNvSpPr/>
          <p:nvPr/>
        </p:nvSpPr>
        <p:spPr bwMode="auto">
          <a:xfrm>
            <a:off x="777240" y="4279392"/>
            <a:ext cx="662940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495252502" name="Shape 23"/>
          <p:cNvSpPr/>
          <p:nvPr/>
        </p:nvSpPr>
        <p:spPr bwMode="auto">
          <a:xfrm>
            <a:off x="1636776" y="4828032"/>
            <a:ext cx="48188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355678403" name="Text 24"/>
          <p:cNvSpPr txBox="1"/>
          <p:nvPr/>
        </p:nvSpPr>
        <p:spPr bwMode="auto">
          <a:xfrm>
            <a:off x="3360420" y="4572000"/>
            <a:ext cx="1371600" cy="219456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RRQ boot.efi</a:t>
            </a:r>
            <a:endParaRPr lang="en-US" sz="1300"/>
          </a:p>
        </p:txBody>
      </p:sp>
      <p:sp>
        <p:nvSpPr>
          <p:cNvPr id="576165674" name="Text 25"/>
          <p:cNvSpPr txBox="1"/>
          <p:nvPr/>
        </p:nvSpPr>
        <p:spPr bwMode="auto">
          <a:xfrm>
            <a:off x="3029267" y="4864607"/>
            <a:ext cx="2033905" cy="18288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chemeClr val="accent3"/>
                </a:solidFill>
              </a:rPr>
              <a:t>без шифрования и проверки</a:t>
            </a:r>
            <a:endParaRPr lang="en-US" sz="1100"/>
          </a:p>
        </p:txBody>
      </p:sp>
      <p:sp>
        <p:nvSpPr>
          <p:cNvPr id="2127273617" name="Shape 26"/>
          <p:cNvSpPr/>
          <p:nvPr/>
        </p:nvSpPr>
        <p:spPr bwMode="auto">
          <a:xfrm flipH="1">
            <a:off x="1636776" y="5394960"/>
            <a:ext cx="48188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450178025" name="Text 27"/>
          <p:cNvSpPr txBox="1"/>
          <p:nvPr/>
        </p:nvSpPr>
        <p:spPr bwMode="auto">
          <a:xfrm>
            <a:off x="3261360" y="5138928"/>
            <a:ext cx="1569720" cy="219456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DATA 1 · 512 Б</a:t>
            </a:r>
            <a:endParaRPr lang="en-US" sz="1300"/>
          </a:p>
        </p:txBody>
      </p:sp>
      <p:sp>
        <p:nvSpPr>
          <p:cNvPr id="346833084" name="Shape 28"/>
          <p:cNvSpPr/>
          <p:nvPr/>
        </p:nvSpPr>
        <p:spPr bwMode="auto">
          <a:xfrm>
            <a:off x="1636776" y="5687568"/>
            <a:ext cx="48188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658287175" name="Text 29"/>
          <p:cNvSpPr txBox="1"/>
          <p:nvPr/>
        </p:nvSpPr>
        <p:spPr bwMode="auto">
          <a:xfrm>
            <a:off x="3707130" y="5431536"/>
            <a:ext cx="678180" cy="219456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ACK 1</a:t>
            </a:r>
            <a:endParaRPr lang="en-US" sz="1300"/>
          </a:p>
        </p:txBody>
      </p:sp>
      <p:sp>
        <p:nvSpPr>
          <p:cNvPr id="1882807343" name="Shape 30"/>
          <p:cNvSpPr/>
          <p:nvPr/>
        </p:nvSpPr>
        <p:spPr bwMode="auto">
          <a:xfrm flipH="1">
            <a:off x="1636776" y="5980176"/>
            <a:ext cx="48188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928238468" name="Text 31"/>
          <p:cNvSpPr txBox="1"/>
          <p:nvPr/>
        </p:nvSpPr>
        <p:spPr bwMode="auto">
          <a:xfrm>
            <a:off x="3211830" y="5724144"/>
            <a:ext cx="1668780" cy="219456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DATA 2 … DATA N</a:t>
            </a:r>
            <a:endParaRPr lang="en-US" sz="1300"/>
          </a:p>
        </p:txBody>
      </p:sp>
      <p:sp>
        <p:nvSpPr>
          <p:cNvPr id="823739453" name="Text 32"/>
          <p:cNvSpPr txBox="1"/>
          <p:nvPr/>
        </p:nvSpPr>
        <p:spPr bwMode="auto">
          <a:xfrm>
            <a:off x="2881185" y="6016752"/>
            <a:ext cx="2330069" cy="18288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chemeClr val="accent4"/>
                </a:solidFill>
              </a:rPr>
              <a:t>блок меньше 512 Б — последний</a:t>
            </a:r>
            <a:endParaRPr lang="en-US" sz="1100"/>
          </a:p>
        </p:txBody>
      </p:sp>
      <p:sp>
        <p:nvSpPr>
          <p:cNvPr id="449893295" name="Shape 33"/>
          <p:cNvSpPr/>
          <p:nvPr/>
        </p:nvSpPr>
        <p:spPr bwMode="auto">
          <a:xfrm>
            <a:off x="6547104" y="5394960"/>
            <a:ext cx="91440" cy="292608"/>
          </a:xfrm>
          <a:custGeom>
            <a:avLst/>
            <a:gdLst/>
            <a:ahLst/>
            <a:cxnLst/>
            <a:rect l="l" t="t" r="r" b="b"/>
            <a:pathLst>
              <a:path w="91440" h="292608" fill="norm" stroke="1" extrusionOk="0">
                <a:moveTo>
                  <a:pt x="0" y="0"/>
                </a:moveTo>
                <a:lnTo>
                  <a:pt x="45720" y="0"/>
                </a:lnTo>
                <a:quadBezTo>
                  <a:pt x="91440" y="0"/>
                  <a:pt x="91440" y="45720"/>
                </a:quadBezTo>
                <a:lnTo>
                  <a:pt x="91440" y="246888"/>
                </a:lnTo>
                <a:quadBezTo>
                  <a:pt x="91440" y="292608"/>
                  <a:pt x="45720" y="292608"/>
                </a:quadBezTo>
                <a:lnTo>
                  <a:pt x="0" y="292608"/>
                </a:lnTo>
              </a:path>
            </a:pathLst>
          </a:custGeom>
          <a:noFill/>
          <a:ln w="19050">
            <a:solidFill>
              <a:schemeClr val="accent3"/>
            </a:solidFill>
            <a:prstDash val="solid"/>
          </a:ln>
        </p:spPr>
      </p:sp>
      <p:sp>
        <p:nvSpPr>
          <p:cNvPr id="262916763" name="Text 34"/>
          <p:cNvSpPr txBox="1"/>
          <p:nvPr/>
        </p:nvSpPr>
        <p:spPr bwMode="auto">
          <a:xfrm>
            <a:off x="6711696" y="539496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chemeClr val="accent3"/>
                </a:solidFill>
              </a:rPr>
              <a:t>ждёт ACK</a:t>
            </a:r>
            <a:endParaRPr lang="en-US" sz="1100"/>
          </a:p>
        </p:txBody>
      </p:sp>
      <p:sp>
        <p:nvSpPr>
          <p:cNvPr id="1711947376" name="Text 35"/>
          <p:cNvSpPr txBox="1"/>
          <p:nvPr/>
        </p:nvSpPr>
        <p:spPr bwMode="auto">
          <a:xfrm>
            <a:off x="8046720" y="1325880"/>
            <a:ext cx="3504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accent4"/>
                </a:solidFill>
              </a:rPr>
              <a:t>Так загружают серверы в дата-центрах (MAAS, Ironic): там своя сеть и свой DHCP-сервер.</a:t>
            </a:r>
            <a:endParaRPr lang="en-US" sz="1300"/>
          </a:p>
        </p:txBody>
      </p:sp>
      <p:sp>
        <p:nvSpPr>
          <p:cNvPr id="924675381" name="Text 36"/>
          <p:cNvSpPr txBox="1"/>
          <p:nvPr/>
        </p:nvSpPr>
        <p:spPr bwMode="auto">
          <a:xfrm>
            <a:off x="8046720" y="2011680"/>
            <a:ext cx="3504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chemeClr val="tx1"/>
                </a:solidFill>
              </a:rPr>
              <a:t>Почему не подошёл</a:t>
            </a:r>
            <a:endParaRPr lang="en-US" sz="1800"/>
          </a:p>
        </p:txBody>
      </p:sp>
      <p:sp>
        <p:nvSpPr>
          <p:cNvPr id="1463791929" name="Shape 37"/>
          <p:cNvSpPr/>
          <p:nvPr/>
        </p:nvSpPr>
        <p:spPr bwMode="auto">
          <a:xfrm>
            <a:off x="8046720" y="2487168"/>
            <a:ext cx="3504895" cy="1097280"/>
          </a:xfrm>
          <a:prstGeom prst="rect">
            <a:avLst/>
          </a:prstGeom>
          <a:solidFill>
            <a:srgbClr val="FDECEC"/>
          </a:solidFill>
          <a:ln/>
        </p:spPr>
      </p:sp>
      <p:sp>
        <p:nvSpPr>
          <p:cNvPr id="699427017" name="Text 38"/>
          <p:cNvSpPr txBox="1"/>
          <p:nvPr/>
        </p:nvSpPr>
        <p:spPr bwMode="auto">
          <a:xfrm>
            <a:off x="8211312" y="2560320"/>
            <a:ext cx="3230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accent3"/>
                </a:solidFill>
              </a:rPr>
              <a:t>Только своя сеть</a:t>
            </a:r>
            <a:endParaRPr lang="en-US" sz="1500"/>
          </a:p>
        </p:txBody>
      </p:sp>
      <p:sp>
        <p:nvSpPr>
          <p:cNvPr id="223832579" name="Text 39"/>
          <p:cNvSpPr txBox="1"/>
          <p:nvPr/>
        </p:nvSpPr>
        <p:spPr bwMode="auto">
          <a:xfrm>
            <a:off x="8211312" y="2843784"/>
            <a:ext cx="323057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tx1"/>
                </a:solidFill>
              </a:rPr>
              <a:t>Роутер не пересылает </a:t>
            </a:r>
            <a:r>
              <a:rPr lang="en-US" sz="1300" b="1">
                <a:solidFill>
                  <a:schemeClr val="tx1"/>
                </a:solidFill>
              </a:rPr>
              <a:t>broadcast</a:t>
            </a:r>
            <a:r>
              <a:rPr lang="en-US" sz="1300">
                <a:solidFill>
                  <a:schemeClr val="tx1"/>
                </a:solidFill>
              </a:rPr>
              <a:t>: DHCP-сервер или relay нужен в сети ноутбука, а чужую сеть не настроить.</a:t>
            </a:r>
            <a:endParaRPr lang="en-US" sz="1300"/>
          </a:p>
        </p:txBody>
      </p:sp>
      <p:sp>
        <p:nvSpPr>
          <p:cNvPr id="821446646" name="Shape 40"/>
          <p:cNvSpPr/>
          <p:nvPr/>
        </p:nvSpPr>
        <p:spPr bwMode="auto">
          <a:xfrm>
            <a:off x="8046720" y="3712464"/>
            <a:ext cx="3504895" cy="1097280"/>
          </a:xfrm>
          <a:prstGeom prst="rect">
            <a:avLst/>
          </a:prstGeom>
          <a:solidFill>
            <a:srgbClr val="FDECEC"/>
          </a:solidFill>
          <a:ln/>
        </p:spPr>
      </p:sp>
      <p:sp>
        <p:nvSpPr>
          <p:cNvPr id="1855126559" name="Text 41"/>
          <p:cNvSpPr txBox="1"/>
          <p:nvPr/>
        </p:nvSpPr>
        <p:spPr bwMode="auto">
          <a:xfrm>
            <a:off x="8211312" y="3785616"/>
            <a:ext cx="3230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accent3"/>
                </a:solidFill>
              </a:rPr>
              <a:t>Нет шифрования и проверки</a:t>
            </a:r>
            <a:endParaRPr lang="en-US" sz="1500"/>
          </a:p>
        </p:txBody>
      </p:sp>
      <p:sp>
        <p:nvSpPr>
          <p:cNvPr id="572891454" name="Text 42"/>
          <p:cNvSpPr txBox="1"/>
          <p:nvPr/>
        </p:nvSpPr>
        <p:spPr bwMode="auto">
          <a:xfrm>
            <a:off x="8211312" y="4069080"/>
            <a:ext cx="323057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tx1"/>
                </a:solidFill>
              </a:rPr>
              <a:t>Любой узел сети может ответить вместо DHCP- или TFTP-сервера, и прошивка запустит чужой .efi.</a:t>
            </a:r>
            <a:endParaRPr lang="en-US" sz="1300"/>
          </a:p>
        </p:txBody>
      </p:sp>
      <p:sp>
        <p:nvSpPr>
          <p:cNvPr id="1134521361" name="Shape 43"/>
          <p:cNvSpPr/>
          <p:nvPr/>
        </p:nvSpPr>
        <p:spPr bwMode="auto">
          <a:xfrm>
            <a:off x="8046720" y="4937760"/>
            <a:ext cx="3504895" cy="1325880"/>
          </a:xfrm>
          <a:prstGeom prst="rect">
            <a:avLst/>
          </a:prstGeom>
          <a:solidFill>
            <a:srgbClr val="FDECEC"/>
          </a:solidFill>
          <a:ln/>
        </p:spPr>
      </p:sp>
      <p:sp>
        <p:nvSpPr>
          <p:cNvPr id="1505821966" name="Text 44"/>
          <p:cNvSpPr txBox="1"/>
          <p:nvPr/>
        </p:nvSpPr>
        <p:spPr bwMode="auto">
          <a:xfrm>
            <a:off x="8211312" y="5010912"/>
            <a:ext cx="3230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accent3"/>
                </a:solidFill>
              </a:rPr>
              <a:t>Медленно, каждый раз ждёт ответа</a:t>
            </a:r>
            <a:endParaRPr lang="en-US" sz="1500"/>
          </a:p>
        </p:txBody>
      </p:sp>
      <p:sp>
        <p:nvSpPr>
          <p:cNvPr id="1359630254" name="Text 45"/>
          <p:cNvSpPr txBox="1"/>
          <p:nvPr/>
        </p:nvSpPr>
        <p:spPr bwMode="auto">
          <a:xfrm>
            <a:off x="8211312" y="5522976"/>
            <a:ext cx="323057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tx1"/>
                </a:solidFill>
              </a:rPr>
              <a:t>Stop-and-wait: сервер </a:t>
            </a:r>
            <a:r>
              <a:rPr lang="en-US" sz="1300" b="1">
                <a:solidFill>
                  <a:schemeClr val="tx1"/>
                </a:solidFill>
              </a:rPr>
              <a:t>ждёт ACK</a:t>
            </a:r>
            <a:r>
              <a:rPr lang="en-US" sz="1300">
                <a:solidFill>
                  <a:schemeClr val="tx1"/>
                </a:solidFill>
              </a:rPr>
              <a:t> на каждый блок. RTT 50 мс: 512 Б / 50 мс ≈ 10 КБ/с, 132 МиБ ≈ 4 ч.</a:t>
            </a:r>
            <a:endParaRPr lang="en-US" sz="1300"/>
          </a:p>
        </p:txBody>
      </p:sp>
      <p:sp>
        <p:nvSpPr>
          <p:cNvPr id="1511284708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0820095" y="6382512"/>
            <a:ext cx="73152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9636E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8991269" name="Text 0"/>
          <p:cNvSpPr/>
          <p:nvPr>
            <p:ph type="title" idx="100" hasCustomPrompt="1"/>
          </p:nvPr>
        </p:nvSpPr>
        <p:spPr bwMode="auto">
          <a:xfrm>
            <a:off x="640080" y="4114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800" b="1">
                <a:solidFill>
                  <a:schemeClr val="tx1"/>
                </a:solidFill>
              </a:rPr>
              <a:t>UEFI HTTP Boot</a:t>
            </a:r>
            <a:endParaRPr lang="en-US" sz="2800"/>
          </a:p>
        </p:txBody>
      </p:sp>
      <p:sp>
        <p:nvSpPr>
          <p:cNvPr id="1653368576" name="Shape 1"/>
          <p:cNvSpPr/>
          <p:nvPr/>
        </p:nvSpPr>
        <p:spPr bwMode="auto">
          <a:xfrm>
            <a:off x="640080" y="1325880"/>
            <a:ext cx="4823460" cy="4937760"/>
          </a:xfrm>
          <a:prstGeom prst="roundRect">
            <a:avLst>
              <a:gd name="adj" fmla="val 1896"/>
            </a:avLst>
          </a:prstGeom>
          <a:noFill/>
          <a:ln w="15875">
            <a:solidFill>
              <a:srgbClr val="9AA1A9"/>
            </a:solidFill>
            <a:prstDash val="dash"/>
          </a:ln>
        </p:spPr>
      </p:sp>
      <p:sp>
        <p:nvSpPr>
          <p:cNvPr id="330249032" name="Shape 2"/>
          <p:cNvSpPr/>
          <p:nvPr/>
        </p:nvSpPr>
        <p:spPr bwMode="auto">
          <a:xfrm>
            <a:off x="800100" y="1508759"/>
            <a:ext cx="1600200" cy="640080"/>
          </a:xfrm>
          <a:prstGeom prst="roundRect">
            <a:avLst>
              <a:gd name="adj" fmla="val 8571"/>
            </a:avLst>
          </a:prstGeom>
          <a:solidFill>
            <a:schemeClr val="tx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903301141" name="Text 3"/>
          <p:cNvSpPr txBox="1"/>
          <p:nvPr/>
        </p:nvSpPr>
        <p:spPr bwMode="auto">
          <a:xfrm>
            <a:off x="800100" y="1508759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chemeClr val="bg1"/>
                </a:solidFill>
              </a:rPr>
              <a:t>Ноутбук</a:t>
            </a:r>
            <a:endParaRPr lang="en-US" sz="1500"/>
          </a:p>
        </p:txBody>
      </p:sp>
      <p:sp>
        <p:nvSpPr>
          <p:cNvPr id="1955954708" name="Shape 4"/>
          <p:cNvSpPr/>
          <p:nvPr/>
        </p:nvSpPr>
        <p:spPr bwMode="auto">
          <a:xfrm>
            <a:off x="1600200" y="2148840"/>
            <a:ext cx="0" cy="3977640"/>
          </a:xfrm>
          <a:prstGeom prst="line">
            <a:avLst/>
          </a:prstGeom>
          <a:noFill/>
          <a:ln w="12700">
            <a:solidFill>
              <a:srgbClr val="9AA1A9"/>
            </a:solidFill>
            <a:prstDash val="dash"/>
          </a:ln>
        </p:spPr>
      </p:sp>
      <p:sp>
        <p:nvSpPr>
          <p:cNvPr id="1068701652" name="Shape 5"/>
          <p:cNvSpPr/>
          <p:nvPr/>
        </p:nvSpPr>
        <p:spPr bwMode="auto">
          <a:xfrm>
            <a:off x="3634740" y="1508759"/>
            <a:ext cx="1600200" cy="64008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538150024" name="Text 6"/>
          <p:cNvSpPr txBox="1"/>
          <p:nvPr/>
        </p:nvSpPr>
        <p:spPr bwMode="auto">
          <a:xfrm>
            <a:off x="3634740" y="156362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chemeClr val="tx1"/>
                </a:solidFill>
              </a:rPr>
              <a:t>DHCP-сервер</a:t>
            </a:r>
            <a:endParaRPr lang="en-US" sz="1500"/>
          </a:p>
        </p:txBody>
      </p:sp>
      <p:sp>
        <p:nvSpPr>
          <p:cNvPr id="213816525" name="Text 7"/>
          <p:cNvSpPr txBox="1"/>
          <p:nvPr/>
        </p:nvSpPr>
        <p:spPr bwMode="auto">
          <a:xfrm>
            <a:off x="3707892" y="1856232"/>
            <a:ext cx="1453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chemeClr val="accent4"/>
                </a:solidFill>
              </a:rPr>
              <a:t>UDP 67</a:t>
            </a:r>
            <a:endParaRPr lang="en-US" sz="1200"/>
          </a:p>
        </p:txBody>
      </p:sp>
      <p:sp>
        <p:nvSpPr>
          <p:cNvPr id="1482791530" name="Shape 8"/>
          <p:cNvSpPr/>
          <p:nvPr/>
        </p:nvSpPr>
        <p:spPr bwMode="auto">
          <a:xfrm>
            <a:off x="4434840" y="2148840"/>
            <a:ext cx="0" cy="3977640"/>
          </a:xfrm>
          <a:prstGeom prst="line">
            <a:avLst/>
          </a:prstGeom>
          <a:noFill/>
          <a:ln w="12700">
            <a:solidFill>
              <a:srgbClr val="9AA1A9"/>
            </a:solidFill>
            <a:prstDash val="dash"/>
          </a:ln>
        </p:spPr>
      </p:sp>
      <p:sp>
        <p:nvSpPr>
          <p:cNvPr id="1134267098" name="Shape 9"/>
          <p:cNvSpPr/>
          <p:nvPr/>
        </p:nvSpPr>
        <p:spPr bwMode="auto">
          <a:xfrm>
            <a:off x="5692140" y="1508759"/>
            <a:ext cx="1600200" cy="64008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71381779" name="Text 10"/>
          <p:cNvSpPr txBox="1"/>
          <p:nvPr/>
        </p:nvSpPr>
        <p:spPr bwMode="auto">
          <a:xfrm>
            <a:off x="5692140" y="156362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chemeClr val="tx1"/>
                </a:solidFill>
              </a:rPr>
              <a:t>HTTP-сервер</a:t>
            </a:r>
            <a:endParaRPr lang="en-US" sz="1500"/>
          </a:p>
        </p:txBody>
      </p:sp>
      <p:sp>
        <p:nvSpPr>
          <p:cNvPr id="75743851" name="Text 11"/>
          <p:cNvSpPr txBox="1"/>
          <p:nvPr/>
        </p:nvSpPr>
        <p:spPr bwMode="auto">
          <a:xfrm>
            <a:off x="5765292" y="1856232"/>
            <a:ext cx="1453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chemeClr val="accent4"/>
                </a:solidFill>
              </a:rPr>
              <a:t>TCP 80</a:t>
            </a:r>
            <a:endParaRPr lang="en-US" sz="1200"/>
          </a:p>
        </p:txBody>
      </p:sp>
      <p:sp>
        <p:nvSpPr>
          <p:cNvPr id="241878040" name="Shape 12"/>
          <p:cNvSpPr/>
          <p:nvPr/>
        </p:nvSpPr>
        <p:spPr bwMode="auto">
          <a:xfrm>
            <a:off x="6492240" y="2148840"/>
            <a:ext cx="0" cy="3977640"/>
          </a:xfrm>
          <a:prstGeom prst="line">
            <a:avLst/>
          </a:prstGeom>
          <a:noFill/>
          <a:ln w="12700">
            <a:solidFill>
              <a:srgbClr val="9AA1A9"/>
            </a:solidFill>
            <a:prstDash val="dash"/>
          </a:ln>
        </p:spPr>
      </p:sp>
      <p:sp>
        <p:nvSpPr>
          <p:cNvPr id="1993241853" name="Shape 13"/>
          <p:cNvSpPr/>
          <p:nvPr/>
        </p:nvSpPr>
        <p:spPr bwMode="auto">
          <a:xfrm>
            <a:off x="1636776" y="2788920"/>
            <a:ext cx="27614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103512657" name="Text 14"/>
          <p:cNvSpPr txBox="1"/>
          <p:nvPr/>
        </p:nvSpPr>
        <p:spPr bwMode="auto">
          <a:xfrm>
            <a:off x="2331720" y="2532888"/>
            <a:ext cx="1371600" cy="219456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DHCPDISCOVER</a:t>
            </a:r>
            <a:endParaRPr lang="en-US" sz="1300"/>
          </a:p>
        </p:txBody>
      </p:sp>
      <p:sp>
        <p:nvSpPr>
          <p:cNvPr id="1718984963" name="Text 15"/>
          <p:cNvSpPr txBox="1"/>
          <p:nvPr/>
        </p:nvSpPr>
        <p:spPr bwMode="auto">
          <a:xfrm>
            <a:off x="1778444" y="2825496"/>
            <a:ext cx="2478151" cy="18288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chemeClr val="accent4"/>
                </a:solidFill>
              </a:rPr>
              <a:t>broadcast, опция 60: HTTPClient</a:t>
            </a:r>
            <a:endParaRPr lang="en-US" sz="1100"/>
          </a:p>
        </p:txBody>
      </p:sp>
      <p:sp>
        <p:nvSpPr>
          <p:cNvPr id="1182269350" name="Shape 16"/>
          <p:cNvSpPr/>
          <p:nvPr/>
        </p:nvSpPr>
        <p:spPr bwMode="auto">
          <a:xfrm flipH="1">
            <a:off x="1636776" y="3383280"/>
            <a:ext cx="27614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763774664" name="Text 17"/>
          <p:cNvSpPr txBox="1"/>
          <p:nvPr/>
        </p:nvSpPr>
        <p:spPr bwMode="auto">
          <a:xfrm>
            <a:off x="2480310" y="3127248"/>
            <a:ext cx="1074420" cy="219456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DHCPOFFER</a:t>
            </a:r>
            <a:endParaRPr lang="en-US" sz="1300"/>
          </a:p>
        </p:txBody>
      </p:sp>
      <p:sp>
        <p:nvSpPr>
          <p:cNvPr id="662019494" name="Text 18"/>
          <p:cNvSpPr txBox="1"/>
          <p:nvPr/>
        </p:nvSpPr>
        <p:spPr bwMode="auto">
          <a:xfrm>
            <a:off x="1655063" y="3419856"/>
            <a:ext cx="2724911" cy="36576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chemeClr val="accent4"/>
                </a:solidFill>
              </a:rPr>
              <a:t>IP 192.168.1.50</a:t>
            </a:r>
            <a:endParaRPr lang="en-US" sz="1100"/>
          </a:p>
          <a:p>
            <a:pPr marL="0" indent="0" algn="ctr">
              <a:buNone/>
              <a:defRPr/>
            </a:pPr>
            <a:r>
              <a:rPr lang="en-US" sz="1100">
                <a:solidFill>
                  <a:schemeClr val="accent4"/>
                </a:solidFill>
              </a:rPr>
              <a:t>опция 67: http://203.0.113.10/boot.efi</a:t>
            </a:r>
            <a:endParaRPr lang="en-US" sz="1100"/>
          </a:p>
        </p:txBody>
      </p:sp>
      <p:sp>
        <p:nvSpPr>
          <p:cNvPr id="1244929112" name="Shape 19"/>
          <p:cNvSpPr/>
          <p:nvPr/>
        </p:nvSpPr>
        <p:spPr bwMode="auto">
          <a:xfrm>
            <a:off x="1636776" y="4114800"/>
            <a:ext cx="2761488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  <a:headEnd type="triangle"/>
            <a:tailEnd type="triangle"/>
          </a:ln>
        </p:spPr>
      </p:sp>
      <p:sp>
        <p:nvSpPr>
          <p:cNvPr id="271044697" name="Text 20"/>
          <p:cNvSpPr txBox="1"/>
          <p:nvPr/>
        </p:nvSpPr>
        <p:spPr bwMode="auto">
          <a:xfrm>
            <a:off x="2005965" y="3858768"/>
            <a:ext cx="2023110" cy="219456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  <a:defRPr/>
            </a:pPr>
            <a:r>
              <a:rPr lang="en-US" sz="115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DHCPREQUEST / DHCPACK</a:t>
            </a:r>
            <a:endParaRPr lang="en-US" sz="1150"/>
          </a:p>
        </p:txBody>
      </p:sp>
      <p:sp>
        <p:nvSpPr>
          <p:cNvPr id="5965331" name="Shape 21"/>
          <p:cNvSpPr/>
          <p:nvPr/>
        </p:nvSpPr>
        <p:spPr bwMode="auto">
          <a:xfrm>
            <a:off x="777240" y="4279392"/>
            <a:ext cx="662940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101093931" name="Shape 22"/>
          <p:cNvSpPr/>
          <p:nvPr/>
        </p:nvSpPr>
        <p:spPr bwMode="auto">
          <a:xfrm>
            <a:off x="1636776" y="4828032"/>
            <a:ext cx="4818888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  <a:headEnd type="triangle"/>
            <a:tailEnd type="triangle"/>
          </a:ln>
        </p:spPr>
      </p:sp>
      <p:sp>
        <p:nvSpPr>
          <p:cNvPr id="1400462687" name="Text 23"/>
          <p:cNvSpPr txBox="1"/>
          <p:nvPr/>
        </p:nvSpPr>
        <p:spPr bwMode="auto">
          <a:xfrm>
            <a:off x="2903220" y="4572000"/>
            <a:ext cx="2286000" cy="219456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  <a:defRPr/>
            </a:pPr>
            <a:r>
              <a:rPr lang="en-US" sz="115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TCP: SYN / SYN-ACK / ACK</a:t>
            </a:r>
            <a:endParaRPr lang="en-US" sz="1150"/>
          </a:p>
        </p:txBody>
      </p:sp>
      <p:sp>
        <p:nvSpPr>
          <p:cNvPr id="1519626954" name="Shape 24"/>
          <p:cNvSpPr/>
          <p:nvPr/>
        </p:nvSpPr>
        <p:spPr bwMode="auto">
          <a:xfrm>
            <a:off x="1636776" y="5394960"/>
            <a:ext cx="48188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861360297" name="Text 25"/>
          <p:cNvSpPr txBox="1"/>
          <p:nvPr/>
        </p:nvSpPr>
        <p:spPr bwMode="auto">
          <a:xfrm>
            <a:off x="3310890" y="5138928"/>
            <a:ext cx="1470660" cy="219456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GET /boot.efi</a:t>
            </a:r>
            <a:endParaRPr lang="en-US" sz="1300"/>
          </a:p>
        </p:txBody>
      </p:sp>
      <p:sp>
        <p:nvSpPr>
          <p:cNvPr id="1939660294" name="Text 26"/>
          <p:cNvSpPr txBox="1"/>
          <p:nvPr/>
        </p:nvSpPr>
        <p:spPr bwMode="auto">
          <a:xfrm>
            <a:off x="3695637" y="5431536"/>
            <a:ext cx="701167" cy="18288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chemeClr val="accent4"/>
                </a:solidFill>
              </a:rPr>
              <a:t>без TLS</a:t>
            </a:r>
            <a:endParaRPr lang="en-US" sz="1100"/>
          </a:p>
        </p:txBody>
      </p:sp>
      <p:sp>
        <p:nvSpPr>
          <p:cNvPr id="95609046" name="Shape 27"/>
          <p:cNvSpPr/>
          <p:nvPr/>
        </p:nvSpPr>
        <p:spPr bwMode="auto">
          <a:xfrm flipH="1">
            <a:off x="1636776" y="5980176"/>
            <a:ext cx="48188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641675405" name="Text 28"/>
          <p:cNvSpPr txBox="1"/>
          <p:nvPr/>
        </p:nvSpPr>
        <p:spPr bwMode="auto">
          <a:xfrm>
            <a:off x="3112770" y="5724144"/>
            <a:ext cx="1866900" cy="219456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200 OK + boot.efi</a:t>
            </a:r>
            <a:endParaRPr lang="en-US" sz="1300"/>
          </a:p>
        </p:txBody>
      </p:sp>
      <p:sp>
        <p:nvSpPr>
          <p:cNvPr id="796385150" name="Text 29"/>
          <p:cNvSpPr txBox="1"/>
          <p:nvPr/>
        </p:nvSpPr>
        <p:spPr bwMode="auto">
          <a:xfrm>
            <a:off x="8046720" y="1325880"/>
            <a:ext cx="3504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chemeClr val="tx1"/>
                </a:solidFill>
              </a:rPr>
              <a:t>Лучше, чем PXE</a:t>
            </a:r>
            <a:endParaRPr lang="en-US" sz="1800"/>
          </a:p>
        </p:txBody>
      </p:sp>
      <p:sp>
        <p:nvSpPr>
          <p:cNvPr id="668383537" name="Shape 30"/>
          <p:cNvSpPr/>
          <p:nvPr/>
        </p:nvSpPr>
        <p:spPr bwMode="auto">
          <a:xfrm>
            <a:off x="8046720" y="1801367"/>
            <a:ext cx="3504895" cy="713232"/>
          </a:xfrm>
          <a:prstGeom prst="rect">
            <a:avLst/>
          </a:prstGeom>
          <a:solidFill>
            <a:srgbClr val="E9F5EC"/>
          </a:solidFill>
          <a:ln/>
        </p:spPr>
      </p:sp>
      <p:sp>
        <p:nvSpPr>
          <p:cNvPr id="434360959" name="Text 31"/>
          <p:cNvSpPr txBox="1"/>
          <p:nvPr/>
        </p:nvSpPr>
        <p:spPr bwMode="auto">
          <a:xfrm>
            <a:off x="8211312" y="1874520"/>
            <a:ext cx="3230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accent2"/>
                </a:solidFill>
              </a:rPr>
              <a:t>TCP</a:t>
            </a:r>
            <a:endParaRPr lang="en-US" sz="1500"/>
          </a:p>
        </p:txBody>
      </p:sp>
      <p:sp>
        <p:nvSpPr>
          <p:cNvPr id="282812610" name="Text 32"/>
          <p:cNvSpPr txBox="1"/>
          <p:nvPr/>
        </p:nvSpPr>
        <p:spPr bwMode="auto">
          <a:xfrm>
            <a:off x="8211312" y="2157984"/>
            <a:ext cx="3230575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tx1"/>
                </a:solidFill>
              </a:rPr>
              <a:t>Работает через роутеры и интернет.</a:t>
            </a:r>
            <a:endParaRPr lang="en-US" sz="1300"/>
          </a:p>
        </p:txBody>
      </p:sp>
      <p:sp>
        <p:nvSpPr>
          <p:cNvPr id="896984302" name="Shape 33"/>
          <p:cNvSpPr/>
          <p:nvPr/>
        </p:nvSpPr>
        <p:spPr bwMode="auto">
          <a:xfrm>
            <a:off x="8046720" y="2642616"/>
            <a:ext cx="3504895" cy="713232"/>
          </a:xfrm>
          <a:prstGeom prst="rect">
            <a:avLst/>
          </a:prstGeom>
          <a:solidFill>
            <a:srgbClr val="E9F5EC"/>
          </a:solidFill>
          <a:ln/>
        </p:spPr>
      </p:sp>
      <p:sp>
        <p:nvSpPr>
          <p:cNvPr id="733651158" name="Text 34"/>
          <p:cNvSpPr txBox="1"/>
          <p:nvPr/>
        </p:nvSpPr>
        <p:spPr bwMode="auto">
          <a:xfrm>
            <a:off x="8211312" y="2715768"/>
            <a:ext cx="3230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accent2"/>
                </a:solidFill>
              </a:rPr>
              <a:t>Поток без ACK на каждый блок</a:t>
            </a:r>
            <a:endParaRPr lang="en-US" sz="1500"/>
          </a:p>
        </p:txBody>
      </p:sp>
      <p:sp>
        <p:nvSpPr>
          <p:cNvPr id="528940025" name="Text 35"/>
          <p:cNvSpPr txBox="1"/>
          <p:nvPr/>
        </p:nvSpPr>
        <p:spPr bwMode="auto">
          <a:xfrm>
            <a:off x="8211312" y="2999232"/>
            <a:ext cx="3230575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tx1"/>
                </a:solidFill>
              </a:rPr>
              <a:t>Скорость упирается в канал</a:t>
            </a:r>
            <a:endParaRPr lang="en-US" sz="1300"/>
          </a:p>
        </p:txBody>
      </p:sp>
      <p:sp>
        <p:nvSpPr>
          <p:cNvPr id="1318421886" name="Text 36"/>
          <p:cNvSpPr txBox="1"/>
          <p:nvPr/>
        </p:nvSpPr>
        <p:spPr bwMode="auto">
          <a:xfrm>
            <a:off x="8046720" y="3575303"/>
            <a:ext cx="3504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chemeClr val="tx1"/>
                </a:solidFill>
              </a:rPr>
              <a:t>Почему не подошёл</a:t>
            </a:r>
            <a:endParaRPr lang="en-US" sz="1800"/>
          </a:p>
        </p:txBody>
      </p:sp>
      <p:sp>
        <p:nvSpPr>
          <p:cNvPr id="1164643131" name="Shape 37"/>
          <p:cNvSpPr/>
          <p:nvPr/>
        </p:nvSpPr>
        <p:spPr bwMode="auto">
          <a:xfrm>
            <a:off x="8046720" y="4050792"/>
            <a:ext cx="3504895" cy="914400"/>
          </a:xfrm>
          <a:prstGeom prst="rect">
            <a:avLst/>
          </a:prstGeom>
          <a:solidFill>
            <a:srgbClr val="FDECEC"/>
          </a:solidFill>
          <a:ln/>
        </p:spPr>
      </p:sp>
      <p:sp>
        <p:nvSpPr>
          <p:cNvPr id="190525811" name="Text 38"/>
          <p:cNvSpPr txBox="1"/>
          <p:nvPr/>
        </p:nvSpPr>
        <p:spPr bwMode="auto">
          <a:xfrm>
            <a:off x="8211312" y="4123944"/>
            <a:ext cx="3230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accent3"/>
                </a:solidFill>
              </a:rPr>
              <a:t>Без шифрования</a:t>
            </a:r>
            <a:endParaRPr lang="en-US" sz="1500"/>
          </a:p>
        </p:txBody>
      </p:sp>
      <p:sp>
        <p:nvSpPr>
          <p:cNvPr id="1158248497" name="Text 39"/>
          <p:cNvSpPr txBox="1"/>
          <p:nvPr/>
        </p:nvSpPr>
        <p:spPr bwMode="auto">
          <a:xfrm>
            <a:off x="8211312" y="4407408"/>
            <a:ext cx="323057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tx1"/>
                </a:solidFill>
              </a:rPr>
              <a:t>Роутер в чужой сети или провайдер может подменить файл.</a:t>
            </a:r>
            <a:endParaRPr lang="en-US" sz="1300"/>
          </a:p>
        </p:txBody>
      </p:sp>
      <p:sp>
        <p:nvSpPr>
          <p:cNvPr id="1709840690" name="Shape 40"/>
          <p:cNvSpPr/>
          <p:nvPr/>
        </p:nvSpPr>
        <p:spPr bwMode="auto">
          <a:xfrm>
            <a:off x="8046720" y="5093208"/>
            <a:ext cx="3504895" cy="960120"/>
          </a:xfrm>
          <a:prstGeom prst="rect">
            <a:avLst/>
          </a:prstGeom>
          <a:solidFill>
            <a:srgbClr val="FDECEC"/>
          </a:solidFill>
          <a:ln/>
        </p:spPr>
      </p:sp>
      <p:sp>
        <p:nvSpPr>
          <p:cNvPr id="1812038040" name="Text 41"/>
          <p:cNvSpPr txBox="1"/>
          <p:nvPr/>
        </p:nvSpPr>
        <p:spPr bwMode="auto">
          <a:xfrm>
            <a:off x="8211312" y="5166360"/>
            <a:ext cx="3230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accent3"/>
                </a:solidFill>
              </a:rPr>
              <a:t>Адрес файла прошивка ноутбука берёт только из DHCP</a:t>
            </a:r>
            <a:endParaRPr lang="en-US" sz="1500"/>
          </a:p>
        </p:txBody>
      </p:sp>
      <p:sp>
        <p:nvSpPr>
          <p:cNvPr id="1837255261" name="Text 42"/>
          <p:cNvSpPr txBox="1"/>
          <p:nvPr/>
        </p:nvSpPr>
        <p:spPr bwMode="auto">
          <a:xfrm>
            <a:off x="8211312" y="5678424"/>
            <a:ext cx="323057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tx1"/>
                </a:solidFill>
              </a:rPr>
              <a:t>Нужен свой DHCP в сети ноутбука.</a:t>
            </a:r>
            <a:endParaRPr lang="en-US" sz="1300"/>
          </a:p>
        </p:txBody>
      </p:sp>
      <p:sp>
        <p:nvSpPr>
          <p:cNvPr id="1952428445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0820095" y="6382512"/>
            <a:ext cx="73152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9636E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8383533" name="Text 0"/>
          <p:cNvSpPr/>
          <p:nvPr>
            <p:ph type="title" idx="100" hasCustomPrompt="1"/>
          </p:nvPr>
        </p:nvSpPr>
        <p:spPr bwMode="auto">
          <a:xfrm>
            <a:off x="640080" y="4114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800" b="1">
                <a:solidFill>
                  <a:schemeClr val="tx1"/>
                </a:solidFill>
              </a:rPr>
              <a:t>UEFI HTTPS Boot</a:t>
            </a:r>
            <a:endParaRPr lang="en-US" sz="2800"/>
          </a:p>
        </p:txBody>
      </p:sp>
      <p:sp>
        <p:nvSpPr>
          <p:cNvPr id="362485929" name="Text 1"/>
          <p:cNvSpPr txBox="1"/>
          <p:nvPr/>
        </p:nvSpPr>
        <p:spPr bwMode="auto">
          <a:xfrm>
            <a:off x="640080" y="137160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tx1"/>
                </a:solidFill>
              </a:rPr>
              <a:t>В проекте</a:t>
            </a:r>
            <a:endParaRPr lang="en-US" sz="1500"/>
          </a:p>
        </p:txBody>
      </p:sp>
      <p:sp>
        <p:nvSpPr>
          <p:cNvPr id="511526776" name="Text 2"/>
          <p:cNvSpPr txBox="1"/>
          <p:nvPr/>
        </p:nvSpPr>
        <p:spPr bwMode="auto">
          <a:xfrm>
            <a:off x="640080" y="278892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tx1"/>
                </a:solidFill>
              </a:rPr>
              <a:t>С HTTPS Boot</a:t>
            </a:r>
            <a:endParaRPr lang="en-US" sz="1500"/>
          </a:p>
        </p:txBody>
      </p:sp>
      <p:sp>
        <p:nvSpPr>
          <p:cNvPr id="354632942" name="Shape 3"/>
          <p:cNvSpPr/>
          <p:nvPr/>
        </p:nvSpPr>
        <p:spPr bwMode="auto">
          <a:xfrm>
            <a:off x="2468880" y="1371600"/>
            <a:ext cx="1597609" cy="566928"/>
          </a:xfrm>
          <a:custGeom>
            <a:avLst/>
            <a:gdLst/>
            <a:ahLst/>
            <a:cxnLst/>
            <a:rect l="l" t="t" r="r" b="b"/>
            <a:pathLst>
              <a:path w="1597609" h="566928" fill="norm" stroke="1" extrusionOk="0">
                <a:moveTo>
                  <a:pt x="0" y="0"/>
                </a:moveTo>
                <a:lnTo>
                  <a:pt x="1451305" y="0"/>
                </a:lnTo>
                <a:lnTo>
                  <a:pt x="1597609" y="283464"/>
                </a:lnTo>
                <a:lnTo>
                  <a:pt x="1451305" y="566928"/>
                </a:lnTo>
                <a:lnTo>
                  <a:pt x="0" y="566928"/>
                </a:lnTo>
                <a:close/>
              </a:path>
            </a:pathLst>
          </a:custGeom>
          <a:solidFill>
            <a:schemeClr val="accent1"/>
          </a:solidFill>
          <a:ln/>
        </p:spPr>
      </p:sp>
      <p:sp>
        <p:nvSpPr>
          <p:cNvPr id="2020187338" name="Text 4"/>
          <p:cNvSpPr txBox="1"/>
          <p:nvPr/>
        </p:nvSpPr>
        <p:spPr bwMode="auto">
          <a:xfrm>
            <a:off x="2615184" y="1371600"/>
            <a:ext cx="130500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chemeClr val="bg1"/>
                </a:solidFill>
              </a:rPr>
              <a:t>прошивка</a:t>
            </a:r>
            <a:endParaRPr lang="en-US" sz="1300"/>
          </a:p>
        </p:txBody>
      </p:sp>
      <p:sp>
        <p:nvSpPr>
          <p:cNvPr id="823734481" name="Text 5"/>
          <p:cNvSpPr txBox="1"/>
          <p:nvPr/>
        </p:nvSpPr>
        <p:spPr bwMode="auto">
          <a:xfrm>
            <a:off x="2542032" y="2029968"/>
            <a:ext cx="14147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150">
                <a:solidFill>
                  <a:schemeClr val="accent4"/>
                </a:solidFill>
              </a:rPr>
              <a:t>BootOrder</a:t>
            </a:r>
            <a:endParaRPr lang="en-US" sz="1150"/>
          </a:p>
        </p:txBody>
      </p:sp>
      <p:sp>
        <p:nvSpPr>
          <p:cNvPr id="1129491266" name="Shape 6"/>
          <p:cNvSpPr/>
          <p:nvPr/>
        </p:nvSpPr>
        <p:spPr bwMode="auto">
          <a:xfrm>
            <a:off x="3965905" y="1371600"/>
            <a:ext cx="1597609" cy="566928"/>
          </a:xfrm>
          <a:custGeom>
            <a:avLst/>
            <a:gdLst/>
            <a:ahLst/>
            <a:cxnLst/>
            <a:rect l="l" t="t" r="r" b="b"/>
            <a:pathLst>
              <a:path w="1597609" h="566928" fill="norm" stroke="1" extrusionOk="0">
                <a:moveTo>
                  <a:pt x="0" y="0"/>
                </a:moveTo>
                <a:lnTo>
                  <a:pt x="1451305" y="0"/>
                </a:lnTo>
                <a:lnTo>
                  <a:pt x="1597609" y="283464"/>
                </a:lnTo>
                <a:lnTo>
                  <a:pt x="1451305" y="566928"/>
                </a:lnTo>
                <a:lnTo>
                  <a:pt x="0" y="566928"/>
                </a:lnTo>
                <a:lnTo>
                  <a:pt x="146304" y="283464"/>
                </a:lnTo>
                <a:close/>
              </a:path>
            </a:pathLst>
          </a:custGeom>
          <a:solidFill>
            <a:srgbClr val="E9ECEF"/>
          </a:solidFill>
          <a:ln/>
        </p:spPr>
      </p:sp>
      <p:sp>
        <p:nvSpPr>
          <p:cNvPr id="302454921" name="Text 7"/>
          <p:cNvSpPr txBox="1"/>
          <p:nvPr/>
        </p:nvSpPr>
        <p:spPr bwMode="auto">
          <a:xfrm>
            <a:off x="4112209" y="1371600"/>
            <a:ext cx="130500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chemeClr val="accent4"/>
                </a:solidFill>
              </a:rPr>
              <a:t>systemd-boot</a:t>
            </a:r>
            <a:endParaRPr lang="en-US" sz="1300"/>
          </a:p>
        </p:txBody>
      </p:sp>
      <p:sp>
        <p:nvSpPr>
          <p:cNvPr id="1779146596" name="Text 8"/>
          <p:cNvSpPr txBox="1"/>
          <p:nvPr/>
        </p:nvSpPr>
        <p:spPr bwMode="auto">
          <a:xfrm>
            <a:off x="4039057" y="2029968"/>
            <a:ext cx="14147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150">
                <a:solidFill>
                  <a:schemeClr val="accent4"/>
                </a:solidFill>
              </a:rPr>
              <a:t>переключатель: Arch или iPXE</a:t>
            </a:r>
            <a:endParaRPr lang="en-US" sz="1150"/>
          </a:p>
        </p:txBody>
      </p:sp>
      <p:sp>
        <p:nvSpPr>
          <p:cNvPr id="990089930" name="Shape 9"/>
          <p:cNvSpPr/>
          <p:nvPr/>
        </p:nvSpPr>
        <p:spPr bwMode="auto">
          <a:xfrm>
            <a:off x="5462930" y="1371600"/>
            <a:ext cx="1597609" cy="566928"/>
          </a:xfrm>
          <a:custGeom>
            <a:avLst/>
            <a:gdLst/>
            <a:ahLst/>
            <a:cxnLst/>
            <a:rect l="l" t="t" r="r" b="b"/>
            <a:pathLst>
              <a:path w="1597609" h="566928" fill="norm" stroke="1" extrusionOk="0">
                <a:moveTo>
                  <a:pt x="0" y="0"/>
                </a:moveTo>
                <a:lnTo>
                  <a:pt x="1451305" y="0"/>
                </a:lnTo>
                <a:lnTo>
                  <a:pt x="1597609" y="283464"/>
                </a:lnTo>
                <a:lnTo>
                  <a:pt x="1451305" y="566928"/>
                </a:lnTo>
                <a:lnTo>
                  <a:pt x="0" y="566928"/>
                </a:lnTo>
                <a:lnTo>
                  <a:pt x="146304" y="283464"/>
                </a:lnTo>
                <a:close/>
              </a:path>
            </a:pathLst>
          </a:custGeom>
          <a:solidFill>
            <a:srgbClr val="E9ECEF"/>
          </a:solidFill>
          <a:ln/>
        </p:spPr>
      </p:sp>
      <p:sp>
        <p:nvSpPr>
          <p:cNvPr id="1809975965" name="Text 10"/>
          <p:cNvSpPr txBox="1"/>
          <p:nvPr/>
        </p:nvSpPr>
        <p:spPr bwMode="auto">
          <a:xfrm>
            <a:off x="5609234" y="1371600"/>
            <a:ext cx="130500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chemeClr val="accent4"/>
                </a:solidFill>
              </a:rPr>
              <a:t>iPXE.efi</a:t>
            </a:r>
            <a:endParaRPr lang="en-US" sz="1300"/>
          </a:p>
        </p:txBody>
      </p:sp>
      <p:sp>
        <p:nvSpPr>
          <p:cNvPr id="1768886580" name="Text 11"/>
          <p:cNvSpPr txBox="1"/>
          <p:nvPr/>
        </p:nvSpPr>
        <p:spPr bwMode="auto">
          <a:xfrm>
            <a:off x="5536082" y="2029968"/>
            <a:ext cx="14147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150">
                <a:solidFill>
                  <a:schemeClr val="accent4"/>
                </a:solidFill>
              </a:rPr>
              <a:t>DHCP, DNS, HTTPS</a:t>
            </a:r>
            <a:endParaRPr lang="en-US" sz="1150"/>
          </a:p>
        </p:txBody>
      </p:sp>
      <p:sp>
        <p:nvSpPr>
          <p:cNvPr id="1930392241" name="Shape 12"/>
          <p:cNvSpPr/>
          <p:nvPr/>
        </p:nvSpPr>
        <p:spPr bwMode="auto">
          <a:xfrm>
            <a:off x="6959956" y="1371600"/>
            <a:ext cx="1597609" cy="566928"/>
          </a:xfrm>
          <a:custGeom>
            <a:avLst/>
            <a:gdLst/>
            <a:ahLst/>
            <a:cxnLst/>
            <a:rect l="l" t="t" r="r" b="b"/>
            <a:pathLst>
              <a:path w="1597609" h="566928" fill="norm" stroke="1" extrusionOk="0">
                <a:moveTo>
                  <a:pt x="0" y="0"/>
                </a:moveTo>
                <a:lnTo>
                  <a:pt x="1451305" y="0"/>
                </a:lnTo>
                <a:lnTo>
                  <a:pt x="1597609" y="283464"/>
                </a:lnTo>
                <a:lnTo>
                  <a:pt x="1451305" y="566928"/>
                </a:lnTo>
                <a:lnTo>
                  <a:pt x="0" y="566928"/>
                </a:lnTo>
                <a:lnTo>
                  <a:pt x="146304" y="283464"/>
                </a:lnTo>
                <a:close/>
              </a:path>
            </a:pathLst>
          </a:custGeom>
          <a:solidFill>
            <a:srgbClr val="E9ECEF"/>
          </a:solidFill>
          <a:ln/>
        </p:spPr>
      </p:sp>
      <p:sp>
        <p:nvSpPr>
          <p:cNvPr id="1185457278" name="Text 13"/>
          <p:cNvSpPr txBox="1"/>
          <p:nvPr/>
        </p:nvSpPr>
        <p:spPr bwMode="auto">
          <a:xfrm>
            <a:off x="7106260" y="1371600"/>
            <a:ext cx="130500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chemeClr val="accent4"/>
                </a:solidFill>
              </a:rPr>
              <a:t>boot.ipxe</a:t>
            </a:r>
            <a:endParaRPr lang="en-US" sz="1300"/>
          </a:p>
        </p:txBody>
      </p:sp>
      <p:sp>
        <p:nvSpPr>
          <p:cNvPr id="5160526" name="Text 14"/>
          <p:cNvSpPr txBox="1"/>
          <p:nvPr/>
        </p:nvSpPr>
        <p:spPr bwMode="auto">
          <a:xfrm>
            <a:off x="7033108" y="2029968"/>
            <a:ext cx="14147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150">
                <a:solidFill>
                  <a:schemeClr val="accent4"/>
                </a:solidFill>
              </a:rPr>
              <a:t>скрипт что загрузить</a:t>
            </a:r>
            <a:endParaRPr lang="en-US" sz="1150"/>
          </a:p>
        </p:txBody>
      </p:sp>
      <p:sp>
        <p:nvSpPr>
          <p:cNvPr id="1497166605" name="Shape 15"/>
          <p:cNvSpPr/>
          <p:nvPr/>
        </p:nvSpPr>
        <p:spPr bwMode="auto">
          <a:xfrm>
            <a:off x="8456981" y="1371600"/>
            <a:ext cx="1597609" cy="566928"/>
          </a:xfrm>
          <a:custGeom>
            <a:avLst/>
            <a:gdLst/>
            <a:ahLst/>
            <a:cxnLst/>
            <a:rect l="l" t="t" r="r" b="b"/>
            <a:pathLst>
              <a:path w="1597609" h="566928" fill="norm" stroke="1" extrusionOk="0">
                <a:moveTo>
                  <a:pt x="0" y="0"/>
                </a:moveTo>
                <a:lnTo>
                  <a:pt x="1451305" y="0"/>
                </a:lnTo>
                <a:lnTo>
                  <a:pt x="1597609" y="283464"/>
                </a:lnTo>
                <a:lnTo>
                  <a:pt x="1451305" y="566928"/>
                </a:lnTo>
                <a:lnTo>
                  <a:pt x="0" y="566928"/>
                </a:lnTo>
                <a:lnTo>
                  <a:pt x="146304" y="283464"/>
                </a:lnTo>
                <a:close/>
              </a:path>
            </a:pathLst>
          </a:custGeom>
          <a:solidFill>
            <a:schemeClr val="accent1"/>
          </a:solidFill>
          <a:ln/>
        </p:spPr>
      </p:sp>
      <p:sp>
        <p:nvSpPr>
          <p:cNvPr id="489282878" name="Text 16"/>
          <p:cNvSpPr txBox="1"/>
          <p:nvPr/>
        </p:nvSpPr>
        <p:spPr bwMode="auto">
          <a:xfrm>
            <a:off x="8603285" y="1371600"/>
            <a:ext cx="130500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chemeClr val="bg1"/>
                </a:solidFill>
              </a:rPr>
              <a:t>UKI</a:t>
            </a:r>
            <a:endParaRPr lang="en-US" sz="1300"/>
          </a:p>
        </p:txBody>
      </p:sp>
      <p:sp>
        <p:nvSpPr>
          <p:cNvPr id="2130084277" name="Text 17"/>
          <p:cNvSpPr txBox="1"/>
          <p:nvPr/>
        </p:nvSpPr>
        <p:spPr bwMode="auto">
          <a:xfrm>
            <a:off x="8530133" y="2029968"/>
            <a:ext cx="14147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150">
                <a:solidFill>
                  <a:schemeClr val="accent4"/>
                </a:solidFill>
              </a:rPr>
              <a:t>ядро и initrd</a:t>
            </a:r>
            <a:endParaRPr lang="en-US" sz="1150"/>
          </a:p>
        </p:txBody>
      </p:sp>
      <p:sp>
        <p:nvSpPr>
          <p:cNvPr id="1270383985" name="Shape 18"/>
          <p:cNvSpPr/>
          <p:nvPr/>
        </p:nvSpPr>
        <p:spPr bwMode="auto">
          <a:xfrm>
            <a:off x="9954006" y="1371600"/>
            <a:ext cx="1597609" cy="566928"/>
          </a:xfrm>
          <a:custGeom>
            <a:avLst/>
            <a:gdLst/>
            <a:ahLst/>
            <a:cxnLst/>
            <a:rect l="l" t="t" r="r" b="b"/>
            <a:pathLst>
              <a:path w="1597609" h="566928" fill="norm" stroke="1" extrusionOk="0">
                <a:moveTo>
                  <a:pt x="0" y="0"/>
                </a:moveTo>
                <a:lnTo>
                  <a:pt x="1451305" y="0"/>
                </a:lnTo>
                <a:lnTo>
                  <a:pt x="1597609" y="283464"/>
                </a:lnTo>
                <a:lnTo>
                  <a:pt x="1451305" y="566928"/>
                </a:lnTo>
                <a:lnTo>
                  <a:pt x="0" y="566928"/>
                </a:lnTo>
                <a:lnTo>
                  <a:pt x="146304" y="283464"/>
                </a:lnTo>
                <a:close/>
              </a:path>
            </a:pathLst>
          </a:custGeom>
          <a:solidFill>
            <a:schemeClr val="accent1"/>
          </a:solidFill>
          <a:ln/>
        </p:spPr>
      </p:sp>
      <p:sp>
        <p:nvSpPr>
          <p:cNvPr id="851450432" name="Text 19"/>
          <p:cNvSpPr txBox="1"/>
          <p:nvPr/>
        </p:nvSpPr>
        <p:spPr bwMode="auto">
          <a:xfrm>
            <a:off x="10100310" y="1371600"/>
            <a:ext cx="130500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chemeClr val="bg1"/>
                </a:solidFill>
              </a:rPr>
              <a:t>образы</a:t>
            </a:r>
            <a:endParaRPr lang="en-US" sz="1300"/>
          </a:p>
        </p:txBody>
      </p:sp>
      <p:sp>
        <p:nvSpPr>
          <p:cNvPr id="1068998796" name="Text 20"/>
          <p:cNvSpPr txBox="1"/>
          <p:nvPr/>
        </p:nvSpPr>
        <p:spPr bwMode="auto">
          <a:xfrm>
            <a:off x="10027158" y="2029968"/>
            <a:ext cx="14147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150">
                <a:solidFill>
                  <a:schemeClr val="accent4"/>
                </a:solidFill>
              </a:rPr>
              <a:t>SHA-256, запись через dd</a:t>
            </a:r>
            <a:endParaRPr lang="en-US" sz="1150"/>
          </a:p>
        </p:txBody>
      </p:sp>
      <p:sp>
        <p:nvSpPr>
          <p:cNvPr id="1963549892" name="Shape 21"/>
          <p:cNvSpPr/>
          <p:nvPr/>
        </p:nvSpPr>
        <p:spPr bwMode="auto">
          <a:xfrm>
            <a:off x="2468880" y="2788920"/>
            <a:ext cx="1597609" cy="566928"/>
          </a:xfrm>
          <a:custGeom>
            <a:avLst/>
            <a:gdLst/>
            <a:ahLst/>
            <a:cxnLst/>
            <a:rect l="l" t="t" r="r" b="b"/>
            <a:pathLst>
              <a:path w="1597609" h="566928" fill="norm" stroke="1" extrusionOk="0">
                <a:moveTo>
                  <a:pt x="0" y="0"/>
                </a:moveTo>
                <a:lnTo>
                  <a:pt x="1451305" y="0"/>
                </a:lnTo>
                <a:lnTo>
                  <a:pt x="1597609" y="283464"/>
                </a:lnTo>
                <a:lnTo>
                  <a:pt x="1451305" y="566928"/>
                </a:lnTo>
                <a:lnTo>
                  <a:pt x="0" y="566928"/>
                </a:lnTo>
                <a:close/>
              </a:path>
            </a:pathLst>
          </a:custGeom>
          <a:solidFill>
            <a:schemeClr val="accent1"/>
          </a:solidFill>
          <a:ln/>
        </p:spPr>
      </p:sp>
      <p:sp>
        <p:nvSpPr>
          <p:cNvPr id="1134152558" name="Text 22"/>
          <p:cNvSpPr txBox="1"/>
          <p:nvPr/>
        </p:nvSpPr>
        <p:spPr bwMode="auto">
          <a:xfrm>
            <a:off x="2615184" y="2788920"/>
            <a:ext cx="130500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chemeClr val="bg1"/>
                </a:solidFill>
              </a:rPr>
              <a:t>прошивка</a:t>
            </a:r>
            <a:endParaRPr lang="en-US" sz="1300"/>
          </a:p>
        </p:txBody>
      </p:sp>
      <p:sp>
        <p:nvSpPr>
          <p:cNvPr id="30111568" name="Shape 23"/>
          <p:cNvSpPr/>
          <p:nvPr/>
        </p:nvSpPr>
        <p:spPr bwMode="auto">
          <a:xfrm>
            <a:off x="3965905" y="2788920"/>
            <a:ext cx="4591660" cy="566928"/>
          </a:xfrm>
          <a:custGeom>
            <a:avLst/>
            <a:gdLst/>
            <a:ahLst/>
            <a:cxnLst/>
            <a:rect l="l" t="t" r="r" b="b"/>
            <a:pathLst>
              <a:path w="4591660" h="566928" fill="norm" stroke="1" extrusionOk="0">
                <a:moveTo>
                  <a:pt x="0" y="0"/>
                </a:moveTo>
                <a:lnTo>
                  <a:pt x="4445356" y="0"/>
                </a:lnTo>
                <a:lnTo>
                  <a:pt x="4591660" y="283464"/>
                </a:lnTo>
                <a:lnTo>
                  <a:pt x="4445356" y="566928"/>
                </a:lnTo>
                <a:lnTo>
                  <a:pt x="0" y="566928"/>
                </a:lnTo>
                <a:lnTo>
                  <a:pt x="146304" y="283464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790576892" name="Text 24"/>
          <p:cNvSpPr txBox="1"/>
          <p:nvPr/>
        </p:nvSpPr>
        <p:spPr bwMode="auto">
          <a:xfrm>
            <a:off x="4112209" y="2788920"/>
            <a:ext cx="42990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chemeClr val="accent1"/>
                </a:solidFill>
              </a:rPr>
              <a:t>HTTPS прямо из прошивки</a:t>
            </a:r>
            <a:endParaRPr lang="en-US" sz="1300"/>
          </a:p>
        </p:txBody>
      </p:sp>
      <p:sp>
        <p:nvSpPr>
          <p:cNvPr id="1549600770" name="Shape 25"/>
          <p:cNvSpPr/>
          <p:nvPr/>
        </p:nvSpPr>
        <p:spPr bwMode="auto">
          <a:xfrm>
            <a:off x="8456981" y="2788920"/>
            <a:ext cx="1597609" cy="566928"/>
          </a:xfrm>
          <a:custGeom>
            <a:avLst/>
            <a:gdLst/>
            <a:ahLst/>
            <a:cxnLst/>
            <a:rect l="l" t="t" r="r" b="b"/>
            <a:pathLst>
              <a:path w="1597609" h="566928" fill="norm" stroke="1" extrusionOk="0">
                <a:moveTo>
                  <a:pt x="0" y="0"/>
                </a:moveTo>
                <a:lnTo>
                  <a:pt x="1451305" y="0"/>
                </a:lnTo>
                <a:lnTo>
                  <a:pt x="1597609" y="283464"/>
                </a:lnTo>
                <a:lnTo>
                  <a:pt x="1451305" y="566928"/>
                </a:lnTo>
                <a:lnTo>
                  <a:pt x="0" y="566928"/>
                </a:lnTo>
                <a:lnTo>
                  <a:pt x="146304" y="283464"/>
                </a:lnTo>
                <a:close/>
              </a:path>
            </a:pathLst>
          </a:custGeom>
          <a:solidFill>
            <a:schemeClr val="accent1"/>
          </a:solidFill>
          <a:ln/>
        </p:spPr>
      </p:sp>
      <p:sp>
        <p:nvSpPr>
          <p:cNvPr id="464599100" name="Text 26"/>
          <p:cNvSpPr txBox="1"/>
          <p:nvPr/>
        </p:nvSpPr>
        <p:spPr bwMode="auto">
          <a:xfrm>
            <a:off x="8603285" y="2788920"/>
            <a:ext cx="130500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chemeClr val="bg1"/>
                </a:solidFill>
              </a:rPr>
              <a:t>UKI</a:t>
            </a:r>
            <a:endParaRPr lang="en-US" sz="1300"/>
          </a:p>
        </p:txBody>
      </p:sp>
      <p:sp>
        <p:nvSpPr>
          <p:cNvPr id="1781929214" name="Shape 27"/>
          <p:cNvSpPr/>
          <p:nvPr/>
        </p:nvSpPr>
        <p:spPr bwMode="auto">
          <a:xfrm>
            <a:off x="9954006" y="2788920"/>
            <a:ext cx="1597609" cy="566928"/>
          </a:xfrm>
          <a:custGeom>
            <a:avLst/>
            <a:gdLst/>
            <a:ahLst/>
            <a:cxnLst/>
            <a:rect l="l" t="t" r="r" b="b"/>
            <a:pathLst>
              <a:path w="1597609" h="566928" fill="norm" stroke="1" extrusionOk="0">
                <a:moveTo>
                  <a:pt x="0" y="0"/>
                </a:moveTo>
                <a:lnTo>
                  <a:pt x="1451305" y="0"/>
                </a:lnTo>
                <a:lnTo>
                  <a:pt x="1597609" y="283464"/>
                </a:lnTo>
                <a:lnTo>
                  <a:pt x="1451305" y="566928"/>
                </a:lnTo>
                <a:lnTo>
                  <a:pt x="0" y="566928"/>
                </a:lnTo>
                <a:lnTo>
                  <a:pt x="146304" y="283464"/>
                </a:lnTo>
                <a:close/>
              </a:path>
            </a:pathLst>
          </a:custGeom>
          <a:solidFill>
            <a:schemeClr val="accent1"/>
          </a:solidFill>
          <a:ln/>
        </p:spPr>
      </p:sp>
      <p:sp>
        <p:nvSpPr>
          <p:cNvPr id="1608458302" name="Text 28"/>
          <p:cNvSpPr txBox="1"/>
          <p:nvPr/>
        </p:nvSpPr>
        <p:spPr bwMode="auto">
          <a:xfrm>
            <a:off x="10100310" y="2788920"/>
            <a:ext cx="130500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chemeClr val="bg1"/>
                </a:solidFill>
              </a:rPr>
              <a:t>образы</a:t>
            </a:r>
            <a:endParaRPr lang="en-US" sz="1300"/>
          </a:p>
        </p:txBody>
      </p:sp>
      <p:sp>
        <p:nvSpPr>
          <p:cNvPr id="24143876" name="Shape 29"/>
          <p:cNvSpPr/>
          <p:nvPr/>
        </p:nvSpPr>
        <p:spPr bwMode="auto">
          <a:xfrm>
            <a:off x="640080" y="3657600"/>
            <a:ext cx="3454298" cy="2103120"/>
          </a:xfrm>
          <a:prstGeom prst="rect">
            <a:avLst/>
          </a:prstGeom>
          <a:solidFill>
            <a:srgbClr val="E9F5EC"/>
          </a:solidFill>
          <a:ln/>
        </p:spPr>
      </p:sp>
      <p:sp>
        <p:nvSpPr>
          <p:cNvPr id="345065827" name="Text 30"/>
          <p:cNvSpPr txBox="1"/>
          <p:nvPr/>
        </p:nvSpPr>
        <p:spPr bwMode="auto">
          <a:xfrm>
            <a:off x="804672" y="3730752"/>
            <a:ext cx="31799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chemeClr val="accent2"/>
                </a:solidFill>
              </a:rPr>
              <a:t>Что не нужно</a:t>
            </a:r>
            <a:endParaRPr lang="en-US" sz="1700"/>
          </a:p>
        </p:txBody>
      </p:sp>
      <p:sp>
        <p:nvSpPr>
          <p:cNvPr id="251201468" name="Text 31"/>
          <p:cNvSpPr txBox="1"/>
          <p:nvPr/>
        </p:nvSpPr>
        <p:spPr bwMode="auto">
          <a:xfrm>
            <a:off x="804672" y="4096512"/>
            <a:ext cx="3179978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  <a:defRPr/>
            </a:pPr>
            <a:r>
              <a:rPr lang="en-US" sz="1400">
                <a:solidFill>
                  <a:schemeClr val="tx1"/>
                </a:solidFill>
              </a:rPr>
              <a:t>systemd-boot, ipxe.efi, osreboot.ipxe, boot.ipxe</a:t>
            </a:r>
            <a:endParaRPr lang="en-US" sz="1400"/>
          </a:p>
          <a:p>
            <a:pPr marL="203200" indent="-203200">
              <a:spcAft>
                <a:spcPts val="600"/>
              </a:spcAft>
              <a:buSzPct val="100000"/>
              <a:buChar char="•"/>
              <a:defRPr/>
            </a:pPr>
            <a:r>
              <a:rPr lang="en-US" sz="1400">
                <a:solidFill>
                  <a:schemeClr val="tx1"/>
                </a:solidFill>
              </a:rPr>
              <a:t>скрипты build.sh и install-ipxe.sh</a:t>
            </a:r>
            <a:endParaRPr lang="en-US" sz="1400"/>
          </a:p>
        </p:txBody>
      </p:sp>
      <p:sp>
        <p:nvSpPr>
          <p:cNvPr id="1861336563" name="Shape 32"/>
          <p:cNvSpPr/>
          <p:nvPr/>
        </p:nvSpPr>
        <p:spPr bwMode="auto">
          <a:xfrm>
            <a:off x="4368698" y="3657600"/>
            <a:ext cx="3454298" cy="21031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712901114" name="Text 33"/>
          <p:cNvSpPr txBox="1"/>
          <p:nvPr/>
        </p:nvSpPr>
        <p:spPr bwMode="auto">
          <a:xfrm>
            <a:off x="4533290" y="3730752"/>
            <a:ext cx="31799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chemeClr val="tx1"/>
                </a:solidFill>
              </a:rPr>
              <a:t>Что нужно прошивке</a:t>
            </a:r>
            <a:endParaRPr lang="en-US" sz="1700"/>
          </a:p>
        </p:txBody>
      </p:sp>
      <p:sp>
        <p:nvSpPr>
          <p:cNvPr id="2079784083" name="Text 34"/>
          <p:cNvSpPr txBox="1"/>
          <p:nvPr/>
        </p:nvSpPr>
        <p:spPr bwMode="auto">
          <a:xfrm>
            <a:off x="4533290" y="4096512"/>
            <a:ext cx="3179978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  <a:defRPr/>
            </a:pPr>
            <a:r>
              <a:rPr lang="en-US" sz="1400">
                <a:solidFill>
                  <a:schemeClr val="tx1"/>
                </a:solidFill>
              </a:rPr>
              <a:t>модуль TLS</a:t>
            </a:r>
            <a:endParaRPr lang="en-US" sz="1400"/>
          </a:p>
          <a:p>
            <a:pPr marL="203200" indent="-203200">
              <a:spcAft>
                <a:spcPts val="600"/>
              </a:spcAft>
              <a:buSzPct val="100000"/>
              <a:buChar char="•"/>
              <a:defRPr/>
            </a:pPr>
            <a:r>
              <a:rPr lang="en-US" sz="1400">
                <a:solidFill>
                  <a:schemeClr val="tx1"/>
                </a:solidFill>
              </a:rPr>
              <a:t>корневой сертификат в прошивке</a:t>
            </a:r>
            <a:endParaRPr lang="en-US" sz="1400"/>
          </a:p>
          <a:p>
            <a:pPr marL="203200" indent="-203200">
              <a:spcAft>
                <a:spcPts val="600"/>
              </a:spcAft>
              <a:buSzPct val="100000"/>
              <a:buChar char="•"/>
              <a:defRPr/>
            </a:pPr>
            <a:r>
              <a:rPr lang="en-US" sz="1400">
                <a:solidFill>
                  <a:schemeClr val="tx1"/>
                </a:solidFill>
              </a:rPr>
              <a:t>запись с адресом сервера</a:t>
            </a:r>
            <a:endParaRPr lang="en-US" sz="1400"/>
          </a:p>
        </p:txBody>
      </p:sp>
      <p:sp>
        <p:nvSpPr>
          <p:cNvPr id="530067067" name="Shape 35"/>
          <p:cNvSpPr/>
          <p:nvPr/>
        </p:nvSpPr>
        <p:spPr bwMode="auto">
          <a:xfrm>
            <a:off x="8097317" y="3657600"/>
            <a:ext cx="3454298" cy="2103120"/>
          </a:xfrm>
          <a:prstGeom prst="rect">
            <a:avLst/>
          </a:prstGeom>
          <a:solidFill>
            <a:srgbClr val="FDECEC"/>
          </a:solidFill>
          <a:ln/>
        </p:spPr>
      </p:sp>
      <p:sp>
        <p:nvSpPr>
          <p:cNvPr id="1982329360" name="Text 36"/>
          <p:cNvSpPr txBox="1"/>
          <p:nvPr/>
        </p:nvSpPr>
        <p:spPr bwMode="auto">
          <a:xfrm>
            <a:off x="8261909" y="3730752"/>
            <a:ext cx="31799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chemeClr val="accent3"/>
                </a:solidFill>
              </a:rPr>
              <a:t>Почему не у нас</a:t>
            </a:r>
            <a:endParaRPr lang="en-US" sz="1700"/>
          </a:p>
        </p:txBody>
      </p:sp>
      <p:sp>
        <p:nvSpPr>
          <p:cNvPr id="113821272" name="Text 37"/>
          <p:cNvSpPr txBox="1"/>
          <p:nvPr/>
        </p:nvSpPr>
        <p:spPr bwMode="auto">
          <a:xfrm>
            <a:off x="8261909" y="4096512"/>
            <a:ext cx="3179978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  <a:defRPr/>
            </a:pPr>
            <a:r>
              <a:rPr lang="en-US" sz="1400">
                <a:solidFill>
                  <a:schemeClr val="tx1"/>
                </a:solidFill>
              </a:rPr>
              <a:t>модуля TLS в прошивке нет</a:t>
            </a:r>
            <a:endParaRPr lang="en-US" sz="1400"/>
          </a:p>
          <a:p>
            <a:pPr marL="203200" indent="-203200">
              <a:spcAft>
                <a:spcPts val="600"/>
              </a:spcAft>
              <a:buSzPct val="100000"/>
              <a:buChar char="•"/>
              <a:defRPr/>
            </a:pPr>
            <a:r>
              <a:rPr lang="en-US" sz="1400">
                <a:solidFill>
                  <a:schemeClr val="tx1"/>
                </a:solidFill>
              </a:rPr>
              <a:t>запись с адресом прошивка удаляет при включении</a:t>
            </a:r>
            <a:endParaRPr lang="en-US" sz="1400"/>
          </a:p>
        </p:txBody>
      </p:sp>
      <p:sp>
        <p:nvSpPr>
          <p:cNvPr id="1065147875" name="Text 38"/>
          <p:cNvSpPr txBox="1"/>
          <p:nvPr/>
        </p:nvSpPr>
        <p:spPr bwMode="auto">
          <a:xfrm>
            <a:off x="804672" y="5102352"/>
            <a:ext cx="3179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 b="1">
                <a:solidFill>
                  <a:schemeClr val="tx1"/>
                </a:solidFill>
              </a:rPr>
              <a:t>На диске ничего нет, переживёт стирание всего диска</a:t>
            </a:r>
            <a:endParaRPr lang="en-US" sz="1400"/>
          </a:p>
        </p:txBody>
      </p:sp>
      <p:sp>
        <p:nvSpPr>
          <p:cNvPr id="996772873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0820095" y="6382512"/>
            <a:ext cx="73152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9636E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0960628" name="Text 0"/>
          <p:cNvSpPr/>
          <p:nvPr>
            <p:ph type="title" idx="100" hasCustomPrompt="1"/>
          </p:nvPr>
        </p:nvSpPr>
        <p:spPr bwMode="auto">
          <a:xfrm>
            <a:off x="640080" y="4114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800" b="1">
                <a:solidFill>
                  <a:schemeClr val="tx1"/>
                </a:solidFill>
              </a:rPr>
              <a:t>BMC на плате сервера</a:t>
            </a:r>
            <a:endParaRPr lang="en-US" sz="2800"/>
          </a:p>
        </p:txBody>
      </p:sp>
      <p:sp>
        <p:nvSpPr>
          <p:cNvPr id="743280825" name="Text 1"/>
          <p:cNvSpPr txBox="1"/>
          <p:nvPr/>
        </p:nvSpPr>
        <p:spPr bwMode="auto">
          <a:xfrm>
            <a:off x="640080" y="89611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chemeClr val="accent4"/>
                </a:solidFill>
              </a:rPr>
              <a:t>Baseboard Management Controller — контроллер управления системной платой</a:t>
            </a:r>
            <a:endParaRPr lang="en-US" sz="1500"/>
          </a:p>
        </p:txBody>
      </p:sp>
      <p:pic>
        <p:nvPicPr>
          <p:cNvPr id="945358623" name="Image 0" descr="Серверная плата OpenPower с BMC ASPEED AST2400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40080" y="1234440"/>
            <a:ext cx="5469825" cy="5029200"/>
          </a:xfrm>
          <a:prstGeom prst="rect">
            <a:avLst/>
          </a:prstGeom>
        </p:spPr>
      </p:pic>
      <p:sp>
        <p:nvSpPr>
          <p:cNvPr id="497002591" name="Shape 2"/>
          <p:cNvSpPr/>
          <p:nvPr/>
        </p:nvSpPr>
        <p:spPr bwMode="auto">
          <a:xfrm>
            <a:off x="2815288" y="4754880"/>
            <a:ext cx="472187" cy="0"/>
          </a:xfrm>
          <a:prstGeom prst="line">
            <a:avLst/>
          </a:prstGeom>
          <a:noFill/>
          <a:ln w="28575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1000540917" name="Text 3"/>
          <p:cNvSpPr txBox="1"/>
          <p:nvPr/>
        </p:nvSpPr>
        <p:spPr bwMode="auto">
          <a:xfrm>
            <a:off x="2220928" y="4608576"/>
            <a:ext cx="557784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chemeClr val="tx1"/>
                </a:solidFill>
              </a:rPr>
              <a:t>BMC</a:t>
            </a:r>
            <a:endParaRPr lang="en-US" sz="1200"/>
          </a:p>
        </p:txBody>
      </p:sp>
      <p:sp>
        <p:nvSpPr>
          <p:cNvPr id="1655141805" name="Shape 4"/>
          <p:cNvSpPr/>
          <p:nvPr/>
        </p:nvSpPr>
        <p:spPr bwMode="auto">
          <a:xfrm>
            <a:off x="3080590" y="5715092"/>
            <a:ext cx="436618" cy="20482"/>
          </a:xfrm>
          <a:prstGeom prst="line">
            <a:avLst/>
          </a:prstGeom>
          <a:noFill/>
          <a:ln w="28575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958309304" name="Text 5"/>
          <p:cNvSpPr txBox="1"/>
          <p:nvPr/>
        </p:nvSpPr>
        <p:spPr bwMode="auto">
          <a:xfrm>
            <a:off x="1846190" y="5538978"/>
            <a:ext cx="1197864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chemeClr val="tx1"/>
                </a:solidFill>
              </a:rPr>
              <a:t>Память BMC</a:t>
            </a:r>
            <a:endParaRPr lang="en-US" sz="1200"/>
          </a:p>
        </p:txBody>
      </p:sp>
      <p:sp>
        <p:nvSpPr>
          <p:cNvPr id="1222631276" name="Shape 6"/>
          <p:cNvSpPr/>
          <p:nvPr/>
        </p:nvSpPr>
        <p:spPr bwMode="auto">
          <a:xfrm flipH="1">
            <a:off x="4600233" y="1810251"/>
            <a:ext cx="478170" cy="530613"/>
          </a:xfrm>
          <a:prstGeom prst="line">
            <a:avLst/>
          </a:prstGeom>
          <a:noFill/>
          <a:ln w="28575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217794718" name="Text 7"/>
          <p:cNvSpPr txBox="1"/>
          <p:nvPr/>
        </p:nvSpPr>
        <p:spPr bwMode="auto">
          <a:xfrm>
            <a:off x="4955841" y="1490472"/>
            <a:ext cx="557784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chemeClr val="tx1"/>
                </a:solidFill>
              </a:rPr>
              <a:t>VGA</a:t>
            </a:r>
            <a:endParaRPr lang="en-US" sz="1200"/>
          </a:p>
        </p:txBody>
      </p:sp>
      <p:sp>
        <p:nvSpPr>
          <p:cNvPr id="102651597" name="Shape 8"/>
          <p:cNvSpPr/>
          <p:nvPr/>
        </p:nvSpPr>
        <p:spPr bwMode="auto">
          <a:xfrm flipH="1">
            <a:off x="1187062" y="1691863"/>
            <a:ext cx="100656" cy="286898"/>
          </a:xfrm>
          <a:prstGeom prst="line">
            <a:avLst/>
          </a:prstGeom>
          <a:noFill/>
          <a:ln w="28575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21767536" name="Text 9"/>
          <p:cNvSpPr txBox="1"/>
          <p:nvPr/>
        </p:nvSpPr>
        <p:spPr bwMode="auto">
          <a:xfrm>
            <a:off x="805565" y="1364742"/>
            <a:ext cx="1091184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chemeClr val="tx1"/>
                </a:solidFill>
              </a:rPr>
              <a:t>BMC_RJ45</a:t>
            </a:r>
            <a:endParaRPr lang="en-US" sz="1200"/>
          </a:p>
        </p:txBody>
      </p:sp>
      <p:sp>
        <p:nvSpPr>
          <p:cNvPr id="2090668283" name="Shape 10"/>
          <p:cNvSpPr/>
          <p:nvPr/>
        </p:nvSpPr>
        <p:spPr bwMode="auto">
          <a:xfrm flipH="1">
            <a:off x="2691264" y="1768460"/>
            <a:ext cx="95512" cy="421528"/>
          </a:xfrm>
          <a:prstGeom prst="line">
            <a:avLst/>
          </a:prstGeom>
          <a:noFill/>
          <a:ln w="28575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886441497" name="Text 11"/>
          <p:cNvSpPr txBox="1"/>
          <p:nvPr/>
        </p:nvSpPr>
        <p:spPr bwMode="auto">
          <a:xfrm>
            <a:off x="2122398" y="1440180"/>
            <a:ext cx="1411223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chemeClr val="tx1"/>
                </a:solidFill>
              </a:rPr>
              <a:t>PWR_RST_BTN</a:t>
            </a:r>
            <a:endParaRPr lang="en-US" sz="1200"/>
          </a:p>
        </p:txBody>
      </p:sp>
      <p:sp>
        <p:nvSpPr>
          <p:cNvPr id="1936456855" name="Shape 12"/>
          <p:cNvSpPr/>
          <p:nvPr/>
        </p:nvSpPr>
        <p:spPr bwMode="auto">
          <a:xfrm flipH="1">
            <a:off x="5453526" y="4228610"/>
            <a:ext cx="250782" cy="425686"/>
          </a:xfrm>
          <a:prstGeom prst="line">
            <a:avLst/>
          </a:prstGeom>
          <a:noFill/>
          <a:ln w="28575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58322092" name="Text 13"/>
          <p:cNvSpPr txBox="1"/>
          <p:nvPr/>
        </p:nvSpPr>
        <p:spPr bwMode="auto">
          <a:xfrm>
            <a:off x="5476832" y="3904488"/>
            <a:ext cx="664464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chemeClr val="tx1"/>
                </a:solidFill>
              </a:rPr>
              <a:t>STBY</a:t>
            </a:r>
            <a:endParaRPr lang="en-US" sz="1200"/>
          </a:p>
        </p:txBody>
      </p:sp>
      <p:sp>
        <p:nvSpPr>
          <p:cNvPr id="2017426438" name="Text 14"/>
          <p:cNvSpPr txBox="1"/>
          <p:nvPr/>
        </p:nvSpPr>
        <p:spPr bwMode="auto">
          <a:xfrm>
            <a:off x="6521385" y="1234440"/>
            <a:ext cx="503023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chemeClr val="tx1"/>
                </a:solidFill>
              </a:rPr>
              <a:t>BMC</a:t>
            </a:r>
            <a:endParaRPr lang="en-US" sz="1450"/>
          </a:p>
        </p:txBody>
      </p:sp>
      <p:sp>
        <p:nvSpPr>
          <p:cNvPr id="634304337" name="Text 15"/>
          <p:cNvSpPr txBox="1"/>
          <p:nvPr/>
        </p:nvSpPr>
        <p:spPr bwMode="auto">
          <a:xfrm>
            <a:off x="6521385" y="1600200"/>
            <a:ext cx="50302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accent4"/>
                </a:solidFill>
              </a:rPr>
              <a:t>ASPEED AST2400 — второй компьютер на плате: свой процессор ARM и своя прошивка.</a:t>
            </a:r>
            <a:endParaRPr lang="en-US" sz="1300"/>
          </a:p>
        </p:txBody>
      </p:sp>
      <p:sp>
        <p:nvSpPr>
          <p:cNvPr id="802650016" name="Text 16"/>
          <p:cNvSpPr txBox="1"/>
          <p:nvPr/>
        </p:nvSpPr>
        <p:spPr bwMode="auto">
          <a:xfrm>
            <a:off x="6521385" y="2167128"/>
            <a:ext cx="503023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chemeClr val="tx1"/>
                </a:solidFill>
              </a:rPr>
              <a:t>Память BMC</a:t>
            </a:r>
            <a:endParaRPr lang="en-US" sz="1450"/>
          </a:p>
        </p:txBody>
      </p:sp>
      <p:sp>
        <p:nvSpPr>
          <p:cNvPr id="1855112198" name="Text 17"/>
          <p:cNvSpPr txBox="1"/>
          <p:nvPr/>
        </p:nvSpPr>
        <p:spPr bwMode="auto">
          <a:xfrm>
            <a:off x="6521385" y="2532888"/>
            <a:ext cx="50302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accent4"/>
                </a:solidFill>
              </a:rPr>
              <a:t>Своя оперативная память.</a:t>
            </a:r>
            <a:endParaRPr lang="en-US" sz="1300"/>
          </a:p>
        </p:txBody>
      </p:sp>
      <p:sp>
        <p:nvSpPr>
          <p:cNvPr id="1589769100" name="Text 18"/>
          <p:cNvSpPr txBox="1"/>
          <p:nvPr/>
        </p:nvSpPr>
        <p:spPr bwMode="auto">
          <a:xfrm>
            <a:off x="6521385" y="2898648"/>
            <a:ext cx="503023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chemeClr val="tx1"/>
                </a:solidFill>
              </a:rPr>
              <a:t>VGA</a:t>
            </a:r>
            <a:endParaRPr lang="en-US" sz="1450"/>
          </a:p>
        </p:txBody>
      </p:sp>
      <p:sp>
        <p:nvSpPr>
          <p:cNvPr id="958046349" name="Text 19"/>
          <p:cNvSpPr txBox="1"/>
          <p:nvPr/>
        </p:nvSpPr>
        <p:spPr bwMode="auto">
          <a:xfrm>
            <a:off x="6521385" y="3264408"/>
            <a:ext cx="50302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accent4"/>
                </a:solidFill>
              </a:rPr>
              <a:t>Видеовыход сервера делает сам BMC: он видит экран и показывает его по сети (KVM).</a:t>
            </a:r>
            <a:endParaRPr lang="en-US" sz="1300"/>
          </a:p>
        </p:txBody>
      </p:sp>
      <p:sp>
        <p:nvSpPr>
          <p:cNvPr id="1632801952" name="Text 20"/>
          <p:cNvSpPr txBox="1"/>
          <p:nvPr/>
        </p:nvSpPr>
        <p:spPr bwMode="auto">
          <a:xfrm>
            <a:off x="6521385" y="3831336"/>
            <a:ext cx="503023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chemeClr val="tx1"/>
                </a:solidFill>
              </a:rPr>
              <a:t>BMC_RJ45</a:t>
            </a:r>
            <a:endParaRPr lang="en-US" sz="1450"/>
          </a:p>
        </p:txBody>
      </p:sp>
      <p:sp>
        <p:nvSpPr>
          <p:cNvPr id="1398125507" name="Text 21"/>
          <p:cNvSpPr txBox="1"/>
          <p:nvPr/>
        </p:nvSpPr>
        <p:spPr bwMode="auto">
          <a:xfrm>
            <a:off x="6521385" y="4197096"/>
            <a:ext cx="50302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accent4"/>
                </a:solidFill>
              </a:rPr>
              <a:t>Свой сетевой порт для сети управления.</a:t>
            </a:r>
            <a:endParaRPr lang="en-US" sz="1300"/>
          </a:p>
        </p:txBody>
      </p:sp>
      <p:sp>
        <p:nvSpPr>
          <p:cNvPr id="425180510" name="Text 22"/>
          <p:cNvSpPr txBox="1"/>
          <p:nvPr/>
        </p:nvSpPr>
        <p:spPr bwMode="auto">
          <a:xfrm>
            <a:off x="6521385" y="4562856"/>
            <a:ext cx="503023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chemeClr val="tx1"/>
                </a:solidFill>
              </a:rPr>
              <a:t>PWR_RST_BTN</a:t>
            </a:r>
            <a:endParaRPr lang="en-US" sz="1450"/>
          </a:p>
        </p:txBody>
      </p:sp>
      <p:sp>
        <p:nvSpPr>
          <p:cNvPr id="385293919" name="Text 23"/>
          <p:cNvSpPr txBox="1"/>
          <p:nvPr/>
        </p:nvSpPr>
        <p:spPr bwMode="auto">
          <a:xfrm>
            <a:off x="6521385" y="4928616"/>
            <a:ext cx="50302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accent4"/>
                </a:solidFill>
              </a:rPr>
              <a:t>Линии кнопок питания и сброса. По команде Reset BMC замыкает их сам.</a:t>
            </a:r>
            <a:endParaRPr lang="en-US" sz="1300"/>
          </a:p>
        </p:txBody>
      </p:sp>
      <p:sp>
        <p:nvSpPr>
          <p:cNvPr id="1157407686" name="Text 24"/>
          <p:cNvSpPr txBox="1"/>
          <p:nvPr/>
        </p:nvSpPr>
        <p:spPr bwMode="auto">
          <a:xfrm>
            <a:off x="6521385" y="5495544"/>
            <a:ext cx="503023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chemeClr val="tx1"/>
                </a:solidFill>
              </a:rPr>
              <a:t>STBY</a:t>
            </a:r>
            <a:endParaRPr lang="en-US" sz="1450"/>
          </a:p>
        </p:txBody>
      </p:sp>
      <p:sp>
        <p:nvSpPr>
          <p:cNvPr id="1535632390" name="Text 25"/>
          <p:cNvSpPr txBox="1"/>
          <p:nvPr/>
        </p:nvSpPr>
        <p:spPr bwMode="auto">
          <a:xfrm>
            <a:off x="6521385" y="5861304"/>
            <a:ext cx="50302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accent4"/>
                </a:solidFill>
              </a:rPr>
              <a:t>Дежурное питание: BMC работает, даже при выключенном сервере.</a:t>
            </a:r>
            <a:endParaRPr lang="en-US" sz="1300"/>
          </a:p>
        </p:txBody>
      </p:sp>
      <p:sp>
        <p:nvSpPr>
          <p:cNvPr id="2131338644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0820095" y="6382512"/>
            <a:ext cx="73152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9636E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4295308" name="Text 0"/>
          <p:cNvSpPr/>
          <p:nvPr>
            <p:ph type="title" idx="100" hasCustomPrompt="1"/>
          </p:nvPr>
        </p:nvSpPr>
        <p:spPr bwMode="auto">
          <a:xfrm>
            <a:off x="640080" y="4114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800" b="1">
                <a:solidFill>
                  <a:schemeClr val="tx1"/>
                </a:solidFill>
              </a:rPr>
              <a:t>BMC: загрузка с виртуального CD</a:t>
            </a:r>
            <a:endParaRPr lang="en-US" sz="2800"/>
          </a:p>
        </p:txBody>
      </p:sp>
      <p:sp>
        <p:nvSpPr>
          <p:cNvPr id="98026081" name="Shape 1"/>
          <p:cNvSpPr/>
          <p:nvPr/>
        </p:nvSpPr>
        <p:spPr bwMode="auto">
          <a:xfrm>
            <a:off x="2514600" y="1325880"/>
            <a:ext cx="3291840" cy="4937760"/>
          </a:xfrm>
          <a:prstGeom prst="roundRect">
            <a:avLst>
              <a:gd name="adj" fmla="val 2778"/>
            </a:avLst>
          </a:prstGeom>
          <a:noFill/>
          <a:ln w="15875">
            <a:solidFill>
              <a:srgbClr val="9AA1A9"/>
            </a:solidFill>
            <a:prstDash val="dash"/>
          </a:ln>
        </p:spPr>
      </p:sp>
      <p:sp>
        <p:nvSpPr>
          <p:cNvPr id="366313387" name="Text 2"/>
          <p:cNvSpPr txBox="1"/>
          <p:nvPr/>
        </p:nvSpPr>
        <p:spPr bwMode="auto">
          <a:xfrm>
            <a:off x="2697480" y="1216151"/>
            <a:ext cx="1143000" cy="219456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chemeClr val="accent4"/>
                </a:solidFill>
              </a:rPr>
              <a:t>плата сервера</a:t>
            </a:r>
            <a:endParaRPr lang="en-US" sz="1100"/>
          </a:p>
        </p:txBody>
      </p:sp>
      <p:sp>
        <p:nvSpPr>
          <p:cNvPr id="443661919" name="Shape 3"/>
          <p:cNvSpPr/>
          <p:nvPr/>
        </p:nvSpPr>
        <p:spPr bwMode="auto">
          <a:xfrm>
            <a:off x="548640" y="1508759"/>
            <a:ext cx="1280160" cy="640080"/>
          </a:xfrm>
          <a:prstGeom prst="roundRect">
            <a:avLst>
              <a:gd name="adj" fmla="val 8571"/>
            </a:avLst>
          </a:prstGeom>
          <a:solidFill>
            <a:schemeClr val="tx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557420740" name="Text 4"/>
          <p:cNvSpPr txBox="1"/>
          <p:nvPr/>
        </p:nvSpPr>
        <p:spPr bwMode="auto">
          <a:xfrm>
            <a:off x="548640" y="1508759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chemeClr val="bg1"/>
                </a:solidFill>
              </a:rPr>
              <a:t>Ironic / MAAS</a:t>
            </a:r>
            <a:endParaRPr lang="en-US" sz="1500"/>
          </a:p>
        </p:txBody>
      </p:sp>
      <p:sp>
        <p:nvSpPr>
          <p:cNvPr id="1289647681" name="Shape 5"/>
          <p:cNvSpPr/>
          <p:nvPr/>
        </p:nvSpPr>
        <p:spPr bwMode="auto">
          <a:xfrm>
            <a:off x="1188720" y="2148840"/>
            <a:ext cx="0" cy="3977640"/>
          </a:xfrm>
          <a:prstGeom prst="line">
            <a:avLst/>
          </a:prstGeom>
          <a:noFill/>
          <a:ln w="12700">
            <a:solidFill>
              <a:srgbClr val="9AA1A9"/>
            </a:solidFill>
            <a:prstDash val="dash"/>
          </a:ln>
        </p:spPr>
      </p:sp>
      <p:sp>
        <p:nvSpPr>
          <p:cNvPr id="229856969" name="Shape 6"/>
          <p:cNvSpPr/>
          <p:nvPr/>
        </p:nvSpPr>
        <p:spPr bwMode="auto">
          <a:xfrm>
            <a:off x="2697480" y="1508759"/>
            <a:ext cx="1280160" cy="64008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874256172" name="Text 7"/>
          <p:cNvSpPr txBox="1"/>
          <p:nvPr/>
        </p:nvSpPr>
        <p:spPr bwMode="auto">
          <a:xfrm>
            <a:off x="2697480" y="156362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chemeClr val="tx1"/>
                </a:solidFill>
              </a:rPr>
              <a:t>BMC</a:t>
            </a:r>
            <a:endParaRPr lang="en-US" sz="1500"/>
          </a:p>
        </p:txBody>
      </p:sp>
      <p:sp>
        <p:nvSpPr>
          <p:cNvPr id="1407062655" name="Text 8"/>
          <p:cNvSpPr txBox="1"/>
          <p:nvPr/>
        </p:nvSpPr>
        <p:spPr bwMode="auto">
          <a:xfrm>
            <a:off x="2770632" y="1856232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chemeClr val="accent4"/>
                </a:solidFill>
              </a:rPr>
              <a:t>Redfish, TCP 443</a:t>
            </a:r>
            <a:endParaRPr lang="en-US" sz="1100"/>
          </a:p>
        </p:txBody>
      </p:sp>
      <p:sp>
        <p:nvSpPr>
          <p:cNvPr id="910711795" name="Shape 9"/>
          <p:cNvSpPr/>
          <p:nvPr/>
        </p:nvSpPr>
        <p:spPr bwMode="auto">
          <a:xfrm>
            <a:off x="3337560" y="2148840"/>
            <a:ext cx="0" cy="3977640"/>
          </a:xfrm>
          <a:prstGeom prst="line">
            <a:avLst/>
          </a:prstGeom>
          <a:noFill/>
          <a:ln w="12700">
            <a:solidFill>
              <a:srgbClr val="9AA1A9"/>
            </a:solidFill>
            <a:prstDash val="dash"/>
          </a:ln>
        </p:spPr>
      </p:sp>
      <p:sp>
        <p:nvSpPr>
          <p:cNvPr id="1318556943" name="Shape 10"/>
          <p:cNvSpPr/>
          <p:nvPr/>
        </p:nvSpPr>
        <p:spPr bwMode="auto">
          <a:xfrm>
            <a:off x="4343400" y="1508759"/>
            <a:ext cx="1280160" cy="64008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2141436450" name="Text 11"/>
          <p:cNvSpPr txBox="1"/>
          <p:nvPr/>
        </p:nvSpPr>
        <p:spPr bwMode="auto">
          <a:xfrm>
            <a:off x="4343400" y="156362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chemeClr val="tx1"/>
                </a:solidFill>
              </a:rPr>
              <a:t>Сервер</a:t>
            </a:r>
            <a:endParaRPr lang="en-US" sz="1500"/>
          </a:p>
        </p:txBody>
      </p:sp>
      <p:sp>
        <p:nvSpPr>
          <p:cNvPr id="187985919" name="Text 12"/>
          <p:cNvSpPr txBox="1"/>
          <p:nvPr/>
        </p:nvSpPr>
        <p:spPr bwMode="auto">
          <a:xfrm>
            <a:off x="4416552" y="1856232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chemeClr val="accent4"/>
                </a:solidFill>
              </a:rPr>
              <a:t>UEFI, ЦП, диск</a:t>
            </a:r>
            <a:endParaRPr lang="en-US" sz="1100"/>
          </a:p>
        </p:txBody>
      </p:sp>
      <p:sp>
        <p:nvSpPr>
          <p:cNvPr id="334779602" name="Shape 13"/>
          <p:cNvSpPr/>
          <p:nvPr/>
        </p:nvSpPr>
        <p:spPr bwMode="auto">
          <a:xfrm>
            <a:off x="4983480" y="2148840"/>
            <a:ext cx="0" cy="3977640"/>
          </a:xfrm>
          <a:prstGeom prst="line">
            <a:avLst/>
          </a:prstGeom>
          <a:noFill/>
          <a:ln w="12700">
            <a:solidFill>
              <a:srgbClr val="9AA1A9"/>
            </a:solidFill>
            <a:prstDash val="dash"/>
          </a:ln>
        </p:spPr>
      </p:sp>
      <p:sp>
        <p:nvSpPr>
          <p:cNvPr id="681088789" name="Shape 14"/>
          <p:cNvSpPr/>
          <p:nvPr/>
        </p:nvSpPr>
        <p:spPr bwMode="auto">
          <a:xfrm>
            <a:off x="5806440" y="1508759"/>
            <a:ext cx="1280160" cy="64008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013826597" name="Text 15"/>
          <p:cNvSpPr txBox="1"/>
          <p:nvPr/>
        </p:nvSpPr>
        <p:spPr bwMode="auto">
          <a:xfrm>
            <a:off x="5806440" y="156362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chemeClr val="tx1"/>
                </a:solidFill>
              </a:rPr>
              <a:t>ISO-сервер</a:t>
            </a:r>
            <a:endParaRPr lang="en-US" sz="1500"/>
          </a:p>
        </p:txBody>
      </p:sp>
      <p:sp>
        <p:nvSpPr>
          <p:cNvPr id="42904181" name="Text 16"/>
          <p:cNvSpPr txBox="1"/>
          <p:nvPr/>
        </p:nvSpPr>
        <p:spPr bwMode="auto">
          <a:xfrm>
            <a:off x="5879592" y="1856232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chemeClr val="accent4"/>
                </a:solidFill>
              </a:rPr>
              <a:t>HTTPS</a:t>
            </a:r>
            <a:endParaRPr lang="en-US" sz="1100"/>
          </a:p>
        </p:txBody>
      </p:sp>
      <p:sp>
        <p:nvSpPr>
          <p:cNvPr id="1619772873" name="Shape 17"/>
          <p:cNvSpPr/>
          <p:nvPr/>
        </p:nvSpPr>
        <p:spPr bwMode="auto">
          <a:xfrm>
            <a:off x="6446520" y="2148840"/>
            <a:ext cx="0" cy="3977640"/>
          </a:xfrm>
          <a:prstGeom prst="line">
            <a:avLst/>
          </a:prstGeom>
          <a:noFill/>
          <a:ln w="12700">
            <a:solidFill>
              <a:srgbClr val="9AA1A9"/>
            </a:solidFill>
            <a:prstDash val="dash"/>
          </a:ln>
        </p:spPr>
      </p:sp>
      <p:sp>
        <p:nvSpPr>
          <p:cNvPr id="2018192465" name="Shape 18"/>
          <p:cNvSpPr/>
          <p:nvPr/>
        </p:nvSpPr>
        <p:spPr bwMode="auto">
          <a:xfrm>
            <a:off x="1225296" y="2651760"/>
            <a:ext cx="20756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609351817" name="Text 19"/>
          <p:cNvSpPr txBox="1"/>
          <p:nvPr/>
        </p:nvSpPr>
        <p:spPr bwMode="auto">
          <a:xfrm>
            <a:off x="1379220" y="2395728"/>
            <a:ext cx="1767840" cy="219456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POST InsertMedia</a:t>
            </a:r>
            <a:endParaRPr lang="en-US" sz="1300"/>
          </a:p>
        </p:txBody>
      </p:sp>
      <p:sp>
        <p:nvSpPr>
          <p:cNvPr id="2006632251" name="Text 20"/>
          <p:cNvSpPr txBox="1"/>
          <p:nvPr/>
        </p:nvSpPr>
        <p:spPr bwMode="auto">
          <a:xfrm>
            <a:off x="1357249" y="2688336"/>
            <a:ext cx="1811782" cy="18288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chemeClr val="accent4"/>
                </a:solidFill>
              </a:rPr>
              <a:t>ISO как виртуальный CD</a:t>
            </a:r>
            <a:endParaRPr lang="en-US" sz="1100"/>
          </a:p>
        </p:txBody>
      </p:sp>
      <p:sp>
        <p:nvSpPr>
          <p:cNvPr id="266301566" name="Shape 21"/>
          <p:cNvSpPr/>
          <p:nvPr/>
        </p:nvSpPr>
        <p:spPr bwMode="auto">
          <a:xfrm>
            <a:off x="1225296" y="3154680"/>
            <a:ext cx="20756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855430144" name="Text 22"/>
          <p:cNvSpPr txBox="1"/>
          <p:nvPr/>
        </p:nvSpPr>
        <p:spPr bwMode="auto">
          <a:xfrm>
            <a:off x="1676400" y="2898648"/>
            <a:ext cx="1173480" cy="219456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PATCH Boot</a:t>
            </a:r>
            <a:endParaRPr lang="en-US" sz="1300"/>
          </a:p>
        </p:txBody>
      </p:sp>
      <p:sp>
        <p:nvSpPr>
          <p:cNvPr id="839587707" name="Text 23"/>
          <p:cNvSpPr txBox="1"/>
          <p:nvPr/>
        </p:nvSpPr>
        <p:spPr bwMode="auto">
          <a:xfrm>
            <a:off x="1320229" y="3191256"/>
            <a:ext cx="1885823" cy="18288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chemeClr val="accent4"/>
                </a:solidFill>
              </a:rPr>
              <a:t>загрузка с CD, один раз</a:t>
            </a:r>
            <a:endParaRPr lang="en-US" sz="1100"/>
          </a:p>
        </p:txBody>
      </p:sp>
      <p:sp>
        <p:nvSpPr>
          <p:cNvPr id="487025732" name="Shape 24"/>
          <p:cNvSpPr/>
          <p:nvPr/>
        </p:nvSpPr>
        <p:spPr bwMode="auto">
          <a:xfrm>
            <a:off x="1225296" y="3657600"/>
            <a:ext cx="20756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489096537" name="Text 25"/>
          <p:cNvSpPr txBox="1"/>
          <p:nvPr/>
        </p:nvSpPr>
        <p:spPr bwMode="auto">
          <a:xfrm>
            <a:off x="1676400" y="3401568"/>
            <a:ext cx="1173480" cy="219456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POST Reset</a:t>
            </a:r>
            <a:endParaRPr lang="en-US" sz="1300"/>
          </a:p>
        </p:txBody>
      </p:sp>
      <p:sp>
        <p:nvSpPr>
          <p:cNvPr id="832375594" name="Text 26"/>
          <p:cNvSpPr txBox="1"/>
          <p:nvPr/>
        </p:nvSpPr>
        <p:spPr bwMode="auto">
          <a:xfrm>
            <a:off x="1727454" y="3694176"/>
            <a:ext cx="1071372" cy="18288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chemeClr val="accent4"/>
                </a:solidFill>
              </a:rPr>
              <a:t>перезагрузка</a:t>
            </a:r>
            <a:endParaRPr lang="en-US" sz="1100"/>
          </a:p>
        </p:txBody>
      </p:sp>
      <p:sp>
        <p:nvSpPr>
          <p:cNvPr id="227418979" name="Shape 27"/>
          <p:cNvSpPr/>
          <p:nvPr/>
        </p:nvSpPr>
        <p:spPr bwMode="auto">
          <a:xfrm>
            <a:off x="777240" y="3950208"/>
            <a:ext cx="635508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994803614" name="Shape 28"/>
          <p:cNvSpPr/>
          <p:nvPr/>
        </p:nvSpPr>
        <p:spPr bwMode="auto">
          <a:xfrm>
            <a:off x="3374136" y="4343400"/>
            <a:ext cx="157276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627739323" name="Text 29"/>
          <p:cNvSpPr txBox="1"/>
          <p:nvPr/>
        </p:nvSpPr>
        <p:spPr bwMode="auto">
          <a:xfrm>
            <a:off x="3821430" y="4087368"/>
            <a:ext cx="678180" cy="219456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Reset</a:t>
            </a:r>
            <a:endParaRPr lang="en-US" sz="1300"/>
          </a:p>
        </p:txBody>
      </p:sp>
      <p:sp>
        <p:nvSpPr>
          <p:cNvPr id="1907662164" name="Shape 30"/>
          <p:cNvSpPr/>
          <p:nvPr/>
        </p:nvSpPr>
        <p:spPr bwMode="auto">
          <a:xfrm flipH="1">
            <a:off x="3374136" y="4846320"/>
            <a:ext cx="1572768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  <a:headEnd type="triangle"/>
            <a:tailEnd type="triangle"/>
          </a:ln>
        </p:spPr>
      </p:sp>
      <p:sp>
        <p:nvSpPr>
          <p:cNvPr id="1991469084" name="Text 31"/>
          <p:cNvSpPr txBox="1"/>
          <p:nvPr/>
        </p:nvSpPr>
        <p:spPr bwMode="auto">
          <a:xfrm>
            <a:off x="3392424" y="4590288"/>
            <a:ext cx="1536192" cy="219456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  <a:defRPr/>
            </a:pPr>
            <a:r>
              <a:rPr lang="en-US" sz="115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IPMI: boot flags</a:t>
            </a:r>
            <a:endParaRPr lang="en-US" sz="1150"/>
          </a:p>
        </p:txBody>
      </p:sp>
      <p:sp>
        <p:nvSpPr>
          <p:cNvPr id="558913993" name="Text 32"/>
          <p:cNvSpPr txBox="1"/>
          <p:nvPr/>
        </p:nvSpPr>
        <p:spPr bwMode="auto">
          <a:xfrm>
            <a:off x="3661854" y="4882896"/>
            <a:ext cx="997331" cy="18288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chemeClr val="accent4"/>
                </a:solidFill>
              </a:rPr>
              <a:t>один раз CD</a:t>
            </a:r>
            <a:endParaRPr lang="en-US" sz="1100"/>
          </a:p>
        </p:txBody>
      </p:sp>
      <p:sp>
        <p:nvSpPr>
          <p:cNvPr id="812466523" name="Shape 33"/>
          <p:cNvSpPr/>
          <p:nvPr/>
        </p:nvSpPr>
        <p:spPr bwMode="auto">
          <a:xfrm flipH="1">
            <a:off x="3374136" y="5349240"/>
            <a:ext cx="157276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163892497" name="Text 34"/>
          <p:cNvSpPr txBox="1"/>
          <p:nvPr/>
        </p:nvSpPr>
        <p:spPr bwMode="auto">
          <a:xfrm>
            <a:off x="3392424" y="5093208"/>
            <a:ext cx="1536192" cy="219456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USB: чтение CD</a:t>
            </a:r>
            <a:endParaRPr lang="en-US" sz="1300"/>
          </a:p>
        </p:txBody>
      </p:sp>
      <p:sp>
        <p:nvSpPr>
          <p:cNvPr id="468141926" name="Text 35"/>
          <p:cNvSpPr txBox="1"/>
          <p:nvPr/>
        </p:nvSpPr>
        <p:spPr bwMode="auto">
          <a:xfrm>
            <a:off x="3550793" y="5385816"/>
            <a:ext cx="1219454" cy="18288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chemeClr val="accent2"/>
                </a:solidFill>
              </a:rPr>
              <a:t>ISO как USB-CD</a:t>
            </a:r>
            <a:endParaRPr lang="en-US" sz="1100"/>
          </a:p>
        </p:txBody>
      </p:sp>
      <p:sp>
        <p:nvSpPr>
          <p:cNvPr id="50916672" name="Shape 36"/>
          <p:cNvSpPr/>
          <p:nvPr/>
        </p:nvSpPr>
        <p:spPr bwMode="auto">
          <a:xfrm>
            <a:off x="3374136" y="5870448"/>
            <a:ext cx="303580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475885399" name="Text 37"/>
          <p:cNvSpPr txBox="1"/>
          <p:nvPr/>
        </p:nvSpPr>
        <p:spPr bwMode="auto">
          <a:xfrm>
            <a:off x="4008120" y="5614416"/>
            <a:ext cx="1767840" cy="219456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GET recovery.iso</a:t>
            </a:r>
            <a:endParaRPr lang="en-US" sz="1300"/>
          </a:p>
        </p:txBody>
      </p:sp>
      <p:sp>
        <p:nvSpPr>
          <p:cNvPr id="569927554" name="Text 38"/>
          <p:cNvSpPr txBox="1"/>
          <p:nvPr/>
        </p:nvSpPr>
        <p:spPr bwMode="auto">
          <a:xfrm>
            <a:off x="3801046" y="5907024"/>
            <a:ext cx="2181987" cy="18288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chemeClr val="accent4"/>
                </a:solidFill>
              </a:rPr>
              <a:t>BMC берёт блоки CD по HTTPS</a:t>
            </a:r>
            <a:endParaRPr lang="en-US" sz="1100"/>
          </a:p>
        </p:txBody>
      </p:sp>
      <p:sp>
        <p:nvSpPr>
          <p:cNvPr id="1979208075" name="Text 39"/>
          <p:cNvSpPr txBox="1"/>
          <p:nvPr/>
        </p:nvSpPr>
        <p:spPr bwMode="auto">
          <a:xfrm>
            <a:off x="7452360" y="1325880"/>
            <a:ext cx="4099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chemeClr val="tx1"/>
                </a:solidFill>
              </a:rPr>
              <a:t>Как это происходит</a:t>
            </a:r>
            <a:endParaRPr lang="en-US" sz="1800"/>
          </a:p>
        </p:txBody>
      </p:sp>
      <p:sp>
        <p:nvSpPr>
          <p:cNvPr id="630481795" name="Text 40"/>
          <p:cNvSpPr txBox="1"/>
          <p:nvPr/>
        </p:nvSpPr>
        <p:spPr bwMode="auto">
          <a:xfrm>
            <a:off x="7452360" y="1801367"/>
            <a:ext cx="4099255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  <a:defRPr/>
            </a:pPr>
            <a:r>
              <a:rPr lang="en-US" sz="1300">
                <a:solidFill>
                  <a:schemeClr val="tx1"/>
                </a:solidFill>
              </a:rPr>
              <a:t>Ironic по Redfish вставляет в виртуальный CD ссылку на recovery.iso.</a:t>
            </a:r>
            <a:endParaRPr lang="en-US" sz="130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  <a:defRPr/>
            </a:pPr>
            <a:r>
              <a:rPr lang="en-US" sz="1300">
                <a:solidFill>
                  <a:schemeClr val="tx1"/>
                </a:solidFill>
              </a:rPr>
              <a:t>Ставит загрузку с CD один раз и шлёт Reset.</a:t>
            </a:r>
            <a:endParaRPr lang="en-US" sz="130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  <a:defRPr/>
            </a:pPr>
            <a:r>
              <a:rPr lang="en-US" sz="1300">
                <a:solidFill>
                  <a:schemeClr val="tx1"/>
                </a:solidFill>
              </a:rPr>
              <a:t>BMC замыкает линию сброса, сервер стартует.</a:t>
            </a:r>
            <a:endParaRPr lang="en-US" sz="130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  <a:defRPr/>
            </a:pPr>
            <a:r>
              <a:rPr lang="en-US" sz="1300">
                <a:solidFill>
                  <a:schemeClr val="tx1"/>
                </a:solidFill>
              </a:rPr>
              <a:t>UEFI по IPMI узнаёт у BMC: грузиться с CD.</a:t>
            </a:r>
            <a:endParaRPr lang="en-US" sz="130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  <a:defRPr/>
            </a:pPr>
            <a:r>
              <a:rPr lang="en-US" sz="1300">
                <a:solidFill>
                  <a:schemeClr val="tx1"/>
                </a:solidFill>
              </a:rPr>
              <a:t>BMC эмулирует USB-привод CD: UEFI читает с него блоки, BMC качает их из ISO по HTTPS.</a:t>
            </a:r>
            <a:endParaRPr lang="en-US" sz="130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  <a:defRPr/>
            </a:pPr>
            <a:r>
              <a:rPr lang="en-US" sz="1300">
                <a:solidFill>
                  <a:schemeClr val="tx1"/>
                </a:solidFill>
              </a:rPr>
              <a:t>UEFI запускает Linux из ISO в RAM.</a:t>
            </a:r>
            <a:endParaRPr lang="en-US" sz="1300"/>
          </a:p>
        </p:txBody>
      </p:sp>
      <p:sp>
        <p:nvSpPr>
          <p:cNvPr id="1201659469" name="Shape 41"/>
          <p:cNvSpPr/>
          <p:nvPr/>
        </p:nvSpPr>
        <p:spPr bwMode="auto">
          <a:xfrm>
            <a:off x="7452360" y="4041648"/>
            <a:ext cx="4099255" cy="868680"/>
          </a:xfrm>
          <a:prstGeom prst="rect">
            <a:avLst/>
          </a:prstGeom>
          <a:solidFill>
            <a:srgbClr val="E9F5EC"/>
          </a:solidFill>
          <a:ln/>
        </p:spPr>
      </p:sp>
      <p:sp>
        <p:nvSpPr>
          <p:cNvPr id="1221974427" name="Text 42"/>
          <p:cNvSpPr txBox="1"/>
          <p:nvPr/>
        </p:nvSpPr>
        <p:spPr bwMode="auto">
          <a:xfrm>
            <a:off x="7616952" y="4114800"/>
            <a:ext cx="38249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accent2"/>
                </a:solidFill>
              </a:rPr>
              <a:t>Чем лучше</a:t>
            </a:r>
            <a:endParaRPr lang="en-US" sz="1500"/>
          </a:p>
        </p:txBody>
      </p:sp>
      <p:sp>
        <p:nvSpPr>
          <p:cNvPr id="110694550" name="Text 43"/>
          <p:cNvSpPr txBox="1"/>
          <p:nvPr/>
        </p:nvSpPr>
        <p:spPr bwMode="auto">
          <a:xfrm>
            <a:off x="7616952" y="4398264"/>
            <a:ext cx="38249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tx1"/>
                </a:solidFill>
              </a:rPr>
              <a:t>Серверу не нужны сеть, DHCP и HTTPS в прошивке.</a:t>
            </a:r>
            <a:endParaRPr lang="en-US" sz="1300"/>
          </a:p>
        </p:txBody>
      </p:sp>
      <p:sp>
        <p:nvSpPr>
          <p:cNvPr id="104008822" name="Shape 44"/>
          <p:cNvSpPr/>
          <p:nvPr/>
        </p:nvSpPr>
        <p:spPr bwMode="auto">
          <a:xfrm>
            <a:off x="7452360" y="5029200"/>
            <a:ext cx="4099255" cy="685800"/>
          </a:xfrm>
          <a:prstGeom prst="rect">
            <a:avLst/>
          </a:prstGeom>
          <a:solidFill>
            <a:srgbClr val="FDECEC"/>
          </a:solidFill>
          <a:ln/>
        </p:spPr>
      </p:sp>
      <p:sp>
        <p:nvSpPr>
          <p:cNvPr id="66719728" name="Text 45"/>
          <p:cNvSpPr txBox="1"/>
          <p:nvPr/>
        </p:nvSpPr>
        <p:spPr bwMode="auto">
          <a:xfrm>
            <a:off x="7616952" y="5102352"/>
            <a:ext cx="38249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accent3"/>
                </a:solidFill>
              </a:rPr>
              <a:t>Почему не подошёл</a:t>
            </a:r>
            <a:endParaRPr lang="en-US" sz="1500"/>
          </a:p>
        </p:txBody>
      </p:sp>
      <p:sp>
        <p:nvSpPr>
          <p:cNvPr id="1899743986" name="Text 46"/>
          <p:cNvSpPr txBox="1"/>
          <p:nvPr/>
        </p:nvSpPr>
        <p:spPr bwMode="auto">
          <a:xfrm>
            <a:off x="7616952" y="5385816"/>
            <a:ext cx="38249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tx1"/>
                </a:solidFill>
              </a:rPr>
              <a:t>У ноутбука BMC нет.</a:t>
            </a:r>
            <a:endParaRPr lang="en-US" sz="1300"/>
          </a:p>
        </p:txBody>
      </p:sp>
      <p:sp>
        <p:nvSpPr>
          <p:cNvPr id="1964108927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0820095" y="6382512"/>
            <a:ext cx="73152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9636E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0753051" name="Text 0"/>
          <p:cNvSpPr/>
          <p:nvPr>
            <p:ph type="title" idx="100" hasCustomPrompt="1"/>
          </p:nvPr>
        </p:nvSpPr>
        <p:spPr bwMode="auto">
          <a:xfrm>
            <a:off x="640080" y="4114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800" b="1">
                <a:solidFill>
                  <a:schemeClr val="tx1"/>
                </a:solidFill>
              </a:rPr>
              <a:t>Наш путь: HTTPS делает iPXE с диска</a:t>
            </a:r>
            <a:endParaRPr lang="en-US" sz="2800"/>
          </a:p>
        </p:txBody>
      </p:sp>
      <p:sp>
        <p:nvSpPr>
          <p:cNvPr id="1585002480" name="Text 1"/>
          <p:cNvSpPr txBox="1"/>
          <p:nvPr/>
        </p:nvSpPr>
        <p:spPr bwMode="auto">
          <a:xfrm>
            <a:off x="640080" y="12344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chemeClr val="accent3"/>
                </a:solidFill>
              </a:rPr>
              <a:t>×  </a:t>
            </a:r>
            <a:r>
              <a:rPr lang="en-US" sz="1600">
                <a:solidFill>
                  <a:schemeClr val="tx1"/>
                </a:solidFill>
              </a:rPr>
              <a:t>прошивка ноутбука не умеет HTTPS          </a:t>
            </a:r>
            <a:r>
              <a:rPr lang="en-US" sz="1600" b="1">
                <a:solidFill>
                  <a:schemeClr val="accent3"/>
                </a:solidFill>
              </a:rPr>
              <a:t>×  </a:t>
            </a:r>
            <a:r>
              <a:rPr lang="en-US" sz="1600">
                <a:solidFill>
                  <a:schemeClr val="tx1"/>
                </a:solidFill>
              </a:rPr>
              <a:t>свой DHCP в чужой сети не поставить          </a:t>
            </a:r>
            <a:r>
              <a:rPr lang="en-US" sz="1600" b="1">
                <a:solidFill>
                  <a:schemeClr val="accent3"/>
                </a:solidFill>
              </a:rPr>
              <a:t>×  </a:t>
            </a:r>
            <a:r>
              <a:rPr lang="en-US" sz="1600">
                <a:solidFill>
                  <a:schemeClr val="tx1"/>
                </a:solidFill>
              </a:rPr>
              <a:t>BMC у ноутбука нет</a:t>
            </a:r>
            <a:endParaRPr lang="en-US" sz="1600"/>
          </a:p>
        </p:txBody>
      </p:sp>
      <p:sp>
        <p:nvSpPr>
          <p:cNvPr id="887722203" name="Shape 2"/>
          <p:cNvSpPr/>
          <p:nvPr/>
        </p:nvSpPr>
        <p:spPr bwMode="auto">
          <a:xfrm>
            <a:off x="640080" y="1965960"/>
            <a:ext cx="1301800" cy="640080"/>
          </a:xfrm>
          <a:custGeom>
            <a:avLst/>
            <a:gdLst/>
            <a:ahLst/>
            <a:cxnLst/>
            <a:rect l="l" t="t" r="r" b="b"/>
            <a:pathLst>
              <a:path w="1301801" h="640080" fill="norm" stroke="1" extrusionOk="0">
                <a:moveTo>
                  <a:pt x="0" y="0"/>
                </a:moveTo>
                <a:lnTo>
                  <a:pt x="1155497" y="0"/>
                </a:lnTo>
                <a:lnTo>
                  <a:pt x="1301801" y="320040"/>
                </a:lnTo>
                <a:lnTo>
                  <a:pt x="1155497" y="640080"/>
                </a:lnTo>
                <a:lnTo>
                  <a:pt x="0" y="640080"/>
                </a:lnTo>
                <a:close/>
              </a:path>
            </a:pathLst>
          </a:custGeom>
          <a:solidFill>
            <a:schemeClr val="accent3"/>
          </a:solidFill>
          <a:ln/>
        </p:spPr>
      </p:sp>
      <p:sp>
        <p:nvSpPr>
          <p:cNvPr id="615928796" name="Text 3"/>
          <p:cNvSpPr txBox="1"/>
          <p:nvPr/>
        </p:nvSpPr>
        <p:spPr bwMode="auto">
          <a:xfrm>
            <a:off x="786384" y="1965960"/>
            <a:ext cx="100919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chemeClr val="bg1"/>
                </a:solidFill>
              </a:rPr>
              <a:t>стирание</a:t>
            </a:r>
            <a:endParaRPr lang="en-US" sz="1100"/>
          </a:p>
        </p:txBody>
      </p:sp>
      <p:sp>
        <p:nvSpPr>
          <p:cNvPr id="2112295379" name="Shape 4"/>
          <p:cNvSpPr/>
          <p:nvPr/>
        </p:nvSpPr>
        <p:spPr bwMode="auto">
          <a:xfrm>
            <a:off x="1841297" y="1965960"/>
            <a:ext cx="1301800" cy="640080"/>
          </a:xfrm>
          <a:custGeom>
            <a:avLst/>
            <a:gdLst/>
            <a:ahLst/>
            <a:cxnLst/>
            <a:rect l="l" t="t" r="r" b="b"/>
            <a:pathLst>
              <a:path w="1301801" h="640080" fill="norm" stroke="1" extrusionOk="0">
                <a:moveTo>
                  <a:pt x="0" y="0"/>
                </a:moveTo>
                <a:lnTo>
                  <a:pt x="1155497" y="0"/>
                </a:lnTo>
                <a:lnTo>
                  <a:pt x="1301801" y="320040"/>
                </a:lnTo>
                <a:lnTo>
                  <a:pt x="1155497" y="640080"/>
                </a:lnTo>
                <a:lnTo>
                  <a:pt x="0" y="640080"/>
                </a:lnTo>
                <a:lnTo>
                  <a:pt x="146304" y="320040"/>
                </a:lnTo>
                <a:close/>
              </a:path>
            </a:pathLst>
          </a:custGeom>
          <a:solidFill>
            <a:schemeClr val="accent1"/>
          </a:solidFill>
          <a:ln/>
        </p:spPr>
      </p:sp>
      <p:sp>
        <p:nvSpPr>
          <p:cNvPr id="2102138491" name="Text 5"/>
          <p:cNvSpPr txBox="1"/>
          <p:nvPr/>
        </p:nvSpPr>
        <p:spPr bwMode="auto">
          <a:xfrm>
            <a:off x="1987601" y="1965960"/>
            <a:ext cx="100919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chemeClr val="bg1"/>
                </a:solidFill>
              </a:rPr>
              <a:t>прошивка</a:t>
            </a:r>
            <a:endParaRPr lang="en-US" sz="1100"/>
          </a:p>
          <a:p>
            <a:pPr marL="0" indent="0" algn="ctr">
              <a:buNone/>
              <a:defRPr/>
            </a:pPr>
            <a:r>
              <a:rPr lang="en-US" sz="1100" b="1">
                <a:solidFill>
                  <a:schemeClr val="bg1"/>
                </a:solidFill>
              </a:rPr>
              <a:t>UEFI</a:t>
            </a:r>
            <a:endParaRPr lang="en-US" sz="1100"/>
          </a:p>
        </p:txBody>
      </p:sp>
      <p:sp>
        <p:nvSpPr>
          <p:cNvPr id="1672462302" name="Shape 6"/>
          <p:cNvSpPr/>
          <p:nvPr/>
        </p:nvSpPr>
        <p:spPr bwMode="auto">
          <a:xfrm>
            <a:off x="3042514" y="1965960"/>
            <a:ext cx="1301800" cy="640080"/>
          </a:xfrm>
          <a:custGeom>
            <a:avLst/>
            <a:gdLst/>
            <a:ahLst/>
            <a:cxnLst/>
            <a:rect l="l" t="t" r="r" b="b"/>
            <a:pathLst>
              <a:path w="1301801" h="640080" fill="norm" stroke="1" extrusionOk="0">
                <a:moveTo>
                  <a:pt x="0" y="0"/>
                </a:moveTo>
                <a:lnTo>
                  <a:pt x="1155497" y="0"/>
                </a:lnTo>
                <a:lnTo>
                  <a:pt x="1301801" y="320040"/>
                </a:lnTo>
                <a:lnTo>
                  <a:pt x="1155497" y="640080"/>
                </a:lnTo>
                <a:lnTo>
                  <a:pt x="0" y="640080"/>
                </a:lnTo>
                <a:lnTo>
                  <a:pt x="146304" y="320040"/>
                </a:lnTo>
                <a:close/>
              </a:path>
            </a:pathLst>
          </a:custGeom>
          <a:solidFill>
            <a:schemeClr val="accent1"/>
          </a:solidFill>
          <a:ln/>
        </p:spPr>
      </p:sp>
      <p:sp>
        <p:nvSpPr>
          <p:cNvPr id="1356083567" name="Text 7"/>
          <p:cNvSpPr txBox="1"/>
          <p:nvPr/>
        </p:nvSpPr>
        <p:spPr bwMode="auto">
          <a:xfrm>
            <a:off x="3188817" y="1965960"/>
            <a:ext cx="100919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chemeClr val="bg1"/>
                </a:solidFill>
              </a:rPr>
              <a:t>systemd-boot</a:t>
            </a:r>
            <a:endParaRPr lang="en-US" sz="1100"/>
          </a:p>
        </p:txBody>
      </p:sp>
      <p:sp>
        <p:nvSpPr>
          <p:cNvPr id="638862652" name="Shape 8"/>
          <p:cNvSpPr/>
          <p:nvPr/>
        </p:nvSpPr>
        <p:spPr bwMode="auto">
          <a:xfrm>
            <a:off x="4243730" y="1965960"/>
            <a:ext cx="1301800" cy="640080"/>
          </a:xfrm>
          <a:custGeom>
            <a:avLst/>
            <a:gdLst/>
            <a:ahLst/>
            <a:cxnLst/>
            <a:rect l="l" t="t" r="r" b="b"/>
            <a:pathLst>
              <a:path w="1301801" h="640080" fill="norm" stroke="1" extrusionOk="0">
                <a:moveTo>
                  <a:pt x="0" y="0"/>
                </a:moveTo>
                <a:lnTo>
                  <a:pt x="1155497" y="0"/>
                </a:lnTo>
                <a:lnTo>
                  <a:pt x="1301801" y="320040"/>
                </a:lnTo>
                <a:lnTo>
                  <a:pt x="1155497" y="640080"/>
                </a:lnTo>
                <a:lnTo>
                  <a:pt x="0" y="640080"/>
                </a:lnTo>
                <a:lnTo>
                  <a:pt x="146304" y="320040"/>
                </a:lnTo>
                <a:close/>
              </a:path>
            </a:pathLst>
          </a:custGeom>
          <a:solidFill>
            <a:schemeClr val="accent1"/>
          </a:solidFill>
          <a:ln/>
        </p:spPr>
      </p:sp>
      <p:sp>
        <p:nvSpPr>
          <p:cNvPr id="292502372" name="Text 9"/>
          <p:cNvSpPr txBox="1"/>
          <p:nvPr/>
        </p:nvSpPr>
        <p:spPr bwMode="auto">
          <a:xfrm>
            <a:off x="4390034" y="1965960"/>
            <a:ext cx="100919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chemeClr val="bg1"/>
                </a:solidFill>
              </a:rPr>
              <a:t>iPXE</a:t>
            </a:r>
            <a:endParaRPr lang="en-US" sz="1100"/>
          </a:p>
        </p:txBody>
      </p:sp>
      <p:sp>
        <p:nvSpPr>
          <p:cNvPr id="986716526" name="Shape 10"/>
          <p:cNvSpPr/>
          <p:nvPr/>
        </p:nvSpPr>
        <p:spPr bwMode="auto">
          <a:xfrm>
            <a:off x="5444947" y="1965960"/>
            <a:ext cx="1301800" cy="640080"/>
          </a:xfrm>
          <a:custGeom>
            <a:avLst/>
            <a:gdLst/>
            <a:ahLst/>
            <a:cxnLst/>
            <a:rect l="l" t="t" r="r" b="b"/>
            <a:pathLst>
              <a:path w="1301801" h="640080" fill="norm" stroke="1" extrusionOk="0">
                <a:moveTo>
                  <a:pt x="0" y="0"/>
                </a:moveTo>
                <a:lnTo>
                  <a:pt x="1155497" y="0"/>
                </a:lnTo>
                <a:lnTo>
                  <a:pt x="1301801" y="320040"/>
                </a:lnTo>
                <a:lnTo>
                  <a:pt x="1155497" y="640080"/>
                </a:lnTo>
                <a:lnTo>
                  <a:pt x="0" y="640080"/>
                </a:lnTo>
                <a:lnTo>
                  <a:pt x="146304" y="320040"/>
                </a:lnTo>
                <a:close/>
              </a:path>
            </a:pathLst>
          </a:custGeom>
          <a:solidFill>
            <a:schemeClr val="accent1"/>
          </a:solidFill>
          <a:ln/>
        </p:spPr>
      </p:sp>
      <p:sp>
        <p:nvSpPr>
          <p:cNvPr id="1187814091" name="Text 11"/>
          <p:cNvSpPr txBox="1"/>
          <p:nvPr/>
        </p:nvSpPr>
        <p:spPr bwMode="auto">
          <a:xfrm>
            <a:off x="5591251" y="1965960"/>
            <a:ext cx="100919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chemeClr val="bg1"/>
                </a:solidFill>
              </a:rPr>
              <a:t>DHCP и DNS</a:t>
            </a:r>
            <a:endParaRPr lang="en-US" sz="1100"/>
          </a:p>
        </p:txBody>
      </p:sp>
      <p:sp>
        <p:nvSpPr>
          <p:cNvPr id="1968847302" name="Shape 12"/>
          <p:cNvSpPr/>
          <p:nvPr/>
        </p:nvSpPr>
        <p:spPr bwMode="auto">
          <a:xfrm>
            <a:off x="6646164" y="1965960"/>
            <a:ext cx="1301800" cy="640080"/>
          </a:xfrm>
          <a:custGeom>
            <a:avLst/>
            <a:gdLst/>
            <a:ahLst/>
            <a:cxnLst/>
            <a:rect l="l" t="t" r="r" b="b"/>
            <a:pathLst>
              <a:path w="1301801" h="640080" fill="norm" stroke="1" extrusionOk="0">
                <a:moveTo>
                  <a:pt x="0" y="0"/>
                </a:moveTo>
                <a:lnTo>
                  <a:pt x="1155497" y="0"/>
                </a:lnTo>
                <a:lnTo>
                  <a:pt x="1301801" y="320040"/>
                </a:lnTo>
                <a:lnTo>
                  <a:pt x="1155497" y="640080"/>
                </a:lnTo>
                <a:lnTo>
                  <a:pt x="0" y="640080"/>
                </a:lnTo>
                <a:lnTo>
                  <a:pt x="146304" y="320040"/>
                </a:lnTo>
                <a:close/>
              </a:path>
            </a:pathLst>
          </a:custGeom>
          <a:solidFill>
            <a:schemeClr val="accent1"/>
          </a:solidFill>
          <a:ln/>
        </p:spPr>
      </p:sp>
      <p:sp>
        <p:nvSpPr>
          <p:cNvPr id="102803694" name="Text 13"/>
          <p:cNvSpPr txBox="1"/>
          <p:nvPr/>
        </p:nvSpPr>
        <p:spPr bwMode="auto">
          <a:xfrm>
            <a:off x="6792468" y="1965960"/>
            <a:ext cx="100919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chemeClr val="bg1"/>
                </a:solidFill>
              </a:rPr>
              <a:t>HTTPS</a:t>
            </a:r>
            <a:endParaRPr lang="en-US" sz="1100"/>
          </a:p>
        </p:txBody>
      </p:sp>
      <p:sp>
        <p:nvSpPr>
          <p:cNvPr id="651957124" name="Shape 14"/>
          <p:cNvSpPr/>
          <p:nvPr/>
        </p:nvSpPr>
        <p:spPr bwMode="auto">
          <a:xfrm>
            <a:off x="7847381" y="1965960"/>
            <a:ext cx="1301800" cy="640080"/>
          </a:xfrm>
          <a:custGeom>
            <a:avLst/>
            <a:gdLst/>
            <a:ahLst/>
            <a:cxnLst/>
            <a:rect l="l" t="t" r="r" b="b"/>
            <a:pathLst>
              <a:path w="1301801" h="640080" fill="norm" stroke="1" extrusionOk="0">
                <a:moveTo>
                  <a:pt x="0" y="0"/>
                </a:moveTo>
                <a:lnTo>
                  <a:pt x="1155497" y="0"/>
                </a:lnTo>
                <a:lnTo>
                  <a:pt x="1301801" y="320040"/>
                </a:lnTo>
                <a:lnTo>
                  <a:pt x="1155497" y="640080"/>
                </a:lnTo>
                <a:lnTo>
                  <a:pt x="0" y="640080"/>
                </a:lnTo>
                <a:lnTo>
                  <a:pt x="146304" y="320040"/>
                </a:lnTo>
                <a:close/>
              </a:path>
            </a:pathLst>
          </a:custGeom>
          <a:solidFill>
            <a:schemeClr val="accent1"/>
          </a:solidFill>
          <a:ln/>
        </p:spPr>
      </p:sp>
      <p:sp>
        <p:nvSpPr>
          <p:cNvPr id="421274564" name="Text 15"/>
          <p:cNvSpPr txBox="1"/>
          <p:nvPr/>
        </p:nvSpPr>
        <p:spPr bwMode="auto">
          <a:xfrm>
            <a:off x="7993685" y="1965960"/>
            <a:ext cx="100919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chemeClr val="bg1"/>
                </a:solidFill>
              </a:rPr>
              <a:t>Linux запущен</a:t>
            </a:r>
            <a:endParaRPr lang="en-US" sz="1100"/>
          </a:p>
          <a:p>
            <a:pPr marL="0" indent="0" algn="ctr">
              <a:buNone/>
              <a:defRPr/>
            </a:pPr>
            <a:r>
              <a:rPr lang="en-US" sz="1100" b="1">
                <a:solidFill>
                  <a:schemeClr val="bg1"/>
                </a:solidFill>
              </a:rPr>
              <a:t>в оперативке</a:t>
            </a:r>
            <a:endParaRPr lang="en-US" sz="1100"/>
          </a:p>
        </p:txBody>
      </p:sp>
      <p:sp>
        <p:nvSpPr>
          <p:cNvPr id="2106636955" name="Shape 16"/>
          <p:cNvSpPr/>
          <p:nvPr/>
        </p:nvSpPr>
        <p:spPr bwMode="auto">
          <a:xfrm>
            <a:off x="9048598" y="1965960"/>
            <a:ext cx="1301800" cy="640080"/>
          </a:xfrm>
          <a:custGeom>
            <a:avLst/>
            <a:gdLst/>
            <a:ahLst/>
            <a:cxnLst/>
            <a:rect l="l" t="t" r="r" b="b"/>
            <a:pathLst>
              <a:path w="1301801" h="640080" fill="norm" stroke="1" extrusionOk="0">
                <a:moveTo>
                  <a:pt x="0" y="0"/>
                </a:moveTo>
                <a:lnTo>
                  <a:pt x="1155497" y="0"/>
                </a:lnTo>
                <a:lnTo>
                  <a:pt x="1301801" y="320040"/>
                </a:lnTo>
                <a:lnTo>
                  <a:pt x="1155497" y="640080"/>
                </a:lnTo>
                <a:lnTo>
                  <a:pt x="0" y="640080"/>
                </a:lnTo>
                <a:lnTo>
                  <a:pt x="146304" y="320040"/>
                </a:lnTo>
                <a:close/>
              </a:path>
            </a:pathLst>
          </a:custGeom>
          <a:solidFill>
            <a:schemeClr val="accent1"/>
          </a:solidFill>
          <a:ln/>
        </p:spPr>
      </p:sp>
      <p:sp>
        <p:nvSpPr>
          <p:cNvPr id="2071824390" name="Text 17"/>
          <p:cNvSpPr txBox="1"/>
          <p:nvPr/>
        </p:nvSpPr>
        <p:spPr bwMode="auto">
          <a:xfrm>
            <a:off x="9194902" y="1965960"/>
            <a:ext cx="100919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chemeClr val="bg1"/>
                </a:solidFill>
              </a:rPr>
              <a:t>запись</a:t>
            </a:r>
            <a:endParaRPr lang="en-US" sz="1100"/>
          </a:p>
          <a:p>
            <a:pPr marL="0" indent="0" algn="ctr">
              <a:buNone/>
              <a:defRPr/>
            </a:pPr>
            <a:r>
              <a:rPr lang="en-US" sz="1100" b="1">
                <a:solidFill>
                  <a:schemeClr val="bg1"/>
                </a:solidFill>
              </a:rPr>
              <a:t>на диск</a:t>
            </a:r>
            <a:endParaRPr lang="en-US" sz="1100"/>
          </a:p>
        </p:txBody>
      </p:sp>
      <p:sp>
        <p:nvSpPr>
          <p:cNvPr id="174832639" name="Shape 18"/>
          <p:cNvSpPr/>
          <p:nvPr/>
        </p:nvSpPr>
        <p:spPr bwMode="auto">
          <a:xfrm>
            <a:off x="10249814" y="1965960"/>
            <a:ext cx="1301800" cy="640080"/>
          </a:xfrm>
          <a:custGeom>
            <a:avLst/>
            <a:gdLst/>
            <a:ahLst/>
            <a:cxnLst/>
            <a:rect l="l" t="t" r="r" b="b"/>
            <a:pathLst>
              <a:path w="1301801" h="640080" fill="norm" stroke="1" extrusionOk="0">
                <a:moveTo>
                  <a:pt x="0" y="0"/>
                </a:moveTo>
                <a:lnTo>
                  <a:pt x="1155497" y="0"/>
                </a:lnTo>
                <a:lnTo>
                  <a:pt x="1301801" y="320040"/>
                </a:lnTo>
                <a:lnTo>
                  <a:pt x="1155497" y="640080"/>
                </a:lnTo>
                <a:lnTo>
                  <a:pt x="0" y="640080"/>
                </a:lnTo>
                <a:lnTo>
                  <a:pt x="146304" y="320040"/>
                </a:lnTo>
                <a:close/>
              </a:path>
            </a:pathLst>
          </a:custGeom>
          <a:solidFill>
            <a:schemeClr val="accent2"/>
          </a:solidFill>
          <a:ln/>
        </p:spPr>
      </p:sp>
      <p:sp>
        <p:nvSpPr>
          <p:cNvPr id="2042951880" name="Text 19"/>
          <p:cNvSpPr txBox="1"/>
          <p:nvPr/>
        </p:nvSpPr>
        <p:spPr bwMode="auto">
          <a:xfrm>
            <a:off x="10396118" y="1965960"/>
            <a:ext cx="100919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chemeClr val="bg1"/>
                </a:solidFill>
              </a:rPr>
              <a:t>загрузка</a:t>
            </a:r>
            <a:endParaRPr lang="en-US" sz="1100"/>
          </a:p>
          <a:p>
            <a:pPr marL="0" indent="0" algn="ctr">
              <a:buNone/>
              <a:defRPr/>
            </a:pPr>
            <a:r>
              <a:rPr lang="en-US" sz="1100" b="1">
                <a:solidFill>
                  <a:schemeClr val="bg1"/>
                </a:solidFill>
              </a:rPr>
              <a:t>системы</a:t>
            </a:r>
            <a:endParaRPr lang="en-US" sz="1100"/>
          </a:p>
        </p:txBody>
      </p:sp>
      <p:sp>
        <p:nvSpPr>
          <p:cNvPr id="247140993" name="Shape 20"/>
          <p:cNvSpPr/>
          <p:nvPr/>
        </p:nvSpPr>
        <p:spPr bwMode="auto">
          <a:xfrm>
            <a:off x="694944" y="2651760"/>
            <a:ext cx="1082345" cy="73152"/>
          </a:xfrm>
          <a:custGeom>
            <a:avLst/>
            <a:gdLst/>
            <a:ahLst/>
            <a:cxnLst/>
            <a:rect l="l" t="t" r="r" b="b"/>
            <a:pathLst>
              <a:path w="1082345" h="73152" fill="norm" stroke="1" extrusionOk="0">
                <a:moveTo>
                  <a:pt x="0" y="0"/>
                </a:moveTo>
                <a:lnTo>
                  <a:pt x="0" y="45720"/>
                </a:lnTo>
                <a:quadBezTo>
                  <a:pt x="0" y="73152"/>
                  <a:pt x="27432" y="73152"/>
                </a:quadBezTo>
                <a:lnTo>
                  <a:pt x="1054913" y="73152"/>
                </a:lnTo>
                <a:quadBezTo>
                  <a:pt x="1082345" y="73152"/>
                  <a:pt x="1082345" y="45720"/>
                </a:quadBezTo>
                <a:lnTo>
                  <a:pt x="1082345" y="0"/>
                </a:lnTo>
              </a:path>
            </a:pathLst>
          </a:custGeom>
          <a:noFill/>
          <a:ln w="15875">
            <a:solidFill>
              <a:srgbClr val="9AA1A9"/>
            </a:solidFill>
            <a:prstDash val="solid"/>
          </a:ln>
        </p:spPr>
      </p:sp>
      <p:sp>
        <p:nvSpPr>
          <p:cNvPr id="837528388" name="Text 21"/>
          <p:cNvSpPr txBox="1"/>
          <p:nvPr/>
        </p:nvSpPr>
        <p:spPr bwMode="auto">
          <a:xfrm>
            <a:off x="603504" y="2816352"/>
            <a:ext cx="12652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250" b="1">
                <a:solidFill>
                  <a:schemeClr val="accent1"/>
                </a:solidFill>
              </a:rPr>
              <a:t>1 </a:t>
            </a:r>
            <a:r>
              <a:rPr lang="en-US" sz="1250">
                <a:solidFill>
                  <a:schemeClr val="tx1"/>
                </a:solidFill>
              </a:rPr>
              <a:t>стирание</a:t>
            </a:r>
            <a:endParaRPr lang="en-US" sz="1250"/>
          </a:p>
        </p:txBody>
      </p:sp>
      <p:sp>
        <p:nvSpPr>
          <p:cNvPr id="65003353" name="Shape 22"/>
          <p:cNvSpPr/>
          <p:nvPr/>
        </p:nvSpPr>
        <p:spPr bwMode="auto">
          <a:xfrm>
            <a:off x="1896161" y="2651760"/>
            <a:ext cx="4685995" cy="73152"/>
          </a:xfrm>
          <a:custGeom>
            <a:avLst/>
            <a:gdLst/>
            <a:ahLst/>
            <a:cxnLst/>
            <a:rect l="l" t="t" r="r" b="b"/>
            <a:pathLst>
              <a:path w="4685995" h="73152" fill="norm" stroke="1" extrusionOk="0">
                <a:moveTo>
                  <a:pt x="0" y="0"/>
                </a:moveTo>
                <a:lnTo>
                  <a:pt x="0" y="45720"/>
                </a:lnTo>
                <a:quadBezTo>
                  <a:pt x="0" y="73152"/>
                  <a:pt x="27432" y="73152"/>
                </a:quadBezTo>
                <a:lnTo>
                  <a:pt x="4658563" y="73152"/>
                </a:lnTo>
                <a:quadBezTo>
                  <a:pt x="4685995" y="73152"/>
                  <a:pt x="4685995" y="45720"/>
                </a:quadBezTo>
                <a:lnTo>
                  <a:pt x="4685995" y="0"/>
                </a:lnTo>
              </a:path>
            </a:pathLst>
          </a:custGeom>
          <a:noFill/>
          <a:ln w="15875">
            <a:solidFill>
              <a:srgbClr val="9AA1A9"/>
            </a:solidFill>
            <a:prstDash val="solid"/>
          </a:ln>
        </p:spPr>
      </p:sp>
      <p:sp>
        <p:nvSpPr>
          <p:cNvPr id="1288181387" name="Text 23"/>
          <p:cNvSpPr txBox="1"/>
          <p:nvPr/>
        </p:nvSpPr>
        <p:spPr bwMode="auto">
          <a:xfrm>
            <a:off x="1804721" y="2816352"/>
            <a:ext cx="486887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250" b="1">
                <a:solidFill>
                  <a:schemeClr val="accent1"/>
                </a:solidFill>
              </a:rPr>
              <a:t>2 </a:t>
            </a:r>
            <a:r>
              <a:rPr lang="en-US" sz="1250">
                <a:solidFill>
                  <a:schemeClr val="tx1"/>
                </a:solidFill>
              </a:rPr>
              <a:t>сетевая загрузка</a:t>
            </a:r>
            <a:endParaRPr lang="en-US" sz="1250"/>
          </a:p>
        </p:txBody>
      </p:sp>
      <p:sp>
        <p:nvSpPr>
          <p:cNvPr id="1574046438" name="Shape 24"/>
          <p:cNvSpPr/>
          <p:nvPr/>
        </p:nvSpPr>
        <p:spPr bwMode="auto">
          <a:xfrm>
            <a:off x="6701028" y="2651760"/>
            <a:ext cx="1082345" cy="73152"/>
          </a:xfrm>
          <a:custGeom>
            <a:avLst/>
            <a:gdLst/>
            <a:ahLst/>
            <a:cxnLst/>
            <a:rect l="l" t="t" r="r" b="b"/>
            <a:pathLst>
              <a:path w="1082345" h="73152" fill="norm" stroke="1" extrusionOk="0">
                <a:moveTo>
                  <a:pt x="0" y="0"/>
                </a:moveTo>
                <a:lnTo>
                  <a:pt x="0" y="45720"/>
                </a:lnTo>
                <a:quadBezTo>
                  <a:pt x="0" y="73152"/>
                  <a:pt x="27432" y="73152"/>
                </a:quadBezTo>
                <a:lnTo>
                  <a:pt x="1054913" y="73152"/>
                </a:lnTo>
                <a:quadBezTo>
                  <a:pt x="1082345" y="73152"/>
                  <a:pt x="1082345" y="45720"/>
                </a:quadBezTo>
                <a:lnTo>
                  <a:pt x="1082345" y="0"/>
                </a:lnTo>
              </a:path>
            </a:pathLst>
          </a:custGeom>
          <a:noFill/>
          <a:ln w="15875">
            <a:solidFill>
              <a:srgbClr val="9AA1A9"/>
            </a:solidFill>
            <a:prstDash val="solid"/>
          </a:ln>
        </p:spPr>
      </p:sp>
      <p:sp>
        <p:nvSpPr>
          <p:cNvPr id="1028830994" name="Text 25"/>
          <p:cNvSpPr txBox="1"/>
          <p:nvPr/>
        </p:nvSpPr>
        <p:spPr bwMode="auto">
          <a:xfrm>
            <a:off x="6609588" y="2816352"/>
            <a:ext cx="12652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250" b="1">
                <a:solidFill>
                  <a:schemeClr val="accent1"/>
                </a:solidFill>
              </a:rPr>
              <a:t>3 </a:t>
            </a:r>
            <a:r>
              <a:rPr lang="en-US" sz="1250">
                <a:solidFill>
                  <a:schemeClr val="tx1"/>
                </a:solidFill>
              </a:rPr>
              <a:t>скачивание среды</a:t>
            </a:r>
            <a:endParaRPr lang="en-US" sz="1250"/>
          </a:p>
        </p:txBody>
      </p:sp>
      <p:sp>
        <p:nvSpPr>
          <p:cNvPr id="171488710" name="Shape 26"/>
          <p:cNvSpPr/>
          <p:nvPr/>
        </p:nvSpPr>
        <p:spPr bwMode="auto">
          <a:xfrm>
            <a:off x="7902245" y="2651760"/>
            <a:ext cx="2283562" cy="73152"/>
          </a:xfrm>
          <a:custGeom>
            <a:avLst/>
            <a:gdLst/>
            <a:ahLst/>
            <a:cxnLst/>
            <a:rect l="l" t="t" r="r" b="b"/>
            <a:pathLst>
              <a:path w="2283562" h="73152" fill="norm" stroke="1" extrusionOk="0">
                <a:moveTo>
                  <a:pt x="0" y="0"/>
                </a:moveTo>
                <a:lnTo>
                  <a:pt x="0" y="45720"/>
                </a:lnTo>
                <a:quadBezTo>
                  <a:pt x="0" y="73152"/>
                  <a:pt x="27432" y="73152"/>
                </a:quadBezTo>
                <a:lnTo>
                  <a:pt x="2256130" y="73152"/>
                </a:lnTo>
                <a:quadBezTo>
                  <a:pt x="2283562" y="73152"/>
                  <a:pt x="2283562" y="45720"/>
                </a:quadBezTo>
                <a:lnTo>
                  <a:pt x="2283562" y="0"/>
                </a:lnTo>
              </a:path>
            </a:pathLst>
          </a:custGeom>
          <a:noFill/>
          <a:ln w="15875">
            <a:solidFill>
              <a:srgbClr val="9AA1A9"/>
            </a:solidFill>
            <a:prstDash val="solid"/>
          </a:ln>
        </p:spPr>
      </p:sp>
      <p:sp>
        <p:nvSpPr>
          <p:cNvPr id="1164187097" name="Text 27"/>
          <p:cNvSpPr txBox="1"/>
          <p:nvPr/>
        </p:nvSpPr>
        <p:spPr bwMode="auto">
          <a:xfrm>
            <a:off x="7810805" y="2816352"/>
            <a:ext cx="246644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250" b="1">
                <a:solidFill>
                  <a:schemeClr val="accent1"/>
                </a:solidFill>
              </a:rPr>
              <a:t>4 </a:t>
            </a:r>
            <a:r>
              <a:rPr lang="en-US" sz="1250">
                <a:solidFill>
                  <a:schemeClr val="tx1"/>
                </a:solidFill>
              </a:rPr>
              <a:t>запуск среды</a:t>
            </a:r>
            <a:endParaRPr lang="en-US" sz="1250"/>
          </a:p>
          <a:p>
            <a:pPr marL="0" indent="0" algn="ctr">
              <a:buNone/>
              <a:defRPr/>
            </a:pPr>
            <a:r>
              <a:rPr lang="en-US" sz="1250" b="1">
                <a:solidFill>
                  <a:schemeClr val="accent1"/>
                </a:solidFill>
              </a:rPr>
              <a:t>5 </a:t>
            </a:r>
            <a:r>
              <a:rPr lang="en-US" sz="1250">
                <a:solidFill>
                  <a:schemeClr val="tx1"/>
                </a:solidFill>
              </a:rPr>
              <a:t>скачивание образов</a:t>
            </a:r>
            <a:endParaRPr lang="en-US" sz="1250"/>
          </a:p>
          <a:p>
            <a:pPr marL="0" indent="0" algn="ctr">
              <a:buNone/>
              <a:defRPr/>
            </a:pPr>
            <a:r>
              <a:rPr lang="en-US" sz="1250" b="1">
                <a:solidFill>
                  <a:schemeClr val="accent1"/>
                </a:solidFill>
              </a:rPr>
              <a:t>6 </a:t>
            </a:r>
            <a:r>
              <a:rPr lang="en-US" sz="1250">
                <a:solidFill>
                  <a:schemeClr val="tx1"/>
                </a:solidFill>
              </a:rPr>
              <a:t>проверка</a:t>
            </a:r>
            <a:endParaRPr lang="en-US" sz="1250"/>
          </a:p>
          <a:p>
            <a:pPr marL="0" indent="0" algn="ctr">
              <a:buNone/>
              <a:defRPr/>
            </a:pPr>
            <a:r>
              <a:rPr lang="en-US" sz="1250" b="1">
                <a:solidFill>
                  <a:schemeClr val="accent1"/>
                </a:solidFill>
              </a:rPr>
              <a:t>7 </a:t>
            </a:r>
            <a:r>
              <a:rPr lang="en-US" sz="1250">
                <a:solidFill>
                  <a:schemeClr val="tx1"/>
                </a:solidFill>
              </a:rPr>
              <a:t>запись</a:t>
            </a:r>
            <a:endParaRPr lang="en-US" sz="1250"/>
          </a:p>
        </p:txBody>
      </p:sp>
      <p:sp>
        <p:nvSpPr>
          <p:cNvPr id="1098408970" name="Shape 28"/>
          <p:cNvSpPr/>
          <p:nvPr/>
        </p:nvSpPr>
        <p:spPr bwMode="auto">
          <a:xfrm>
            <a:off x="10304678" y="2651760"/>
            <a:ext cx="1082345" cy="73152"/>
          </a:xfrm>
          <a:custGeom>
            <a:avLst/>
            <a:gdLst/>
            <a:ahLst/>
            <a:cxnLst/>
            <a:rect l="l" t="t" r="r" b="b"/>
            <a:pathLst>
              <a:path w="1082345" h="73152" fill="norm" stroke="1" extrusionOk="0">
                <a:moveTo>
                  <a:pt x="0" y="0"/>
                </a:moveTo>
                <a:lnTo>
                  <a:pt x="0" y="45720"/>
                </a:lnTo>
                <a:quadBezTo>
                  <a:pt x="0" y="73152"/>
                  <a:pt x="27432" y="73152"/>
                </a:quadBezTo>
                <a:lnTo>
                  <a:pt x="1054913" y="73152"/>
                </a:lnTo>
                <a:quadBezTo>
                  <a:pt x="1082345" y="73152"/>
                  <a:pt x="1082345" y="45720"/>
                </a:quadBezTo>
                <a:lnTo>
                  <a:pt x="1082345" y="0"/>
                </a:lnTo>
              </a:path>
            </a:pathLst>
          </a:custGeom>
          <a:noFill/>
          <a:ln w="15875">
            <a:solidFill>
              <a:srgbClr val="9AA1A9"/>
            </a:solidFill>
            <a:prstDash val="solid"/>
          </a:ln>
        </p:spPr>
      </p:sp>
      <p:sp>
        <p:nvSpPr>
          <p:cNvPr id="859937157" name="Text 29"/>
          <p:cNvSpPr txBox="1"/>
          <p:nvPr/>
        </p:nvSpPr>
        <p:spPr bwMode="auto">
          <a:xfrm>
            <a:off x="10213238" y="2816352"/>
            <a:ext cx="12652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250" b="1">
                <a:solidFill>
                  <a:schemeClr val="accent1"/>
                </a:solidFill>
              </a:rPr>
              <a:t>8 </a:t>
            </a:r>
            <a:r>
              <a:rPr lang="en-US" sz="1250">
                <a:solidFill>
                  <a:schemeClr val="tx1"/>
                </a:solidFill>
              </a:rPr>
              <a:t>перезагрузка</a:t>
            </a:r>
            <a:endParaRPr lang="en-US" sz="1250"/>
          </a:p>
        </p:txBody>
      </p:sp>
      <p:sp>
        <p:nvSpPr>
          <p:cNvPr id="1994438648" name="Shape 30"/>
          <p:cNvSpPr/>
          <p:nvPr/>
        </p:nvSpPr>
        <p:spPr bwMode="auto">
          <a:xfrm>
            <a:off x="640080" y="4434840"/>
            <a:ext cx="5318608" cy="13258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92760183" name="Text 31"/>
          <p:cNvSpPr txBox="1"/>
          <p:nvPr/>
        </p:nvSpPr>
        <p:spPr bwMode="auto">
          <a:xfrm>
            <a:off x="804672" y="4507992"/>
            <a:ext cx="504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chemeClr val="tx1"/>
                </a:solidFill>
              </a:rPr>
              <a:t>Остаётся на ноутбуке</a:t>
            </a:r>
            <a:endParaRPr lang="en-US" sz="1600"/>
          </a:p>
        </p:txBody>
      </p:sp>
      <p:sp>
        <p:nvSpPr>
          <p:cNvPr id="842214807" name="Text 32"/>
          <p:cNvSpPr txBox="1"/>
          <p:nvPr/>
        </p:nvSpPr>
        <p:spPr bwMode="auto">
          <a:xfrm>
            <a:off x="804672" y="4855464"/>
            <a:ext cx="504428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  <a:defRPr/>
            </a:pPr>
            <a:r>
              <a:rPr lang="en-US" sz="1400">
                <a:solidFill>
                  <a:schemeClr val="tx1"/>
                </a:solidFill>
              </a:rPr>
              <a:t>systemd-boot: переключатель Arch или iPXE</a:t>
            </a:r>
            <a:endParaRPr lang="en-US" sz="1400"/>
          </a:p>
          <a:p>
            <a:pPr marL="203200" indent="-203200">
              <a:spcAft>
                <a:spcPts val="600"/>
              </a:spcAft>
              <a:buSzPct val="100000"/>
              <a:buChar char="•"/>
              <a:defRPr/>
            </a:pPr>
            <a:r>
              <a:rPr lang="en-US" sz="1400">
                <a:solidFill>
                  <a:schemeClr val="tx1"/>
                </a:solidFill>
              </a:rPr>
              <a:t>ipxe.efi: встроенный osreboot.ipxe и корни ISRG</a:t>
            </a:r>
            <a:endParaRPr lang="en-US" sz="1400"/>
          </a:p>
          <a:p>
            <a:pPr marL="203200" indent="-203200">
              <a:spcAft>
                <a:spcPts val="600"/>
              </a:spcAft>
              <a:buSzPct val="100000"/>
              <a:buChar char="•"/>
              <a:defRPr/>
            </a:pPr>
            <a:r>
              <a:rPr lang="en-US" sz="1400">
                <a:solidFill>
                  <a:schemeClr val="tx1"/>
                </a:solidFill>
              </a:rPr>
              <a:t>LoaderEntryDefault в NVRAM: грузиться в iPXE</a:t>
            </a:r>
            <a:endParaRPr lang="en-US" sz="1400"/>
          </a:p>
        </p:txBody>
      </p:sp>
      <p:sp>
        <p:nvSpPr>
          <p:cNvPr id="1166897441" name="Shape 33"/>
          <p:cNvSpPr/>
          <p:nvPr/>
        </p:nvSpPr>
        <p:spPr bwMode="auto">
          <a:xfrm>
            <a:off x="6233008" y="4434840"/>
            <a:ext cx="5318608" cy="13258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778498816" name="Text 34"/>
          <p:cNvSpPr txBox="1"/>
          <p:nvPr/>
        </p:nvSpPr>
        <p:spPr bwMode="auto">
          <a:xfrm>
            <a:off x="6397600" y="4507992"/>
            <a:ext cx="504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chemeClr val="tx1"/>
                </a:solidFill>
              </a:rPr>
              <a:t>Приходит с VPS по HTTPS</a:t>
            </a:r>
            <a:endParaRPr lang="en-US" sz="1600"/>
          </a:p>
        </p:txBody>
      </p:sp>
      <p:sp>
        <p:nvSpPr>
          <p:cNvPr id="1122328" name="Text 35"/>
          <p:cNvSpPr txBox="1"/>
          <p:nvPr/>
        </p:nvSpPr>
        <p:spPr bwMode="auto">
          <a:xfrm>
            <a:off x="6397600" y="4855464"/>
            <a:ext cx="504428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  <a:defRPr/>
            </a:pPr>
            <a:r>
              <a:rPr lang="en-US" sz="1400">
                <a:solidFill>
                  <a:schemeClr val="tx1"/>
                </a:solidFill>
              </a:rPr>
              <a:t>boot.ipxe: что загрузить</a:t>
            </a:r>
            <a:endParaRPr lang="en-US" sz="1400"/>
          </a:p>
          <a:p>
            <a:pPr marL="203200" indent="-203200">
              <a:spcAft>
                <a:spcPts val="600"/>
              </a:spcAft>
              <a:buSzPct val="100000"/>
              <a:buChar char="•"/>
              <a:defRPr/>
            </a:pPr>
            <a:r>
              <a:rPr lang="en-US" sz="1400">
                <a:solidFill>
                  <a:schemeClr val="tx1"/>
                </a:solidFill>
              </a:rPr>
              <a:t>osreboot-recovery.efi: UKI, Linux в оперативке</a:t>
            </a:r>
            <a:endParaRPr lang="en-US" sz="1400"/>
          </a:p>
          <a:p>
            <a:pPr marL="203200" indent="-203200">
              <a:spcAft>
                <a:spcPts val="600"/>
              </a:spcAft>
              <a:buSzPct val="100000"/>
              <a:buChar char="•"/>
              <a:defRPr/>
            </a:pPr>
            <a:r>
              <a:rPr lang="en-US" sz="1400">
                <a:solidFill>
                  <a:schemeClr val="tx1"/>
                </a:solidFill>
              </a:rPr>
              <a:t>образы системы и SHA256SUMS</a:t>
            </a:r>
            <a:endParaRPr lang="en-US" sz="1400"/>
          </a:p>
        </p:txBody>
      </p:sp>
      <p:sp>
        <p:nvSpPr>
          <p:cNvPr id="707684996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0820095" y="6382512"/>
            <a:ext cx="73152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9636E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5741880" name="Text 0"/>
          <p:cNvSpPr/>
          <p:nvPr>
            <p:ph type="title" idx="100" hasCustomPrompt="1"/>
          </p:nvPr>
        </p:nvSpPr>
        <p:spPr bwMode="auto">
          <a:xfrm>
            <a:off x="640080" y="4114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800" b="1">
                <a:solidFill>
                  <a:schemeClr val="tx1"/>
                </a:solidFill>
              </a:rPr>
              <a:t>Репозиторий</a:t>
            </a:r>
            <a:endParaRPr lang="en-US" sz="2800"/>
          </a:p>
        </p:txBody>
      </p:sp>
      <p:sp>
        <p:nvSpPr>
          <p:cNvPr id="1634045465" name="Text 1"/>
          <p:cNvSpPr txBox="1"/>
          <p:nvPr/>
        </p:nvSpPr>
        <p:spPr bwMode="auto">
          <a:xfrm>
            <a:off x="640080" y="89611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chemeClr val="accent4"/>
                </a:solidFill>
              </a:rPr>
              <a:t>github.com/Irenid/OSreboot</a:t>
            </a:r>
            <a:endParaRPr lang="en-US" sz="1500"/>
          </a:p>
        </p:txBody>
      </p:sp>
      <p:sp>
        <p:nvSpPr>
          <p:cNvPr id="1512231198" name="Shape 2"/>
          <p:cNvSpPr/>
          <p:nvPr/>
        </p:nvSpPr>
        <p:spPr bwMode="auto">
          <a:xfrm>
            <a:off x="640080" y="1371600"/>
            <a:ext cx="10911535" cy="4169664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78909606" name="Text 3"/>
          <p:cNvSpPr txBox="1"/>
          <p:nvPr/>
        </p:nvSpPr>
        <p:spPr bwMode="auto">
          <a:xfrm>
            <a:off x="914400" y="1463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OSreboot/</a:t>
            </a:r>
            <a:endParaRPr lang="en-US" sz="1500"/>
          </a:p>
        </p:txBody>
      </p:sp>
      <p:sp>
        <p:nvSpPr>
          <p:cNvPr id="1218935057" name="Text 4"/>
          <p:cNvSpPr txBox="1"/>
          <p:nvPr/>
        </p:nvSpPr>
        <p:spPr bwMode="auto">
          <a:xfrm>
            <a:off x="3429000" y="1463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chemeClr val="accent4"/>
                </a:solidFill>
              </a:rPr>
              <a:t>Что внутри</a:t>
            </a:r>
            <a:endParaRPr lang="en-US" sz="1200"/>
          </a:p>
        </p:txBody>
      </p:sp>
      <p:sp>
        <p:nvSpPr>
          <p:cNvPr id="1408753949" name="Shape 5"/>
          <p:cNvSpPr/>
          <p:nvPr/>
        </p:nvSpPr>
        <p:spPr bwMode="auto">
          <a:xfrm>
            <a:off x="987552" y="2148840"/>
            <a:ext cx="182880" cy="0"/>
          </a:xfrm>
          <a:prstGeom prst="line">
            <a:avLst/>
          </a:prstGeom>
          <a:noFill/>
          <a:ln w="15875">
            <a:solidFill>
              <a:srgbClr val="9AA1A9"/>
            </a:solidFill>
            <a:prstDash val="solid"/>
          </a:ln>
        </p:spPr>
      </p:sp>
      <p:sp>
        <p:nvSpPr>
          <p:cNvPr id="782397748" name="Text 6"/>
          <p:cNvSpPr txBox="1"/>
          <p:nvPr/>
        </p:nvSpPr>
        <p:spPr bwMode="auto">
          <a:xfrm>
            <a:off x="1243584" y="1933955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0-test-system/</a:t>
            </a:r>
            <a:endParaRPr lang="en-US" sz="1500"/>
          </a:p>
        </p:txBody>
      </p:sp>
      <p:sp>
        <p:nvSpPr>
          <p:cNvPr id="81872985" name="Text 7"/>
          <p:cNvSpPr txBox="1"/>
          <p:nvPr/>
        </p:nvSpPr>
        <p:spPr bwMode="auto">
          <a:xfrm>
            <a:off x="3429000" y="1920240"/>
            <a:ext cx="7939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tx1"/>
                </a:solidFill>
              </a:rPr>
              <a:t>Система (mkosi)</a:t>
            </a:r>
            <a:endParaRPr lang="en-US" sz="1400"/>
          </a:p>
        </p:txBody>
      </p:sp>
      <p:sp>
        <p:nvSpPr>
          <p:cNvPr id="739047229" name="Shape 8"/>
          <p:cNvSpPr/>
          <p:nvPr/>
        </p:nvSpPr>
        <p:spPr bwMode="auto">
          <a:xfrm>
            <a:off x="987552" y="2606040"/>
            <a:ext cx="182880" cy="0"/>
          </a:xfrm>
          <a:prstGeom prst="line">
            <a:avLst/>
          </a:prstGeom>
          <a:noFill/>
          <a:ln w="15875">
            <a:solidFill>
              <a:srgbClr val="9AA1A9"/>
            </a:solidFill>
            <a:prstDash val="solid"/>
          </a:ln>
        </p:spPr>
      </p:sp>
      <p:sp>
        <p:nvSpPr>
          <p:cNvPr id="360819898" name="Text 9"/>
          <p:cNvSpPr txBox="1"/>
          <p:nvPr/>
        </p:nvSpPr>
        <p:spPr bwMode="auto">
          <a:xfrm>
            <a:off x="1243584" y="239115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1-wipe/</a:t>
            </a:r>
            <a:endParaRPr lang="en-US" sz="1500"/>
          </a:p>
        </p:txBody>
      </p:sp>
      <p:sp>
        <p:nvSpPr>
          <p:cNvPr id="1034978505" name="Text 10"/>
          <p:cNvSpPr txBox="1"/>
          <p:nvPr/>
        </p:nvSpPr>
        <p:spPr bwMode="auto">
          <a:xfrm>
            <a:off x="3429000" y="2377440"/>
            <a:ext cx="7939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tx1"/>
                </a:solidFill>
              </a:rPr>
              <a:t>Скрипт затирание и сброс</a:t>
            </a:r>
            <a:endParaRPr lang="en-US" sz="1400"/>
          </a:p>
        </p:txBody>
      </p:sp>
      <p:sp>
        <p:nvSpPr>
          <p:cNvPr id="1512118621" name="Shape 11"/>
          <p:cNvSpPr/>
          <p:nvPr/>
        </p:nvSpPr>
        <p:spPr bwMode="auto">
          <a:xfrm>
            <a:off x="987552" y="3063240"/>
            <a:ext cx="182880" cy="0"/>
          </a:xfrm>
          <a:prstGeom prst="line">
            <a:avLst/>
          </a:prstGeom>
          <a:noFill/>
          <a:ln w="15875">
            <a:solidFill>
              <a:srgbClr val="9AA1A9"/>
            </a:solidFill>
            <a:prstDash val="solid"/>
          </a:ln>
        </p:spPr>
      </p:sp>
      <p:sp>
        <p:nvSpPr>
          <p:cNvPr id="943396169" name="Text 12"/>
          <p:cNvSpPr txBox="1"/>
          <p:nvPr/>
        </p:nvSpPr>
        <p:spPr bwMode="auto">
          <a:xfrm>
            <a:off x="1243584" y="284835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2-ipxe/</a:t>
            </a:r>
            <a:endParaRPr lang="en-US" sz="1500"/>
          </a:p>
        </p:txBody>
      </p:sp>
      <p:sp>
        <p:nvSpPr>
          <p:cNvPr id="1055399775" name="Text 13"/>
          <p:cNvSpPr txBox="1"/>
          <p:nvPr/>
        </p:nvSpPr>
        <p:spPr bwMode="auto">
          <a:xfrm>
            <a:off x="3429000" y="2834640"/>
            <a:ext cx="7939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tx1"/>
                </a:solidFill>
              </a:rPr>
              <a:t>Сборка iPXE, osreboot.ipxe, boot.ipxe</a:t>
            </a:r>
            <a:endParaRPr lang="en-US" sz="1400"/>
          </a:p>
        </p:txBody>
      </p:sp>
      <p:sp>
        <p:nvSpPr>
          <p:cNvPr id="292000621" name="Shape 14"/>
          <p:cNvSpPr/>
          <p:nvPr/>
        </p:nvSpPr>
        <p:spPr bwMode="auto">
          <a:xfrm>
            <a:off x="987552" y="3520440"/>
            <a:ext cx="182880" cy="0"/>
          </a:xfrm>
          <a:prstGeom prst="line">
            <a:avLst/>
          </a:prstGeom>
          <a:noFill/>
          <a:ln w="15875">
            <a:solidFill>
              <a:srgbClr val="9AA1A9"/>
            </a:solidFill>
            <a:prstDash val="solid"/>
          </a:ln>
        </p:spPr>
      </p:sp>
      <p:sp>
        <p:nvSpPr>
          <p:cNvPr id="837114735" name="Text 15"/>
          <p:cNvSpPr txBox="1"/>
          <p:nvPr/>
        </p:nvSpPr>
        <p:spPr bwMode="auto">
          <a:xfrm>
            <a:off x="1243584" y="330555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3-recovery/</a:t>
            </a:r>
            <a:endParaRPr lang="en-US" sz="1500"/>
          </a:p>
        </p:txBody>
      </p:sp>
      <p:sp>
        <p:nvSpPr>
          <p:cNvPr id="377268749" name="Text 16"/>
          <p:cNvSpPr txBox="1"/>
          <p:nvPr/>
        </p:nvSpPr>
        <p:spPr bwMode="auto">
          <a:xfrm>
            <a:off x="3429000" y="3291840"/>
            <a:ext cx="7939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tx1"/>
                </a:solidFill>
              </a:rPr>
              <a:t>UKI: osreboot-recovery — скачивание, SHA-256, dd</a:t>
            </a:r>
            <a:endParaRPr lang="en-US" sz="1400"/>
          </a:p>
        </p:txBody>
      </p:sp>
      <p:sp>
        <p:nvSpPr>
          <p:cNvPr id="1479044487" name="Shape 17"/>
          <p:cNvSpPr/>
          <p:nvPr/>
        </p:nvSpPr>
        <p:spPr bwMode="auto">
          <a:xfrm>
            <a:off x="1325880" y="3831336"/>
            <a:ext cx="1004285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589547382" name="Shape 18"/>
          <p:cNvSpPr/>
          <p:nvPr/>
        </p:nvSpPr>
        <p:spPr bwMode="auto">
          <a:xfrm>
            <a:off x="987552" y="4142232"/>
            <a:ext cx="182880" cy="0"/>
          </a:xfrm>
          <a:prstGeom prst="line">
            <a:avLst/>
          </a:prstGeom>
          <a:noFill/>
          <a:ln w="15875">
            <a:solidFill>
              <a:srgbClr val="9AA1A9"/>
            </a:solidFill>
            <a:prstDash val="solid"/>
          </a:ln>
        </p:spPr>
      </p:sp>
      <p:sp>
        <p:nvSpPr>
          <p:cNvPr id="1498196729" name="Text 19"/>
          <p:cNvSpPr txBox="1"/>
          <p:nvPr/>
        </p:nvSpPr>
        <p:spPr bwMode="auto">
          <a:xfrm>
            <a:off x="1243584" y="39273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client/</a:t>
            </a:r>
            <a:endParaRPr lang="en-US" sz="1500"/>
          </a:p>
        </p:txBody>
      </p:sp>
      <p:sp>
        <p:nvSpPr>
          <p:cNvPr id="1801575206" name="Text 20"/>
          <p:cNvSpPr txBox="1"/>
          <p:nvPr/>
        </p:nvSpPr>
        <p:spPr bwMode="auto">
          <a:xfrm>
            <a:off x="3429000" y="3913632"/>
            <a:ext cx="7939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tx1"/>
                </a:solidFill>
              </a:rPr>
              <a:t>osreboot-client: heartbeat и этапы</a:t>
            </a:r>
            <a:endParaRPr lang="en-US" sz="1400"/>
          </a:p>
        </p:txBody>
      </p:sp>
      <p:sp>
        <p:nvSpPr>
          <p:cNvPr id="583757524" name="Shape 21"/>
          <p:cNvSpPr/>
          <p:nvPr/>
        </p:nvSpPr>
        <p:spPr bwMode="auto">
          <a:xfrm>
            <a:off x="987552" y="4599432"/>
            <a:ext cx="182880" cy="0"/>
          </a:xfrm>
          <a:prstGeom prst="line">
            <a:avLst/>
          </a:prstGeom>
          <a:noFill/>
          <a:ln w="15875">
            <a:solidFill>
              <a:srgbClr val="9AA1A9"/>
            </a:solidFill>
            <a:prstDash val="solid"/>
          </a:ln>
        </p:spPr>
      </p:sp>
      <p:sp>
        <p:nvSpPr>
          <p:cNvPr id="880776316" name="Text 22"/>
          <p:cNvSpPr txBox="1"/>
          <p:nvPr/>
        </p:nvSpPr>
        <p:spPr bwMode="auto">
          <a:xfrm>
            <a:off x="1243584" y="43845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server/</a:t>
            </a:r>
            <a:endParaRPr lang="en-US" sz="1500"/>
          </a:p>
        </p:txBody>
      </p:sp>
      <p:sp>
        <p:nvSpPr>
          <p:cNvPr id="2074168433" name="Text 23"/>
          <p:cNvSpPr txBox="1"/>
          <p:nvPr/>
        </p:nvSpPr>
        <p:spPr bwMode="auto">
          <a:xfrm>
            <a:off x="3429000" y="4370832"/>
            <a:ext cx="7939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src/</a:t>
            </a:r>
            <a:r>
              <a:rPr lang="en-US" sz="1400">
                <a:solidFill>
                  <a:schemeClr val="tx1"/>
                </a:solidFill>
              </a:rPr>
              <a:t> сервер · </a:t>
            </a:r>
            <a:r>
              <a:rPr lang="en-US" sz="14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web/</a:t>
            </a:r>
            <a:r>
              <a:rPr lang="en-US" sz="1400">
                <a:solidFill>
                  <a:schemeClr val="tx1"/>
                </a:solidFill>
              </a:rPr>
              <a:t> страница · </a:t>
            </a:r>
            <a:r>
              <a:rPr lang="en-US" sz="14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deploy/</a:t>
            </a:r>
            <a:r>
              <a:rPr lang="en-US" sz="1400">
                <a:solidFill>
                  <a:schemeClr val="tx1"/>
                </a:solidFill>
              </a:rPr>
              <a:t> конфиги VPS</a:t>
            </a:r>
            <a:endParaRPr lang="en-US" sz="1400"/>
          </a:p>
        </p:txBody>
      </p:sp>
      <p:sp>
        <p:nvSpPr>
          <p:cNvPr id="144813808" name="Shape 24"/>
          <p:cNvSpPr/>
          <p:nvPr/>
        </p:nvSpPr>
        <p:spPr bwMode="auto">
          <a:xfrm>
            <a:off x="1325880" y="4910328"/>
            <a:ext cx="1004285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94941334" name="Shape 25"/>
          <p:cNvSpPr/>
          <p:nvPr/>
        </p:nvSpPr>
        <p:spPr bwMode="auto">
          <a:xfrm>
            <a:off x="987552" y="5221224"/>
            <a:ext cx="182880" cy="0"/>
          </a:xfrm>
          <a:prstGeom prst="line">
            <a:avLst/>
          </a:prstGeom>
          <a:noFill/>
          <a:ln w="15875">
            <a:solidFill>
              <a:srgbClr val="9AA1A9"/>
            </a:solidFill>
            <a:prstDash val="solid"/>
          </a:ln>
        </p:spPr>
      </p:sp>
      <p:sp>
        <p:nvSpPr>
          <p:cNvPr id="551586564" name="Text 26"/>
          <p:cNvSpPr txBox="1"/>
          <p:nvPr/>
        </p:nvSpPr>
        <p:spPr bwMode="auto">
          <a:xfrm>
            <a:off x="1243584" y="50063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extra/</a:t>
            </a:r>
            <a:endParaRPr lang="en-US" sz="1500"/>
          </a:p>
        </p:txBody>
      </p:sp>
      <p:sp>
        <p:nvSpPr>
          <p:cNvPr id="2039498021" name="Text 27"/>
          <p:cNvSpPr txBox="1"/>
          <p:nvPr/>
        </p:nvSpPr>
        <p:spPr bwMode="auto">
          <a:xfrm>
            <a:off x="3429000" y="4992624"/>
            <a:ext cx="7939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figures/</a:t>
            </a:r>
            <a:r>
              <a:rPr lang="en-US" sz="1400">
                <a:solidFill>
                  <a:schemeClr val="tx1"/>
                </a:solidFill>
              </a:rPr>
              <a:t> · </a:t>
            </a:r>
            <a:r>
              <a:rPr lang="en-US" sz="14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paper/</a:t>
            </a:r>
            <a:r>
              <a:rPr lang="en-US" sz="1400">
                <a:solidFill>
                  <a:schemeClr val="tx1"/>
                </a:solidFill>
              </a:rPr>
              <a:t> · </a:t>
            </a:r>
            <a:r>
              <a:rPr lang="en-US" sz="14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presentation/</a:t>
            </a:r>
            <a:r>
              <a:rPr lang="en-US" sz="1400">
                <a:solidFill>
                  <a:schemeClr val="tx1"/>
                </a:solidFill>
              </a:rPr>
              <a:t> · </a:t>
            </a:r>
            <a:r>
              <a:rPr lang="en-US" sz="14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results/</a:t>
            </a:r>
            <a:endParaRPr lang="en-US" sz="1400"/>
          </a:p>
        </p:txBody>
      </p:sp>
      <p:sp>
        <p:nvSpPr>
          <p:cNvPr id="2128124148" name="Shape 28"/>
          <p:cNvSpPr/>
          <p:nvPr/>
        </p:nvSpPr>
        <p:spPr bwMode="auto">
          <a:xfrm>
            <a:off x="987552" y="1865376"/>
            <a:ext cx="0" cy="3355848"/>
          </a:xfrm>
          <a:prstGeom prst="line">
            <a:avLst/>
          </a:prstGeom>
          <a:noFill/>
          <a:ln w="15875">
            <a:solidFill>
              <a:srgbClr val="9AA1A9"/>
            </a:solidFill>
            <a:prstDash val="solid"/>
          </a:ln>
        </p:spPr>
      </p:sp>
      <p:sp>
        <p:nvSpPr>
          <p:cNvPr id="577750990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0820095" y="6382512"/>
            <a:ext cx="73152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9636E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8050329" name="Text 0"/>
          <p:cNvSpPr/>
          <p:nvPr>
            <p:ph type="title" idx="100" hasCustomPrompt="1"/>
          </p:nvPr>
        </p:nvSpPr>
        <p:spPr bwMode="auto">
          <a:xfrm>
            <a:off x="640080" y="4114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800" b="1">
                <a:solidFill>
                  <a:schemeClr val="tx1"/>
                </a:solidFill>
              </a:rPr>
              <a:t>Стереть и перезагрузить</a:t>
            </a:r>
            <a:endParaRPr lang="en-US" sz="2800"/>
          </a:p>
        </p:txBody>
      </p:sp>
      <p:sp>
        <p:nvSpPr>
          <p:cNvPr id="1525148433" name="Shape 1"/>
          <p:cNvSpPr/>
          <p:nvPr/>
        </p:nvSpPr>
        <p:spPr bwMode="auto">
          <a:xfrm>
            <a:off x="640080" y="1280160"/>
            <a:ext cx="7269480" cy="3163824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54661228" name="Text 2"/>
          <p:cNvSpPr txBox="1"/>
          <p:nvPr/>
        </p:nvSpPr>
        <p:spPr bwMode="auto">
          <a:xfrm>
            <a:off x="822960" y="1280160"/>
            <a:ext cx="6903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1-wipe/osreboot-wipe</a:t>
            </a:r>
            <a:endParaRPr lang="en-US" sz="1100"/>
          </a:p>
        </p:txBody>
      </p:sp>
      <p:sp>
        <p:nvSpPr>
          <p:cNvPr id="1434257773" name="Shape 3"/>
          <p:cNvSpPr/>
          <p:nvPr/>
        </p:nvSpPr>
        <p:spPr bwMode="auto">
          <a:xfrm>
            <a:off x="640080" y="1645920"/>
            <a:ext cx="7269480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808067160" name="Shape 4"/>
          <p:cNvSpPr/>
          <p:nvPr/>
        </p:nvSpPr>
        <p:spPr bwMode="auto">
          <a:xfrm>
            <a:off x="651053" y="1737360"/>
            <a:ext cx="7247534" cy="23774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1759411778" name="Text 5"/>
          <p:cNvSpPr txBox="1"/>
          <p:nvPr/>
        </p:nvSpPr>
        <p:spPr bwMode="auto">
          <a:xfrm>
            <a:off x="745236" y="1741932"/>
            <a:ext cx="228600" cy="2286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chemeClr val="bg1"/>
                </a:solidFill>
              </a:rPr>
              <a:t>1</a:t>
            </a:r>
            <a:endParaRPr lang="en-US" sz="1050"/>
          </a:p>
        </p:txBody>
      </p:sp>
      <p:sp>
        <p:nvSpPr>
          <p:cNvPr id="1296609459" name="Text 6"/>
          <p:cNvSpPr txBox="1"/>
          <p:nvPr/>
        </p:nvSpPr>
        <p:spPr bwMode="auto">
          <a:xfrm>
            <a:off x="1024128" y="1737360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76</a:t>
            </a:r>
            <a:endParaRPr lang="en-US" sz="900"/>
          </a:p>
        </p:txBody>
      </p:sp>
      <p:sp>
        <p:nvSpPr>
          <p:cNvPr id="193260195" name="Text 7"/>
          <p:cNvSpPr txBox="1"/>
          <p:nvPr/>
        </p:nvSpPr>
        <p:spPr bwMode="auto">
          <a:xfrm>
            <a:off x="1371600" y="1737360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efibootmgr --delete-bootnext &gt;/dev/null 2&gt;&amp;1 || true</a:t>
            </a:r>
            <a:endParaRPr lang="en-US" sz="1050"/>
          </a:p>
        </p:txBody>
      </p:sp>
      <p:sp>
        <p:nvSpPr>
          <p:cNvPr id="1528132168" name="Shape 8"/>
          <p:cNvSpPr/>
          <p:nvPr/>
        </p:nvSpPr>
        <p:spPr bwMode="auto">
          <a:xfrm>
            <a:off x="651053" y="1975104"/>
            <a:ext cx="7247534" cy="23774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883294038" name="Text 9"/>
          <p:cNvSpPr txBox="1"/>
          <p:nvPr/>
        </p:nvSpPr>
        <p:spPr bwMode="auto">
          <a:xfrm>
            <a:off x="1024128" y="1975104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77</a:t>
            </a:r>
            <a:endParaRPr lang="en-US" sz="900"/>
          </a:p>
        </p:txBody>
      </p:sp>
      <p:sp>
        <p:nvSpPr>
          <p:cNvPr id="1894118991" name="Text 10"/>
          <p:cNvSpPr txBox="1"/>
          <p:nvPr/>
        </p:nvSpPr>
        <p:spPr bwMode="auto">
          <a:xfrm>
            <a:off x="1371600" y="1975104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bootctl set-oneshot ""</a:t>
            </a:r>
            <a:endParaRPr lang="en-US" sz="1050"/>
          </a:p>
        </p:txBody>
      </p:sp>
      <p:sp>
        <p:nvSpPr>
          <p:cNvPr id="734876685" name="Shape 11"/>
          <p:cNvSpPr/>
          <p:nvPr/>
        </p:nvSpPr>
        <p:spPr bwMode="auto">
          <a:xfrm>
            <a:off x="651053" y="2212848"/>
            <a:ext cx="7247534" cy="23774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196636019" name="Text 12"/>
          <p:cNvSpPr txBox="1"/>
          <p:nvPr/>
        </p:nvSpPr>
        <p:spPr bwMode="auto">
          <a:xfrm>
            <a:off x="1024128" y="2212848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78</a:t>
            </a:r>
            <a:endParaRPr lang="en-US" sz="900"/>
          </a:p>
        </p:txBody>
      </p:sp>
      <p:sp>
        <p:nvSpPr>
          <p:cNvPr id="584572230" name="Text 13"/>
          <p:cNvSpPr txBox="1"/>
          <p:nvPr/>
        </p:nvSpPr>
        <p:spPr bwMode="auto">
          <a:xfrm>
            <a:off x="1371600" y="2212848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bootctl set-default "$IPXE_ENTRY"</a:t>
            </a:r>
            <a:endParaRPr lang="en-US" sz="1050"/>
          </a:p>
        </p:txBody>
      </p:sp>
      <p:sp>
        <p:nvSpPr>
          <p:cNvPr id="1179347579" name="Shape 14"/>
          <p:cNvSpPr/>
          <p:nvPr/>
        </p:nvSpPr>
        <p:spPr bwMode="auto">
          <a:xfrm>
            <a:off x="651053" y="2450592"/>
            <a:ext cx="7247534" cy="23774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1131763983" name="Text 15"/>
          <p:cNvSpPr txBox="1"/>
          <p:nvPr/>
        </p:nvSpPr>
        <p:spPr bwMode="auto">
          <a:xfrm>
            <a:off x="745236" y="2455164"/>
            <a:ext cx="228600" cy="2286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chemeClr val="bg1"/>
                </a:solidFill>
              </a:rPr>
              <a:t>2</a:t>
            </a:r>
            <a:endParaRPr lang="en-US" sz="1050"/>
          </a:p>
        </p:txBody>
      </p:sp>
      <p:sp>
        <p:nvSpPr>
          <p:cNvPr id="1087558004" name="Text 16"/>
          <p:cNvSpPr txBox="1"/>
          <p:nvPr/>
        </p:nvSpPr>
        <p:spPr bwMode="auto">
          <a:xfrm>
            <a:off x="1024128" y="2450592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79</a:t>
            </a:r>
            <a:endParaRPr lang="en-US" sz="900"/>
          </a:p>
        </p:txBody>
      </p:sp>
      <p:sp>
        <p:nvSpPr>
          <p:cNvPr id="2097148331" name="Text 17"/>
          <p:cNvSpPr txBox="1"/>
          <p:nvPr/>
        </p:nvSpPr>
        <p:spPr bwMode="auto">
          <a:xfrm>
            <a:off x="1371600" y="2450592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systemctl stop osreboot-heartbeat.service</a:t>
            </a:r>
            <a:endParaRPr lang="en-US" sz="1050"/>
          </a:p>
        </p:txBody>
      </p:sp>
      <p:sp>
        <p:nvSpPr>
          <p:cNvPr id="2015792542" name="Shape 18"/>
          <p:cNvSpPr/>
          <p:nvPr/>
        </p:nvSpPr>
        <p:spPr bwMode="auto">
          <a:xfrm>
            <a:off x="651053" y="2688336"/>
            <a:ext cx="7247534" cy="23774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609361814" name="Text 19"/>
          <p:cNvSpPr txBox="1"/>
          <p:nvPr/>
        </p:nvSpPr>
        <p:spPr bwMode="auto">
          <a:xfrm>
            <a:off x="1024128" y="2688336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80</a:t>
            </a:r>
            <a:endParaRPr lang="en-US" sz="900"/>
          </a:p>
        </p:txBody>
      </p:sp>
      <p:sp>
        <p:nvSpPr>
          <p:cNvPr id="1735227036" name="Text 20"/>
          <p:cNvSpPr txBox="1"/>
          <p:nvPr/>
        </p:nvSpPr>
        <p:spPr bwMode="auto">
          <a:xfrm>
            <a:off x="1371600" y="2688336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report wipe - "overwriting $ESP_LABEL and $ROOT_LABEL"</a:t>
            </a:r>
            <a:endParaRPr lang="en-US" sz="1050"/>
          </a:p>
        </p:txBody>
      </p:sp>
      <p:sp>
        <p:nvSpPr>
          <p:cNvPr id="1894898076" name="Shape 21"/>
          <p:cNvSpPr/>
          <p:nvPr/>
        </p:nvSpPr>
        <p:spPr bwMode="auto">
          <a:xfrm>
            <a:off x="651053" y="2926080"/>
            <a:ext cx="7247534" cy="23774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827370649" name="Text 22"/>
          <p:cNvSpPr txBox="1"/>
          <p:nvPr/>
        </p:nvSpPr>
        <p:spPr bwMode="auto">
          <a:xfrm>
            <a:off x="1024128" y="2926080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81</a:t>
            </a:r>
            <a:endParaRPr lang="en-US" sz="900"/>
          </a:p>
        </p:txBody>
      </p:sp>
      <p:sp>
        <p:nvSpPr>
          <p:cNvPr id="881180141" name="Text 23"/>
          <p:cNvSpPr txBox="1"/>
          <p:nvPr/>
        </p:nvSpPr>
        <p:spPr bwMode="auto">
          <a:xfrm>
            <a:off x="1371600" y="2926080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report netboot - "wiped, rebooting into the network boot, default $IPXE_ENTRY"</a:t>
            </a:r>
            <a:endParaRPr lang="en-US" sz="1050"/>
          </a:p>
        </p:txBody>
      </p:sp>
      <p:sp>
        <p:nvSpPr>
          <p:cNvPr id="1272549849" name="Shape 24"/>
          <p:cNvSpPr/>
          <p:nvPr/>
        </p:nvSpPr>
        <p:spPr bwMode="auto">
          <a:xfrm>
            <a:off x="651053" y="3163824"/>
            <a:ext cx="7247534" cy="23774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1312267304" name="Text 25"/>
          <p:cNvSpPr txBox="1"/>
          <p:nvPr/>
        </p:nvSpPr>
        <p:spPr bwMode="auto">
          <a:xfrm>
            <a:off x="745236" y="3168396"/>
            <a:ext cx="228600" cy="2286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chemeClr val="bg1"/>
                </a:solidFill>
              </a:rPr>
              <a:t>3</a:t>
            </a:r>
            <a:endParaRPr lang="en-US" sz="1050"/>
          </a:p>
        </p:txBody>
      </p:sp>
      <p:sp>
        <p:nvSpPr>
          <p:cNvPr id="724472175" name="Text 26"/>
          <p:cNvSpPr txBox="1"/>
          <p:nvPr/>
        </p:nvSpPr>
        <p:spPr bwMode="auto">
          <a:xfrm>
            <a:off x="1024128" y="3163824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82</a:t>
            </a:r>
            <a:endParaRPr lang="en-US" sz="900"/>
          </a:p>
        </p:txBody>
      </p:sp>
      <p:sp>
        <p:nvSpPr>
          <p:cNvPr id="1259450071" name="Text 27"/>
          <p:cNvSpPr txBox="1"/>
          <p:nvPr/>
        </p:nvSpPr>
        <p:spPr bwMode="auto">
          <a:xfrm>
            <a:off x="1371600" y="3163824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sync</a:t>
            </a:r>
            <a:endParaRPr lang="en-US" sz="1050"/>
          </a:p>
        </p:txBody>
      </p:sp>
      <p:sp>
        <p:nvSpPr>
          <p:cNvPr id="1616739419" name="Shape 28"/>
          <p:cNvSpPr/>
          <p:nvPr/>
        </p:nvSpPr>
        <p:spPr bwMode="auto">
          <a:xfrm>
            <a:off x="651053" y="3401568"/>
            <a:ext cx="7247534" cy="23774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2086047565" name="Text 29"/>
          <p:cNvSpPr txBox="1"/>
          <p:nvPr/>
        </p:nvSpPr>
        <p:spPr bwMode="auto">
          <a:xfrm>
            <a:off x="1024128" y="3401568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83</a:t>
            </a:r>
            <a:endParaRPr lang="en-US" sz="900"/>
          </a:p>
        </p:txBody>
      </p:sp>
      <p:sp>
        <p:nvSpPr>
          <p:cNvPr id="718566477" name="Text 30"/>
          <p:cNvSpPr txBox="1"/>
          <p:nvPr/>
        </p:nvSpPr>
        <p:spPr bwMode="auto">
          <a:xfrm>
            <a:off x="1371600" y="3401568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echo u &gt;/proc/sysrq-trigger</a:t>
            </a:r>
            <a:endParaRPr lang="en-US" sz="1050"/>
          </a:p>
        </p:txBody>
      </p:sp>
      <p:sp>
        <p:nvSpPr>
          <p:cNvPr id="326202424" name="Shape 31"/>
          <p:cNvSpPr/>
          <p:nvPr/>
        </p:nvSpPr>
        <p:spPr bwMode="auto">
          <a:xfrm>
            <a:off x="651053" y="3639312"/>
            <a:ext cx="7247534" cy="23774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1649944352" name="Text 32"/>
          <p:cNvSpPr txBox="1"/>
          <p:nvPr/>
        </p:nvSpPr>
        <p:spPr bwMode="auto">
          <a:xfrm>
            <a:off x="1024128" y="3639312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84</a:t>
            </a:r>
            <a:endParaRPr lang="en-US" sz="900"/>
          </a:p>
        </p:txBody>
      </p:sp>
      <p:sp>
        <p:nvSpPr>
          <p:cNvPr id="1531134945" name="Text 33"/>
          <p:cNvSpPr txBox="1"/>
          <p:nvPr/>
        </p:nvSpPr>
        <p:spPr bwMode="auto">
          <a:xfrm>
            <a:off x="1371600" y="3639312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dd if=/dev/zero of="$esp" bs=1M count=$WIPE_MIB oflag=direct status=none</a:t>
            </a:r>
            <a:endParaRPr lang="en-US" sz="1050"/>
          </a:p>
        </p:txBody>
      </p:sp>
      <p:sp>
        <p:nvSpPr>
          <p:cNvPr id="1549710251" name="Shape 34"/>
          <p:cNvSpPr/>
          <p:nvPr/>
        </p:nvSpPr>
        <p:spPr bwMode="auto">
          <a:xfrm>
            <a:off x="651053" y="3877056"/>
            <a:ext cx="7247534" cy="23774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1947736750" name="Text 35"/>
          <p:cNvSpPr txBox="1"/>
          <p:nvPr/>
        </p:nvSpPr>
        <p:spPr bwMode="auto">
          <a:xfrm>
            <a:off x="1024128" y="3877056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85</a:t>
            </a:r>
            <a:endParaRPr lang="en-US" sz="900"/>
          </a:p>
        </p:txBody>
      </p:sp>
      <p:sp>
        <p:nvSpPr>
          <p:cNvPr id="15632468" name="Text 36"/>
          <p:cNvSpPr txBox="1"/>
          <p:nvPr/>
        </p:nvSpPr>
        <p:spPr bwMode="auto">
          <a:xfrm>
            <a:off x="1371600" y="3877056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dd if=/dev/zero of="$root" bs=1M count=$WIPE_MIB oflag=direct status=none</a:t>
            </a:r>
            <a:endParaRPr lang="en-US" sz="1050"/>
          </a:p>
        </p:txBody>
      </p:sp>
      <p:sp>
        <p:nvSpPr>
          <p:cNvPr id="1583653865" name="Shape 37"/>
          <p:cNvSpPr/>
          <p:nvPr/>
        </p:nvSpPr>
        <p:spPr bwMode="auto">
          <a:xfrm>
            <a:off x="651053" y="4114800"/>
            <a:ext cx="7247534" cy="23774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982935836" name="Text 38"/>
          <p:cNvSpPr txBox="1"/>
          <p:nvPr/>
        </p:nvSpPr>
        <p:spPr bwMode="auto">
          <a:xfrm>
            <a:off x="745236" y="4119372"/>
            <a:ext cx="228600" cy="2286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chemeClr val="bg1"/>
                </a:solidFill>
              </a:rPr>
              <a:t>4</a:t>
            </a:r>
            <a:endParaRPr lang="en-US" sz="1050"/>
          </a:p>
        </p:txBody>
      </p:sp>
      <p:sp>
        <p:nvSpPr>
          <p:cNvPr id="266956360" name="Text 39"/>
          <p:cNvSpPr txBox="1"/>
          <p:nvPr/>
        </p:nvSpPr>
        <p:spPr bwMode="auto">
          <a:xfrm>
            <a:off x="1024128" y="4114800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86</a:t>
            </a:r>
            <a:endParaRPr lang="en-US" sz="900"/>
          </a:p>
        </p:txBody>
      </p:sp>
      <p:sp>
        <p:nvSpPr>
          <p:cNvPr id="604885264" name="Text 40"/>
          <p:cNvSpPr txBox="1"/>
          <p:nvPr/>
        </p:nvSpPr>
        <p:spPr bwMode="auto">
          <a:xfrm>
            <a:off x="1371600" y="4114800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echo b &gt;/proc/sysrq-trigger</a:t>
            </a:r>
            <a:endParaRPr lang="en-US" sz="1050"/>
          </a:p>
        </p:txBody>
      </p:sp>
      <p:sp>
        <p:nvSpPr>
          <p:cNvPr id="779780869" name="Text 41"/>
          <p:cNvSpPr txBox="1"/>
          <p:nvPr/>
        </p:nvSpPr>
        <p:spPr bwMode="auto">
          <a:xfrm>
            <a:off x="8229600" y="1307592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chemeClr val="bg1"/>
                </a:solidFill>
              </a:rPr>
              <a:t>1</a:t>
            </a:r>
            <a:endParaRPr lang="en-US" sz="1100"/>
          </a:p>
        </p:txBody>
      </p:sp>
      <p:sp>
        <p:nvSpPr>
          <p:cNvPr id="1634428079" name="Text 42"/>
          <p:cNvSpPr txBox="1"/>
          <p:nvPr/>
        </p:nvSpPr>
        <p:spPr bwMode="auto">
          <a:xfrm>
            <a:off x="8613648" y="1280160"/>
            <a:ext cx="293796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bootctl set-default</a:t>
            </a:r>
            <a:endParaRPr lang="en-US" sz="1450"/>
          </a:p>
        </p:txBody>
      </p:sp>
      <p:sp>
        <p:nvSpPr>
          <p:cNvPr id="103071300" name="Text 43"/>
          <p:cNvSpPr txBox="1"/>
          <p:nvPr/>
        </p:nvSpPr>
        <p:spPr bwMode="auto">
          <a:xfrm>
            <a:off x="8613648" y="1645920"/>
            <a:ext cx="293796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accent4"/>
                </a:solidFill>
              </a:rPr>
              <a:t>LoaderEntryDefault в NVRAM: все загрузки идут в iPXE</a:t>
            </a:r>
            <a:endParaRPr lang="en-US" sz="1300"/>
          </a:p>
        </p:txBody>
      </p:sp>
      <p:sp>
        <p:nvSpPr>
          <p:cNvPr id="868389377" name="Text 44"/>
          <p:cNvSpPr txBox="1"/>
          <p:nvPr/>
        </p:nvSpPr>
        <p:spPr bwMode="auto">
          <a:xfrm>
            <a:off x="8229600" y="2112264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chemeClr val="bg1"/>
                </a:solidFill>
              </a:rPr>
              <a:t>2</a:t>
            </a:r>
            <a:endParaRPr lang="en-US" sz="1100"/>
          </a:p>
        </p:txBody>
      </p:sp>
      <p:sp>
        <p:nvSpPr>
          <p:cNvPr id="324377878" name="Text 45"/>
          <p:cNvSpPr txBox="1"/>
          <p:nvPr/>
        </p:nvSpPr>
        <p:spPr bwMode="auto">
          <a:xfrm>
            <a:off x="8613648" y="2084832"/>
            <a:ext cx="293796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chemeClr val="tx1"/>
                </a:solidFill>
              </a:rPr>
              <a:t>Отчёты серверу</a:t>
            </a:r>
            <a:endParaRPr lang="en-US" sz="1450"/>
          </a:p>
        </p:txBody>
      </p:sp>
      <p:sp>
        <p:nvSpPr>
          <p:cNvPr id="402201466" name="Text 46"/>
          <p:cNvSpPr txBox="1"/>
          <p:nvPr/>
        </p:nvSpPr>
        <p:spPr bwMode="auto">
          <a:xfrm>
            <a:off x="8613648" y="2450592"/>
            <a:ext cx="293796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accent4"/>
                </a:solidFill>
              </a:rPr>
              <a:t>heartbeat стоп, этапы wipe и netboot уходят, пока система цела</a:t>
            </a:r>
            <a:endParaRPr lang="en-US" sz="1300"/>
          </a:p>
        </p:txBody>
      </p:sp>
      <p:sp>
        <p:nvSpPr>
          <p:cNvPr id="117267708" name="Text 47"/>
          <p:cNvSpPr txBox="1"/>
          <p:nvPr/>
        </p:nvSpPr>
        <p:spPr bwMode="auto">
          <a:xfrm>
            <a:off x="8229600" y="2916936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chemeClr val="bg1"/>
                </a:solidFill>
              </a:rPr>
              <a:t>3</a:t>
            </a:r>
            <a:endParaRPr lang="en-US" sz="1100"/>
          </a:p>
        </p:txBody>
      </p:sp>
      <p:sp>
        <p:nvSpPr>
          <p:cNvPr id="1800368515" name="Text 48"/>
          <p:cNvSpPr txBox="1"/>
          <p:nvPr/>
        </p:nvSpPr>
        <p:spPr bwMode="auto">
          <a:xfrm>
            <a:off x="8613648" y="2889504"/>
            <a:ext cx="293796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chemeClr val="tx1"/>
                </a:solidFill>
              </a:rPr>
              <a:t>Затирание</a:t>
            </a:r>
            <a:endParaRPr lang="en-US" sz="1450"/>
          </a:p>
        </p:txBody>
      </p:sp>
      <p:sp>
        <p:nvSpPr>
          <p:cNvPr id="639005285" name="Text 49"/>
          <p:cNvSpPr txBox="1"/>
          <p:nvPr/>
        </p:nvSpPr>
        <p:spPr bwMode="auto">
          <a:xfrm>
            <a:off x="8613648" y="3255264"/>
            <a:ext cx="293796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accent4"/>
                </a:solidFill>
              </a:rPr>
              <a:t>sysrq u: ФС только чтение, dd пишет нули в начало разделов</a:t>
            </a:r>
            <a:endParaRPr lang="en-US" sz="1300"/>
          </a:p>
        </p:txBody>
      </p:sp>
      <p:sp>
        <p:nvSpPr>
          <p:cNvPr id="1903466443" name="Text 50"/>
          <p:cNvSpPr txBox="1"/>
          <p:nvPr/>
        </p:nvSpPr>
        <p:spPr bwMode="auto">
          <a:xfrm>
            <a:off x="8229600" y="3721608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chemeClr val="bg1"/>
                </a:solidFill>
              </a:rPr>
              <a:t>4</a:t>
            </a:r>
            <a:endParaRPr lang="en-US" sz="1100"/>
          </a:p>
        </p:txBody>
      </p:sp>
      <p:sp>
        <p:nvSpPr>
          <p:cNvPr id="895796646" name="Text 51"/>
          <p:cNvSpPr txBox="1"/>
          <p:nvPr/>
        </p:nvSpPr>
        <p:spPr bwMode="auto">
          <a:xfrm>
            <a:off x="8613648" y="3694176"/>
            <a:ext cx="293796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chemeClr val="tx1"/>
                </a:solidFill>
              </a:rPr>
              <a:t>Сброс</a:t>
            </a:r>
            <a:endParaRPr lang="en-US" sz="1450"/>
          </a:p>
        </p:txBody>
      </p:sp>
      <p:sp>
        <p:nvSpPr>
          <p:cNvPr id="1936664158" name="Text 52"/>
          <p:cNvSpPr txBox="1"/>
          <p:nvPr/>
        </p:nvSpPr>
        <p:spPr bwMode="auto">
          <a:xfrm>
            <a:off x="8613648" y="4059936"/>
            <a:ext cx="293796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accent4"/>
                </a:solidFill>
              </a:rPr>
              <a:t>sysrq b: перезагрузка сразу, без выключения</a:t>
            </a:r>
            <a:endParaRPr lang="en-US" sz="1300"/>
          </a:p>
        </p:txBody>
      </p:sp>
      <p:sp>
        <p:nvSpPr>
          <p:cNvPr id="1095978509" name="Shape 53"/>
          <p:cNvSpPr/>
          <p:nvPr/>
        </p:nvSpPr>
        <p:spPr bwMode="auto">
          <a:xfrm>
            <a:off x="640080" y="4572000"/>
            <a:ext cx="10911535" cy="1691640"/>
          </a:xfrm>
          <a:prstGeom prst="rect">
            <a:avLst/>
          </a:prstGeom>
          <a:solidFill>
            <a:schemeClr val="bg2"/>
          </a:solidFill>
          <a:ln w="15875">
            <a:solidFill>
              <a:srgbClr val="9AA1A9"/>
            </a:solidFill>
            <a:prstDash val="dash"/>
          </a:ln>
        </p:spPr>
      </p:sp>
      <p:sp>
        <p:nvSpPr>
          <p:cNvPr id="1174265282" name="Text 54"/>
          <p:cNvSpPr txBox="1"/>
          <p:nvPr/>
        </p:nvSpPr>
        <p:spPr bwMode="auto">
          <a:xfrm>
            <a:off x="914400" y="4572000"/>
            <a:ext cx="1036289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  <a:defRPr/>
            </a:pPr>
            <a:r>
              <a:rPr lang="en-US" sz="1200" b="1">
                <a:solidFill>
                  <a:schemeClr val="accent4"/>
                </a:solidFill>
              </a:rPr>
              <a:t>СКРИНШОТ</a:t>
            </a:r>
            <a:endParaRPr lang="en-US" sz="1200"/>
          </a:p>
          <a:p>
            <a:pPr marL="0" indent="0" algn="ctr">
              <a:spcAft>
                <a:spcPts val="400"/>
              </a:spcAft>
              <a:buNone/>
              <a:defRPr/>
            </a:pPr>
            <a:r>
              <a:rPr lang="en-US" sz="1200">
                <a:solidFill>
                  <a:schemeClr val="tx1"/>
                </a:solidFill>
              </a:rPr>
              <a:t>терминал ПК: ssh -p 2221 root@epsti.site osreboot-wipe --apply — план и обрыв соединения</a:t>
            </a:r>
            <a:endParaRPr lang="en-US" sz="1200"/>
          </a:p>
          <a:p>
            <a:pPr marL="0" indent="0" algn="ctr">
              <a:spcAft>
                <a:spcPts val="400"/>
              </a:spcAft>
              <a:buNone/>
              <a:defRPr/>
            </a:pPr>
            <a:r>
              <a:rPr lang="en-US" sz="120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img/shot-1-wipe.png</a:t>
            </a:r>
            <a:endParaRPr lang="en-US" sz="1200"/>
          </a:p>
        </p:txBody>
      </p:sp>
      <p:sp>
        <p:nvSpPr>
          <p:cNvPr id="752055778" name="Text 55"/>
          <p:cNvSpPr txBox="1"/>
          <p:nvPr/>
        </p:nvSpPr>
        <p:spPr bwMode="auto">
          <a:xfrm>
            <a:off x="640080" y="638251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 b="1">
                <a:solidFill>
                  <a:schemeClr val="accent1"/>
                </a:solidFill>
              </a:rPr>
              <a:t>1 стирание</a:t>
            </a:r>
            <a:r>
              <a:rPr lang="en-US" sz="1050">
                <a:solidFill>
                  <a:schemeClr val="tx1"/>
                </a:solidFill>
              </a:rPr>
              <a:t>     </a:t>
            </a:r>
            <a:r>
              <a:rPr lang="en-US" sz="1050">
                <a:solidFill>
                  <a:schemeClr val="accent4"/>
                </a:solidFill>
              </a:rPr>
              <a:t>2 сетевая загрузка</a:t>
            </a:r>
            <a:r>
              <a:rPr lang="en-US" sz="1050">
                <a:solidFill>
                  <a:schemeClr val="tx1"/>
                </a:solidFill>
              </a:rPr>
              <a:t>     </a:t>
            </a:r>
            <a:r>
              <a:rPr lang="en-US" sz="1050">
                <a:solidFill>
                  <a:schemeClr val="accent4"/>
                </a:solidFill>
              </a:rPr>
              <a:t>3 скачивание среды</a:t>
            </a:r>
            <a:r>
              <a:rPr lang="en-US" sz="1050">
                <a:solidFill>
                  <a:schemeClr val="tx1"/>
                </a:solidFill>
              </a:rPr>
              <a:t>     </a:t>
            </a:r>
            <a:r>
              <a:rPr lang="en-US" sz="1050">
                <a:solidFill>
                  <a:schemeClr val="accent4"/>
                </a:solidFill>
              </a:rPr>
              <a:t>4 запуск среды</a:t>
            </a:r>
            <a:r>
              <a:rPr lang="en-US" sz="1050">
                <a:solidFill>
                  <a:schemeClr val="tx1"/>
                </a:solidFill>
              </a:rPr>
              <a:t>     </a:t>
            </a:r>
            <a:r>
              <a:rPr lang="en-US" sz="1050">
                <a:solidFill>
                  <a:schemeClr val="accent4"/>
                </a:solidFill>
              </a:rPr>
              <a:t>5 скачивание образов</a:t>
            </a:r>
            <a:r>
              <a:rPr lang="en-US" sz="1050">
                <a:solidFill>
                  <a:schemeClr val="tx1"/>
                </a:solidFill>
              </a:rPr>
              <a:t>     </a:t>
            </a:r>
            <a:r>
              <a:rPr lang="en-US" sz="1050">
                <a:solidFill>
                  <a:schemeClr val="accent4"/>
                </a:solidFill>
              </a:rPr>
              <a:t>6 проверка</a:t>
            </a:r>
            <a:r>
              <a:rPr lang="en-US" sz="1050">
                <a:solidFill>
                  <a:schemeClr val="tx1"/>
                </a:solidFill>
              </a:rPr>
              <a:t>     </a:t>
            </a:r>
            <a:r>
              <a:rPr lang="en-US" sz="1050">
                <a:solidFill>
                  <a:schemeClr val="accent4"/>
                </a:solidFill>
              </a:rPr>
              <a:t>7 запись</a:t>
            </a:r>
            <a:r>
              <a:rPr lang="en-US" sz="1050">
                <a:solidFill>
                  <a:schemeClr val="tx1"/>
                </a:solidFill>
              </a:rPr>
              <a:t>     </a:t>
            </a:r>
            <a:r>
              <a:rPr lang="en-US" sz="1050">
                <a:solidFill>
                  <a:schemeClr val="accent4"/>
                </a:solidFill>
              </a:rPr>
              <a:t>8 перезагрузка</a:t>
            </a:r>
            <a:endParaRPr lang="en-US" sz="1050"/>
          </a:p>
        </p:txBody>
      </p:sp>
      <p:sp>
        <p:nvSpPr>
          <p:cNvPr id="439418089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0820095" y="6382512"/>
            <a:ext cx="73152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9636E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7633958" name="Text 0"/>
          <p:cNvSpPr/>
          <p:nvPr>
            <p:ph type="title" idx="100" hasCustomPrompt="1"/>
          </p:nvPr>
        </p:nvSpPr>
        <p:spPr bwMode="auto">
          <a:xfrm>
            <a:off x="640080" y="4114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800" b="1">
                <a:solidFill>
                  <a:schemeClr val="tx1"/>
                </a:solidFill>
              </a:rPr>
              <a:t>Как собирается ipxe.efi</a:t>
            </a:r>
            <a:endParaRPr lang="en-US" sz="2800"/>
          </a:p>
        </p:txBody>
      </p:sp>
      <p:sp>
        <p:nvSpPr>
          <p:cNvPr id="205741675" name="Text 1"/>
          <p:cNvSpPr txBox="1"/>
          <p:nvPr/>
        </p:nvSpPr>
        <p:spPr bwMode="auto">
          <a:xfrm>
            <a:off x="640080" y="89611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chemeClr val="accent4"/>
                </a:solidFill>
              </a:rPr>
              <a:t>build.sh собирает iPXE из исходников, install-ipxe.sh кладёт его на ESP основной системы</a:t>
            </a:r>
            <a:endParaRPr lang="en-US" sz="1500"/>
          </a:p>
        </p:txBody>
      </p:sp>
      <p:sp>
        <p:nvSpPr>
          <p:cNvPr id="1781847681" name="Shape 2"/>
          <p:cNvSpPr/>
          <p:nvPr/>
        </p:nvSpPr>
        <p:spPr bwMode="auto">
          <a:xfrm>
            <a:off x="640080" y="1325880"/>
            <a:ext cx="6858000" cy="3163824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54447326" name="Text 3"/>
          <p:cNvSpPr txBox="1"/>
          <p:nvPr/>
        </p:nvSpPr>
        <p:spPr bwMode="auto">
          <a:xfrm>
            <a:off x="822960" y="132588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2-ipxe/build.sh</a:t>
            </a:r>
            <a:endParaRPr lang="en-US" sz="1100"/>
          </a:p>
        </p:txBody>
      </p:sp>
      <p:sp>
        <p:nvSpPr>
          <p:cNvPr id="1310945107" name="Shape 4"/>
          <p:cNvSpPr/>
          <p:nvPr/>
        </p:nvSpPr>
        <p:spPr bwMode="auto">
          <a:xfrm>
            <a:off x="640080" y="1691640"/>
            <a:ext cx="6858000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1292145987" name="Shape 5"/>
          <p:cNvSpPr/>
          <p:nvPr/>
        </p:nvSpPr>
        <p:spPr bwMode="auto">
          <a:xfrm>
            <a:off x="651053" y="1783080"/>
            <a:ext cx="6836054" cy="23774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921479863" name="Text 6"/>
          <p:cNvSpPr txBox="1"/>
          <p:nvPr/>
        </p:nvSpPr>
        <p:spPr bwMode="auto">
          <a:xfrm>
            <a:off x="745236" y="1787651"/>
            <a:ext cx="228600" cy="2286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chemeClr val="bg1"/>
                </a:solidFill>
              </a:rPr>
              <a:t>1</a:t>
            </a:r>
            <a:endParaRPr lang="en-US" sz="1050"/>
          </a:p>
        </p:txBody>
      </p:sp>
      <p:sp>
        <p:nvSpPr>
          <p:cNvPr id="819104131" name="Text 7"/>
          <p:cNvSpPr txBox="1"/>
          <p:nvPr/>
        </p:nvSpPr>
        <p:spPr bwMode="auto">
          <a:xfrm>
            <a:off x="1024128" y="1783080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5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8</a:t>
            </a:r>
            <a:endParaRPr lang="en-US" sz="950"/>
          </a:p>
        </p:txBody>
      </p:sp>
      <p:sp>
        <p:nvSpPr>
          <p:cNvPr id="399500445" name="Text 8"/>
          <p:cNvSpPr txBox="1"/>
          <p:nvPr/>
        </p:nvSpPr>
        <p:spPr bwMode="auto">
          <a:xfrm>
            <a:off x="1417320" y="1783080"/>
            <a:ext cx="60350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IPXE_COMMIT=a03f9eda42e6271bc9c4fab20602b0a764b443ce</a:t>
            </a:r>
            <a:endParaRPr lang="en-US" sz="1100"/>
          </a:p>
        </p:txBody>
      </p:sp>
      <p:sp>
        <p:nvSpPr>
          <p:cNvPr id="1930793474" name="Text 9"/>
          <p:cNvSpPr txBox="1"/>
          <p:nvPr/>
        </p:nvSpPr>
        <p:spPr bwMode="auto">
          <a:xfrm>
            <a:off x="1417320" y="2020824"/>
            <a:ext cx="60350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⋮</a:t>
            </a:r>
            <a:endParaRPr lang="en-US" sz="1100"/>
          </a:p>
        </p:txBody>
      </p:sp>
      <p:sp>
        <p:nvSpPr>
          <p:cNvPr id="515833228" name="Shape 10"/>
          <p:cNvSpPr/>
          <p:nvPr/>
        </p:nvSpPr>
        <p:spPr bwMode="auto">
          <a:xfrm>
            <a:off x="651053" y="2258568"/>
            <a:ext cx="6836054" cy="23774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413661133" name="Text 11"/>
          <p:cNvSpPr txBox="1"/>
          <p:nvPr/>
        </p:nvSpPr>
        <p:spPr bwMode="auto">
          <a:xfrm>
            <a:off x="745236" y="2263140"/>
            <a:ext cx="228600" cy="2286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chemeClr val="bg1"/>
                </a:solidFill>
              </a:rPr>
              <a:t>1</a:t>
            </a:r>
            <a:endParaRPr lang="en-US" sz="1050"/>
          </a:p>
        </p:txBody>
      </p:sp>
      <p:sp>
        <p:nvSpPr>
          <p:cNvPr id="1139398577" name="Text 12"/>
          <p:cNvSpPr txBox="1"/>
          <p:nvPr/>
        </p:nvSpPr>
        <p:spPr bwMode="auto">
          <a:xfrm>
            <a:off x="1024128" y="225856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5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21</a:t>
            </a:r>
            <a:endParaRPr lang="en-US" sz="950"/>
          </a:p>
        </p:txBody>
      </p:sp>
      <p:sp>
        <p:nvSpPr>
          <p:cNvPr id="1823110718" name="Text 13"/>
          <p:cNvSpPr txBox="1"/>
          <p:nvPr/>
        </p:nvSpPr>
        <p:spPr bwMode="auto">
          <a:xfrm>
            <a:off x="1417320" y="2258568"/>
            <a:ext cx="60350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git -C "$work" checkout -q "$IPXE_COMMIT"</a:t>
            </a:r>
            <a:endParaRPr lang="en-US" sz="1100"/>
          </a:p>
        </p:txBody>
      </p:sp>
      <p:sp>
        <p:nvSpPr>
          <p:cNvPr id="126097554" name="Shape 14"/>
          <p:cNvSpPr/>
          <p:nvPr/>
        </p:nvSpPr>
        <p:spPr bwMode="auto">
          <a:xfrm>
            <a:off x="651053" y="2496312"/>
            <a:ext cx="6836054" cy="23774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1800670895" name="Text 15"/>
          <p:cNvSpPr txBox="1"/>
          <p:nvPr/>
        </p:nvSpPr>
        <p:spPr bwMode="auto">
          <a:xfrm>
            <a:off x="745236" y="2500884"/>
            <a:ext cx="228600" cy="2286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chemeClr val="bg1"/>
                </a:solidFill>
              </a:rPr>
              <a:t>2</a:t>
            </a:r>
            <a:endParaRPr lang="en-US" sz="1050"/>
          </a:p>
        </p:txBody>
      </p:sp>
      <p:sp>
        <p:nvSpPr>
          <p:cNvPr id="926105034" name="Text 16"/>
          <p:cNvSpPr txBox="1"/>
          <p:nvPr/>
        </p:nvSpPr>
        <p:spPr bwMode="auto">
          <a:xfrm>
            <a:off x="1024128" y="249631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5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24</a:t>
            </a:r>
            <a:endParaRPr lang="en-US" sz="950"/>
          </a:p>
        </p:txBody>
      </p:sp>
      <p:sp>
        <p:nvSpPr>
          <p:cNvPr id="1961408460" name="Text 17"/>
          <p:cNvSpPr txBox="1"/>
          <p:nvPr/>
        </p:nvSpPr>
        <p:spPr bwMode="auto">
          <a:xfrm>
            <a:off x="1417320" y="2496312"/>
            <a:ext cx="60350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cat &gt;"$work/src/config/local/general.h" &lt;&lt;'EOF'</a:t>
            </a:r>
            <a:endParaRPr lang="en-US" sz="1100"/>
          </a:p>
        </p:txBody>
      </p:sp>
      <p:sp>
        <p:nvSpPr>
          <p:cNvPr id="1762614940" name="Shape 18"/>
          <p:cNvSpPr/>
          <p:nvPr/>
        </p:nvSpPr>
        <p:spPr bwMode="auto">
          <a:xfrm>
            <a:off x="651053" y="2734056"/>
            <a:ext cx="6836054" cy="23774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1313625134" name="Text 19"/>
          <p:cNvSpPr txBox="1"/>
          <p:nvPr/>
        </p:nvSpPr>
        <p:spPr bwMode="auto">
          <a:xfrm>
            <a:off x="1024128" y="273405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5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25</a:t>
            </a:r>
            <a:endParaRPr lang="en-US" sz="950"/>
          </a:p>
        </p:txBody>
      </p:sp>
      <p:sp>
        <p:nvSpPr>
          <p:cNvPr id="2040172031" name="Text 20"/>
          <p:cNvSpPr txBox="1"/>
          <p:nvPr/>
        </p:nvSpPr>
        <p:spPr bwMode="auto">
          <a:xfrm>
            <a:off x="1417320" y="2734056"/>
            <a:ext cx="60350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#define DOWNLOAD_PROTO_HTTPS</a:t>
            </a:r>
            <a:endParaRPr lang="en-US" sz="1100"/>
          </a:p>
        </p:txBody>
      </p:sp>
      <p:sp>
        <p:nvSpPr>
          <p:cNvPr id="418711576" name="Shape 21"/>
          <p:cNvSpPr/>
          <p:nvPr/>
        </p:nvSpPr>
        <p:spPr bwMode="auto">
          <a:xfrm>
            <a:off x="651053" y="2971800"/>
            <a:ext cx="6836054" cy="23774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2057599705" name="Text 22"/>
          <p:cNvSpPr txBox="1"/>
          <p:nvPr/>
        </p:nvSpPr>
        <p:spPr bwMode="auto">
          <a:xfrm>
            <a:off x="1024128" y="2971800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5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26</a:t>
            </a:r>
            <a:endParaRPr lang="en-US" sz="950"/>
          </a:p>
        </p:txBody>
      </p:sp>
      <p:sp>
        <p:nvSpPr>
          <p:cNvPr id="452414198" name="Text 23"/>
          <p:cNvSpPr txBox="1"/>
          <p:nvPr/>
        </p:nvSpPr>
        <p:spPr bwMode="auto">
          <a:xfrm>
            <a:off x="1417320" y="2971800"/>
            <a:ext cx="60350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#define NSLOOKUP_CMD</a:t>
            </a:r>
            <a:endParaRPr lang="en-US" sz="1100"/>
          </a:p>
        </p:txBody>
      </p:sp>
      <p:sp>
        <p:nvSpPr>
          <p:cNvPr id="536212775" name="Text 24"/>
          <p:cNvSpPr txBox="1"/>
          <p:nvPr/>
        </p:nvSpPr>
        <p:spPr bwMode="auto">
          <a:xfrm>
            <a:off x="1417320" y="3209544"/>
            <a:ext cx="60350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⋮</a:t>
            </a:r>
            <a:endParaRPr lang="en-US" sz="1100"/>
          </a:p>
        </p:txBody>
      </p:sp>
      <p:sp>
        <p:nvSpPr>
          <p:cNvPr id="806925876" name="Shape 25"/>
          <p:cNvSpPr/>
          <p:nvPr/>
        </p:nvSpPr>
        <p:spPr bwMode="auto">
          <a:xfrm>
            <a:off x="651053" y="3447288"/>
            <a:ext cx="6836054" cy="23774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1441569730" name="Text 26"/>
          <p:cNvSpPr txBox="1"/>
          <p:nvPr/>
        </p:nvSpPr>
        <p:spPr bwMode="auto">
          <a:xfrm>
            <a:off x="745236" y="3451860"/>
            <a:ext cx="228600" cy="2286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chemeClr val="bg1"/>
                </a:solidFill>
              </a:rPr>
              <a:t>3</a:t>
            </a:r>
            <a:endParaRPr lang="en-US" sz="1050"/>
          </a:p>
        </p:txBody>
      </p:sp>
      <p:sp>
        <p:nvSpPr>
          <p:cNvPr id="1990781657" name="Text 27"/>
          <p:cNvSpPr txBox="1"/>
          <p:nvPr/>
        </p:nvSpPr>
        <p:spPr bwMode="auto">
          <a:xfrm>
            <a:off x="1024128" y="344728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5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33</a:t>
            </a:r>
            <a:endParaRPr lang="en-US" sz="950"/>
          </a:p>
        </p:txBody>
      </p:sp>
      <p:sp>
        <p:nvSpPr>
          <p:cNvPr id="1352674942" name="Text 28"/>
          <p:cNvSpPr txBox="1"/>
          <p:nvPr/>
        </p:nvSpPr>
        <p:spPr bwMode="auto">
          <a:xfrm>
            <a:off x="1417320" y="3447288"/>
            <a:ext cx="60350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sed "s/@HOST@/$host/" "$here/osreboot.ipxe" &gt;"$here/out/osreboot.ipxe"</a:t>
            </a:r>
            <a:endParaRPr lang="en-US" sz="1100"/>
          </a:p>
        </p:txBody>
      </p:sp>
      <p:sp>
        <p:nvSpPr>
          <p:cNvPr id="1207229929" name="Shape 29"/>
          <p:cNvSpPr/>
          <p:nvPr/>
        </p:nvSpPr>
        <p:spPr bwMode="auto">
          <a:xfrm>
            <a:off x="651053" y="3685032"/>
            <a:ext cx="6836054" cy="23774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1974194088" name="Text 30"/>
          <p:cNvSpPr txBox="1"/>
          <p:nvPr/>
        </p:nvSpPr>
        <p:spPr bwMode="auto">
          <a:xfrm>
            <a:off x="745236" y="3689604"/>
            <a:ext cx="228600" cy="2286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chemeClr val="bg1"/>
                </a:solidFill>
              </a:rPr>
              <a:t>4</a:t>
            </a:r>
            <a:endParaRPr lang="en-US" sz="1050"/>
          </a:p>
        </p:txBody>
      </p:sp>
      <p:sp>
        <p:nvSpPr>
          <p:cNvPr id="547852400" name="Text 31"/>
          <p:cNvSpPr txBox="1"/>
          <p:nvPr/>
        </p:nvSpPr>
        <p:spPr bwMode="auto">
          <a:xfrm>
            <a:off x="1024128" y="368503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5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34</a:t>
            </a:r>
            <a:endParaRPr lang="en-US" sz="950"/>
          </a:p>
        </p:txBody>
      </p:sp>
      <p:sp>
        <p:nvSpPr>
          <p:cNvPr id="2094341311" name="Text 32"/>
          <p:cNvSpPr txBox="1"/>
          <p:nvPr/>
        </p:nvSpPr>
        <p:spPr bwMode="auto">
          <a:xfrm>
            <a:off x="1417320" y="3685032"/>
            <a:ext cx="60350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certs=$here/isrg-root-x1.pem,$here/isrg-root-x2.pem</a:t>
            </a:r>
            <a:endParaRPr lang="en-US" sz="1100"/>
          </a:p>
        </p:txBody>
      </p:sp>
      <p:sp>
        <p:nvSpPr>
          <p:cNvPr id="1400252046" name="Shape 33"/>
          <p:cNvSpPr/>
          <p:nvPr/>
        </p:nvSpPr>
        <p:spPr bwMode="auto">
          <a:xfrm>
            <a:off x="651053" y="3922776"/>
            <a:ext cx="6836054" cy="23774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589886011" name="Text 34"/>
          <p:cNvSpPr txBox="1"/>
          <p:nvPr/>
        </p:nvSpPr>
        <p:spPr bwMode="auto">
          <a:xfrm>
            <a:off x="745236" y="3927348"/>
            <a:ext cx="228600" cy="2286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chemeClr val="bg1"/>
                </a:solidFill>
              </a:rPr>
              <a:t>5</a:t>
            </a:r>
            <a:endParaRPr lang="en-US" sz="1050"/>
          </a:p>
        </p:txBody>
      </p:sp>
      <p:sp>
        <p:nvSpPr>
          <p:cNvPr id="1520289307" name="Text 35"/>
          <p:cNvSpPr txBox="1"/>
          <p:nvPr/>
        </p:nvSpPr>
        <p:spPr bwMode="auto">
          <a:xfrm>
            <a:off x="1024128" y="392277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5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37</a:t>
            </a:r>
            <a:endParaRPr lang="en-US" sz="950"/>
          </a:p>
        </p:txBody>
      </p:sp>
      <p:sp>
        <p:nvSpPr>
          <p:cNvPr id="1472862132" name="Text 36"/>
          <p:cNvSpPr txBox="1"/>
          <p:nvPr/>
        </p:nvSpPr>
        <p:spPr bwMode="auto">
          <a:xfrm>
            <a:off x="1417320" y="3922776"/>
            <a:ext cx="60350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make -C "$work/src" -j"$(nproc)" bin-x86_64-efi/ipxe.efi \</a:t>
            </a:r>
            <a:endParaRPr lang="en-US" sz="1100"/>
          </a:p>
        </p:txBody>
      </p:sp>
      <p:sp>
        <p:nvSpPr>
          <p:cNvPr id="97860558" name="Shape 37"/>
          <p:cNvSpPr/>
          <p:nvPr/>
        </p:nvSpPr>
        <p:spPr bwMode="auto">
          <a:xfrm>
            <a:off x="651053" y="4160519"/>
            <a:ext cx="6836054" cy="23774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925501204" name="Text 38"/>
          <p:cNvSpPr txBox="1"/>
          <p:nvPr/>
        </p:nvSpPr>
        <p:spPr bwMode="auto">
          <a:xfrm>
            <a:off x="1024128" y="4160519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5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38</a:t>
            </a:r>
            <a:endParaRPr lang="en-US" sz="950"/>
          </a:p>
        </p:txBody>
      </p:sp>
      <p:sp>
        <p:nvSpPr>
          <p:cNvPr id="2080827589" name="Text 39"/>
          <p:cNvSpPr txBox="1"/>
          <p:nvPr/>
        </p:nvSpPr>
        <p:spPr bwMode="auto">
          <a:xfrm>
            <a:off x="1417320" y="4160519"/>
            <a:ext cx="60350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  EMBED="$here/out/osreboot.ipxe" TRUST="$certs" CERT="$certs"</a:t>
            </a:r>
            <a:endParaRPr lang="en-US" sz="1100"/>
          </a:p>
        </p:txBody>
      </p:sp>
      <p:sp>
        <p:nvSpPr>
          <p:cNvPr id="924918139" name="Shape 40"/>
          <p:cNvSpPr/>
          <p:nvPr/>
        </p:nvSpPr>
        <p:spPr bwMode="auto">
          <a:xfrm>
            <a:off x="640080" y="4626864"/>
            <a:ext cx="6858000" cy="1499616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46674643" name="Text 41"/>
          <p:cNvSpPr txBox="1"/>
          <p:nvPr/>
        </p:nvSpPr>
        <p:spPr bwMode="auto">
          <a:xfrm>
            <a:off x="822960" y="4626864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2-ipxe/install-ipxe.sh</a:t>
            </a:r>
            <a:endParaRPr lang="en-US" sz="1100"/>
          </a:p>
        </p:txBody>
      </p:sp>
      <p:sp>
        <p:nvSpPr>
          <p:cNvPr id="286683737" name="Shape 42"/>
          <p:cNvSpPr/>
          <p:nvPr/>
        </p:nvSpPr>
        <p:spPr bwMode="auto">
          <a:xfrm>
            <a:off x="640080" y="4992624"/>
            <a:ext cx="6858000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2042645826" name="Shape 43"/>
          <p:cNvSpPr/>
          <p:nvPr/>
        </p:nvSpPr>
        <p:spPr bwMode="auto">
          <a:xfrm>
            <a:off x="651053" y="5084064"/>
            <a:ext cx="6836054" cy="23774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1027497250" name="Text 44"/>
          <p:cNvSpPr txBox="1"/>
          <p:nvPr/>
        </p:nvSpPr>
        <p:spPr bwMode="auto">
          <a:xfrm>
            <a:off x="745236" y="5088636"/>
            <a:ext cx="228600" cy="2286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chemeClr val="bg1"/>
                </a:solidFill>
              </a:rPr>
              <a:t>6</a:t>
            </a:r>
            <a:endParaRPr lang="en-US" sz="1050"/>
          </a:p>
        </p:txBody>
      </p:sp>
      <p:sp>
        <p:nvSpPr>
          <p:cNvPr id="27040889" name="Text 45"/>
          <p:cNvSpPr txBox="1"/>
          <p:nvPr/>
        </p:nvSpPr>
        <p:spPr bwMode="auto">
          <a:xfrm>
            <a:off x="1024128" y="5084064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5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71</a:t>
            </a:r>
            <a:endParaRPr lang="en-US" sz="950"/>
          </a:p>
        </p:txBody>
      </p:sp>
      <p:sp>
        <p:nvSpPr>
          <p:cNvPr id="167579869" name="Text 46"/>
          <p:cNvSpPr txBox="1"/>
          <p:nvPr/>
        </p:nvSpPr>
        <p:spPr bwMode="auto">
          <a:xfrm>
            <a:off x="1417320" y="5084064"/>
            <a:ext cx="60350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cp "$efi" "$esp$LOADER.new"</a:t>
            </a:r>
            <a:endParaRPr lang="en-US" sz="1100"/>
          </a:p>
        </p:txBody>
      </p:sp>
      <p:sp>
        <p:nvSpPr>
          <p:cNvPr id="188175064" name="Shape 47"/>
          <p:cNvSpPr/>
          <p:nvPr/>
        </p:nvSpPr>
        <p:spPr bwMode="auto">
          <a:xfrm>
            <a:off x="651053" y="5321808"/>
            <a:ext cx="6836054" cy="23774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408169692" name="Text 48"/>
          <p:cNvSpPr txBox="1"/>
          <p:nvPr/>
        </p:nvSpPr>
        <p:spPr bwMode="auto">
          <a:xfrm>
            <a:off x="1024128" y="532180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5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72</a:t>
            </a:r>
            <a:endParaRPr lang="en-US" sz="950"/>
          </a:p>
        </p:txBody>
      </p:sp>
      <p:sp>
        <p:nvSpPr>
          <p:cNvPr id="1985173768" name="Text 49"/>
          <p:cNvSpPr txBox="1"/>
          <p:nvPr/>
        </p:nvSpPr>
        <p:spPr bwMode="auto">
          <a:xfrm>
            <a:off x="1417320" y="5321808"/>
            <a:ext cx="60350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mv "$esp$LOADER.new" "$esp$LOADER"</a:t>
            </a:r>
            <a:endParaRPr lang="en-US" sz="1100"/>
          </a:p>
        </p:txBody>
      </p:sp>
      <p:sp>
        <p:nvSpPr>
          <p:cNvPr id="1901841404" name="Text 50"/>
          <p:cNvSpPr txBox="1"/>
          <p:nvPr/>
        </p:nvSpPr>
        <p:spPr bwMode="auto">
          <a:xfrm>
            <a:off x="1417320" y="5559552"/>
            <a:ext cx="60350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⋮</a:t>
            </a:r>
            <a:endParaRPr lang="en-US" sz="1100"/>
          </a:p>
        </p:txBody>
      </p:sp>
      <p:sp>
        <p:nvSpPr>
          <p:cNvPr id="1790694467" name="Shape 51"/>
          <p:cNvSpPr/>
          <p:nvPr/>
        </p:nvSpPr>
        <p:spPr bwMode="auto">
          <a:xfrm>
            <a:off x="651053" y="5797296"/>
            <a:ext cx="6836054" cy="23774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1233653180" name="Text 52"/>
          <p:cNvSpPr txBox="1"/>
          <p:nvPr/>
        </p:nvSpPr>
        <p:spPr bwMode="auto">
          <a:xfrm>
            <a:off x="745236" y="5801868"/>
            <a:ext cx="228600" cy="2286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chemeClr val="bg1"/>
                </a:solidFill>
              </a:rPr>
              <a:t>6</a:t>
            </a:r>
            <a:endParaRPr lang="en-US" sz="1050"/>
          </a:p>
        </p:txBody>
      </p:sp>
      <p:sp>
        <p:nvSpPr>
          <p:cNvPr id="1837157293" name="Text 53"/>
          <p:cNvSpPr txBox="1"/>
          <p:nvPr/>
        </p:nvSpPr>
        <p:spPr bwMode="auto">
          <a:xfrm>
            <a:off x="1024128" y="579729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5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74</a:t>
            </a:r>
            <a:endParaRPr lang="en-US" sz="950"/>
          </a:p>
        </p:txBody>
      </p:sp>
      <p:sp>
        <p:nvSpPr>
          <p:cNvPr id="324264175" name="Text 54"/>
          <p:cNvSpPr txBox="1"/>
          <p:nvPr/>
        </p:nvSpPr>
        <p:spPr bwMode="auto">
          <a:xfrm>
            <a:off x="1417320" y="5797296"/>
            <a:ext cx="60350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mv "$esp/loader/entries/$ENTRY.new" "$esp/loader/entries/$ENTRY"</a:t>
            </a:r>
            <a:endParaRPr lang="en-US" sz="1100"/>
          </a:p>
        </p:txBody>
      </p:sp>
      <p:sp>
        <p:nvSpPr>
          <p:cNvPr id="2049085306" name="Text 55"/>
          <p:cNvSpPr txBox="1"/>
          <p:nvPr/>
        </p:nvSpPr>
        <p:spPr bwMode="auto">
          <a:xfrm>
            <a:off x="7872984" y="1399032"/>
            <a:ext cx="237744" cy="23774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chemeClr val="bg1"/>
                </a:solidFill>
              </a:rPr>
              <a:t>1</a:t>
            </a:r>
            <a:endParaRPr lang="en-US" sz="1050"/>
          </a:p>
        </p:txBody>
      </p:sp>
      <p:sp>
        <p:nvSpPr>
          <p:cNvPr id="2069962078" name="Text 56"/>
          <p:cNvSpPr txBox="1"/>
          <p:nvPr/>
        </p:nvSpPr>
        <p:spPr bwMode="auto">
          <a:xfrm>
            <a:off x="8211312" y="1325880"/>
            <a:ext cx="33403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 b="1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IPXE_COMMIT</a:t>
            </a:r>
            <a:r>
              <a:rPr lang="en-US" sz="1250">
                <a:solidFill>
                  <a:schemeClr val="accent4"/>
                </a:solidFill>
              </a:rPr>
              <a:t> — проверенная версия iPXE</a:t>
            </a:r>
            <a:endParaRPr lang="en-US" sz="1250"/>
          </a:p>
        </p:txBody>
      </p:sp>
      <p:sp>
        <p:nvSpPr>
          <p:cNvPr id="280424711" name="Text 57"/>
          <p:cNvSpPr txBox="1"/>
          <p:nvPr/>
        </p:nvSpPr>
        <p:spPr bwMode="auto">
          <a:xfrm>
            <a:off x="7872984" y="1783080"/>
            <a:ext cx="237744" cy="23774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chemeClr val="bg1"/>
                </a:solidFill>
              </a:rPr>
              <a:t>2</a:t>
            </a:r>
            <a:endParaRPr lang="en-US" sz="1050"/>
          </a:p>
        </p:txBody>
      </p:sp>
      <p:sp>
        <p:nvSpPr>
          <p:cNvPr id="1667582064" name="Text 58"/>
          <p:cNvSpPr txBox="1"/>
          <p:nvPr/>
        </p:nvSpPr>
        <p:spPr bwMode="auto">
          <a:xfrm>
            <a:off x="8211312" y="1709928"/>
            <a:ext cx="33403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 b="1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general.h</a:t>
            </a:r>
            <a:r>
              <a:rPr lang="en-US" sz="1250">
                <a:solidFill>
                  <a:schemeClr val="accent4"/>
                </a:solidFill>
              </a:rPr>
              <a:t> — включает HTTPS и nslookup</a:t>
            </a:r>
            <a:endParaRPr lang="en-US" sz="1250"/>
          </a:p>
        </p:txBody>
      </p:sp>
      <p:sp>
        <p:nvSpPr>
          <p:cNvPr id="599493392" name="Text 59"/>
          <p:cNvSpPr txBox="1"/>
          <p:nvPr/>
        </p:nvSpPr>
        <p:spPr bwMode="auto">
          <a:xfrm>
            <a:off x="7872984" y="2167128"/>
            <a:ext cx="237744" cy="23774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chemeClr val="bg1"/>
                </a:solidFill>
              </a:rPr>
              <a:t>3</a:t>
            </a:r>
            <a:endParaRPr lang="en-US" sz="1050"/>
          </a:p>
        </p:txBody>
      </p:sp>
      <p:sp>
        <p:nvSpPr>
          <p:cNvPr id="1011684034" name="Text 60"/>
          <p:cNvSpPr txBox="1"/>
          <p:nvPr/>
        </p:nvSpPr>
        <p:spPr bwMode="auto">
          <a:xfrm>
            <a:off x="8211312" y="2093976"/>
            <a:ext cx="33403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 b="1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sed</a:t>
            </a:r>
            <a:r>
              <a:rPr lang="en-US" sz="1250">
                <a:solidFill>
                  <a:schemeClr val="accent4"/>
                </a:solidFill>
              </a:rPr>
              <a:t> — адрес сервера в osreboot.ipxe</a:t>
            </a:r>
            <a:endParaRPr lang="en-US" sz="1250"/>
          </a:p>
        </p:txBody>
      </p:sp>
      <p:sp>
        <p:nvSpPr>
          <p:cNvPr id="449338170" name="Text 61"/>
          <p:cNvSpPr txBox="1"/>
          <p:nvPr/>
        </p:nvSpPr>
        <p:spPr bwMode="auto">
          <a:xfrm>
            <a:off x="7872984" y="2551176"/>
            <a:ext cx="237744" cy="23774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chemeClr val="bg1"/>
                </a:solidFill>
              </a:rPr>
              <a:t>4</a:t>
            </a:r>
            <a:endParaRPr lang="en-US" sz="1050"/>
          </a:p>
        </p:txBody>
      </p:sp>
      <p:sp>
        <p:nvSpPr>
          <p:cNvPr id="1898873053" name="Text 62"/>
          <p:cNvSpPr txBox="1"/>
          <p:nvPr/>
        </p:nvSpPr>
        <p:spPr bwMode="auto">
          <a:xfrm>
            <a:off x="8211312" y="2478024"/>
            <a:ext cx="33403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 b="1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certs</a:t>
            </a:r>
            <a:r>
              <a:rPr lang="en-US" sz="1250">
                <a:solidFill>
                  <a:schemeClr val="accent4"/>
                </a:solidFill>
              </a:rPr>
              <a:t> — корни ISRG X1 и X2</a:t>
            </a:r>
            <a:endParaRPr lang="en-US" sz="1250"/>
          </a:p>
        </p:txBody>
      </p:sp>
      <p:sp>
        <p:nvSpPr>
          <p:cNvPr id="1399332329" name="Text 63"/>
          <p:cNvSpPr txBox="1"/>
          <p:nvPr/>
        </p:nvSpPr>
        <p:spPr bwMode="auto">
          <a:xfrm>
            <a:off x="7872984" y="2935224"/>
            <a:ext cx="237744" cy="23774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chemeClr val="bg1"/>
                </a:solidFill>
              </a:rPr>
              <a:t>5</a:t>
            </a:r>
            <a:endParaRPr lang="en-US" sz="1050"/>
          </a:p>
        </p:txBody>
      </p:sp>
      <p:sp>
        <p:nvSpPr>
          <p:cNvPr id="1740946087" name="Text 64"/>
          <p:cNvSpPr txBox="1"/>
          <p:nvPr/>
        </p:nvSpPr>
        <p:spPr bwMode="auto">
          <a:xfrm>
            <a:off x="8211312" y="2862072"/>
            <a:ext cx="33403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 b="1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EMBED, TRUST</a:t>
            </a:r>
            <a:r>
              <a:rPr lang="en-US" sz="1250">
                <a:solidFill>
                  <a:schemeClr val="accent4"/>
                </a:solidFill>
              </a:rPr>
              <a:t> — вшить сценарий и корни</a:t>
            </a:r>
            <a:endParaRPr lang="en-US" sz="1250"/>
          </a:p>
        </p:txBody>
      </p:sp>
      <p:sp>
        <p:nvSpPr>
          <p:cNvPr id="712586192" name="Text 65"/>
          <p:cNvSpPr txBox="1"/>
          <p:nvPr/>
        </p:nvSpPr>
        <p:spPr bwMode="auto">
          <a:xfrm>
            <a:off x="7872984" y="3319272"/>
            <a:ext cx="237744" cy="23774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chemeClr val="bg1"/>
                </a:solidFill>
              </a:rPr>
              <a:t>6</a:t>
            </a:r>
            <a:endParaRPr lang="en-US" sz="1050"/>
          </a:p>
        </p:txBody>
      </p:sp>
      <p:sp>
        <p:nvSpPr>
          <p:cNvPr id="1956255856" name="Text 66"/>
          <p:cNvSpPr txBox="1"/>
          <p:nvPr/>
        </p:nvSpPr>
        <p:spPr bwMode="auto">
          <a:xfrm>
            <a:off x="8211312" y="3246120"/>
            <a:ext cx="33403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 b="1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install</a:t>
            </a:r>
            <a:r>
              <a:rPr lang="en-US" sz="1250">
                <a:solidFill>
                  <a:schemeClr val="accent4"/>
                </a:solidFill>
              </a:rPr>
              <a:t> — на ESP и в меню systemd-boot</a:t>
            </a:r>
            <a:endParaRPr lang="en-US" sz="1250"/>
          </a:p>
        </p:txBody>
      </p:sp>
      <p:sp>
        <p:nvSpPr>
          <p:cNvPr id="848951357" name="Shape 67"/>
          <p:cNvSpPr/>
          <p:nvPr/>
        </p:nvSpPr>
        <p:spPr bwMode="auto">
          <a:xfrm>
            <a:off x="7863840" y="3749040"/>
            <a:ext cx="3687775" cy="2194560"/>
          </a:xfrm>
          <a:prstGeom prst="rect">
            <a:avLst/>
          </a:prstGeom>
          <a:solidFill>
            <a:schemeClr val="bg2"/>
          </a:solidFill>
          <a:ln w="15875">
            <a:solidFill>
              <a:srgbClr val="9AA1A9"/>
            </a:solidFill>
            <a:prstDash val="dash"/>
          </a:ln>
        </p:spPr>
      </p:sp>
      <p:sp>
        <p:nvSpPr>
          <p:cNvPr id="2066336971" name="Text 68"/>
          <p:cNvSpPr txBox="1"/>
          <p:nvPr/>
        </p:nvSpPr>
        <p:spPr bwMode="auto">
          <a:xfrm>
            <a:off x="8138160" y="3749040"/>
            <a:ext cx="31391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  <a:defRPr/>
            </a:pPr>
            <a:r>
              <a:rPr lang="en-US" sz="1200" b="1">
                <a:solidFill>
                  <a:schemeClr val="accent4"/>
                </a:solidFill>
              </a:rPr>
              <a:t>СКРИНШОТ</a:t>
            </a:r>
            <a:endParaRPr lang="en-US" sz="1200"/>
          </a:p>
          <a:p>
            <a:pPr marL="0" indent="0" algn="ctr">
              <a:spcAft>
                <a:spcPts val="400"/>
              </a:spcAft>
              <a:buNone/>
              <a:defRPr/>
            </a:pPr>
            <a:r>
              <a:rPr lang="en-US" sz="1200">
                <a:solidFill>
                  <a:schemeClr val="tx1"/>
                </a:solidFill>
              </a:rPr>
              <a:t>фото экрана ноутбука: меню systemd-boot сразу после стирания, выбран «OSreboot network recovery (iPXE)»</a:t>
            </a:r>
            <a:endParaRPr lang="en-US" sz="1200"/>
          </a:p>
          <a:p>
            <a:pPr marL="0" indent="0" algn="ctr">
              <a:spcAft>
                <a:spcPts val="400"/>
              </a:spcAft>
              <a:buNone/>
              <a:defRPr/>
            </a:pPr>
            <a:r>
              <a:rPr lang="en-US" sz="120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img/shot-2-menu.png</a:t>
            </a:r>
            <a:endParaRPr lang="en-US" sz="1200"/>
          </a:p>
        </p:txBody>
      </p:sp>
      <p:sp>
        <p:nvSpPr>
          <p:cNvPr id="1231978598" name="Text 69"/>
          <p:cNvSpPr txBox="1"/>
          <p:nvPr/>
        </p:nvSpPr>
        <p:spPr bwMode="auto">
          <a:xfrm>
            <a:off x="7863840" y="5989320"/>
            <a:ext cx="36877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50">
                <a:solidFill>
                  <a:schemeClr val="accent4"/>
                </a:solidFill>
              </a:rPr>
              <a:t>меню systemd-boot на ноутбуке</a:t>
            </a:r>
            <a:endParaRPr lang="en-US" sz="1250"/>
          </a:p>
        </p:txBody>
      </p:sp>
      <p:sp>
        <p:nvSpPr>
          <p:cNvPr id="565531472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0820095" y="6382512"/>
            <a:ext cx="73152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9636E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335206" name="Text 0"/>
          <p:cNvSpPr/>
          <p:nvPr>
            <p:ph type="title" idx="100" hasCustomPrompt="1"/>
          </p:nvPr>
        </p:nvSpPr>
        <p:spPr bwMode="auto">
          <a:xfrm>
            <a:off x="640080" y="4114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800" b="1">
                <a:solidFill>
                  <a:schemeClr val="tx1"/>
                </a:solidFill>
              </a:rPr>
              <a:t>Найти сервер и скачать среду по HTTPS</a:t>
            </a:r>
            <a:endParaRPr lang="en-US" sz="2800"/>
          </a:p>
        </p:txBody>
      </p:sp>
      <p:sp>
        <p:nvSpPr>
          <p:cNvPr id="748870045" name="Text 1"/>
          <p:cNvSpPr txBox="1"/>
          <p:nvPr/>
        </p:nvSpPr>
        <p:spPr bwMode="auto">
          <a:xfrm>
            <a:off x="640080" y="89611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chemeClr val="accent4"/>
                </a:solidFill>
              </a:rPr>
              <a:t>iPXE — открытая реализация PXE с загрузкой по HTTP и HTTPS и скриптами</a:t>
            </a:r>
            <a:endParaRPr lang="en-US" sz="1500"/>
          </a:p>
        </p:txBody>
      </p:sp>
      <p:sp>
        <p:nvSpPr>
          <p:cNvPr id="1837415603" name="Shape 2"/>
          <p:cNvSpPr/>
          <p:nvPr/>
        </p:nvSpPr>
        <p:spPr bwMode="auto">
          <a:xfrm>
            <a:off x="640080" y="1280160"/>
            <a:ext cx="6583680" cy="3465576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4157797" name="Text 3"/>
          <p:cNvSpPr txBox="1"/>
          <p:nvPr/>
        </p:nvSpPr>
        <p:spPr bwMode="auto">
          <a:xfrm>
            <a:off x="822960" y="128016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2-ipxe/osreboot.ipxe   (вшит в ipxe.efi)</a:t>
            </a:r>
            <a:endParaRPr lang="en-US" sz="1100"/>
          </a:p>
        </p:txBody>
      </p:sp>
      <p:sp>
        <p:nvSpPr>
          <p:cNvPr id="1871819802" name="Shape 4"/>
          <p:cNvSpPr/>
          <p:nvPr/>
        </p:nvSpPr>
        <p:spPr bwMode="auto">
          <a:xfrm>
            <a:off x="640080" y="1645920"/>
            <a:ext cx="6583680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1215602839" name="Text 5"/>
          <p:cNvSpPr txBox="1"/>
          <p:nvPr/>
        </p:nvSpPr>
        <p:spPr bwMode="auto">
          <a:xfrm>
            <a:off x="1024128" y="1737360"/>
            <a:ext cx="411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10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7</a:t>
            </a:r>
            <a:endParaRPr lang="en-US" sz="1100"/>
          </a:p>
        </p:txBody>
      </p:sp>
      <p:sp>
        <p:nvSpPr>
          <p:cNvPr id="1903886218" name="Text 6"/>
          <p:cNvSpPr txBox="1"/>
          <p:nvPr/>
        </p:nvSpPr>
        <p:spPr bwMode="auto">
          <a:xfrm>
            <a:off x="1554480" y="1737360"/>
            <a:ext cx="5623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:start</a:t>
            </a:r>
            <a:endParaRPr lang="en-US" sz="1250"/>
          </a:p>
        </p:txBody>
      </p:sp>
      <p:sp>
        <p:nvSpPr>
          <p:cNvPr id="110150260" name="Text 7"/>
          <p:cNvSpPr txBox="1"/>
          <p:nvPr/>
        </p:nvSpPr>
        <p:spPr bwMode="auto">
          <a:xfrm>
            <a:off x="1024128" y="2002536"/>
            <a:ext cx="411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10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9</a:t>
            </a:r>
            <a:endParaRPr lang="en-US" sz="1100"/>
          </a:p>
        </p:txBody>
      </p:sp>
      <p:sp>
        <p:nvSpPr>
          <p:cNvPr id="1803703555" name="Text 8"/>
          <p:cNvSpPr txBox="1"/>
          <p:nvPr/>
        </p:nvSpPr>
        <p:spPr bwMode="auto">
          <a:xfrm>
            <a:off x="1554480" y="2002536"/>
            <a:ext cx="5623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clear dns ||</a:t>
            </a:r>
            <a:endParaRPr lang="en-US" sz="1250"/>
          </a:p>
        </p:txBody>
      </p:sp>
      <p:sp>
        <p:nvSpPr>
          <p:cNvPr id="1753301996" name="Shape 9"/>
          <p:cNvSpPr/>
          <p:nvPr/>
        </p:nvSpPr>
        <p:spPr bwMode="auto">
          <a:xfrm>
            <a:off x="651053" y="2267712"/>
            <a:ext cx="6561734" cy="265176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1765570620" name="Text 10"/>
          <p:cNvSpPr txBox="1"/>
          <p:nvPr/>
        </p:nvSpPr>
        <p:spPr bwMode="auto">
          <a:xfrm>
            <a:off x="745236" y="2286000"/>
            <a:ext cx="228600" cy="2286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chemeClr val="bg1"/>
                </a:solidFill>
              </a:rPr>
              <a:t>1</a:t>
            </a:r>
            <a:endParaRPr lang="en-US" sz="1050"/>
          </a:p>
        </p:txBody>
      </p:sp>
      <p:sp>
        <p:nvSpPr>
          <p:cNvPr id="1163208964" name="Text 11"/>
          <p:cNvSpPr txBox="1"/>
          <p:nvPr/>
        </p:nvSpPr>
        <p:spPr bwMode="auto">
          <a:xfrm>
            <a:off x="1024128" y="2267712"/>
            <a:ext cx="411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10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10</a:t>
            </a:r>
            <a:endParaRPr lang="en-US" sz="1100"/>
          </a:p>
        </p:txBody>
      </p:sp>
      <p:sp>
        <p:nvSpPr>
          <p:cNvPr id="2030946458" name="Text 12"/>
          <p:cNvSpPr txBox="1"/>
          <p:nvPr/>
        </p:nvSpPr>
        <p:spPr bwMode="auto">
          <a:xfrm>
            <a:off x="1554480" y="2267712"/>
            <a:ext cx="5623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dhcp &amp;&amp; goto configured ||</a:t>
            </a:r>
            <a:endParaRPr lang="en-US" sz="1250"/>
          </a:p>
        </p:txBody>
      </p:sp>
      <p:sp>
        <p:nvSpPr>
          <p:cNvPr id="883678963" name="Shape 13"/>
          <p:cNvSpPr/>
          <p:nvPr/>
        </p:nvSpPr>
        <p:spPr bwMode="auto">
          <a:xfrm>
            <a:off x="651053" y="2532888"/>
            <a:ext cx="6561734" cy="265176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1018032112" name="Text 14"/>
          <p:cNvSpPr txBox="1"/>
          <p:nvPr/>
        </p:nvSpPr>
        <p:spPr bwMode="auto">
          <a:xfrm>
            <a:off x="745236" y="2551176"/>
            <a:ext cx="228600" cy="2286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chemeClr val="bg1"/>
                </a:solidFill>
              </a:rPr>
              <a:t>2</a:t>
            </a:r>
            <a:endParaRPr lang="en-US" sz="1050"/>
          </a:p>
        </p:txBody>
      </p:sp>
      <p:sp>
        <p:nvSpPr>
          <p:cNvPr id="2038635100" name="Text 15"/>
          <p:cNvSpPr txBox="1"/>
          <p:nvPr/>
        </p:nvSpPr>
        <p:spPr bwMode="auto">
          <a:xfrm>
            <a:off x="1024128" y="2532888"/>
            <a:ext cx="411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10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19</a:t>
            </a:r>
            <a:endParaRPr lang="en-US" sz="1100"/>
          </a:p>
        </p:txBody>
      </p:sp>
      <p:sp>
        <p:nvSpPr>
          <p:cNvPr id="1381275387" name="Text 16"/>
          <p:cNvSpPr txBox="1"/>
          <p:nvPr/>
        </p:nvSpPr>
        <p:spPr bwMode="auto">
          <a:xfrm>
            <a:off x="1554480" y="2532888"/>
            <a:ext cx="5623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nslookup server ${host} &amp;&amp; goto resolved ||</a:t>
            </a:r>
            <a:endParaRPr lang="en-US" sz="1250"/>
          </a:p>
        </p:txBody>
      </p:sp>
      <p:sp>
        <p:nvSpPr>
          <p:cNvPr id="1000210556" name="Shape 17"/>
          <p:cNvSpPr/>
          <p:nvPr/>
        </p:nvSpPr>
        <p:spPr bwMode="auto">
          <a:xfrm>
            <a:off x="651053" y="2798064"/>
            <a:ext cx="6561734" cy="265176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2135278392" name="Text 18"/>
          <p:cNvSpPr txBox="1"/>
          <p:nvPr/>
        </p:nvSpPr>
        <p:spPr bwMode="auto">
          <a:xfrm>
            <a:off x="1024128" y="2798064"/>
            <a:ext cx="411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10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21</a:t>
            </a:r>
            <a:endParaRPr lang="en-US" sz="1100"/>
          </a:p>
        </p:txBody>
      </p:sp>
      <p:sp>
        <p:nvSpPr>
          <p:cNvPr id="292698276" name="Text 19"/>
          <p:cNvSpPr txBox="1"/>
          <p:nvPr/>
        </p:nvSpPr>
        <p:spPr bwMode="auto">
          <a:xfrm>
            <a:off x="1554480" y="2798064"/>
            <a:ext cx="5623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iseq ${tries} 3 &amp;&amp; goto public_dns ||</a:t>
            </a:r>
            <a:endParaRPr lang="en-US" sz="1250"/>
          </a:p>
        </p:txBody>
      </p:sp>
      <p:sp>
        <p:nvSpPr>
          <p:cNvPr id="189360309" name="Shape 20"/>
          <p:cNvSpPr/>
          <p:nvPr/>
        </p:nvSpPr>
        <p:spPr bwMode="auto">
          <a:xfrm>
            <a:off x="651053" y="3063240"/>
            <a:ext cx="6561734" cy="265176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1996299000" name="Text 21"/>
          <p:cNvSpPr txBox="1"/>
          <p:nvPr/>
        </p:nvSpPr>
        <p:spPr bwMode="auto">
          <a:xfrm>
            <a:off x="1024128" y="3063240"/>
            <a:ext cx="411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10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27</a:t>
            </a:r>
            <a:endParaRPr lang="en-US" sz="1100"/>
          </a:p>
        </p:txBody>
      </p:sp>
      <p:sp>
        <p:nvSpPr>
          <p:cNvPr id="2119648290" name="Text 22"/>
          <p:cNvSpPr txBox="1"/>
          <p:nvPr/>
        </p:nvSpPr>
        <p:spPr bwMode="auto">
          <a:xfrm>
            <a:off x="1554480" y="3063240"/>
            <a:ext cx="5623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set dns 1.1.1.1</a:t>
            </a:r>
            <a:endParaRPr lang="en-US" sz="1250"/>
          </a:p>
        </p:txBody>
      </p:sp>
      <p:sp>
        <p:nvSpPr>
          <p:cNvPr id="1543843421" name="Shape 23"/>
          <p:cNvSpPr/>
          <p:nvPr/>
        </p:nvSpPr>
        <p:spPr bwMode="auto">
          <a:xfrm>
            <a:off x="651053" y="3328416"/>
            <a:ext cx="6561734" cy="265176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272149436" name="Text 24"/>
          <p:cNvSpPr txBox="1"/>
          <p:nvPr/>
        </p:nvSpPr>
        <p:spPr bwMode="auto">
          <a:xfrm>
            <a:off x="1024128" y="3328416"/>
            <a:ext cx="411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10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30</a:t>
            </a:r>
            <a:endParaRPr lang="en-US" sz="1100"/>
          </a:p>
        </p:txBody>
      </p:sp>
      <p:sp>
        <p:nvSpPr>
          <p:cNvPr id="987011408" name="Text 25"/>
          <p:cNvSpPr txBox="1"/>
          <p:nvPr/>
        </p:nvSpPr>
        <p:spPr bwMode="auto">
          <a:xfrm>
            <a:off x="1554480" y="3328416"/>
            <a:ext cx="5623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set dns 8.8.8.8</a:t>
            </a:r>
            <a:endParaRPr lang="en-US" sz="1250"/>
          </a:p>
        </p:txBody>
      </p:sp>
      <p:sp>
        <p:nvSpPr>
          <p:cNvPr id="1103280311" name="Shape 26"/>
          <p:cNvSpPr/>
          <p:nvPr/>
        </p:nvSpPr>
        <p:spPr bwMode="auto">
          <a:xfrm>
            <a:off x="651053" y="3593592"/>
            <a:ext cx="6561734" cy="265176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1951891291" name="Text 27"/>
          <p:cNvSpPr txBox="1"/>
          <p:nvPr/>
        </p:nvSpPr>
        <p:spPr bwMode="auto">
          <a:xfrm>
            <a:off x="745236" y="3611880"/>
            <a:ext cx="228600" cy="2286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chemeClr val="bg1"/>
                </a:solidFill>
              </a:rPr>
              <a:t>3</a:t>
            </a:r>
            <a:endParaRPr lang="en-US" sz="1050"/>
          </a:p>
        </p:txBody>
      </p:sp>
      <p:sp>
        <p:nvSpPr>
          <p:cNvPr id="1907885717" name="Text 28"/>
          <p:cNvSpPr txBox="1"/>
          <p:nvPr/>
        </p:nvSpPr>
        <p:spPr bwMode="auto">
          <a:xfrm>
            <a:off x="1024128" y="3593592"/>
            <a:ext cx="411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10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37</a:t>
            </a:r>
            <a:endParaRPr lang="en-US" sz="1100"/>
          </a:p>
        </p:txBody>
      </p:sp>
      <p:sp>
        <p:nvSpPr>
          <p:cNvPr id="555656083" name="Text 29"/>
          <p:cNvSpPr txBox="1"/>
          <p:nvPr/>
        </p:nvSpPr>
        <p:spPr bwMode="auto">
          <a:xfrm>
            <a:off x="1554480" y="3593592"/>
            <a:ext cx="5623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chain --autofree https://${host}/files/boot.ipxe ||</a:t>
            </a:r>
            <a:endParaRPr lang="en-US" sz="1250"/>
          </a:p>
        </p:txBody>
      </p:sp>
      <p:sp>
        <p:nvSpPr>
          <p:cNvPr id="780871785" name="Shape 30"/>
          <p:cNvSpPr/>
          <p:nvPr/>
        </p:nvSpPr>
        <p:spPr bwMode="auto">
          <a:xfrm>
            <a:off x="651053" y="3858768"/>
            <a:ext cx="6561734" cy="265176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1278029867" name="Text 31"/>
          <p:cNvSpPr txBox="1"/>
          <p:nvPr/>
        </p:nvSpPr>
        <p:spPr bwMode="auto">
          <a:xfrm>
            <a:off x="745236" y="3877056"/>
            <a:ext cx="228600" cy="2286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chemeClr val="bg1"/>
                </a:solidFill>
              </a:rPr>
              <a:t>4</a:t>
            </a:r>
            <a:endParaRPr lang="en-US" sz="1050"/>
          </a:p>
        </p:txBody>
      </p:sp>
      <p:sp>
        <p:nvSpPr>
          <p:cNvPr id="73527680" name="Text 32"/>
          <p:cNvSpPr txBox="1"/>
          <p:nvPr/>
        </p:nvSpPr>
        <p:spPr bwMode="auto">
          <a:xfrm>
            <a:off x="1024128" y="3858768"/>
            <a:ext cx="411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10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39</a:t>
            </a:r>
            <a:endParaRPr lang="en-US" sz="1100"/>
          </a:p>
        </p:txBody>
      </p:sp>
      <p:sp>
        <p:nvSpPr>
          <p:cNvPr id="1837375987" name="Text 33"/>
          <p:cNvSpPr txBox="1"/>
          <p:nvPr/>
        </p:nvSpPr>
        <p:spPr bwMode="auto">
          <a:xfrm>
            <a:off x="1554480" y="3858768"/>
            <a:ext cx="5623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:retry</a:t>
            </a:r>
            <a:endParaRPr lang="en-US" sz="1250"/>
          </a:p>
        </p:txBody>
      </p:sp>
      <p:sp>
        <p:nvSpPr>
          <p:cNvPr id="132685260" name="Shape 34"/>
          <p:cNvSpPr/>
          <p:nvPr/>
        </p:nvSpPr>
        <p:spPr bwMode="auto">
          <a:xfrm>
            <a:off x="651053" y="4123944"/>
            <a:ext cx="6561734" cy="265176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1826604165" name="Text 35"/>
          <p:cNvSpPr txBox="1"/>
          <p:nvPr/>
        </p:nvSpPr>
        <p:spPr bwMode="auto">
          <a:xfrm>
            <a:off x="1024128" y="4123944"/>
            <a:ext cx="411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10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41</a:t>
            </a:r>
            <a:endParaRPr lang="en-US" sz="1100"/>
          </a:p>
        </p:txBody>
      </p:sp>
      <p:sp>
        <p:nvSpPr>
          <p:cNvPr id="1986201753" name="Text 36"/>
          <p:cNvSpPr txBox="1"/>
          <p:nvPr/>
        </p:nvSpPr>
        <p:spPr bwMode="auto">
          <a:xfrm>
            <a:off x="1554480" y="4123944"/>
            <a:ext cx="5623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prompt --key 0x02 --timeout 10000 … &amp;&amp; shell ||</a:t>
            </a:r>
            <a:endParaRPr lang="en-US" sz="1250"/>
          </a:p>
        </p:txBody>
      </p:sp>
      <p:sp>
        <p:nvSpPr>
          <p:cNvPr id="843111207" name="Shape 37"/>
          <p:cNvSpPr/>
          <p:nvPr/>
        </p:nvSpPr>
        <p:spPr bwMode="auto">
          <a:xfrm>
            <a:off x="651053" y="4389120"/>
            <a:ext cx="6561734" cy="265176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1352301236" name="Text 38"/>
          <p:cNvSpPr txBox="1"/>
          <p:nvPr/>
        </p:nvSpPr>
        <p:spPr bwMode="auto">
          <a:xfrm>
            <a:off x="1024128" y="4389120"/>
            <a:ext cx="411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10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42</a:t>
            </a:r>
            <a:endParaRPr lang="en-US" sz="1100"/>
          </a:p>
        </p:txBody>
      </p:sp>
      <p:sp>
        <p:nvSpPr>
          <p:cNvPr id="656504679" name="Text 39"/>
          <p:cNvSpPr txBox="1"/>
          <p:nvPr/>
        </p:nvSpPr>
        <p:spPr bwMode="auto">
          <a:xfrm>
            <a:off x="1554480" y="4389120"/>
            <a:ext cx="5623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goto start</a:t>
            </a:r>
            <a:endParaRPr lang="en-US" sz="1250"/>
          </a:p>
        </p:txBody>
      </p:sp>
      <p:sp>
        <p:nvSpPr>
          <p:cNvPr id="1808005570" name="Shape 40"/>
          <p:cNvSpPr/>
          <p:nvPr/>
        </p:nvSpPr>
        <p:spPr bwMode="auto">
          <a:xfrm>
            <a:off x="640080" y="4892039"/>
            <a:ext cx="6583680" cy="813816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92279247" name="Text 41"/>
          <p:cNvSpPr txBox="1"/>
          <p:nvPr/>
        </p:nvSpPr>
        <p:spPr bwMode="auto">
          <a:xfrm>
            <a:off x="822960" y="4892039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2-ipxe/boot.ipxe   (лежит на сервере)</a:t>
            </a:r>
            <a:endParaRPr lang="en-US" sz="1100"/>
          </a:p>
        </p:txBody>
      </p:sp>
      <p:sp>
        <p:nvSpPr>
          <p:cNvPr id="629673913" name="Shape 42"/>
          <p:cNvSpPr/>
          <p:nvPr/>
        </p:nvSpPr>
        <p:spPr bwMode="auto">
          <a:xfrm>
            <a:off x="640080" y="5257800"/>
            <a:ext cx="6583680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247174949" name="Shape 43"/>
          <p:cNvSpPr/>
          <p:nvPr/>
        </p:nvSpPr>
        <p:spPr bwMode="auto">
          <a:xfrm>
            <a:off x="651053" y="5349240"/>
            <a:ext cx="6561734" cy="265176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876009259" name="Text 44"/>
          <p:cNvSpPr txBox="1"/>
          <p:nvPr/>
        </p:nvSpPr>
        <p:spPr bwMode="auto">
          <a:xfrm>
            <a:off x="745236" y="5367528"/>
            <a:ext cx="228600" cy="2286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chemeClr val="bg1"/>
                </a:solidFill>
              </a:rPr>
              <a:t>5</a:t>
            </a:r>
            <a:endParaRPr lang="en-US" sz="1050"/>
          </a:p>
        </p:txBody>
      </p:sp>
      <p:sp>
        <p:nvSpPr>
          <p:cNvPr id="229251838" name="Text 45"/>
          <p:cNvSpPr txBox="1"/>
          <p:nvPr/>
        </p:nvSpPr>
        <p:spPr bwMode="auto">
          <a:xfrm>
            <a:off x="1024128" y="5349240"/>
            <a:ext cx="411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10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5</a:t>
            </a:r>
            <a:endParaRPr lang="en-US" sz="1100"/>
          </a:p>
        </p:txBody>
      </p:sp>
      <p:sp>
        <p:nvSpPr>
          <p:cNvPr id="1062736291" name="Text 46"/>
          <p:cNvSpPr txBox="1"/>
          <p:nvPr/>
        </p:nvSpPr>
        <p:spPr bwMode="auto">
          <a:xfrm>
            <a:off x="1554480" y="5349240"/>
            <a:ext cx="5623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chain --autofree osreboot-recovery.efi ||</a:t>
            </a:r>
            <a:endParaRPr lang="en-US" sz="1250"/>
          </a:p>
        </p:txBody>
      </p:sp>
      <p:sp>
        <p:nvSpPr>
          <p:cNvPr id="702030540" name="Shape 47"/>
          <p:cNvSpPr/>
          <p:nvPr/>
        </p:nvSpPr>
        <p:spPr bwMode="auto">
          <a:xfrm>
            <a:off x="7635240" y="1280160"/>
            <a:ext cx="3916375" cy="2606040"/>
          </a:xfrm>
          <a:prstGeom prst="rect">
            <a:avLst/>
          </a:prstGeom>
          <a:solidFill>
            <a:schemeClr val="bg2"/>
          </a:solidFill>
          <a:ln w="15875">
            <a:solidFill>
              <a:srgbClr val="9AA1A9"/>
            </a:solidFill>
            <a:prstDash val="dash"/>
          </a:ln>
        </p:spPr>
      </p:sp>
      <p:sp>
        <p:nvSpPr>
          <p:cNvPr id="1584147862" name="Text 48"/>
          <p:cNvSpPr txBox="1"/>
          <p:nvPr/>
        </p:nvSpPr>
        <p:spPr bwMode="auto">
          <a:xfrm>
            <a:off x="7909560" y="1280160"/>
            <a:ext cx="336773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  <a:defRPr/>
            </a:pPr>
            <a:r>
              <a:rPr lang="en-US" sz="1200" b="1">
                <a:solidFill>
                  <a:schemeClr val="accent4"/>
                </a:solidFill>
              </a:rPr>
              <a:t>СКРИНШОТ</a:t>
            </a:r>
            <a:endParaRPr lang="en-US" sz="1200"/>
          </a:p>
          <a:p>
            <a:pPr marL="0" indent="0" algn="ctr">
              <a:spcAft>
                <a:spcPts val="400"/>
              </a:spcAft>
              <a:buNone/>
              <a:defRPr/>
            </a:pPr>
            <a:r>
              <a:rPr lang="en-US" sz="1200">
                <a:solidFill>
                  <a:schemeClr val="tx1"/>
                </a:solidFill>
              </a:rPr>
              <a:t>фото экрана ноутбука в первые 30 с: iPXE получает адрес, находит сервер, качает по HTTPS</a:t>
            </a:r>
            <a:endParaRPr lang="en-US" sz="1200"/>
          </a:p>
          <a:p>
            <a:pPr marL="0" indent="0" algn="ctr">
              <a:spcAft>
                <a:spcPts val="400"/>
              </a:spcAft>
              <a:buNone/>
              <a:defRPr/>
            </a:pPr>
            <a:r>
              <a:rPr lang="en-US" sz="120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img/shot-3-ipxe.png</a:t>
            </a:r>
            <a:endParaRPr lang="en-US" sz="1200"/>
          </a:p>
        </p:txBody>
      </p:sp>
      <p:sp>
        <p:nvSpPr>
          <p:cNvPr id="694711918" name="Text 49"/>
          <p:cNvSpPr txBox="1"/>
          <p:nvPr/>
        </p:nvSpPr>
        <p:spPr bwMode="auto">
          <a:xfrm>
            <a:off x="7635240" y="3913632"/>
            <a:ext cx="39163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50">
                <a:solidFill>
                  <a:schemeClr val="accent4"/>
                </a:solidFill>
              </a:rPr>
              <a:t>iPXE на экране ноутбука</a:t>
            </a:r>
            <a:endParaRPr lang="en-US" sz="1250"/>
          </a:p>
        </p:txBody>
      </p:sp>
      <p:sp>
        <p:nvSpPr>
          <p:cNvPr id="373568323" name="Text 50"/>
          <p:cNvSpPr txBox="1"/>
          <p:nvPr/>
        </p:nvSpPr>
        <p:spPr bwMode="auto">
          <a:xfrm>
            <a:off x="7644384" y="4325112"/>
            <a:ext cx="237744" cy="23774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chemeClr val="bg1"/>
                </a:solidFill>
              </a:rPr>
              <a:t>1</a:t>
            </a:r>
            <a:endParaRPr lang="en-US" sz="1050"/>
          </a:p>
        </p:txBody>
      </p:sp>
      <p:sp>
        <p:nvSpPr>
          <p:cNvPr id="1798163187" name="Text 51"/>
          <p:cNvSpPr txBox="1"/>
          <p:nvPr/>
        </p:nvSpPr>
        <p:spPr bwMode="auto">
          <a:xfrm>
            <a:off x="7982712" y="4251960"/>
            <a:ext cx="35689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 b="1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dhcp</a:t>
            </a:r>
            <a:r>
              <a:rPr lang="en-US" sz="1250">
                <a:solidFill>
                  <a:schemeClr val="accent4"/>
                </a:solidFill>
              </a:rPr>
              <a:t> — IP, шлюз и DNS из сети ноутбука</a:t>
            </a:r>
            <a:endParaRPr lang="en-US" sz="1250"/>
          </a:p>
        </p:txBody>
      </p:sp>
      <p:sp>
        <p:nvSpPr>
          <p:cNvPr id="558180197" name="Text 52"/>
          <p:cNvSpPr txBox="1"/>
          <p:nvPr/>
        </p:nvSpPr>
        <p:spPr bwMode="auto">
          <a:xfrm>
            <a:off x="7644384" y="4709160"/>
            <a:ext cx="237744" cy="23774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chemeClr val="bg1"/>
                </a:solidFill>
              </a:rPr>
              <a:t>2</a:t>
            </a:r>
            <a:endParaRPr lang="en-US" sz="1050"/>
          </a:p>
        </p:txBody>
      </p:sp>
      <p:sp>
        <p:nvSpPr>
          <p:cNvPr id="550688222" name="Text 53"/>
          <p:cNvSpPr txBox="1"/>
          <p:nvPr/>
        </p:nvSpPr>
        <p:spPr bwMode="auto">
          <a:xfrm>
            <a:off x="7982712" y="4636008"/>
            <a:ext cx="35689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 b="1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nslookup</a:t>
            </a:r>
            <a:r>
              <a:rPr lang="en-US" sz="1250">
                <a:solidFill>
                  <a:schemeClr val="accent4"/>
                </a:solidFill>
              </a:rPr>
              <a:t> — 3 попытки, потом 1.1.1.1, 8.8.8.8</a:t>
            </a:r>
            <a:endParaRPr lang="en-US" sz="1250"/>
          </a:p>
        </p:txBody>
      </p:sp>
      <p:sp>
        <p:nvSpPr>
          <p:cNvPr id="2142061363" name="Text 54"/>
          <p:cNvSpPr txBox="1"/>
          <p:nvPr/>
        </p:nvSpPr>
        <p:spPr bwMode="auto">
          <a:xfrm>
            <a:off x="7644384" y="5093208"/>
            <a:ext cx="237744" cy="23774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chemeClr val="bg1"/>
                </a:solidFill>
              </a:rPr>
              <a:t>3</a:t>
            </a:r>
            <a:endParaRPr lang="en-US" sz="1050"/>
          </a:p>
        </p:txBody>
      </p:sp>
      <p:sp>
        <p:nvSpPr>
          <p:cNvPr id="108192466" name="Text 55"/>
          <p:cNvSpPr txBox="1"/>
          <p:nvPr/>
        </p:nvSpPr>
        <p:spPr bwMode="auto">
          <a:xfrm>
            <a:off x="7982712" y="5020056"/>
            <a:ext cx="35689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 b="1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chain https</a:t>
            </a:r>
            <a:r>
              <a:rPr lang="en-US" sz="1250">
                <a:solidFill>
                  <a:schemeClr val="accent4"/>
                </a:solidFill>
              </a:rPr>
              <a:t> — с проверкой сертификата</a:t>
            </a:r>
            <a:endParaRPr lang="en-US" sz="1250"/>
          </a:p>
        </p:txBody>
      </p:sp>
      <p:sp>
        <p:nvSpPr>
          <p:cNvPr id="1001639920" name="Text 56"/>
          <p:cNvSpPr txBox="1"/>
          <p:nvPr/>
        </p:nvSpPr>
        <p:spPr bwMode="auto">
          <a:xfrm>
            <a:off x="7644384" y="5477255"/>
            <a:ext cx="237744" cy="23774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chemeClr val="bg1"/>
                </a:solidFill>
              </a:rPr>
              <a:t>4</a:t>
            </a:r>
            <a:endParaRPr lang="en-US" sz="1050"/>
          </a:p>
        </p:txBody>
      </p:sp>
      <p:sp>
        <p:nvSpPr>
          <p:cNvPr id="1512900061" name="Text 57"/>
          <p:cNvSpPr txBox="1"/>
          <p:nvPr/>
        </p:nvSpPr>
        <p:spPr bwMode="auto">
          <a:xfrm>
            <a:off x="7982712" y="5404104"/>
            <a:ext cx="35689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 b="1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:retry</a:t>
            </a:r>
            <a:r>
              <a:rPr lang="en-US" sz="1250">
                <a:solidFill>
                  <a:schemeClr val="accent4"/>
                </a:solidFill>
              </a:rPr>
              <a:t> — ошибка — через 10 с сначала</a:t>
            </a:r>
            <a:endParaRPr lang="en-US" sz="1250"/>
          </a:p>
        </p:txBody>
      </p:sp>
      <p:sp>
        <p:nvSpPr>
          <p:cNvPr id="328809417" name="Text 58"/>
          <p:cNvSpPr txBox="1"/>
          <p:nvPr/>
        </p:nvSpPr>
        <p:spPr bwMode="auto">
          <a:xfrm>
            <a:off x="7644384" y="5861304"/>
            <a:ext cx="237744" cy="23774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chemeClr val="bg1"/>
                </a:solidFill>
              </a:rPr>
              <a:t>5</a:t>
            </a:r>
            <a:endParaRPr lang="en-US" sz="1050"/>
          </a:p>
        </p:txBody>
      </p:sp>
      <p:sp>
        <p:nvSpPr>
          <p:cNvPr id="780605976" name="Text 59"/>
          <p:cNvSpPr txBox="1"/>
          <p:nvPr/>
        </p:nvSpPr>
        <p:spPr bwMode="auto">
          <a:xfrm>
            <a:off x="7982712" y="5788152"/>
            <a:ext cx="35689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 b="1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boot.ipxe</a:t>
            </a:r>
            <a:r>
              <a:rPr lang="en-US" sz="1250">
                <a:solidFill>
                  <a:schemeClr val="accent4"/>
                </a:solidFill>
              </a:rPr>
              <a:t> — запускает среду в памяти</a:t>
            </a:r>
            <a:endParaRPr lang="en-US" sz="1250"/>
          </a:p>
        </p:txBody>
      </p:sp>
      <p:sp>
        <p:nvSpPr>
          <p:cNvPr id="1772875241" name="Text 60"/>
          <p:cNvSpPr txBox="1"/>
          <p:nvPr/>
        </p:nvSpPr>
        <p:spPr bwMode="auto">
          <a:xfrm>
            <a:off x="640080" y="638251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chemeClr val="accent4"/>
                </a:solidFill>
              </a:rPr>
              <a:t>1 стирание</a:t>
            </a:r>
            <a:r>
              <a:rPr lang="en-US" sz="1050">
                <a:solidFill>
                  <a:schemeClr val="tx1"/>
                </a:solidFill>
              </a:rPr>
              <a:t>     </a:t>
            </a:r>
            <a:r>
              <a:rPr lang="en-US" sz="1050" b="1">
                <a:solidFill>
                  <a:schemeClr val="accent1"/>
                </a:solidFill>
              </a:rPr>
              <a:t>2 сетевая загрузка</a:t>
            </a:r>
            <a:r>
              <a:rPr lang="en-US" sz="1050">
                <a:solidFill>
                  <a:schemeClr val="tx1"/>
                </a:solidFill>
              </a:rPr>
              <a:t>     </a:t>
            </a:r>
            <a:r>
              <a:rPr lang="en-US" sz="1050" b="1">
                <a:solidFill>
                  <a:schemeClr val="accent1"/>
                </a:solidFill>
              </a:rPr>
              <a:t>3 скачивание среды</a:t>
            </a:r>
            <a:r>
              <a:rPr lang="en-US" sz="1050">
                <a:solidFill>
                  <a:schemeClr val="tx1"/>
                </a:solidFill>
              </a:rPr>
              <a:t>     </a:t>
            </a:r>
            <a:r>
              <a:rPr lang="en-US" sz="1050">
                <a:solidFill>
                  <a:schemeClr val="accent4"/>
                </a:solidFill>
              </a:rPr>
              <a:t>4 запуск среды</a:t>
            </a:r>
            <a:r>
              <a:rPr lang="en-US" sz="1050">
                <a:solidFill>
                  <a:schemeClr val="tx1"/>
                </a:solidFill>
              </a:rPr>
              <a:t>     </a:t>
            </a:r>
            <a:r>
              <a:rPr lang="en-US" sz="1050">
                <a:solidFill>
                  <a:schemeClr val="accent4"/>
                </a:solidFill>
              </a:rPr>
              <a:t>5 скачивание образов</a:t>
            </a:r>
            <a:r>
              <a:rPr lang="en-US" sz="1050">
                <a:solidFill>
                  <a:schemeClr val="tx1"/>
                </a:solidFill>
              </a:rPr>
              <a:t>     </a:t>
            </a:r>
            <a:r>
              <a:rPr lang="en-US" sz="1050">
                <a:solidFill>
                  <a:schemeClr val="accent4"/>
                </a:solidFill>
              </a:rPr>
              <a:t>6 проверка</a:t>
            </a:r>
            <a:r>
              <a:rPr lang="en-US" sz="1050">
                <a:solidFill>
                  <a:schemeClr val="tx1"/>
                </a:solidFill>
              </a:rPr>
              <a:t>     </a:t>
            </a:r>
            <a:r>
              <a:rPr lang="en-US" sz="1050">
                <a:solidFill>
                  <a:schemeClr val="accent4"/>
                </a:solidFill>
              </a:rPr>
              <a:t>7 запись</a:t>
            </a:r>
            <a:r>
              <a:rPr lang="en-US" sz="1050">
                <a:solidFill>
                  <a:schemeClr val="tx1"/>
                </a:solidFill>
              </a:rPr>
              <a:t>     </a:t>
            </a:r>
            <a:r>
              <a:rPr lang="en-US" sz="1050">
                <a:solidFill>
                  <a:schemeClr val="accent4"/>
                </a:solidFill>
              </a:rPr>
              <a:t>8 перезагрузка</a:t>
            </a:r>
            <a:endParaRPr lang="en-US" sz="1050"/>
          </a:p>
        </p:txBody>
      </p:sp>
      <p:sp>
        <p:nvSpPr>
          <p:cNvPr id="1657646945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0820095" y="6382512"/>
            <a:ext cx="73152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9636E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8578637" name="Text 0"/>
          <p:cNvSpPr/>
          <p:nvPr>
            <p:ph type="title" idx="100" hasCustomPrompt="1"/>
          </p:nvPr>
        </p:nvSpPr>
        <p:spPr bwMode="auto">
          <a:xfrm>
            <a:off x="640080" y="4114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800" b="1">
                <a:solidFill>
                  <a:schemeClr val="tx1"/>
                </a:solidFill>
              </a:rPr>
              <a:t>Как iPXE проверяет подлинность сервера</a:t>
            </a:r>
            <a:endParaRPr lang="en-US" sz="2800"/>
          </a:p>
        </p:txBody>
      </p:sp>
      <p:sp>
        <p:nvSpPr>
          <p:cNvPr id="883626903" name="Shape 1"/>
          <p:cNvSpPr/>
          <p:nvPr/>
        </p:nvSpPr>
        <p:spPr bwMode="auto">
          <a:xfrm>
            <a:off x="594360" y="1371600"/>
            <a:ext cx="1737360" cy="621792"/>
          </a:xfrm>
          <a:prstGeom prst="rect">
            <a:avLst/>
          </a:prstGeom>
          <a:solidFill>
            <a:schemeClr val="tx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329310823" name="Text 2"/>
          <p:cNvSpPr txBox="1"/>
          <p:nvPr/>
        </p:nvSpPr>
        <p:spPr bwMode="auto">
          <a:xfrm>
            <a:off x="594360" y="140817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450" b="1">
                <a:solidFill>
                  <a:schemeClr val="bg1"/>
                </a:solidFill>
              </a:rPr>
              <a:t>iPXE</a:t>
            </a:r>
            <a:endParaRPr lang="en-US" sz="1450"/>
          </a:p>
        </p:txBody>
      </p:sp>
      <p:sp>
        <p:nvSpPr>
          <p:cNvPr id="398413425" name="Text 3"/>
          <p:cNvSpPr txBox="1"/>
          <p:nvPr/>
        </p:nvSpPr>
        <p:spPr bwMode="auto">
          <a:xfrm>
            <a:off x="594360" y="169164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150">
                <a:solidFill>
                  <a:schemeClr val="accent5"/>
                </a:solidFill>
              </a:rPr>
              <a:t>ноутбук</a:t>
            </a:r>
            <a:endParaRPr lang="en-US" sz="1150"/>
          </a:p>
        </p:txBody>
      </p:sp>
      <p:sp>
        <p:nvSpPr>
          <p:cNvPr id="286221631" name="Shape 4"/>
          <p:cNvSpPr/>
          <p:nvPr/>
        </p:nvSpPr>
        <p:spPr bwMode="auto">
          <a:xfrm>
            <a:off x="1463040" y="1993392"/>
            <a:ext cx="0" cy="3995928"/>
          </a:xfrm>
          <a:prstGeom prst="line">
            <a:avLst/>
          </a:prstGeom>
          <a:noFill/>
          <a:ln w="12700">
            <a:solidFill>
              <a:srgbClr val="9AA1A9"/>
            </a:solidFill>
            <a:prstDash val="dash"/>
          </a:ln>
        </p:spPr>
      </p:sp>
      <p:sp>
        <p:nvSpPr>
          <p:cNvPr id="710131796" name="Shape 5"/>
          <p:cNvSpPr/>
          <p:nvPr/>
        </p:nvSpPr>
        <p:spPr bwMode="auto">
          <a:xfrm>
            <a:off x="4800600" y="1371600"/>
            <a:ext cx="1737360" cy="621792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590060090" name="Text 6"/>
          <p:cNvSpPr txBox="1"/>
          <p:nvPr/>
        </p:nvSpPr>
        <p:spPr bwMode="auto">
          <a:xfrm>
            <a:off x="4800600" y="140817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450" b="1">
                <a:solidFill>
                  <a:schemeClr val="tx1"/>
                </a:solidFill>
              </a:rPr>
              <a:t>nginx</a:t>
            </a:r>
            <a:endParaRPr lang="en-US" sz="1450"/>
          </a:p>
        </p:txBody>
      </p:sp>
      <p:sp>
        <p:nvSpPr>
          <p:cNvPr id="321022579" name="Text 7"/>
          <p:cNvSpPr txBox="1"/>
          <p:nvPr/>
        </p:nvSpPr>
        <p:spPr bwMode="auto">
          <a:xfrm>
            <a:off x="4800600" y="169164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150">
                <a:solidFill>
                  <a:schemeClr val="accent4"/>
                </a:solidFill>
              </a:rPr>
              <a:t>VPS</a:t>
            </a:r>
            <a:endParaRPr lang="en-US" sz="1150"/>
          </a:p>
        </p:txBody>
      </p:sp>
      <p:sp>
        <p:nvSpPr>
          <p:cNvPr id="1947213592" name="Shape 8"/>
          <p:cNvSpPr/>
          <p:nvPr/>
        </p:nvSpPr>
        <p:spPr bwMode="auto">
          <a:xfrm>
            <a:off x="5669280" y="1993392"/>
            <a:ext cx="0" cy="3995928"/>
          </a:xfrm>
          <a:prstGeom prst="line">
            <a:avLst/>
          </a:prstGeom>
          <a:noFill/>
          <a:ln w="12700">
            <a:solidFill>
              <a:srgbClr val="9AA1A9"/>
            </a:solidFill>
            <a:prstDash val="dash"/>
          </a:ln>
        </p:spPr>
      </p:sp>
      <p:sp>
        <p:nvSpPr>
          <p:cNvPr id="1787647146" name="Shape 9"/>
          <p:cNvSpPr/>
          <p:nvPr/>
        </p:nvSpPr>
        <p:spPr bwMode="auto">
          <a:xfrm>
            <a:off x="1499616" y="2606040"/>
            <a:ext cx="41330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016020582" name="Text 10"/>
          <p:cNvSpPr txBox="1"/>
          <p:nvPr/>
        </p:nvSpPr>
        <p:spPr bwMode="auto">
          <a:xfrm>
            <a:off x="1554480" y="2039112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chemeClr val="tx1"/>
                </a:solidFill>
              </a:rPr>
              <a:t>1. ClientHello: версия TLS и наборы шифров клиента</a:t>
            </a:r>
            <a:endParaRPr lang="en-US" sz="1300"/>
          </a:p>
        </p:txBody>
      </p:sp>
      <p:sp>
        <p:nvSpPr>
          <p:cNvPr id="309750534" name="Shape 11"/>
          <p:cNvSpPr/>
          <p:nvPr/>
        </p:nvSpPr>
        <p:spPr bwMode="auto">
          <a:xfrm flipH="1">
            <a:off x="1499616" y="3520440"/>
            <a:ext cx="41330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176037451" name="Text 12"/>
          <p:cNvSpPr txBox="1"/>
          <p:nvPr/>
        </p:nvSpPr>
        <p:spPr bwMode="auto">
          <a:xfrm>
            <a:off x="1554480" y="2953512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chemeClr val="tx1"/>
                </a:solidFill>
              </a:rPr>
              <a:t>2. сертификаты: osreboot.epsti.site ← YE2 ← Root YE ← ISRG Root X2</a:t>
            </a:r>
            <a:endParaRPr lang="en-US" sz="1300"/>
          </a:p>
        </p:txBody>
      </p:sp>
      <p:sp>
        <p:nvSpPr>
          <p:cNvPr id="2014808289" name="Shape 13"/>
          <p:cNvSpPr/>
          <p:nvPr/>
        </p:nvSpPr>
        <p:spPr bwMode="auto">
          <a:xfrm>
            <a:off x="1499616" y="4526280"/>
            <a:ext cx="41330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headEnd type="triangle"/>
            <a:tailEnd type="triangle"/>
          </a:ln>
        </p:spPr>
      </p:sp>
      <p:sp>
        <p:nvSpPr>
          <p:cNvPr id="1080690452" name="Text 14"/>
          <p:cNvSpPr txBox="1"/>
          <p:nvPr/>
        </p:nvSpPr>
        <p:spPr bwMode="auto">
          <a:xfrm>
            <a:off x="1554480" y="3959352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chemeClr val="tx1"/>
                </a:solidFill>
              </a:rPr>
              <a:t>3. ECDHE: общий ключ вычисляют обе стороны, сервер подписывает свою часть</a:t>
            </a:r>
            <a:endParaRPr lang="en-US" sz="1300"/>
          </a:p>
        </p:txBody>
      </p:sp>
      <p:sp>
        <p:nvSpPr>
          <p:cNvPr id="1958411999" name="Shape 15"/>
          <p:cNvSpPr/>
          <p:nvPr/>
        </p:nvSpPr>
        <p:spPr bwMode="auto">
          <a:xfrm>
            <a:off x="1499616" y="5532120"/>
            <a:ext cx="41330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headEnd type="triangle"/>
            <a:tailEnd type="triangle"/>
          </a:ln>
        </p:spPr>
      </p:sp>
      <p:sp>
        <p:nvSpPr>
          <p:cNvPr id="1073894182" name="Text 16"/>
          <p:cNvSpPr txBox="1"/>
          <p:nvPr/>
        </p:nvSpPr>
        <p:spPr bwMode="auto">
          <a:xfrm>
            <a:off x="1554480" y="4965192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chemeClr val="tx1"/>
                </a:solidFill>
              </a:rPr>
              <a:t>4. дальше каждая запись: AES-256-GCM с тегом аутентификации</a:t>
            </a:r>
            <a:endParaRPr lang="en-US" sz="1300"/>
          </a:p>
        </p:txBody>
      </p:sp>
      <p:sp>
        <p:nvSpPr>
          <p:cNvPr id="411090608" name="Shape 17"/>
          <p:cNvSpPr/>
          <p:nvPr/>
        </p:nvSpPr>
        <p:spPr bwMode="auto">
          <a:xfrm>
            <a:off x="6583680" y="1325880"/>
            <a:ext cx="4967935" cy="2743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09728290" name="Text 18"/>
          <p:cNvSpPr txBox="1"/>
          <p:nvPr/>
        </p:nvSpPr>
        <p:spPr bwMode="auto">
          <a:xfrm>
            <a:off x="7040880" y="1417320"/>
            <a:ext cx="44650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$ openssl s_client -tls1_2 -brief \</a:t>
            </a:r>
            <a:endParaRPr lang="en-US" sz="1100"/>
          </a:p>
        </p:txBody>
      </p:sp>
      <p:sp>
        <p:nvSpPr>
          <p:cNvPr id="1710049178" name="Text 19"/>
          <p:cNvSpPr txBox="1"/>
          <p:nvPr/>
        </p:nvSpPr>
        <p:spPr bwMode="auto">
          <a:xfrm>
            <a:off x="7040880" y="1673352"/>
            <a:ext cx="44650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    -connect osreboot.epsti.site:443 &lt;/dev/null</a:t>
            </a:r>
            <a:endParaRPr lang="en-US" sz="1100"/>
          </a:p>
        </p:txBody>
      </p:sp>
      <p:sp>
        <p:nvSpPr>
          <p:cNvPr id="2119871813" name="Shape 20"/>
          <p:cNvSpPr/>
          <p:nvPr/>
        </p:nvSpPr>
        <p:spPr bwMode="auto">
          <a:xfrm>
            <a:off x="6594653" y="1929384"/>
            <a:ext cx="4945990" cy="256032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2029744083" name="Text 21"/>
          <p:cNvSpPr txBox="1"/>
          <p:nvPr/>
        </p:nvSpPr>
        <p:spPr bwMode="auto">
          <a:xfrm>
            <a:off x="6688836" y="1943100"/>
            <a:ext cx="228600" cy="2286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chemeClr val="bg1"/>
                </a:solidFill>
              </a:rPr>
              <a:t>1</a:t>
            </a:r>
            <a:endParaRPr lang="en-US" sz="1050"/>
          </a:p>
        </p:txBody>
      </p:sp>
      <p:sp>
        <p:nvSpPr>
          <p:cNvPr id="389556708" name="Text 22"/>
          <p:cNvSpPr txBox="1"/>
          <p:nvPr/>
        </p:nvSpPr>
        <p:spPr bwMode="auto">
          <a:xfrm>
            <a:off x="7040880" y="1929384"/>
            <a:ext cx="44650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Protocol version: TLSv1.2</a:t>
            </a:r>
            <a:endParaRPr lang="en-US" sz="1100"/>
          </a:p>
        </p:txBody>
      </p:sp>
      <p:sp>
        <p:nvSpPr>
          <p:cNvPr id="596682564" name="Shape 23"/>
          <p:cNvSpPr/>
          <p:nvPr/>
        </p:nvSpPr>
        <p:spPr bwMode="auto">
          <a:xfrm>
            <a:off x="6594653" y="2185416"/>
            <a:ext cx="4945990" cy="256032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388844823" name="Text 24"/>
          <p:cNvSpPr txBox="1"/>
          <p:nvPr/>
        </p:nvSpPr>
        <p:spPr bwMode="auto">
          <a:xfrm>
            <a:off x="7040880" y="2185416"/>
            <a:ext cx="44650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Ciphersuite: ECDHE-ECDSA-AES256-GCM-SHA384</a:t>
            </a:r>
            <a:endParaRPr lang="en-US" sz="1100"/>
          </a:p>
        </p:txBody>
      </p:sp>
      <p:sp>
        <p:nvSpPr>
          <p:cNvPr id="308101877" name="Shape 25"/>
          <p:cNvSpPr/>
          <p:nvPr/>
        </p:nvSpPr>
        <p:spPr bwMode="auto">
          <a:xfrm>
            <a:off x="6594653" y="2441448"/>
            <a:ext cx="4945990" cy="256032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904478428" name="Text 26"/>
          <p:cNvSpPr txBox="1"/>
          <p:nvPr/>
        </p:nvSpPr>
        <p:spPr bwMode="auto">
          <a:xfrm>
            <a:off x="6688836" y="2455164"/>
            <a:ext cx="228600" cy="2286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chemeClr val="bg1"/>
                </a:solidFill>
              </a:rPr>
              <a:t>2</a:t>
            </a:r>
            <a:endParaRPr lang="en-US" sz="1050"/>
          </a:p>
        </p:txBody>
      </p:sp>
      <p:sp>
        <p:nvSpPr>
          <p:cNvPr id="1837417553" name="Text 27"/>
          <p:cNvSpPr txBox="1"/>
          <p:nvPr/>
        </p:nvSpPr>
        <p:spPr bwMode="auto">
          <a:xfrm>
            <a:off x="7040880" y="2441448"/>
            <a:ext cx="44650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Peer certificate: CN=osreboot.epsti.site</a:t>
            </a:r>
            <a:endParaRPr lang="en-US" sz="1100"/>
          </a:p>
        </p:txBody>
      </p:sp>
      <p:sp>
        <p:nvSpPr>
          <p:cNvPr id="1152068836" name="Shape 28"/>
          <p:cNvSpPr/>
          <p:nvPr/>
        </p:nvSpPr>
        <p:spPr bwMode="auto">
          <a:xfrm>
            <a:off x="6594653" y="2697480"/>
            <a:ext cx="4945990" cy="256032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984122298" name="Text 29"/>
          <p:cNvSpPr txBox="1"/>
          <p:nvPr/>
        </p:nvSpPr>
        <p:spPr bwMode="auto">
          <a:xfrm>
            <a:off x="7040880" y="2697480"/>
            <a:ext cx="44650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Hash used: SHA256</a:t>
            </a:r>
            <a:endParaRPr lang="en-US" sz="1100"/>
          </a:p>
        </p:txBody>
      </p:sp>
      <p:sp>
        <p:nvSpPr>
          <p:cNvPr id="1516063072" name="Shape 30"/>
          <p:cNvSpPr/>
          <p:nvPr/>
        </p:nvSpPr>
        <p:spPr bwMode="auto">
          <a:xfrm>
            <a:off x="6594653" y="2953512"/>
            <a:ext cx="4945990" cy="256032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1761905590" name="Text 31"/>
          <p:cNvSpPr txBox="1"/>
          <p:nvPr/>
        </p:nvSpPr>
        <p:spPr bwMode="auto">
          <a:xfrm>
            <a:off x="7040880" y="2953512"/>
            <a:ext cx="44650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Signature type: ecdsa_secp256r1_sha256</a:t>
            </a:r>
            <a:endParaRPr lang="en-US" sz="1100"/>
          </a:p>
        </p:txBody>
      </p:sp>
      <p:sp>
        <p:nvSpPr>
          <p:cNvPr id="1475260073" name="Shape 32"/>
          <p:cNvSpPr/>
          <p:nvPr/>
        </p:nvSpPr>
        <p:spPr bwMode="auto">
          <a:xfrm>
            <a:off x="6594653" y="3209544"/>
            <a:ext cx="4945990" cy="256032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135454514" name="Text 33"/>
          <p:cNvSpPr txBox="1"/>
          <p:nvPr/>
        </p:nvSpPr>
        <p:spPr bwMode="auto">
          <a:xfrm>
            <a:off x="7040880" y="3209544"/>
            <a:ext cx="44650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Verification: OK</a:t>
            </a:r>
            <a:endParaRPr lang="en-US" sz="1100"/>
          </a:p>
        </p:txBody>
      </p:sp>
      <p:sp>
        <p:nvSpPr>
          <p:cNvPr id="1665531877" name="Text 34"/>
          <p:cNvSpPr txBox="1"/>
          <p:nvPr/>
        </p:nvSpPr>
        <p:spPr bwMode="auto">
          <a:xfrm>
            <a:off x="7040880" y="3465576"/>
            <a:ext cx="44650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⋮</a:t>
            </a:r>
            <a:endParaRPr lang="en-US" sz="1100"/>
          </a:p>
        </p:txBody>
      </p:sp>
      <p:sp>
        <p:nvSpPr>
          <p:cNvPr id="1868403909" name="Shape 35"/>
          <p:cNvSpPr/>
          <p:nvPr/>
        </p:nvSpPr>
        <p:spPr bwMode="auto">
          <a:xfrm>
            <a:off x="6594653" y="3721608"/>
            <a:ext cx="4945990" cy="256032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857396538" name="Text 36"/>
          <p:cNvSpPr txBox="1"/>
          <p:nvPr/>
        </p:nvSpPr>
        <p:spPr bwMode="auto">
          <a:xfrm>
            <a:off x="6688836" y="3735324"/>
            <a:ext cx="228600" cy="2286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chemeClr val="bg1"/>
                </a:solidFill>
              </a:rPr>
              <a:t>3</a:t>
            </a:r>
            <a:endParaRPr lang="en-US" sz="1050"/>
          </a:p>
        </p:txBody>
      </p:sp>
      <p:sp>
        <p:nvSpPr>
          <p:cNvPr id="218943721" name="Text 37"/>
          <p:cNvSpPr txBox="1"/>
          <p:nvPr/>
        </p:nvSpPr>
        <p:spPr bwMode="auto">
          <a:xfrm>
            <a:off x="7040880" y="3721608"/>
            <a:ext cx="44650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Peer Temp Key: X25519, 253 bits</a:t>
            </a:r>
            <a:endParaRPr lang="en-US" sz="1100"/>
          </a:p>
        </p:txBody>
      </p:sp>
      <p:sp>
        <p:nvSpPr>
          <p:cNvPr id="485393725" name="Text 38"/>
          <p:cNvSpPr txBox="1"/>
          <p:nvPr/>
        </p:nvSpPr>
        <p:spPr bwMode="auto">
          <a:xfrm>
            <a:off x="6583680" y="4251960"/>
            <a:ext cx="49679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700" b="1">
                <a:solidFill>
                  <a:schemeClr val="tx1"/>
                </a:solidFill>
              </a:rPr>
              <a:t>Что проверяет iPXE</a:t>
            </a:r>
            <a:endParaRPr lang="en-US" sz="1700"/>
          </a:p>
        </p:txBody>
      </p:sp>
      <p:sp>
        <p:nvSpPr>
          <p:cNvPr id="2044106005" name="Text 39"/>
          <p:cNvSpPr txBox="1"/>
          <p:nvPr/>
        </p:nvSpPr>
        <p:spPr bwMode="auto">
          <a:xfrm>
            <a:off x="6583680" y="4663440"/>
            <a:ext cx="49679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  <a:defRPr/>
            </a:pPr>
            <a:r>
              <a:rPr lang="en-US" sz="1400">
                <a:solidFill>
                  <a:schemeClr val="tx1"/>
                </a:solidFill>
              </a:rPr>
              <a:t>цепочка ведёт к корню, вшитому в ipxe.efi: только ISRG X1 и X2</a:t>
            </a:r>
            <a:endParaRPr lang="en-US" sz="1400"/>
          </a:p>
          <a:p>
            <a:pPr marL="203200" indent="-203200">
              <a:spcAft>
                <a:spcPts val="500"/>
              </a:spcAft>
              <a:buSzPct val="100000"/>
              <a:buChar char="•"/>
              <a:defRPr/>
            </a:pPr>
            <a:r>
              <a:rPr lang="en-US" sz="1400">
                <a:solidFill>
                  <a:schemeClr val="tx1"/>
                </a:solidFill>
              </a:rPr>
              <a:t>имя osreboot.epsti.site и сроки сертификата</a:t>
            </a:r>
            <a:endParaRPr lang="en-US" sz="1400"/>
          </a:p>
          <a:p>
            <a:pPr marL="203200" indent="-203200">
              <a:spcAft>
                <a:spcPts val="500"/>
              </a:spcAft>
              <a:buSzPct val="100000"/>
              <a:buChar char="•"/>
              <a:defRPr/>
            </a:pPr>
            <a:r>
              <a:rPr lang="en-US" sz="1400">
                <a:solidFill>
                  <a:schemeClr val="tx1"/>
                </a:solidFill>
              </a:rPr>
              <a:t>подпись в шаге 3: у сервера есть закрытый ключ</a:t>
            </a:r>
            <a:endParaRPr lang="en-US" sz="1400"/>
          </a:p>
        </p:txBody>
      </p:sp>
      <p:sp>
        <p:nvSpPr>
          <p:cNvPr id="1845818135" name="Text 40"/>
          <p:cNvSpPr txBox="1"/>
          <p:nvPr/>
        </p:nvSpPr>
        <p:spPr bwMode="auto">
          <a:xfrm>
            <a:off x="640080" y="638251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chemeClr val="accent4"/>
                </a:solidFill>
              </a:rPr>
              <a:t>1 стирание</a:t>
            </a:r>
            <a:r>
              <a:rPr lang="en-US" sz="1050">
                <a:solidFill>
                  <a:schemeClr val="tx1"/>
                </a:solidFill>
              </a:rPr>
              <a:t>     </a:t>
            </a:r>
            <a:r>
              <a:rPr lang="en-US" sz="1050" b="1">
                <a:solidFill>
                  <a:schemeClr val="accent1"/>
                </a:solidFill>
              </a:rPr>
              <a:t>2 сетевая загрузка</a:t>
            </a:r>
            <a:r>
              <a:rPr lang="en-US" sz="1050">
                <a:solidFill>
                  <a:schemeClr val="tx1"/>
                </a:solidFill>
              </a:rPr>
              <a:t>     </a:t>
            </a:r>
            <a:r>
              <a:rPr lang="en-US" sz="1050" b="1">
                <a:solidFill>
                  <a:schemeClr val="accent1"/>
                </a:solidFill>
              </a:rPr>
              <a:t>3 скачивание среды</a:t>
            </a:r>
            <a:r>
              <a:rPr lang="en-US" sz="1050">
                <a:solidFill>
                  <a:schemeClr val="tx1"/>
                </a:solidFill>
              </a:rPr>
              <a:t>     </a:t>
            </a:r>
            <a:r>
              <a:rPr lang="en-US" sz="1050">
                <a:solidFill>
                  <a:schemeClr val="accent4"/>
                </a:solidFill>
              </a:rPr>
              <a:t>4 запуск среды</a:t>
            </a:r>
            <a:r>
              <a:rPr lang="en-US" sz="1050">
                <a:solidFill>
                  <a:schemeClr val="tx1"/>
                </a:solidFill>
              </a:rPr>
              <a:t>     </a:t>
            </a:r>
            <a:r>
              <a:rPr lang="en-US" sz="1050">
                <a:solidFill>
                  <a:schemeClr val="accent4"/>
                </a:solidFill>
              </a:rPr>
              <a:t>5 скачивание образов</a:t>
            </a:r>
            <a:r>
              <a:rPr lang="en-US" sz="1050">
                <a:solidFill>
                  <a:schemeClr val="tx1"/>
                </a:solidFill>
              </a:rPr>
              <a:t>     </a:t>
            </a:r>
            <a:r>
              <a:rPr lang="en-US" sz="1050">
                <a:solidFill>
                  <a:schemeClr val="accent4"/>
                </a:solidFill>
              </a:rPr>
              <a:t>6 проверка</a:t>
            </a:r>
            <a:r>
              <a:rPr lang="en-US" sz="1050">
                <a:solidFill>
                  <a:schemeClr val="tx1"/>
                </a:solidFill>
              </a:rPr>
              <a:t>     </a:t>
            </a:r>
            <a:r>
              <a:rPr lang="en-US" sz="1050">
                <a:solidFill>
                  <a:schemeClr val="accent4"/>
                </a:solidFill>
              </a:rPr>
              <a:t>7 запись</a:t>
            </a:r>
            <a:r>
              <a:rPr lang="en-US" sz="1050">
                <a:solidFill>
                  <a:schemeClr val="tx1"/>
                </a:solidFill>
              </a:rPr>
              <a:t>     </a:t>
            </a:r>
            <a:r>
              <a:rPr lang="en-US" sz="1050">
                <a:solidFill>
                  <a:schemeClr val="accent4"/>
                </a:solidFill>
              </a:rPr>
              <a:t>8 перезагрузка</a:t>
            </a:r>
            <a:endParaRPr lang="en-US" sz="1050"/>
          </a:p>
        </p:txBody>
      </p:sp>
      <p:sp>
        <p:nvSpPr>
          <p:cNvPr id="951511380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0820095" y="6382512"/>
            <a:ext cx="73152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9636E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5186300" name="Text 0"/>
          <p:cNvSpPr/>
          <p:nvPr>
            <p:ph type="title" idx="100" hasCustomPrompt="1"/>
          </p:nvPr>
        </p:nvSpPr>
        <p:spPr bwMode="auto">
          <a:xfrm>
            <a:off x="640080" y="4114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800" b="1">
                <a:solidFill>
                  <a:schemeClr val="tx1"/>
                </a:solidFill>
              </a:rPr>
              <a:t>Как mkosi собирает среду восстановления</a:t>
            </a:r>
            <a:endParaRPr lang="en-US" sz="2800"/>
          </a:p>
        </p:txBody>
      </p:sp>
      <p:sp>
        <p:nvSpPr>
          <p:cNvPr id="2035924830" name="Text 1"/>
          <p:cNvSpPr txBox="1"/>
          <p:nvPr/>
        </p:nvSpPr>
        <p:spPr bwMode="auto">
          <a:xfrm>
            <a:off x="640080" y="89611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chemeClr val="accent4"/>
                </a:solidFill>
              </a:rPr>
              <a:t>UKI (Unified Kernel Image) — ядро, initrd и командная строка ядра в одном файле EFI</a:t>
            </a:r>
            <a:endParaRPr lang="en-US" sz="1500"/>
          </a:p>
        </p:txBody>
      </p:sp>
      <p:sp>
        <p:nvSpPr>
          <p:cNvPr id="1302014576" name="Shape 2"/>
          <p:cNvSpPr/>
          <p:nvPr/>
        </p:nvSpPr>
        <p:spPr bwMode="auto">
          <a:xfrm>
            <a:off x="640080" y="1325880"/>
            <a:ext cx="5394960" cy="4828032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79232434" name="Text 3"/>
          <p:cNvSpPr txBox="1"/>
          <p:nvPr/>
        </p:nvSpPr>
        <p:spPr bwMode="auto">
          <a:xfrm>
            <a:off x="822960" y="1325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3-recovery/mkosi.conf</a:t>
            </a:r>
            <a:endParaRPr lang="en-US" sz="1100"/>
          </a:p>
        </p:txBody>
      </p:sp>
      <p:sp>
        <p:nvSpPr>
          <p:cNvPr id="2100651564" name="Shape 4"/>
          <p:cNvSpPr/>
          <p:nvPr/>
        </p:nvSpPr>
        <p:spPr bwMode="auto">
          <a:xfrm>
            <a:off x="640080" y="1691640"/>
            <a:ext cx="5394960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1406302574" name="Shape 5"/>
          <p:cNvSpPr/>
          <p:nvPr/>
        </p:nvSpPr>
        <p:spPr bwMode="auto">
          <a:xfrm>
            <a:off x="651053" y="1783080"/>
            <a:ext cx="5373014" cy="23774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1904489602" name="Text 6"/>
          <p:cNvSpPr txBox="1"/>
          <p:nvPr/>
        </p:nvSpPr>
        <p:spPr bwMode="auto">
          <a:xfrm>
            <a:off x="745236" y="1787651"/>
            <a:ext cx="228600" cy="2286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chemeClr val="bg1"/>
                </a:solidFill>
              </a:rPr>
              <a:t>1</a:t>
            </a:r>
            <a:endParaRPr lang="en-US" sz="1050"/>
          </a:p>
        </p:txBody>
      </p:sp>
      <p:sp>
        <p:nvSpPr>
          <p:cNvPr id="508881413" name="Text 7"/>
          <p:cNvSpPr txBox="1"/>
          <p:nvPr/>
        </p:nvSpPr>
        <p:spPr bwMode="auto">
          <a:xfrm>
            <a:off x="1024128" y="1783080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5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7</a:t>
            </a:r>
            <a:endParaRPr lang="en-US" sz="950"/>
          </a:p>
        </p:txBody>
      </p:sp>
      <p:sp>
        <p:nvSpPr>
          <p:cNvPr id="1823583970" name="Text 8"/>
          <p:cNvSpPr txBox="1"/>
          <p:nvPr/>
        </p:nvSpPr>
        <p:spPr bwMode="auto">
          <a:xfrm>
            <a:off x="1371600" y="1783080"/>
            <a:ext cx="4617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Format=uki</a:t>
            </a:r>
            <a:endParaRPr lang="en-US" sz="1100"/>
          </a:p>
        </p:txBody>
      </p:sp>
      <p:sp>
        <p:nvSpPr>
          <p:cNvPr id="1370688906" name="Shape 9"/>
          <p:cNvSpPr/>
          <p:nvPr/>
        </p:nvSpPr>
        <p:spPr bwMode="auto">
          <a:xfrm>
            <a:off x="651053" y="2020824"/>
            <a:ext cx="5373014" cy="23774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1591724643" name="Text 10"/>
          <p:cNvSpPr txBox="1"/>
          <p:nvPr/>
        </p:nvSpPr>
        <p:spPr bwMode="auto">
          <a:xfrm>
            <a:off x="1024128" y="2020824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5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8</a:t>
            </a:r>
            <a:endParaRPr lang="en-US" sz="950"/>
          </a:p>
        </p:txBody>
      </p:sp>
      <p:sp>
        <p:nvSpPr>
          <p:cNvPr id="1112669536" name="Text 11"/>
          <p:cNvSpPr txBox="1"/>
          <p:nvPr/>
        </p:nvSpPr>
        <p:spPr bwMode="auto">
          <a:xfrm>
            <a:off x="1371600" y="2020824"/>
            <a:ext cx="4617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Output=osreboot-recovery</a:t>
            </a:r>
            <a:endParaRPr lang="en-US" sz="1100"/>
          </a:p>
        </p:txBody>
      </p:sp>
      <p:sp>
        <p:nvSpPr>
          <p:cNvPr id="1460687848" name="Text 12"/>
          <p:cNvSpPr txBox="1"/>
          <p:nvPr/>
        </p:nvSpPr>
        <p:spPr bwMode="auto">
          <a:xfrm>
            <a:off x="1371600" y="2258568"/>
            <a:ext cx="4617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⋮</a:t>
            </a:r>
            <a:endParaRPr lang="en-US" sz="1100"/>
          </a:p>
        </p:txBody>
      </p:sp>
      <p:sp>
        <p:nvSpPr>
          <p:cNvPr id="2027820358" name="Shape 13"/>
          <p:cNvSpPr/>
          <p:nvPr/>
        </p:nvSpPr>
        <p:spPr bwMode="auto">
          <a:xfrm>
            <a:off x="651053" y="2496312"/>
            <a:ext cx="5373014" cy="23774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1694523455" name="Text 14"/>
          <p:cNvSpPr txBox="1"/>
          <p:nvPr/>
        </p:nvSpPr>
        <p:spPr bwMode="auto">
          <a:xfrm>
            <a:off x="745236" y="2500884"/>
            <a:ext cx="228600" cy="2286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chemeClr val="bg1"/>
                </a:solidFill>
              </a:rPr>
              <a:t>2</a:t>
            </a:r>
            <a:endParaRPr lang="en-US" sz="1050"/>
          </a:p>
        </p:txBody>
      </p:sp>
      <p:sp>
        <p:nvSpPr>
          <p:cNvPr id="392997589" name="Text 15"/>
          <p:cNvSpPr txBox="1"/>
          <p:nvPr/>
        </p:nvSpPr>
        <p:spPr bwMode="auto">
          <a:xfrm>
            <a:off x="1024128" y="2496312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5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12</a:t>
            </a:r>
            <a:endParaRPr lang="en-US" sz="950"/>
          </a:p>
        </p:txBody>
      </p:sp>
      <p:sp>
        <p:nvSpPr>
          <p:cNvPr id="1446417482" name="Text 16"/>
          <p:cNvSpPr txBox="1"/>
          <p:nvPr/>
        </p:nvSpPr>
        <p:spPr bwMode="auto">
          <a:xfrm>
            <a:off x="1371600" y="2496312"/>
            <a:ext cx="4617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Packages=</a:t>
            </a:r>
            <a:endParaRPr lang="en-US" sz="1100"/>
          </a:p>
        </p:txBody>
      </p:sp>
      <p:sp>
        <p:nvSpPr>
          <p:cNvPr id="1524167704" name="Shape 17"/>
          <p:cNvSpPr/>
          <p:nvPr/>
        </p:nvSpPr>
        <p:spPr bwMode="auto">
          <a:xfrm>
            <a:off x="651053" y="2734056"/>
            <a:ext cx="5373014" cy="23774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187276736" name="Text 18"/>
          <p:cNvSpPr txBox="1"/>
          <p:nvPr/>
        </p:nvSpPr>
        <p:spPr bwMode="auto">
          <a:xfrm>
            <a:off x="1024128" y="2734056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5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14</a:t>
            </a:r>
            <a:endParaRPr lang="en-US" sz="950"/>
          </a:p>
        </p:txBody>
      </p:sp>
      <p:sp>
        <p:nvSpPr>
          <p:cNvPr id="1759776349" name="Text 19"/>
          <p:cNvSpPr txBox="1"/>
          <p:nvPr/>
        </p:nvSpPr>
        <p:spPr bwMode="auto">
          <a:xfrm>
            <a:off x="1371600" y="2734056"/>
            <a:ext cx="4617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        linux</a:t>
            </a:r>
            <a:endParaRPr lang="en-US" sz="1100"/>
          </a:p>
        </p:txBody>
      </p:sp>
      <p:sp>
        <p:nvSpPr>
          <p:cNvPr id="603152137" name="Shape 20"/>
          <p:cNvSpPr/>
          <p:nvPr/>
        </p:nvSpPr>
        <p:spPr bwMode="auto">
          <a:xfrm>
            <a:off x="651053" y="2971800"/>
            <a:ext cx="5373014" cy="23774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2122856746" name="Text 21"/>
          <p:cNvSpPr txBox="1"/>
          <p:nvPr/>
        </p:nvSpPr>
        <p:spPr bwMode="auto">
          <a:xfrm>
            <a:off x="1024128" y="2971800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5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17</a:t>
            </a:r>
            <a:endParaRPr lang="en-US" sz="950"/>
          </a:p>
        </p:txBody>
      </p:sp>
      <p:sp>
        <p:nvSpPr>
          <p:cNvPr id="1545585868" name="Text 22"/>
          <p:cNvSpPr txBox="1"/>
          <p:nvPr/>
        </p:nvSpPr>
        <p:spPr bwMode="auto">
          <a:xfrm>
            <a:off x="1371600" y="2971800"/>
            <a:ext cx="4617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        bash</a:t>
            </a:r>
            <a:endParaRPr lang="en-US" sz="1100"/>
          </a:p>
        </p:txBody>
      </p:sp>
      <p:sp>
        <p:nvSpPr>
          <p:cNvPr id="1658085687" name="Shape 23"/>
          <p:cNvSpPr/>
          <p:nvPr/>
        </p:nvSpPr>
        <p:spPr bwMode="auto">
          <a:xfrm>
            <a:off x="651053" y="3209544"/>
            <a:ext cx="5373014" cy="23774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705421395" name="Text 24"/>
          <p:cNvSpPr txBox="1"/>
          <p:nvPr/>
        </p:nvSpPr>
        <p:spPr bwMode="auto">
          <a:xfrm>
            <a:off x="1024128" y="3209544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5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26</a:t>
            </a:r>
            <a:endParaRPr lang="en-US" sz="950"/>
          </a:p>
        </p:txBody>
      </p:sp>
      <p:sp>
        <p:nvSpPr>
          <p:cNvPr id="1084149266" name="Text 25"/>
          <p:cNvSpPr txBox="1"/>
          <p:nvPr/>
        </p:nvSpPr>
        <p:spPr bwMode="auto">
          <a:xfrm>
            <a:off x="1371600" y="3209544"/>
            <a:ext cx="4617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        curl</a:t>
            </a:r>
            <a:endParaRPr lang="en-US" sz="1100"/>
          </a:p>
        </p:txBody>
      </p:sp>
      <p:sp>
        <p:nvSpPr>
          <p:cNvPr id="565948977" name="Shape 26"/>
          <p:cNvSpPr/>
          <p:nvPr/>
        </p:nvSpPr>
        <p:spPr bwMode="auto">
          <a:xfrm>
            <a:off x="651053" y="3447288"/>
            <a:ext cx="5373014" cy="23774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849575905" name="Text 27"/>
          <p:cNvSpPr txBox="1"/>
          <p:nvPr/>
        </p:nvSpPr>
        <p:spPr bwMode="auto">
          <a:xfrm>
            <a:off x="1024128" y="3447288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5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27</a:t>
            </a:r>
            <a:endParaRPr lang="en-US" sz="950"/>
          </a:p>
        </p:txBody>
      </p:sp>
      <p:sp>
        <p:nvSpPr>
          <p:cNvPr id="2113782264" name="Text 28"/>
          <p:cNvSpPr txBox="1"/>
          <p:nvPr/>
        </p:nvSpPr>
        <p:spPr bwMode="auto">
          <a:xfrm>
            <a:off x="1371600" y="3447288"/>
            <a:ext cx="4617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        zstd</a:t>
            </a:r>
            <a:endParaRPr lang="en-US" sz="1100"/>
          </a:p>
        </p:txBody>
      </p:sp>
      <p:sp>
        <p:nvSpPr>
          <p:cNvPr id="649539727" name="Text 29"/>
          <p:cNvSpPr txBox="1"/>
          <p:nvPr/>
        </p:nvSpPr>
        <p:spPr bwMode="auto">
          <a:xfrm>
            <a:off x="1371600" y="3685032"/>
            <a:ext cx="4617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⋮</a:t>
            </a:r>
            <a:endParaRPr lang="en-US" sz="1100"/>
          </a:p>
        </p:txBody>
      </p:sp>
      <p:sp>
        <p:nvSpPr>
          <p:cNvPr id="1952164869" name="Shape 30"/>
          <p:cNvSpPr/>
          <p:nvPr/>
        </p:nvSpPr>
        <p:spPr bwMode="auto">
          <a:xfrm>
            <a:off x="651053" y="3922776"/>
            <a:ext cx="5373014" cy="23774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2036865649" name="Text 31"/>
          <p:cNvSpPr txBox="1"/>
          <p:nvPr/>
        </p:nvSpPr>
        <p:spPr bwMode="auto">
          <a:xfrm>
            <a:off x="745236" y="3927348"/>
            <a:ext cx="228600" cy="2286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chemeClr val="bg1"/>
                </a:solidFill>
              </a:rPr>
              <a:t>3</a:t>
            </a:r>
            <a:endParaRPr lang="en-US" sz="1050"/>
          </a:p>
        </p:txBody>
      </p:sp>
      <p:sp>
        <p:nvSpPr>
          <p:cNvPr id="1711861988" name="Text 32"/>
          <p:cNvSpPr txBox="1"/>
          <p:nvPr/>
        </p:nvSpPr>
        <p:spPr bwMode="auto">
          <a:xfrm>
            <a:off x="1024128" y="3922776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5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33</a:t>
            </a:r>
            <a:endParaRPr lang="en-US" sz="950"/>
          </a:p>
        </p:txBody>
      </p:sp>
      <p:sp>
        <p:nvSpPr>
          <p:cNvPr id="1388497966" name="Text 33"/>
          <p:cNvSpPr txBox="1"/>
          <p:nvPr/>
        </p:nvSpPr>
        <p:spPr bwMode="auto">
          <a:xfrm>
            <a:off x="1371600" y="3922776"/>
            <a:ext cx="4617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KernelModules=</a:t>
            </a:r>
            <a:endParaRPr lang="en-US" sz="1100"/>
          </a:p>
        </p:txBody>
      </p:sp>
      <p:sp>
        <p:nvSpPr>
          <p:cNvPr id="976925646" name="Shape 34"/>
          <p:cNvSpPr/>
          <p:nvPr/>
        </p:nvSpPr>
        <p:spPr bwMode="auto">
          <a:xfrm>
            <a:off x="651053" y="4160519"/>
            <a:ext cx="5373014" cy="23774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1801870769" name="Text 35"/>
          <p:cNvSpPr txBox="1"/>
          <p:nvPr/>
        </p:nvSpPr>
        <p:spPr bwMode="auto">
          <a:xfrm>
            <a:off x="1024128" y="4160519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5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34</a:t>
            </a:r>
            <a:endParaRPr lang="en-US" sz="950"/>
          </a:p>
        </p:txBody>
      </p:sp>
      <p:sp>
        <p:nvSpPr>
          <p:cNvPr id="1045393666" name="Text 36"/>
          <p:cNvSpPr txBox="1"/>
          <p:nvPr/>
        </p:nvSpPr>
        <p:spPr bwMode="auto">
          <a:xfrm>
            <a:off x="1371600" y="4160519"/>
            <a:ext cx="4617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        default</a:t>
            </a:r>
            <a:endParaRPr lang="en-US" sz="1100"/>
          </a:p>
        </p:txBody>
      </p:sp>
      <p:sp>
        <p:nvSpPr>
          <p:cNvPr id="75540163" name="Shape 37"/>
          <p:cNvSpPr/>
          <p:nvPr/>
        </p:nvSpPr>
        <p:spPr bwMode="auto">
          <a:xfrm>
            <a:off x="651053" y="4398264"/>
            <a:ext cx="5373014" cy="23774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1808721874" name="Text 38"/>
          <p:cNvSpPr txBox="1"/>
          <p:nvPr/>
        </p:nvSpPr>
        <p:spPr bwMode="auto">
          <a:xfrm>
            <a:off x="1024128" y="4398264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5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35</a:t>
            </a:r>
            <a:endParaRPr lang="en-US" sz="950"/>
          </a:p>
        </p:txBody>
      </p:sp>
      <p:sp>
        <p:nvSpPr>
          <p:cNvPr id="1126150367" name="Text 39"/>
          <p:cNvSpPr txBox="1"/>
          <p:nvPr/>
        </p:nvSpPr>
        <p:spPr bwMode="auto">
          <a:xfrm>
            <a:off x="1371600" y="4398264"/>
            <a:ext cx="4617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        /drivers/net/ethernet/</a:t>
            </a:r>
            <a:endParaRPr lang="en-US" sz="1100"/>
          </a:p>
        </p:txBody>
      </p:sp>
      <p:sp>
        <p:nvSpPr>
          <p:cNvPr id="26752135" name="Shape 40"/>
          <p:cNvSpPr/>
          <p:nvPr/>
        </p:nvSpPr>
        <p:spPr bwMode="auto">
          <a:xfrm>
            <a:off x="651053" y="4636008"/>
            <a:ext cx="5373014" cy="23774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552639524" name="Text 41"/>
          <p:cNvSpPr txBox="1"/>
          <p:nvPr/>
        </p:nvSpPr>
        <p:spPr bwMode="auto">
          <a:xfrm>
            <a:off x="1024128" y="4636008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5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39</a:t>
            </a:r>
            <a:endParaRPr lang="en-US" sz="950"/>
          </a:p>
        </p:txBody>
      </p:sp>
      <p:sp>
        <p:nvSpPr>
          <p:cNvPr id="292628274" name="Text 42"/>
          <p:cNvSpPr txBox="1"/>
          <p:nvPr/>
        </p:nvSpPr>
        <p:spPr bwMode="auto">
          <a:xfrm>
            <a:off x="1371600" y="4636008"/>
            <a:ext cx="4617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        /drivers/char/tpm/</a:t>
            </a:r>
            <a:endParaRPr lang="en-US" sz="1100"/>
          </a:p>
        </p:txBody>
      </p:sp>
      <p:sp>
        <p:nvSpPr>
          <p:cNvPr id="939143378" name="Text 43"/>
          <p:cNvSpPr txBox="1"/>
          <p:nvPr/>
        </p:nvSpPr>
        <p:spPr bwMode="auto">
          <a:xfrm>
            <a:off x="1371600" y="4873752"/>
            <a:ext cx="4617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⋮</a:t>
            </a:r>
            <a:endParaRPr lang="en-US" sz="1100"/>
          </a:p>
        </p:txBody>
      </p:sp>
      <p:sp>
        <p:nvSpPr>
          <p:cNvPr id="1824525235" name="Shape 44"/>
          <p:cNvSpPr/>
          <p:nvPr/>
        </p:nvSpPr>
        <p:spPr bwMode="auto">
          <a:xfrm>
            <a:off x="651053" y="5111496"/>
            <a:ext cx="5373014" cy="23774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585597927" name="Text 45"/>
          <p:cNvSpPr txBox="1"/>
          <p:nvPr/>
        </p:nvSpPr>
        <p:spPr bwMode="auto">
          <a:xfrm>
            <a:off x="745236" y="5116068"/>
            <a:ext cx="228600" cy="2286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chemeClr val="bg1"/>
                </a:solidFill>
              </a:rPr>
              <a:t>4</a:t>
            </a:r>
            <a:endParaRPr lang="en-US" sz="1050"/>
          </a:p>
        </p:txBody>
      </p:sp>
      <p:sp>
        <p:nvSpPr>
          <p:cNvPr id="1446406151" name="Text 46"/>
          <p:cNvSpPr txBox="1"/>
          <p:nvPr/>
        </p:nvSpPr>
        <p:spPr bwMode="auto">
          <a:xfrm>
            <a:off x="1024128" y="5111496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5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50</a:t>
            </a:r>
            <a:endParaRPr lang="en-US" sz="950"/>
          </a:p>
        </p:txBody>
      </p:sp>
      <p:sp>
        <p:nvSpPr>
          <p:cNvPr id="120079017" name="Text 47"/>
          <p:cNvSpPr txBox="1"/>
          <p:nvPr/>
        </p:nvSpPr>
        <p:spPr bwMode="auto">
          <a:xfrm>
            <a:off x="1371600" y="5111496"/>
            <a:ext cx="4617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ExtraTrees=</a:t>
            </a:r>
            <a:endParaRPr lang="en-US" sz="1100"/>
          </a:p>
        </p:txBody>
      </p:sp>
      <p:sp>
        <p:nvSpPr>
          <p:cNvPr id="763787744" name="Shape 48"/>
          <p:cNvSpPr/>
          <p:nvPr/>
        </p:nvSpPr>
        <p:spPr bwMode="auto">
          <a:xfrm>
            <a:off x="651053" y="5349240"/>
            <a:ext cx="5373014" cy="23774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1854639850" name="Text 49"/>
          <p:cNvSpPr txBox="1"/>
          <p:nvPr/>
        </p:nvSpPr>
        <p:spPr bwMode="auto">
          <a:xfrm>
            <a:off x="1024128" y="5349240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5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51</a:t>
            </a:r>
            <a:endParaRPr lang="en-US" sz="950"/>
          </a:p>
        </p:txBody>
      </p:sp>
      <p:sp>
        <p:nvSpPr>
          <p:cNvPr id="1218488151" name="Text 50"/>
          <p:cNvSpPr txBox="1"/>
          <p:nvPr/>
        </p:nvSpPr>
        <p:spPr bwMode="auto">
          <a:xfrm>
            <a:off x="1371600" y="5349240"/>
            <a:ext cx="4617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        ../0-test-system/mkosi.extra</a:t>
            </a:r>
            <a:endParaRPr lang="en-US" sz="1100"/>
          </a:p>
        </p:txBody>
      </p:sp>
      <p:sp>
        <p:nvSpPr>
          <p:cNvPr id="2018464426" name="Shape 51"/>
          <p:cNvSpPr/>
          <p:nvPr/>
        </p:nvSpPr>
        <p:spPr bwMode="auto">
          <a:xfrm>
            <a:off x="651053" y="5586984"/>
            <a:ext cx="5373014" cy="23774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1061933288" name="Text 52"/>
          <p:cNvSpPr txBox="1"/>
          <p:nvPr/>
        </p:nvSpPr>
        <p:spPr bwMode="auto">
          <a:xfrm>
            <a:off x="1024128" y="5586984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5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52</a:t>
            </a:r>
            <a:endParaRPr lang="en-US" sz="950"/>
          </a:p>
        </p:txBody>
      </p:sp>
      <p:sp>
        <p:nvSpPr>
          <p:cNvPr id="624990718" name="Text 53"/>
          <p:cNvSpPr txBox="1"/>
          <p:nvPr/>
        </p:nvSpPr>
        <p:spPr bwMode="auto">
          <a:xfrm>
            <a:off x="1371600" y="5586984"/>
            <a:ext cx="4617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        ../client:/usr/local/lib/osreboot-client</a:t>
            </a:r>
            <a:endParaRPr lang="en-US" sz="1100"/>
          </a:p>
        </p:txBody>
      </p:sp>
      <p:sp>
        <p:nvSpPr>
          <p:cNvPr id="204314376" name="Shape 54"/>
          <p:cNvSpPr/>
          <p:nvPr/>
        </p:nvSpPr>
        <p:spPr bwMode="auto">
          <a:xfrm>
            <a:off x="651053" y="5824728"/>
            <a:ext cx="5373014" cy="23774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682006060" name="Text 55"/>
          <p:cNvSpPr txBox="1"/>
          <p:nvPr/>
        </p:nvSpPr>
        <p:spPr bwMode="auto">
          <a:xfrm>
            <a:off x="745236" y="5829300"/>
            <a:ext cx="228600" cy="2286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chemeClr val="bg1"/>
                </a:solidFill>
              </a:rPr>
              <a:t>5</a:t>
            </a:r>
            <a:endParaRPr lang="en-US" sz="1050"/>
          </a:p>
        </p:txBody>
      </p:sp>
      <p:sp>
        <p:nvSpPr>
          <p:cNvPr id="2111853242" name="Text 56"/>
          <p:cNvSpPr txBox="1"/>
          <p:nvPr/>
        </p:nvSpPr>
        <p:spPr bwMode="auto">
          <a:xfrm>
            <a:off x="1024128" y="5824728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5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53</a:t>
            </a:r>
            <a:endParaRPr lang="en-US" sz="950"/>
          </a:p>
        </p:txBody>
      </p:sp>
      <p:sp>
        <p:nvSpPr>
          <p:cNvPr id="1469757921" name="Text 57"/>
          <p:cNvSpPr txBox="1"/>
          <p:nvPr/>
        </p:nvSpPr>
        <p:spPr bwMode="auto">
          <a:xfrm>
            <a:off x="1371600" y="5824728"/>
            <a:ext cx="4617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KernelCommandLine=systemd.firstboot=off</a:t>
            </a:r>
            <a:endParaRPr lang="en-US" sz="1100"/>
          </a:p>
        </p:txBody>
      </p:sp>
      <p:sp>
        <p:nvSpPr>
          <p:cNvPr id="812732248" name="Shape 58"/>
          <p:cNvSpPr/>
          <p:nvPr/>
        </p:nvSpPr>
        <p:spPr bwMode="auto">
          <a:xfrm>
            <a:off x="6446520" y="1325880"/>
            <a:ext cx="5105095" cy="694944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34683890" name="Text 59"/>
          <p:cNvSpPr txBox="1"/>
          <p:nvPr/>
        </p:nvSpPr>
        <p:spPr bwMode="auto">
          <a:xfrm>
            <a:off x="6720840" y="1417320"/>
            <a:ext cx="47850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$ mkosi -C 3-recovery build</a:t>
            </a:r>
            <a:endParaRPr lang="en-US" sz="1100"/>
          </a:p>
        </p:txBody>
      </p:sp>
      <p:sp>
        <p:nvSpPr>
          <p:cNvPr id="1029792366" name="Text 60"/>
          <p:cNvSpPr txBox="1"/>
          <p:nvPr/>
        </p:nvSpPr>
        <p:spPr bwMode="auto">
          <a:xfrm>
            <a:off x="6720840" y="1673352"/>
            <a:ext cx="47850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6E7781"/>
                </a:solidFill>
                <a:latin typeface="JetBrainsMonoNL NF"/>
                <a:ea typeface="JetBrainsMonoNL NF"/>
                <a:cs typeface="JetBrainsMonoNL NF"/>
              </a:rPr>
              <a:t># пишет 3-recovery/mkosi.output/osreboot-recovery.efi</a:t>
            </a:r>
            <a:endParaRPr lang="en-US" sz="1100"/>
          </a:p>
        </p:txBody>
      </p:sp>
      <p:sp>
        <p:nvSpPr>
          <p:cNvPr id="1105750134" name="Shape 61"/>
          <p:cNvSpPr/>
          <p:nvPr/>
        </p:nvSpPr>
        <p:spPr bwMode="auto">
          <a:xfrm>
            <a:off x="6446520" y="2240280"/>
            <a:ext cx="5105095" cy="2962656"/>
          </a:xfrm>
          <a:prstGeom prst="roundRect">
            <a:avLst>
              <a:gd name="adj" fmla="val 1852"/>
            </a:avLst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68229844" name="Text 62"/>
          <p:cNvSpPr txBox="1"/>
          <p:nvPr/>
        </p:nvSpPr>
        <p:spPr bwMode="auto">
          <a:xfrm>
            <a:off x="6556248" y="2350008"/>
            <a:ext cx="237744" cy="23774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chemeClr val="bg1"/>
                </a:solidFill>
              </a:rPr>
              <a:t>1</a:t>
            </a:r>
            <a:endParaRPr lang="en-US" sz="1050"/>
          </a:p>
        </p:txBody>
      </p:sp>
      <p:sp>
        <p:nvSpPr>
          <p:cNvPr id="1857328181" name="Text 63"/>
          <p:cNvSpPr txBox="1"/>
          <p:nvPr/>
        </p:nvSpPr>
        <p:spPr bwMode="auto">
          <a:xfrm>
            <a:off x="6903720" y="2286000"/>
            <a:ext cx="4556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osreboot-recovery.efi</a:t>
            </a:r>
            <a:r>
              <a:rPr lang="en-US" sz="1400">
                <a:solidFill>
                  <a:schemeClr val="accent4"/>
                </a:solidFill>
              </a:rPr>
              <a:t>   132 MiB, один файл</a:t>
            </a:r>
            <a:endParaRPr lang="en-US" sz="1400"/>
          </a:p>
        </p:txBody>
      </p:sp>
      <p:sp>
        <p:nvSpPr>
          <p:cNvPr id="1094925819" name="Shape 64"/>
          <p:cNvSpPr/>
          <p:nvPr/>
        </p:nvSpPr>
        <p:spPr bwMode="auto">
          <a:xfrm>
            <a:off x="6583680" y="2697480"/>
            <a:ext cx="4830775" cy="530352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35813793" name="Text 65"/>
          <p:cNvSpPr txBox="1"/>
          <p:nvPr/>
        </p:nvSpPr>
        <p:spPr bwMode="auto">
          <a:xfrm>
            <a:off x="6720840" y="2697480"/>
            <a:ext cx="1051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.text</a:t>
            </a:r>
            <a:endParaRPr lang="en-US" sz="1300"/>
          </a:p>
        </p:txBody>
      </p:sp>
      <p:sp>
        <p:nvSpPr>
          <p:cNvPr id="255811047" name="Text 66"/>
          <p:cNvSpPr txBox="1"/>
          <p:nvPr/>
        </p:nvSpPr>
        <p:spPr bwMode="auto">
          <a:xfrm>
            <a:off x="6720840" y="2962656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accent4"/>
                </a:solidFill>
              </a:rPr>
              <a:t>0,1 MiB</a:t>
            </a:r>
            <a:endParaRPr lang="en-US" sz="1100"/>
          </a:p>
        </p:txBody>
      </p:sp>
      <p:sp>
        <p:nvSpPr>
          <p:cNvPr id="249080564" name="Text 67"/>
          <p:cNvSpPr txBox="1"/>
          <p:nvPr/>
        </p:nvSpPr>
        <p:spPr bwMode="auto">
          <a:xfrm>
            <a:off x="7818120" y="2697480"/>
            <a:ext cx="35048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chemeClr val="tx1"/>
                </a:solidFill>
              </a:rPr>
              <a:t>systemd-stub: запускает ядро</a:t>
            </a:r>
            <a:endParaRPr lang="en-US" sz="1250"/>
          </a:p>
        </p:txBody>
      </p:sp>
      <p:sp>
        <p:nvSpPr>
          <p:cNvPr id="25715117" name="Shape 68"/>
          <p:cNvSpPr/>
          <p:nvPr/>
        </p:nvSpPr>
        <p:spPr bwMode="auto">
          <a:xfrm>
            <a:off x="6583680" y="3300984"/>
            <a:ext cx="4830775" cy="530352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16104036" name="Text 69"/>
          <p:cNvSpPr txBox="1"/>
          <p:nvPr/>
        </p:nvSpPr>
        <p:spPr bwMode="auto">
          <a:xfrm>
            <a:off x="6720840" y="3300984"/>
            <a:ext cx="1051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.cmdline</a:t>
            </a:r>
            <a:endParaRPr lang="en-US" sz="1300"/>
          </a:p>
        </p:txBody>
      </p:sp>
      <p:sp>
        <p:nvSpPr>
          <p:cNvPr id="2012068222" name="Text 70"/>
          <p:cNvSpPr txBox="1"/>
          <p:nvPr/>
        </p:nvSpPr>
        <p:spPr bwMode="auto">
          <a:xfrm>
            <a:off x="6720840" y="3566160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accent4"/>
                </a:solidFill>
              </a:rPr>
              <a:t>22 байта</a:t>
            </a:r>
            <a:endParaRPr lang="en-US" sz="1100"/>
          </a:p>
        </p:txBody>
      </p:sp>
      <p:sp>
        <p:nvSpPr>
          <p:cNvPr id="1929570502" name="Text 71"/>
          <p:cNvSpPr txBox="1"/>
          <p:nvPr/>
        </p:nvSpPr>
        <p:spPr bwMode="auto">
          <a:xfrm>
            <a:off x="7818120" y="3300984"/>
            <a:ext cx="32305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chemeClr val="tx1"/>
                </a:solidFill>
              </a:rPr>
              <a:t>systemd.firstboot=off</a:t>
            </a:r>
            <a:endParaRPr lang="en-US" sz="1250"/>
          </a:p>
        </p:txBody>
      </p:sp>
      <p:sp>
        <p:nvSpPr>
          <p:cNvPr id="2085829250" name="Text 72"/>
          <p:cNvSpPr txBox="1"/>
          <p:nvPr/>
        </p:nvSpPr>
        <p:spPr bwMode="auto">
          <a:xfrm>
            <a:off x="11140135" y="3456432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chemeClr val="bg1"/>
                </a:solidFill>
              </a:rPr>
              <a:t>5</a:t>
            </a:r>
            <a:endParaRPr lang="en-US" sz="1000"/>
          </a:p>
        </p:txBody>
      </p:sp>
      <p:sp>
        <p:nvSpPr>
          <p:cNvPr id="133248612" name="Shape 73"/>
          <p:cNvSpPr/>
          <p:nvPr/>
        </p:nvSpPr>
        <p:spPr bwMode="auto">
          <a:xfrm>
            <a:off x="6583680" y="3904488"/>
            <a:ext cx="4830775" cy="530352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14850260" name="Text 74"/>
          <p:cNvSpPr txBox="1"/>
          <p:nvPr/>
        </p:nvSpPr>
        <p:spPr bwMode="auto">
          <a:xfrm>
            <a:off x="6720840" y="3904488"/>
            <a:ext cx="1051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.linux</a:t>
            </a:r>
            <a:endParaRPr lang="en-US" sz="1300"/>
          </a:p>
        </p:txBody>
      </p:sp>
      <p:sp>
        <p:nvSpPr>
          <p:cNvPr id="318338806" name="Text 75"/>
          <p:cNvSpPr txBox="1"/>
          <p:nvPr/>
        </p:nvSpPr>
        <p:spPr bwMode="auto">
          <a:xfrm>
            <a:off x="6720840" y="4169664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accent4"/>
                </a:solidFill>
              </a:rPr>
              <a:t>16,4 MiB</a:t>
            </a:r>
            <a:endParaRPr lang="en-US" sz="1100"/>
          </a:p>
        </p:txBody>
      </p:sp>
      <p:sp>
        <p:nvSpPr>
          <p:cNvPr id="224460396" name="Text 76"/>
          <p:cNvSpPr txBox="1"/>
          <p:nvPr/>
        </p:nvSpPr>
        <p:spPr bwMode="auto">
          <a:xfrm>
            <a:off x="7818120" y="3904488"/>
            <a:ext cx="32305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chemeClr val="tx1"/>
                </a:solidFill>
              </a:rPr>
              <a:t>ядро Linux 7.2.11</a:t>
            </a:r>
            <a:endParaRPr lang="en-US" sz="1250"/>
          </a:p>
        </p:txBody>
      </p:sp>
      <p:sp>
        <p:nvSpPr>
          <p:cNvPr id="1467836136" name="Text 77"/>
          <p:cNvSpPr txBox="1"/>
          <p:nvPr/>
        </p:nvSpPr>
        <p:spPr bwMode="auto">
          <a:xfrm>
            <a:off x="11140135" y="4059936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chemeClr val="bg1"/>
                </a:solidFill>
              </a:rPr>
              <a:t>2</a:t>
            </a:r>
            <a:endParaRPr lang="en-US" sz="1000"/>
          </a:p>
        </p:txBody>
      </p:sp>
      <p:sp>
        <p:nvSpPr>
          <p:cNvPr id="989408513" name="Shape 78"/>
          <p:cNvSpPr/>
          <p:nvPr/>
        </p:nvSpPr>
        <p:spPr bwMode="auto">
          <a:xfrm>
            <a:off x="6583680" y="4507992"/>
            <a:ext cx="4830775" cy="530352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20176225" name="Text 79"/>
          <p:cNvSpPr txBox="1"/>
          <p:nvPr/>
        </p:nvSpPr>
        <p:spPr bwMode="auto">
          <a:xfrm>
            <a:off x="6720840" y="4507992"/>
            <a:ext cx="1051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.initrd</a:t>
            </a:r>
            <a:endParaRPr lang="en-US" sz="1300"/>
          </a:p>
        </p:txBody>
      </p:sp>
      <p:sp>
        <p:nvSpPr>
          <p:cNvPr id="791063793" name="Text 80"/>
          <p:cNvSpPr txBox="1"/>
          <p:nvPr/>
        </p:nvSpPr>
        <p:spPr bwMode="auto">
          <a:xfrm>
            <a:off x="6720840" y="4773168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accent4"/>
                </a:solidFill>
              </a:rPr>
              <a:t>115,7 MiB</a:t>
            </a:r>
            <a:endParaRPr lang="en-US" sz="1100"/>
          </a:p>
        </p:txBody>
      </p:sp>
      <p:sp>
        <p:nvSpPr>
          <p:cNvPr id="104607438" name="Text 81"/>
          <p:cNvSpPr txBox="1"/>
          <p:nvPr/>
        </p:nvSpPr>
        <p:spPr bwMode="auto">
          <a:xfrm>
            <a:off x="7818120" y="4507992"/>
            <a:ext cx="26819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chemeClr val="tx1"/>
                </a:solidFill>
              </a:rPr>
              <a:t>вся система: пакеты, драйверы, скрипты, клиент</a:t>
            </a:r>
            <a:endParaRPr lang="en-US" sz="1250"/>
          </a:p>
        </p:txBody>
      </p:sp>
      <p:sp>
        <p:nvSpPr>
          <p:cNvPr id="160125525" name="Text 82"/>
          <p:cNvSpPr txBox="1"/>
          <p:nvPr/>
        </p:nvSpPr>
        <p:spPr bwMode="auto">
          <a:xfrm>
            <a:off x="10591494" y="4663440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chemeClr val="bg1"/>
                </a:solidFill>
              </a:rPr>
              <a:t>2</a:t>
            </a:r>
            <a:endParaRPr lang="en-US" sz="1000"/>
          </a:p>
        </p:txBody>
      </p:sp>
      <p:sp>
        <p:nvSpPr>
          <p:cNvPr id="286895084" name="Text 83"/>
          <p:cNvSpPr txBox="1"/>
          <p:nvPr/>
        </p:nvSpPr>
        <p:spPr bwMode="auto">
          <a:xfrm>
            <a:off x="10865815" y="4663440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chemeClr val="bg1"/>
                </a:solidFill>
              </a:rPr>
              <a:t>3</a:t>
            </a:r>
            <a:endParaRPr lang="en-US" sz="1000"/>
          </a:p>
        </p:txBody>
      </p:sp>
      <p:sp>
        <p:nvSpPr>
          <p:cNvPr id="1410706101" name="Text 84"/>
          <p:cNvSpPr txBox="1"/>
          <p:nvPr/>
        </p:nvSpPr>
        <p:spPr bwMode="auto">
          <a:xfrm>
            <a:off x="11140135" y="4663440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chemeClr val="bg1"/>
                </a:solidFill>
              </a:rPr>
              <a:t>4</a:t>
            </a:r>
            <a:endParaRPr lang="en-US" sz="1000"/>
          </a:p>
        </p:txBody>
      </p:sp>
      <p:sp>
        <p:nvSpPr>
          <p:cNvPr id="536717173" name="Text 85"/>
          <p:cNvSpPr txBox="1"/>
          <p:nvPr/>
        </p:nvSpPr>
        <p:spPr bwMode="auto">
          <a:xfrm>
            <a:off x="6446520" y="5349240"/>
            <a:ext cx="5105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tx1"/>
                </a:solidFill>
              </a:rPr>
              <a:t>Запуск: </a:t>
            </a:r>
            <a:r>
              <a:rPr lang="en-US" sz="1300">
                <a:solidFill>
                  <a:schemeClr val="tx1"/>
                </a:solidFill>
              </a:rPr>
              <a:t>iPXE передаёт файл прошивке UEFI → systemd-stub достаёт ядро, initrd и командную строку → ядро распаковывает .initrd в оперативную память и запускает из неё systemd. Диск не нужен.</a:t>
            </a:r>
            <a:endParaRPr lang="en-US" sz="1300"/>
          </a:p>
        </p:txBody>
      </p:sp>
      <p:sp>
        <p:nvSpPr>
          <p:cNvPr id="2065495968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0820095" y="6382512"/>
            <a:ext cx="73152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9636E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726724" name="Text 0"/>
          <p:cNvSpPr/>
          <p:nvPr>
            <p:ph type="title" idx="100" hasCustomPrompt="1"/>
          </p:nvPr>
        </p:nvSpPr>
        <p:spPr bwMode="auto">
          <a:xfrm>
            <a:off x="640080" y="4114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800" b="1">
                <a:solidFill>
                  <a:schemeClr val="tx1"/>
                </a:solidFill>
              </a:rPr>
              <a:t>Скачать, проверить, записать</a:t>
            </a:r>
            <a:endParaRPr lang="en-US" sz="2800"/>
          </a:p>
        </p:txBody>
      </p:sp>
      <p:sp>
        <p:nvSpPr>
          <p:cNvPr id="841720388" name="Shape 1"/>
          <p:cNvSpPr/>
          <p:nvPr/>
        </p:nvSpPr>
        <p:spPr bwMode="auto">
          <a:xfrm>
            <a:off x="640080" y="1280160"/>
            <a:ext cx="10911535" cy="3017519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21897307" name="Text 2"/>
          <p:cNvSpPr txBox="1"/>
          <p:nvPr/>
        </p:nvSpPr>
        <p:spPr bwMode="auto">
          <a:xfrm>
            <a:off x="822960" y="128016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3-recovery/mkosi.extra/usr/local/sbin/osreboot-recovery   (работает в Linux из памяти)</a:t>
            </a:r>
            <a:endParaRPr lang="en-US" sz="1100"/>
          </a:p>
        </p:txBody>
      </p:sp>
      <p:sp>
        <p:nvSpPr>
          <p:cNvPr id="1297531772" name="Shape 3"/>
          <p:cNvSpPr/>
          <p:nvPr/>
        </p:nvSpPr>
        <p:spPr bwMode="auto">
          <a:xfrm>
            <a:off x="640080" y="1645920"/>
            <a:ext cx="10911535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993224258" name="Shape 4"/>
          <p:cNvSpPr/>
          <p:nvPr/>
        </p:nvSpPr>
        <p:spPr bwMode="auto">
          <a:xfrm>
            <a:off x="651053" y="1737360"/>
            <a:ext cx="10889589" cy="246888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1180909371" name="Text 5"/>
          <p:cNvSpPr txBox="1"/>
          <p:nvPr/>
        </p:nvSpPr>
        <p:spPr bwMode="auto">
          <a:xfrm>
            <a:off x="745236" y="1746504"/>
            <a:ext cx="228600" cy="2286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chemeClr val="bg1"/>
                </a:solidFill>
              </a:rPr>
              <a:t>1</a:t>
            </a:r>
            <a:endParaRPr lang="en-US" sz="1050"/>
          </a:p>
        </p:txBody>
      </p:sp>
      <p:sp>
        <p:nvSpPr>
          <p:cNvPr id="1161084263" name="Text 6"/>
          <p:cNvSpPr txBox="1"/>
          <p:nvPr/>
        </p:nvSpPr>
        <p:spPr bwMode="auto">
          <a:xfrm>
            <a:off x="1024128" y="1737360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05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176</a:t>
            </a:r>
            <a:endParaRPr lang="en-US" sz="1050"/>
          </a:p>
        </p:txBody>
      </p:sp>
      <p:sp>
        <p:nvSpPr>
          <p:cNvPr id="1031855798" name="Text 7"/>
          <p:cNvSpPr txBox="1"/>
          <p:nvPr/>
        </p:nvSpPr>
        <p:spPr bwMode="auto">
          <a:xfrm>
            <a:off x="1554480" y="1737360"/>
            <a:ext cx="995141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  while [ "$(file_size "$file")" -lt "${zst_size[$image]}" ]; do</a:t>
            </a:r>
            <a:endParaRPr lang="en-US" sz="1200"/>
          </a:p>
        </p:txBody>
      </p:sp>
      <p:sp>
        <p:nvSpPr>
          <p:cNvPr id="1601083672" name="Shape 8"/>
          <p:cNvSpPr/>
          <p:nvPr/>
        </p:nvSpPr>
        <p:spPr bwMode="auto">
          <a:xfrm>
            <a:off x="651053" y="1984248"/>
            <a:ext cx="10889589" cy="246888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680829076" name="Text 9"/>
          <p:cNvSpPr txBox="1"/>
          <p:nvPr/>
        </p:nvSpPr>
        <p:spPr bwMode="auto">
          <a:xfrm>
            <a:off x="1024128" y="1984248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05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177</a:t>
            </a:r>
            <a:endParaRPr lang="en-US" sz="1050"/>
          </a:p>
        </p:txBody>
      </p:sp>
      <p:sp>
        <p:nvSpPr>
          <p:cNvPr id="512324448" name="Text 10"/>
          <p:cNvSpPr txBox="1"/>
          <p:nvPr/>
        </p:nvSpPr>
        <p:spPr bwMode="auto">
          <a:xfrm>
            <a:off x="1554480" y="1984248"/>
            <a:ext cx="995141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    fetch -C - -o "$file" "$FILES/$image.zst" &amp;</a:t>
            </a:r>
            <a:endParaRPr lang="en-US" sz="1200"/>
          </a:p>
        </p:txBody>
      </p:sp>
      <p:sp>
        <p:nvSpPr>
          <p:cNvPr id="684936247" name="Text 11"/>
          <p:cNvSpPr txBox="1"/>
          <p:nvPr/>
        </p:nvSpPr>
        <p:spPr bwMode="auto">
          <a:xfrm>
            <a:off x="1554480" y="2231136"/>
            <a:ext cx="995141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⋮</a:t>
            </a:r>
            <a:endParaRPr lang="en-US" sz="1200"/>
          </a:p>
        </p:txBody>
      </p:sp>
      <p:sp>
        <p:nvSpPr>
          <p:cNvPr id="96579399" name="Shape 12"/>
          <p:cNvSpPr/>
          <p:nvPr/>
        </p:nvSpPr>
        <p:spPr bwMode="auto">
          <a:xfrm>
            <a:off x="651053" y="2478024"/>
            <a:ext cx="10889589" cy="246888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742916741" name="Text 13"/>
          <p:cNvSpPr txBox="1"/>
          <p:nvPr/>
        </p:nvSpPr>
        <p:spPr bwMode="auto">
          <a:xfrm>
            <a:off x="745236" y="2487168"/>
            <a:ext cx="228600" cy="2286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chemeClr val="bg1"/>
                </a:solidFill>
              </a:rPr>
              <a:t>2</a:t>
            </a:r>
            <a:endParaRPr lang="en-US" sz="1050"/>
          </a:p>
        </p:txBody>
      </p:sp>
      <p:sp>
        <p:nvSpPr>
          <p:cNvPr id="1375746708" name="Text 14"/>
          <p:cNvSpPr txBox="1"/>
          <p:nvPr/>
        </p:nvSpPr>
        <p:spPr bwMode="auto">
          <a:xfrm>
            <a:off x="1024128" y="2478024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05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202</a:t>
            </a:r>
            <a:endParaRPr lang="en-US" sz="1050"/>
          </a:p>
        </p:txBody>
      </p:sp>
      <p:sp>
        <p:nvSpPr>
          <p:cNvPr id="1869396768" name="Text 15"/>
          <p:cNvSpPr txBox="1"/>
          <p:nvPr/>
        </p:nvSpPr>
        <p:spPr bwMode="auto">
          <a:xfrm>
            <a:off x="1554480" y="2478024"/>
            <a:ext cx="995141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      [ "$(zstd -dcq "$file" | sha256sum | cut -d' ' -f1)" != "${checksum[$image]}" ]; then</a:t>
            </a:r>
            <a:endParaRPr lang="en-US" sz="1200"/>
          </a:p>
        </p:txBody>
      </p:sp>
      <p:sp>
        <p:nvSpPr>
          <p:cNvPr id="1345228430" name="Text 16"/>
          <p:cNvSpPr txBox="1"/>
          <p:nvPr/>
        </p:nvSpPr>
        <p:spPr bwMode="auto">
          <a:xfrm>
            <a:off x="1554480" y="2724911"/>
            <a:ext cx="995141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⋮</a:t>
            </a:r>
            <a:endParaRPr lang="en-US" sz="1200"/>
          </a:p>
        </p:txBody>
      </p:sp>
      <p:sp>
        <p:nvSpPr>
          <p:cNvPr id="345246849" name="Shape 17"/>
          <p:cNvSpPr/>
          <p:nvPr/>
        </p:nvSpPr>
        <p:spPr bwMode="auto">
          <a:xfrm>
            <a:off x="651053" y="2971800"/>
            <a:ext cx="10889589" cy="246888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736931595" name="Text 18"/>
          <p:cNvSpPr txBox="1"/>
          <p:nvPr/>
        </p:nvSpPr>
        <p:spPr bwMode="auto">
          <a:xfrm>
            <a:off x="745236" y="2980944"/>
            <a:ext cx="228600" cy="2286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chemeClr val="bg1"/>
                </a:solidFill>
              </a:rPr>
              <a:t>3</a:t>
            </a:r>
            <a:endParaRPr lang="en-US" sz="1050"/>
          </a:p>
        </p:txBody>
      </p:sp>
      <p:sp>
        <p:nvSpPr>
          <p:cNvPr id="1924407711" name="Text 19"/>
          <p:cNvSpPr txBox="1"/>
          <p:nvPr/>
        </p:nvSpPr>
        <p:spPr bwMode="auto">
          <a:xfrm>
            <a:off x="1024128" y="2971800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05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245</a:t>
            </a:r>
            <a:endParaRPr lang="en-US" sz="1050"/>
          </a:p>
        </p:txBody>
      </p:sp>
      <p:sp>
        <p:nvSpPr>
          <p:cNvPr id="2025289793" name="Text 20"/>
          <p:cNvSpPr txBox="1"/>
          <p:nvPr/>
        </p:nvSpPr>
        <p:spPr bwMode="auto">
          <a:xfrm>
            <a:off x="1554480" y="2971800"/>
            <a:ext cx="995141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  zstd -dcq "$WORK/$image.zst" | dd of="$dev" bs=4M iflag=fullblock oflag=direct status=none &amp;</a:t>
            </a:r>
            <a:endParaRPr lang="en-US" sz="1200"/>
          </a:p>
        </p:txBody>
      </p:sp>
      <p:sp>
        <p:nvSpPr>
          <p:cNvPr id="180628109" name="Text 21"/>
          <p:cNvSpPr txBox="1"/>
          <p:nvPr/>
        </p:nvSpPr>
        <p:spPr bwMode="auto">
          <a:xfrm>
            <a:off x="1554480" y="3218688"/>
            <a:ext cx="995141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⋮</a:t>
            </a:r>
            <a:endParaRPr lang="en-US" sz="1200"/>
          </a:p>
        </p:txBody>
      </p:sp>
      <p:sp>
        <p:nvSpPr>
          <p:cNvPr id="2078423633" name="Shape 22"/>
          <p:cNvSpPr/>
          <p:nvPr/>
        </p:nvSpPr>
        <p:spPr bwMode="auto">
          <a:xfrm>
            <a:off x="651053" y="3465576"/>
            <a:ext cx="10889589" cy="246888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744088272" name="Text 23"/>
          <p:cNvSpPr txBox="1"/>
          <p:nvPr/>
        </p:nvSpPr>
        <p:spPr bwMode="auto">
          <a:xfrm>
            <a:off x="745236" y="3474720"/>
            <a:ext cx="228600" cy="2286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chemeClr val="bg1"/>
                </a:solidFill>
              </a:rPr>
              <a:t>3</a:t>
            </a:r>
            <a:endParaRPr lang="en-US" sz="1050"/>
          </a:p>
        </p:txBody>
      </p:sp>
      <p:sp>
        <p:nvSpPr>
          <p:cNvPr id="2052924721" name="Text 24"/>
          <p:cNvSpPr txBox="1"/>
          <p:nvPr/>
        </p:nvSpPr>
        <p:spPr bwMode="auto">
          <a:xfrm>
            <a:off x="1024128" y="346557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05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258</a:t>
            </a:r>
            <a:endParaRPr lang="en-US" sz="1050"/>
          </a:p>
        </p:txBody>
      </p:sp>
      <p:sp>
        <p:nvSpPr>
          <p:cNvPr id="313908574" name="Text 25"/>
          <p:cNvSpPr txBox="1"/>
          <p:nvPr/>
        </p:nvSpPr>
        <p:spPr bwMode="auto">
          <a:xfrm>
            <a:off x="1554480" y="3465576"/>
            <a:ext cx="995141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  [ "$(head -c "${size[$image]}" "$dev" | sha256sum | cut -d' ' -f1)" = "${checksum[$image]}" ] ||</a:t>
            </a:r>
            <a:endParaRPr lang="en-US" sz="1200"/>
          </a:p>
        </p:txBody>
      </p:sp>
      <p:sp>
        <p:nvSpPr>
          <p:cNvPr id="733333245" name="Text 26"/>
          <p:cNvSpPr txBox="1"/>
          <p:nvPr/>
        </p:nvSpPr>
        <p:spPr bwMode="auto">
          <a:xfrm>
            <a:off x="1554480" y="3712464"/>
            <a:ext cx="995141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⋮</a:t>
            </a:r>
            <a:endParaRPr lang="en-US" sz="1200"/>
          </a:p>
        </p:txBody>
      </p:sp>
      <p:sp>
        <p:nvSpPr>
          <p:cNvPr id="453599972" name="Shape 27"/>
          <p:cNvSpPr/>
          <p:nvPr/>
        </p:nvSpPr>
        <p:spPr bwMode="auto">
          <a:xfrm>
            <a:off x="651053" y="3959352"/>
            <a:ext cx="10889589" cy="246888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2014003780" name="Text 28"/>
          <p:cNvSpPr txBox="1"/>
          <p:nvPr/>
        </p:nvSpPr>
        <p:spPr bwMode="auto">
          <a:xfrm>
            <a:off x="745236" y="3968496"/>
            <a:ext cx="228600" cy="2286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chemeClr val="bg1"/>
                </a:solidFill>
              </a:rPr>
              <a:t>4</a:t>
            </a:r>
            <a:endParaRPr lang="en-US" sz="1050"/>
          </a:p>
        </p:txBody>
      </p:sp>
      <p:sp>
        <p:nvSpPr>
          <p:cNvPr id="555739118" name="Text 29"/>
          <p:cNvSpPr txBox="1"/>
          <p:nvPr/>
        </p:nvSpPr>
        <p:spPr bwMode="auto">
          <a:xfrm>
            <a:off x="1024128" y="3959352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05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291</a:t>
            </a:r>
            <a:endParaRPr lang="en-US" sz="1050"/>
          </a:p>
        </p:txBody>
      </p:sp>
      <p:sp>
        <p:nvSpPr>
          <p:cNvPr id="618299814" name="Text 30"/>
          <p:cNvSpPr txBox="1"/>
          <p:nvPr/>
        </p:nvSpPr>
        <p:spPr bwMode="auto">
          <a:xfrm>
            <a:off x="1554480" y="3959352"/>
            <a:ext cx="995141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efibootmgr --bootnext "$entry" &gt;/dev/null</a:t>
            </a:r>
            <a:endParaRPr lang="en-US" sz="1200"/>
          </a:p>
        </p:txBody>
      </p:sp>
      <p:sp>
        <p:nvSpPr>
          <p:cNvPr id="885537304" name="Text 31"/>
          <p:cNvSpPr txBox="1"/>
          <p:nvPr/>
        </p:nvSpPr>
        <p:spPr bwMode="auto">
          <a:xfrm>
            <a:off x="640080" y="4462272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chemeClr val="bg1"/>
                </a:solidFill>
              </a:rPr>
              <a:t>1</a:t>
            </a:r>
            <a:endParaRPr lang="en-US" sz="1100"/>
          </a:p>
        </p:txBody>
      </p:sp>
      <p:sp>
        <p:nvSpPr>
          <p:cNvPr id="1629946324" name="Text 32"/>
          <p:cNvSpPr txBox="1"/>
          <p:nvPr/>
        </p:nvSpPr>
        <p:spPr bwMode="auto">
          <a:xfrm>
            <a:off x="1024128" y="4434840"/>
            <a:ext cx="33115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chemeClr val="tx1"/>
                </a:solidFill>
              </a:rPr>
              <a:t>Докачка</a:t>
            </a:r>
            <a:endParaRPr lang="en-US" sz="1450"/>
          </a:p>
        </p:txBody>
      </p:sp>
      <p:sp>
        <p:nvSpPr>
          <p:cNvPr id="1584019287" name="Text 33"/>
          <p:cNvSpPr txBox="1"/>
          <p:nvPr/>
        </p:nvSpPr>
        <p:spPr bwMode="auto">
          <a:xfrm>
            <a:off x="1024128" y="4800600"/>
            <a:ext cx="331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accent4"/>
                </a:solidFill>
              </a:rPr>
              <a:t>curl -C - после обрыва продолжает с того байта, где остановился</a:t>
            </a:r>
            <a:endParaRPr lang="en-US" sz="1300"/>
          </a:p>
        </p:txBody>
      </p:sp>
      <p:sp>
        <p:nvSpPr>
          <p:cNvPr id="285275946" name="Text 34"/>
          <p:cNvSpPr txBox="1"/>
          <p:nvPr/>
        </p:nvSpPr>
        <p:spPr bwMode="auto">
          <a:xfrm>
            <a:off x="4655668" y="4462272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chemeClr val="bg1"/>
                </a:solidFill>
              </a:rPr>
              <a:t>2</a:t>
            </a:r>
            <a:endParaRPr lang="en-US" sz="1100"/>
          </a:p>
        </p:txBody>
      </p:sp>
      <p:sp>
        <p:nvSpPr>
          <p:cNvPr id="1192421064" name="Text 35"/>
          <p:cNvSpPr txBox="1"/>
          <p:nvPr/>
        </p:nvSpPr>
        <p:spPr bwMode="auto">
          <a:xfrm>
            <a:off x="5039716" y="4434840"/>
            <a:ext cx="33115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chemeClr val="tx1"/>
                </a:solidFill>
              </a:rPr>
              <a:t>Проверка до записи</a:t>
            </a:r>
            <a:endParaRPr lang="en-US" sz="1450"/>
          </a:p>
        </p:txBody>
      </p:sp>
      <p:sp>
        <p:nvSpPr>
          <p:cNvPr id="1798069070" name="Text 36"/>
          <p:cNvSpPr txBox="1"/>
          <p:nvPr/>
        </p:nvSpPr>
        <p:spPr bwMode="auto">
          <a:xfrm>
            <a:off x="5039716" y="4800600"/>
            <a:ext cx="331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accent4"/>
                </a:solidFill>
              </a:rPr>
              <a:t>SHA-256 сверяется с SHA256SUMS; не сошлось — скачать заново, до 3 раз</a:t>
            </a:r>
            <a:endParaRPr lang="en-US" sz="1300"/>
          </a:p>
        </p:txBody>
      </p:sp>
      <p:sp>
        <p:nvSpPr>
          <p:cNvPr id="1168499819" name="Text 37"/>
          <p:cNvSpPr txBox="1"/>
          <p:nvPr/>
        </p:nvSpPr>
        <p:spPr bwMode="auto">
          <a:xfrm>
            <a:off x="640080" y="5376672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chemeClr val="bg1"/>
                </a:solidFill>
              </a:rPr>
              <a:t>3</a:t>
            </a:r>
            <a:endParaRPr lang="en-US" sz="1100"/>
          </a:p>
        </p:txBody>
      </p:sp>
      <p:sp>
        <p:nvSpPr>
          <p:cNvPr id="776607377" name="Text 38"/>
          <p:cNvSpPr txBox="1"/>
          <p:nvPr/>
        </p:nvSpPr>
        <p:spPr bwMode="auto">
          <a:xfrm>
            <a:off x="1024128" y="5349240"/>
            <a:ext cx="33115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chemeClr val="tx1"/>
                </a:solidFill>
              </a:rPr>
              <a:t>Запись и сверка</a:t>
            </a:r>
            <a:endParaRPr lang="en-US" sz="1450"/>
          </a:p>
        </p:txBody>
      </p:sp>
      <p:sp>
        <p:nvSpPr>
          <p:cNvPr id="1076409344" name="Text 39"/>
          <p:cNvSpPr txBox="1"/>
          <p:nvPr/>
        </p:nvSpPr>
        <p:spPr bwMode="auto">
          <a:xfrm>
            <a:off x="1024128" y="5715000"/>
            <a:ext cx="331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accent4"/>
                </a:solidFill>
              </a:rPr>
              <a:t>zstd | dd пишет раздел, потом раздел читается обратно и сверяется</a:t>
            </a:r>
            <a:endParaRPr lang="en-US" sz="1300"/>
          </a:p>
        </p:txBody>
      </p:sp>
      <p:sp>
        <p:nvSpPr>
          <p:cNvPr id="1038282576" name="Text 40"/>
          <p:cNvSpPr txBox="1"/>
          <p:nvPr/>
        </p:nvSpPr>
        <p:spPr bwMode="auto">
          <a:xfrm>
            <a:off x="4655668" y="5376672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chemeClr val="bg1"/>
                </a:solidFill>
              </a:rPr>
              <a:t>4</a:t>
            </a:r>
            <a:endParaRPr lang="en-US" sz="1100"/>
          </a:p>
        </p:txBody>
      </p:sp>
      <p:sp>
        <p:nvSpPr>
          <p:cNvPr id="1140350345" name="Text 41"/>
          <p:cNvSpPr txBox="1"/>
          <p:nvPr/>
        </p:nvSpPr>
        <p:spPr bwMode="auto">
          <a:xfrm>
            <a:off x="5039716" y="5349240"/>
            <a:ext cx="33115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BootNext</a:t>
            </a:r>
            <a:endParaRPr lang="en-US" sz="1450"/>
          </a:p>
        </p:txBody>
      </p:sp>
      <p:sp>
        <p:nvSpPr>
          <p:cNvPr id="481418519" name="Text 42"/>
          <p:cNvSpPr txBox="1"/>
          <p:nvPr/>
        </p:nvSpPr>
        <p:spPr bwMode="auto">
          <a:xfrm>
            <a:off x="5039716" y="5715000"/>
            <a:ext cx="331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accent4"/>
                </a:solidFill>
              </a:rPr>
              <a:t>следующая загрузка, один раз, — в восстановленную систему</a:t>
            </a:r>
            <a:endParaRPr lang="en-US" sz="1300"/>
          </a:p>
        </p:txBody>
      </p:sp>
      <p:sp>
        <p:nvSpPr>
          <p:cNvPr id="51186734" name="Shape 43"/>
          <p:cNvSpPr/>
          <p:nvPr/>
        </p:nvSpPr>
        <p:spPr bwMode="auto">
          <a:xfrm>
            <a:off x="8625535" y="4434840"/>
            <a:ext cx="2926080" cy="1508759"/>
          </a:xfrm>
          <a:prstGeom prst="rect">
            <a:avLst/>
          </a:prstGeom>
          <a:solidFill>
            <a:schemeClr val="bg2"/>
          </a:solidFill>
          <a:ln w="15875">
            <a:solidFill>
              <a:srgbClr val="9AA1A9"/>
            </a:solidFill>
            <a:prstDash val="dash"/>
          </a:ln>
        </p:spPr>
      </p:sp>
      <p:sp>
        <p:nvSpPr>
          <p:cNvPr id="422942701" name="Text 44"/>
          <p:cNvSpPr txBox="1"/>
          <p:nvPr/>
        </p:nvSpPr>
        <p:spPr bwMode="auto">
          <a:xfrm>
            <a:off x="8899855" y="4434840"/>
            <a:ext cx="2377440" cy="1508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  <a:defRPr/>
            </a:pPr>
            <a:r>
              <a:rPr lang="en-US" sz="1200" b="1">
                <a:solidFill>
                  <a:schemeClr val="accent4"/>
                </a:solidFill>
              </a:rPr>
              <a:t>СКРИНШОТ</a:t>
            </a:r>
            <a:endParaRPr lang="en-US" sz="1200"/>
          </a:p>
          <a:p>
            <a:pPr marL="0" indent="0" algn="ctr">
              <a:spcAft>
                <a:spcPts val="400"/>
              </a:spcAft>
              <a:buNone/>
              <a:defRPr/>
            </a:pPr>
            <a:r>
              <a:rPr lang="en-US" sz="1200">
                <a:solidFill>
                  <a:schemeClr val="tx1"/>
                </a:solidFill>
              </a:rPr>
              <a:t>фото экрана ноутбука: скачивание, проверка, запись</a:t>
            </a:r>
            <a:endParaRPr lang="en-US" sz="1200"/>
          </a:p>
          <a:p>
            <a:pPr marL="0" indent="0" algn="ctr">
              <a:spcAft>
                <a:spcPts val="400"/>
              </a:spcAft>
              <a:buNone/>
              <a:defRPr/>
            </a:pPr>
            <a:r>
              <a:rPr lang="en-US" sz="120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img/shot-4-recovery.png</a:t>
            </a:r>
            <a:endParaRPr lang="en-US" sz="1200"/>
          </a:p>
        </p:txBody>
      </p:sp>
      <p:sp>
        <p:nvSpPr>
          <p:cNvPr id="1505983806" name="Text 45"/>
          <p:cNvSpPr txBox="1"/>
          <p:nvPr/>
        </p:nvSpPr>
        <p:spPr bwMode="auto">
          <a:xfrm>
            <a:off x="8625535" y="59893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50">
                <a:solidFill>
                  <a:schemeClr val="accent4"/>
                </a:solidFill>
              </a:rPr>
              <a:t>среда восстановления на экране</a:t>
            </a:r>
            <a:endParaRPr lang="en-US" sz="1250"/>
          </a:p>
        </p:txBody>
      </p:sp>
      <p:sp>
        <p:nvSpPr>
          <p:cNvPr id="2036715613" name="Text 46"/>
          <p:cNvSpPr txBox="1"/>
          <p:nvPr/>
        </p:nvSpPr>
        <p:spPr bwMode="auto">
          <a:xfrm>
            <a:off x="640080" y="638251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chemeClr val="accent4"/>
                </a:solidFill>
              </a:rPr>
              <a:t>1 стирание</a:t>
            </a:r>
            <a:r>
              <a:rPr lang="en-US" sz="1050">
                <a:solidFill>
                  <a:schemeClr val="tx1"/>
                </a:solidFill>
              </a:rPr>
              <a:t>     </a:t>
            </a:r>
            <a:r>
              <a:rPr lang="en-US" sz="1050">
                <a:solidFill>
                  <a:schemeClr val="accent4"/>
                </a:solidFill>
              </a:rPr>
              <a:t>2 сетевая загрузка</a:t>
            </a:r>
            <a:r>
              <a:rPr lang="en-US" sz="1050">
                <a:solidFill>
                  <a:schemeClr val="tx1"/>
                </a:solidFill>
              </a:rPr>
              <a:t>     </a:t>
            </a:r>
            <a:r>
              <a:rPr lang="en-US" sz="1050">
                <a:solidFill>
                  <a:schemeClr val="accent4"/>
                </a:solidFill>
              </a:rPr>
              <a:t>3 скачивание среды</a:t>
            </a:r>
            <a:r>
              <a:rPr lang="en-US" sz="1050">
                <a:solidFill>
                  <a:schemeClr val="tx1"/>
                </a:solidFill>
              </a:rPr>
              <a:t>     </a:t>
            </a:r>
            <a:r>
              <a:rPr lang="en-US" sz="1050" b="1">
                <a:solidFill>
                  <a:schemeClr val="accent1"/>
                </a:solidFill>
              </a:rPr>
              <a:t>4 запуск среды</a:t>
            </a:r>
            <a:r>
              <a:rPr lang="en-US" sz="1050">
                <a:solidFill>
                  <a:schemeClr val="tx1"/>
                </a:solidFill>
              </a:rPr>
              <a:t>     </a:t>
            </a:r>
            <a:r>
              <a:rPr lang="en-US" sz="1050" b="1">
                <a:solidFill>
                  <a:schemeClr val="accent1"/>
                </a:solidFill>
              </a:rPr>
              <a:t>5 скачивание образов</a:t>
            </a:r>
            <a:r>
              <a:rPr lang="en-US" sz="1050">
                <a:solidFill>
                  <a:schemeClr val="tx1"/>
                </a:solidFill>
              </a:rPr>
              <a:t>     </a:t>
            </a:r>
            <a:r>
              <a:rPr lang="en-US" sz="1050" b="1">
                <a:solidFill>
                  <a:schemeClr val="accent1"/>
                </a:solidFill>
              </a:rPr>
              <a:t>6 проверка</a:t>
            </a:r>
            <a:r>
              <a:rPr lang="en-US" sz="1050">
                <a:solidFill>
                  <a:schemeClr val="tx1"/>
                </a:solidFill>
              </a:rPr>
              <a:t>     </a:t>
            </a:r>
            <a:r>
              <a:rPr lang="en-US" sz="1050" b="1">
                <a:solidFill>
                  <a:schemeClr val="accent1"/>
                </a:solidFill>
              </a:rPr>
              <a:t>7 запись</a:t>
            </a:r>
            <a:r>
              <a:rPr lang="en-US" sz="1050">
                <a:solidFill>
                  <a:schemeClr val="tx1"/>
                </a:solidFill>
              </a:rPr>
              <a:t>     </a:t>
            </a:r>
            <a:r>
              <a:rPr lang="en-US" sz="1050">
                <a:solidFill>
                  <a:schemeClr val="accent4"/>
                </a:solidFill>
              </a:rPr>
              <a:t>8 перезагрузка</a:t>
            </a:r>
            <a:endParaRPr lang="en-US" sz="1050"/>
          </a:p>
        </p:txBody>
      </p:sp>
      <p:sp>
        <p:nvSpPr>
          <p:cNvPr id="1980353366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0820095" y="6382512"/>
            <a:ext cx="73152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9636E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6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3348937" name="Text 0"/>
          <p:cNvSpPr/>
          <p:nvPr>
            <p:ph type="title" idx="100" hasCustomPrompt="1"/>
          </p:nvPr>
        </p:nvSpPr>
        <p:spPr bwMode="auto">
          <a:xfrm>
            <a:off x="640080" y="4114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800" b="1">
                <a:solidFill>
                  <a:schemeClr val="tx1"/>
                </a:solidFill>
              </a:rPr>
              <a:t>Система снова работает</a:t>
            </a:r>
            <a:endParaRPr lang="en-US" sz="2800"/>
          </a:p>
        </p:txBody>
      </p:sp>
      <p:sp>
        <p:nvSpPr>
          <p:cNvPr id="1284927979" name="Text 1"/>
          <p:cNvSpPr txBox="1"/>
          <p:nvPr/>
        </p:nvSpPr>
        <p:spPr bwMode="auto">
          <a:xfrm>
            <a:off x="640080" y="89611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chemeClr val="accent4"/>
                </a:solidFill>
              </a:rPr>
              <a:t>0-test-system — система, которую стирают и восстанавливают; её тоже собирает mkosi</a:t>
            </a:r>
            <a:endParaRPr lang="en-US" sz="1500"/>
          </a:p>
        </p:txBody>
      </p:sp>
      <p:sp>
        <p:nvSpPr>
          <p:cNvPr id="948688757" name="Shape 2"/>
          <p:cNvSpPr/>
          <p:nvPr/>
        </p:nvSpPr>
        <p:spPr bwMode="auto">
          <a:xfrm>
            <a:off x="640080" y="1325880"/>
            <a:ext cx="6858000" cy="2926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61047953" name="Text 3"/>
          <p:cNvSpPr txBox="1"/>
          <p:nvPr/>
        </p:nvSpPr>
        <p:spPr bwMode="auto">
          <a:xfrm>
            <a:off x="822960" y="132588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0-test-system/mkosi.conf</a:t>
            </a:r>
            <a:endParaRPr lang="en-US" sz="1100"/>
          </a:p>
        </p:txBody>
      </p:sp>
      <p:sp>
        <p:nvSpPr>
          <p:cNvPr id="698941439" name="Shape 4"/>
          <p:cNvSpPr/>
          <p:nvPr/>
        </p:nvSpPr>
        <p:spPr bwMode="auto">
          <a:xfrm>
            <a:off x="640080" y="1691640"/>
            <a:ext cx="6858000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506516410" name="Shape 5"/>
          <p:cNvSpPr/>
          <p:nvPr/>
        </p:nvSpPr>
        <p:spPr bwMode="auto">
          <a:xfrm>
            <a:off x="651053" y="1783080"/>
            <a:ext cx="6836054" cy="23774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530499807" name="Text 6"/>
          <p:cNvSpPr txBox="1"/>
          <p:nvPr/>
        </p:nvSpPr>
        <p:spPr bwMode="auto">
          <a:xfrm>
            <a:off x="745236" y="1787651"/>
            <a:ext cx="228600" cy="2286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chemeClr val="bg1"/>
                </a:solidFill>
              </a:rPr>
              <a:t>1</a:t>
            </a:r>
            <a:endParaRPr lang="en-US" sz="1050"/>
          </a:p>
        </p:txBody>
      </p:sp>
      <p:sp>
        <p:nvSpPr>
          <p:cNvPr id="1420119040" name="Text 7"/>
          <p:cNvSpPr txBox="1"/>
          <p:nvPr/>
        </p:nvSpPr>
        <p:spPr bwMode="auto">
          <a:xfrm>
            <a:off x="1024128" y="1783080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7</a:t>
            </a:r>
            <a:endParaRPr lang="en-US" sz="900"/>
          </a:p>
        </p:txBody>
      </p:sp>
      <p:sp>
        <p:nvSpPr>
          <p:cNvPr id="473432842" name="Text 8"/>
          <p:cNvSpPr txBox="1"/>
          <p:nvPr/>
        </p:nvSpPr>
        <p:spPr bwMode="auto">
          <a:xfrm>
            <a:off x="1371600" y="1783080"/>
            <a:ext cx="6080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Format=disk</a:t>
            </a:r>
            <a:endParaRPr lang="en-US" sz="1050"/>
          </a:p>
        </p:txBody>
      </p:sp>
      <p:sp>
        <p:nvSpPr>
          <p:cNvPr id="1164044453" name="Shape 9"/>
          <p:cNvSpPr/>
          <p:nvPr/>
        </p:nvSpPr>
        <p:spPr bwMode="auto">
          <a:xfrm>
            <a:off x="651053" y="2020824"/>
            <a:ext cx="6836054" cy="23774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1814013219" name="Text 10"/>
          <p:cNvSpPr txBox="1"/>
          <p:nvPr/>
        </p:nvSpPr>
        <p:spPr bwMode="auto">
          <a:xfrm>
            <a:off x="1024128" y="2020824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10</a:t>
            </a:r>
            <a:endParaRPr lang="en-US" sz="900"/>
          </a:p>
        </p:txBody>
      </p:sp>
      <p:sp>
        <p:nvSpPr>
          <p:cNvPr id="1499683103" name="Text 11"/>
          <p:cNvSpPr txBox="1"/>
          <p:nvPr/>
        </p:nvSpPr>
        <p:spPr bwMode="auto">
          <a:xfrm>
            <a:off x="1371600" y="2020824"/>
            <a:ext cx="6080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SplitArtifacts=partitions</a:t>
            </a:r>
            <a:endParaRPr lang="en-US" sz="1050"/>
          </a:p>
        </p:txBody>
      </p:sp>
      <p:sp>
        <p:nvSpPr>
          <p:cNvPr id="615985460" name="Text 12"/>
          <p:cNvSpPr txBox="1"/>
          <p:nvPr/>
        </p:nvSpPr>
        <p:spPr bwMode="auto">
          <a:xfrm>
            <a:off x="1371600" y="2258568"/>
            <a:ext cx="6080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⋮</a:t>
            </a:r>
            <a:endParaRPr lang="en-US" sz="1050"/>
          </a:p>
        </p:txBody>
      </p:sp>
      <p:sp>
        <p:nvSpPr>
          <p:cNvPr id="308488195" name="Shape 13"/>
          <p:cNvSpPr/>
          <p:nvPr/>
        </p:nvSpPr>
        <p:spPr bwMode="auto">
          <a:xfrm>
            <a:off x="651053" y="2496312"/>
            <a:ext cx="6836054" cy="23774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470971841" name="Text 14"/>
          <p:cNvSpPr txBox="1"/>
          <p:nvPr/>
        </p:nvSpPr>
        <p:spPr bwMode="auto">
          <a:xfrm>
            <a:off x="745236" y="2500884"/>
            <a:ext cx="228600" cy="2286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chemeClr val="bg1"/>
                </a:solidFill>
              </a:rPr>
              <a:t>2</a:t>
            </a:r>
            <a:endParaRPr lang="en-US" sz="1050"/>
          </a:p>
        </p:txBody>
      </p:sp>
      <p:sp>
        <p:nvSpPr>
          <p:cNvPr id="347923385" name="Text 15"/>
          <p:cNvSpPr txBox="1"/>
          <p:nvPr/>
        </p:nvSpPr>
        <p:spPr bwMode="auto">
          <a:xfrm>
            <a:off x="1024128" y="2496312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15</a:t>
            </a:r>
            <a:endParaRPr lang="en-US" sz="900"/>
          </a:p>
        </p:txBody>
      </p:sp>
      <p:sp>
        <p:nvSpPr>
          <p:cNvPr id="89334613" name="Text 16"/>
          <p:cNvSpPr txBox="1"/>
          <p:nvPr/>
        </p:nvSpPr>
        <p:spPr bwMode="auto">
          <a:xfrm>
            <a:off x="1371600" y="2496312"/>
            <a:ext cx="6080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Bootloader=systemd-boot</a:t>
            </a:r>
            <a:endParaRPr lang="en-US" sz="1050"/>
          </a:p>
        </p:txBody>
      </p:sp>
      <p:sp>
        <p:nvSpPr>
          <p:cNvPr id="705859823" name="Shape 17"/>
          <p:cNvSpPr/>
          <p:nvPr/>
        </p:nvSpPr>
        <p:spPr bwMode="auto">
          <a:xfrm>
            <a:off x="651053" y="2734056"/>
            <a:ext cx="6836054" cy="23774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1337632902" name="Text 18"/>
          <p:cNvSpPr txBox="1"/>
          <p:nvPr/>
        </p:nvSpPr>
        <p:spPr bwMode="auto">
          <a:xfrm>
            <a:off x="1024128" y="2734056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16</a:t>
            </a:r>
            <a:endParaRPr lang="en-US" sz="900"/>
          </a:p>
        </p:txBody>
      </p:sp>
      <p:sp>
        <p:nvSpPr>
          <p:cNvPr id="1006796338" name="Text 19"/>
          <p:cNvSpPr txBox="1"/>
          <p:nvPr/>
        </p:nvSpPr>
        <p:spPr bwMode="auto">
          <a:xfrm>
            <a:off x="1371600" y="2734056"/>
            <a:ext cx="6080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UnifiedKernelImages=unsigned</a:t>
            </a:r>
            <a:endParaRPr lang="en-US" sz="1050"/>
          </a:p>
        </p:txBody>
      </p:sp>
      <p:sp>
        <p:nvSpPr>
          <p:cNvPr id="381198655" name="Text 20"/>
          <p:cNvSpPr txBox="1"/>
          <p:nvPr/>
        </p:nvSpPr>
        <p:spPr bwMode="auto">
          <a:xfrm>
            <a:off x="1371600" y="2971800"/>
            <a:ext cx="6080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⋮</a:t>
            </a:r>
            <a:endParaRPr lang="en-US" sz="1050"/>
          </a:p>
        </p:txBody>
      </p:sp>
      <p:sp>
        <p:nvSpPr>
          <p:cNvPr id="1096925838" name="Shape 21"/>
          <p:cNvSpPr/>
          <p:nvPr/>
        </p:nvSpPr>
        <p:spPr bwMode="auto">
          <a:xfrm>
            <a:off x="651053" y="3209544"/>
            <a:ext cx="6836054" cy="23774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500937484" name="Text 22"/>
          <p:cNvSpPr txBox="1"/>
          <p:nvPr/>
        </p:nvSpPr>
        <p:spPr bwMode="auto">
          <a:xfrm>
            <a:off x="745236" y="3214116"/>
            <a:ext cx="228600" cy="2286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chemeClr val="bg1"/>
                </a:solidFill>
              </a:rPr>
              <a:t>3</a:t>
            </a:r>
            <a:endParaRPr lang="en-US" sz="1050"/>
          </a:p>
        </p:txBody>
      </p:sp>
      <p:sp>
        <p:nvSpPr>
          <p:cNvPr id="1300910560" name="Text 23"/>
          <p:cNvSpPr txBox="1"/>
          <p:nvPr/>
        </p:nvSpPr>
        <p:spPr bwMode="auto">
          <a:xfrm>
            <a:off x="1024128" y="3209544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30</a:t>
            </a:r>
            <a:endParaRPr lang="en-US" sz="900"/>
          </a:p>
        </p:txBody>
      </p:sp>
      <p:sp>
        <p:nvSpPr>
          <p:cNvPr id="2002318149" name="Text 24"/>
          <p:cNvSpPr txBox="1"/>
          <p:nvPr/>
        </p:nvSpPr>
        <p:spPr bwMode="auto">
          <a:xfrm>
            <a:off x="1371600" y="3209544"/>
            <a:ext cx="6080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ExtraTrees=</a:t>
            </a:r>
            <a:endParaRPr lang="en-US" sz="1050"/>
          </a:p>
        </p:txBody>
      </p:sp>
      <p:sp>
        <p:nvSpPr>
          <p:cNvPr id="960190123" name="Shape 25"/>
          <p:cNvSpPr/>
          <p:nvPr/>
        </p:nvSpPr>
        <p:spPr bwMode="auto">
          <a:xfrm>
            <a:off x="651053" y="3447288"/>
            <a:ext cx="6836054" cy="23774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225462361" name="Text 26"/>
          <p:cNvSpPr txBox="1"/>
          <p:nvPr/>
        </p:nvSpPr>
        <p:spPr bwMode="auto">
          <a:xfrm>
            <a:off x="1024128" y="3447288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31</a:t>
            </a:r>
            <a:endParaRPr lang="en-US" sz="900"/>
          </a:p>
        </p:txBody>
      </p:sp>
      <p:sp>
        <p:nvSpPr>
          <p:cNvPr id="1353839942" name="Text 27"/>
          <p:cNvSpPr txBox="1"/>
          <p:nvPr/>
        </p:nvSpPr>
        <p:spPr bwMode="auto">
          <a:xfrm>
            <a:off x="1371600" y="3447288"/>
            <a:ext cx="6080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        ../client:/usr/local/lib/osreboot-client</a:t>
            </a:r>
            <a:endParaRPr lang="en-US" sz="1050"/>
          </a:p>
        </p:txBody>
      </p:sp>
      <p:sp>
        <p:nvSpPr>
          <p:cNvPr id="18241847" name="Shape 28"/>
          <p:cNvSpPr/>
          <p:nvPr/>
        </p:nvSpPr>
        <p:spPr bwMode="auto">
          <a:xfrm>
            <a:off x="651053" y="3685032"/>
            <a:ext cx="6836054" cy="23774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342664395" name="Text 29"/>
          <p:cNvSpPr txBox="1"/>
          <p:nvPr/>
        </p:nvSpPr>
        <p:spPr bwMode="auto">
          <a:xfrm>
            <a:off x="1024128" y="3685032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32</a:t>
            </a:r>
            <a:endParaRPr lang="en-US" sz="900"/>
          </a:p>
        </p:txBody>
      </p:sp>
      <p:sp>
        <p:nvSpPr>
          <p:cNvPr id="1519265864" name="Text 30"/>
          <p:cNvSpPr txBox="1"/>
          <p:nvPr/>
        </p:nvSpPr>
        <p:spPr bwMode="auto">
          <a:xfrm>
            <a:off x="1371600" y="3685032"/>
            <a:ext cx="6080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        ../1-wipe:/usr/local/sbin</a:t>
            </a:r>
            <a:endParaRPr lang="en-US" sz="1050"/>
          </a:p>
        </p:txBody>
      </p:sp>
      <p:sp>
        <p:nvSpPr>
          <p:cNvPr id="558841810" name="Shape 31"/>
          <p:cNvSpPr/>
          <p:nvPr/>
        </p:nvSpPr>
        <p:spPr bwMode="auto">
          <a:xfrm>
            <a:off x="651053" y="3922776"/>
            <a:ext cx="6836054" cy="23774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2005521821" name="Text 32"/>
          <p:cNvSpPr txBox="1"/>
          <p:nvPr/>
        </p:nvSpPr>
        <p:spPr bwMode="auto">
          <a:xfrm>
            <a:off x="745236" y="3927348"/>
            <a:ext cx="228600" cy="2286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chemeClr val="bg1"/>
                </a:solidFill>
              </a:rPr>
              <a:t>4</a:t>
            </a:r>
            <a:endParaRPr lang="en-US" sz="1050"/>
          </a:p>
        </p:txBody>
      </p:sp>
      <p:sp>
        <p:nvSpPr>
          <p:cNvPr id="447131127" name="Text 33"/>
          <p:cNvSpPr txBox="1"/>
          <p:nvPr/>
        </p:nvSpPr>
        <p:spPr bwMode="auto">
          <a:xfrm>
            <a:off x="1024128" y="3922776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34</a:t>
            </a:r>
            <a:endParaRPr lang="en-US" sz="900"/>
          </a:p>
        </p:txBody>
      </p:sp>
      <p:sp>
        <p:nvSpPr>
          <p:cNvPr id="560530271" name="Text 34"/>
          <p:cNvSpPr txBox="1"/>
          <p:nvPr/>
        </p:nvSpPr>
        <p:spPr bwMode="auto">
          <a:xfrm>
            <a:off x="1371600" y="3922776"/>
            <a:ext cx="6080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KernelCommandLine=root=PARTLABEL=osreboot-root rw systemd.firstboot=off</a:t>
            </a:r>
            <a:endParaRPr lang="en-US" sz="1050"/>
          </a:p>
        </p:txBody>
      </p:sp>
      <p:sp>
        <p:nvSpPr>
          <p:cNvPr id="1501957313" name="Shape 35"/>
          <p:cNvSpPr/>
          <p:nvPr/>
        </p:nvSpPr>
        <p:spPr bwMode="auto">
          <a:xfrm>
            <a:off x="640080" y="4389120"/>
            <a:ext cx="6858000" cy="1133856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13066181" name="Text 36"/>
          <p:cNvSpPr txBox="1"/>
          <p:nvPr/>
        </p:nvSpPr>
        <p:spPr bwMode="auto">
          <a:xfrm>
            <a:off x="914400" y="4480560"/>
            <a:ext cx="6537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$ du -h 0-test-system/mkosi.output/*</a:t>
            </a:r>
            <a:endParaRPr lang="en-US" sz="1100"/>
          </a:p>
        </p:txBody>
      </p:sp>
      <p:sp>
        <p:nvSpPr>
          <p:cNvPr id="119104538" name="Text 37"/>
          <p:cNvSpPr txBox="1"/>
          <p:nvPr/>
        </p:nvSpPr>
        <p:spPr bwMode="auto">
          <a:xfrm>
            <a:off x="914400" y="4718304"/>
            <a:ext cx="6537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85M   0-test-system/mkosi.output/osreboot-test.esp.raw.zst</a:t>
            </a:r>
            <a:endParaRPr lang="en-US" sz="1100"/>
          </a:p>
        </p:txBody>
      </p:sp>
      <p:sp>
        <p:nvSpPr>
          <p:cNvPr id="1772880436" name="Text 38"/>
          <p:cNvSpPr txBox="1"/>
          <p:nvPr/>
        </p:nvSpPr>
        <p:spPr bwMode="auto">
          <a:xfrm>
            <a:off x="914400" y="4956048"/>
            <a:ext cx="6537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321M  0-test-system/mkosi.output/osreboot-test.root-x86-64.raw.zst</a:t>
            </a:r>
            <a:endParaRPr lang="en-US" sz="1100"/>
          </a:p>
        </p:txBody>
      </p:sp>
      <p:sp>
        <p:nvSpPr>
          <p:cNvPr id="1957323012" name="Text 39"/>
          <p:cNvSpPr txBox="1"/>
          <p:nvPr/>
        </p:nvSpPr>
        <p:spPr bwMode="auto">
          <a:xfrm>
            <a:off x="914400" y="5193792"/>
            <a:ext cx="6537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4.0K  0-test-system/mkosi.output/SHA256SUMS</a:t>
            </a:r>
            <a:endParaRPr lang="en-US" sz="1100"/>
          </a:p>
        </p:txBody>
      </p:sp>
      <p:sp>
        <p:nvSpPr>
          <p:cNvPr id="1847222729" name="Text 40"/>
          <p:cNvSpPr txBox="1"/>
          <p:nvPr/>
        </p:nvSpPr>
        <p:spPr bwMode="auto">
          <a:xfrm>
            <a:off x="7872984" y="1389888"/>
            <a:ext cx="237744" cy="23774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chemeClr val="bg1"/>
                </a:solidFill>
              </a:rPr>
              <a:t>1</a:t>
            </a:r>
            <a:endParaRPr lang="en-US" sz="1050"/>
          </a:p>
        </p:txBody>
      </p:sp>
      <p:sp>
        <p:nvSpPr>
          <p:cNvPr id="2122720603" name="Text 41"/>
          <p:cNvSpPr txBox="1"/>
          <p:nvPr/>
        </p:nvSpPr>
        <p:spPr bwMode="auto">
          <a:xfrm>
            <a:off x="8211312" y="1325880"/>
            <a:ext cx="33403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 b="1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Format=disk</a:t>
            </a:r>
            <a:r>
              <a:rPr lang="en-US" sz="1250">
                <a:solidFill>
                  <a:schemeClr val="accent4"/>
                </a:solidFill>
              </a:rPr>
              <a:t> — по образу на раздел</a:t>
            </a:r>
            <a:endParaRPr lang="en-US" sz="1250"/>
          </a:p>
        </p:txBody>
      </p:sp>
      <p:sp>
        <p:nvSpPr>
          <p:cNvPr id="395886661" name="Text 42"/>
          <p:cNvSpPr txBox="1"/>
          <p:nvPr/>
        </p:nvSpPr>
        <p:spPr bwMode="auto">
          <a:xfrm>
            <a:off x="7872984" y="1755648"/>
            <a:ext cx="237744" cy="23774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chemeClr val="bg1"/>
                </a:solidFill>
              </a:rPr>
              <a:t>2</a:t>
            </a:r>
            <a:endParaRPr lang="en-US" sz="1050"/>
          </a:p>
        </p:txBody>
      </p:sp>
      <p:sp>
        <p:nvSpPr>
          <p:cNvPr id="1368308021" name="Text 43"/>
          <p:cNvSpPr txBox="1"/>
          <p:nvPr/>
        </p:nvSpPr>
        <p:spPr bwMode="auto">
          <a:xfrm>
            <a:off x="8211312" y="1691640"/>
            <a:ext cx="33403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 b="1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Bootloader</a:t>
            </a:r>
            <a:r>
              <a:rPr lang="en-US" sz="1250">
                <a:solidFill>
                  <a:schemeClr val="accent4"/>
                </a:solidFill>
              </a:rPr>
              <a:t> — systemd-boot и UKI на ESP</a:t>
            </a:r>
            <a:endParaRPr lang="en-US" sz="1250"/>
          </a:p>
        </p:txBody>
      </p:sp>
      <p:sp>
        <p:nvSpPr>
          <p:cNvPr id="1629335961" name="Text 44"/>
          <p:cNvSpPr txBox="1"/>
          <p:nvPr/>
        </p:nvSpPr>
        <p:spPr bwMode="auto">
          <a:xfrm>
            <a:off x="7872984" y="2121408"/>
            <a:ext cx="237744" cy="23774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chemeClr val="bg1"/>
                </a:solidFill>
              </a:rPr>
              <a:t>3</a:t>
            </a:r>
            <a:endParaRPr lang="en-US" sz="1050"/>
          </a:p>
        </p:txBody>
      </p:sp>
      <p:sp>
        <p:nvSpPr>
          <p:cNvPr id="1778422620" name="Text 45"/>
          <p:cNvSpPr txBox="1"/>
          <p:nvPr/>
        </p:nvSpPr>
        <p:spPr bwMode="auto">
          <a:xfrm>
            <a:off x="8211312" y="2057400"/>
            <a:ext cx="33403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 b="1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ExtraTrees</a:t>
            </a:r>
            <a:r>
              <a:rPr lang="en-US" sz="1250">
                <a:solidFill>
                  <a:schemeClr val="accent4"/>
                </a:solidFill>
              </a:rPr>
              <a:t> — клиент и osreboot-wipe</a:t>
            </a:r>
            <a:endParaRPr lang="en-US" sz="1250"/>
          </a:p>
        </p:txBody>
      </p:sp>
      <p:sp>
        <p:nvSpPr>
          <p:cNvPr id="372269328" name="Text 46"/>
          <p:cNvSpPr txBox="1"/>
          <p:nvPr/>
        </p:nvSpPr>
        <p:spPr bwMode="auto">
          <a:xfrm>
            <a:off x="7872984" y="2487168"/>
            <a:ext cx="237744" cy="23774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chemeClr val="bg1"/>
                </a:solidFill>
              </a:rPr>
              <a:t>4</a:t>
            </a:r>
            <a:endParaRPr lang="en-US" sz="1050"/>
          </a:p>
        </p:txBody>
      </p:sp>
      <p:sp>
        <p:nvSpPr>
          <p:cNvPr id="994846001" name="Text 47"/>
          <p:cNvSpPr txBox="1"/>
          <p:nvPr/>
        </p:nvSpPr>
        <p:spPr bwMode="auto">
          <a:xfrm>
            <a:off x="8211312" y="2423160"/>
            <a:ext cx="33403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 b="1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root=</a:t>
            </a:r>
            <a:r>
              <a:rPr lang="en-US" sz="1250">
                <a:solidFill>
                  <a:schemeClr val="accent4"/>
                </a:solidFill>
              </a:rPr>
              <a:t> — корень по метке раздела</a:t>
            </a:r>
            <a:endParaRPr lang="en-US" sz="1250"/>
          </a:p>
        </p:txBody>
      </p:sp>
      <p:sp>
        <p:nvSpPr>
          <p:cNvPr id="1733666159" name="Text 48"/>
          <p:cNvSpPr txBox="1"/>
          <p:nvPr/>
        </p:nvSpPr>
        <p:spPr bwMode="auto">
          <a:xfrm>
            <a:off x="7863840" y="2926080"/>
            <a:ext cx="36877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chemeClr val="tx1"/>
                </a:solidFill>
              </a:rPr>
              <a:t>При загрузке</a:t>
            </a:r>
            <a:endParaRPr lang="en-US" sz="1450"/>
          </a:p>
        </p:txBody>
      </p:sp>
      <p:sp>
        <p:nvSpPr>
          <p:cNvPr id="2074806140" name="Text 49"/>
          <p:cNvSpPr txBox="1"/>
          <p:nvPr/>
        </p:nvSpPr>
        <p:spPr bwMode="auto">
          <a:xfrm>
            <a:off x="7863840" y="3246120"/>
            <a:ext cx="36877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300"/>
              </a:spcAft>
              <a:buSzPct val="100000"/>
              <a:buChar char="•"/>
              <a:defRPr/>
            </a:pPr>
            <a:r>
              <a:rPr lang="en-US" sz="1250">
                <a:solidFill>
                  <a:schemeClr val="tx1"/>
                </a:solidFill>
              </a:rPr>
              <a:t>BootNext → systemd-boot тестовой системы</a:t>
            </a:r>
            <a:endParaRPr lang="en-US" sz="1250"/>
          </a:p>
          <a:p>
            <a:pPr marL="203200" indent="-203200">
              <a:spcAft>
                <a:spcPts val="300"/>
              </a:spcAft>
              <a:buSzPct val="100000"/>
              <a:buChar char="•"/>
              <a:defRPr/>
            </a:pPr>
            <a:r>
              <a:rPr lang="en-US" sz="1250">
                <a:solidFill>
                  <a:schemeClr val="tx1"/>
                </a:solidFill>
              </a:rPr>
              <a:t>netboot-off снимает LoaderEntryDefault</a:t>
            </a:r>
            <a:endParaRPr lang="en-US" sz="1250"/>
          </a:p>
          <a:p>
            <a:pPr marL="203200" indent="-203200">
              <a:spcAft>
                <a:spcPts val="300"/>
              </a:spcAft>
              <a:buSzPct val="100000"/>
              <a:buChar char="•"/>
              <a:defRPr/>
            </a:pPr>
            <a:r>
              <a:rPr lang="en-US" sz="1250">
                <a:solidFill>
                  <a:schemeClr val="tx1"/>
                </a:solidFill>
              </a:rPr>
              <a:t>heartbeat с новым boot ID: простой закрыт</a:t>
            </a:r>
            <a:endParaRPr lang="en-US" sz="1250"/>
          </a:p>
        </p:txBody>
      </p:sp>
      <p:sp>
        <p:nvSpPr>
          <p:cNvPr id="1419575707" name="Shape 50"/>
          <p:cNvSpPr/>
          <p:nvPr/>
        </p:nvSpPr>
        <p:spPr bwMode="auto">
          <a:xfrm>
            <a:off x="7863840" y="4297680"/>
            <a:ext cx="3687775" cy="1645920"/>
          </a:xfrm>
          <a:prstGeom prst="rect">
            <a:avLst/>
          </a:prstGeom>
          <a:solidFill>
            <a:schemeClr val="bg2"/>
          </a:solidFill>
          <a:ln w="15875">
            <a:solidFill>
              <a:srgbClr val="9AA1A9"/>
            </a:solidFill>
            <a:prstDash val="dash"/>
          </a:ln>
        </p:spPr>
      </p:sp>
      <p:sp>
        <p:nvSpPr>
          <p:cNvPr id="1233316433" name="Text 51"/>
          <p:cNvSpPr txBox="1"/>
          <p:nvPr/>
        </p:nvSpPr>
        <p:spPr bwMode="auto">
          <a:xfrm>
            <a:off x="8138160" y="4297680"/>
            <a:ext cx="31391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  <a:defRPr/>
            </a:pPr>
            <a:r>
              <a:rPr lang="en-US" sz="1200" b="1">
                <a:solidFill>
                  <a:schemeClr val="accent4"/>
                </a:solidFill>
              </a:rPr>
              <a:t>СКРИНШОТ</a:t>
            </a:r>
            <a:endParaRPr lang="en-US" sz="1200"/>
          </a:p>
          <a:p>
            <a:pPr marL="0" indent="0" algn="ctr">
              <a:spcAft>
                <a:spcPts val="400"/>
              </a:spcAft>
              <a:buNone/>
              <a:defRPr/>
            </a:pPr>
            <a:r>
              <a:rPr lang="en-US" sz="1200">
                <a:solidFill>
                  <a:schemeClr val="tx1"/>
                </a:solidFill>
              </a:rPr>
              <a:t>терминал ПК: ssh -p 2221 root@epsti.site tail /var/log/osreboot/recovery.log</a:t>
            </a:r>
            <a:endParaRPr lang="en-US" sz="1200"/>
          </a:p>
          <a:p>
            <a:pPr marL="0" indent="0" algn="ctr">
              <a:spcAft>
                <a:spcPts val="400"/>
              </a:spcAft>
              <a:buNone/>
              <a:defRPr/>
            </a:pPr>
            <a:r>
              <a:rPr lang="en-US" sz="120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img/shot-5-log.png</a:t>
            </a:r>
            <a:endParaRPr lang="en-US" sz="1200"/>
          </a:p>
        </p:txBody>
      </p:sp>
      <p:sp>
        <p:nvSpPr>
          <p:cNvPr id="1129382683" name="Text 52"/>
          <p:cNvSpPr txBox="1"/>
          <p:nvPr/>
        </p:nvSpPr>
        <p:spPr bwMode="auto">
          <a:xfrm>
            <a:off x="7863840" y="5989320"/>
            <a:ext cx="36877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50">
                <a:solidFill>
                  <a:schemeClr val="accent4"/>
                </a:solidFill>
              </a:rPr>
              <a:t>лог восстановления на её диске</a:t>
            </a:r>
            <a:endParaRPr lang="en-US" sz="1250"/>
          </a:p>
        </p:txBody>
      </p:sp>
      <p:sp>
        <p:nvSpPr>
          <p:cNvPr id="1246719882" name="Text 53"/>
          <p:cNvSpPr txBox="1"/>
          <p:nvPr/>
        </p:nvSpPr>
        <p:spPr bwMode="auto">
          <a:xfrm>
            <a:off x="640080" y="638251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chemeClr val="accent4"/>
                </a:solidFill>
              </a:rPr>
              <a:t>1 стирание</a:t>
            </a:r>
            <a:r>
              <a:rPr lang="en-US" sz="1050">
                <a:solidFill>
                  <a:schemeClr val="tx1"/>
                </a:solidFill>
              </a:rPr>
              <a:t>     </a:t>
            </a:r>
            <a:r>
              <a:rPr lang="en-US" sz="1050">
                <a:solidFill>
                  <a:schemeClr val="accent4"/>
                </a:solidFill>
              </a:rPr>
              <a:t>2 сетевая загрузка</a:t>
            </a:r>
            <a:r>
              <a:rPr lang="en-US" sz="1050">
                <a:solidFill>
                  <a:schemeClr val="tx1"/>
                </a:solidFill>
              </a:rPr>
              <a:t>     </a:t>
            </a:r>
            <a:r>
              <a:rPr lang="en-US" sz="1050">
                <a:solidFill>
                  <a:schemeClr val="accent4"/>
                </a:solidFill>
              </a:rPr>
              <a:t>3 скачивание среды</a:t>
            </a:r>
            <a:r>
              <a:rPr lang="en-US" sz="1050">
                <a:solidFill>
                  <a:schemeClr val="tx1"/>
                </a:solidFill>
              </a:rPr>
              <a:t>     </a:t>
            </a:r>
            <a:r>
              <a:rPr lang="en-US" sz="1050">
                <a:solidFill>
                  <a:schemeClr val="accent4"/>
                </a:solidFill>
              </a:rPr>
              <a:t>4 запуск среды</a:t>
            </a:r>
            <a:r>
              <a:rPr lang="en-US" sz="1050">
                <a:solidFill>
                  <a:schemeClr val="tx1"/>
                </a:solidFill>
              </a:rPr>
              <a:t>     </a:t>
            </a:r>
            <a:r>
              <a:rPr lang="en-US" sz="1050">
                <a:solidFill>
                  <a:schemeClr val="accent4"/>
                </a:solidFill>
              </a:rPr>
              <a:t>5 скачивание образов</a:t>
            </a:r>
            <a:r>
              <a:rPr lang="en-US" sz="1050">
                <a:solidFill>
                  <a:schemeClr val="tx1"/>
                </a:solidFill>
              </a:rPr>
              <a:t>     </a:t>
            </a:r>
            <a:r>
              <a:rPr lang="en-US" sz="1050">
                <a:solidFill>
                  <a:schemeClr val="accent4"/>
                </a:solidFill>
              </a:rPr>
              <a:t>6 проверка</a:t>
            </a:r>
            <a:r>
              <a:rPr lang="en-US" sz="1050">
                <a:solidFill>
                  <a:schemeClr val="tx1"/>
                </a:solidFill>
              </a:rPr>
              <a:t>     </a:t>
            </a:r>
            <a:r>
              <a:rPr lang="en-US" sz="1050">
                <a:solidFill>
                  <a:schemeClr val="accent4"/>
                </a:solidFill>
              </a:rPr>
              <a:t>7 запись</a:t>
            </a:r>
            <a:r>
              <a:rPr lang="en-US" sz="1050">
                <a:solidFill>
                  <a:schemeClr val="tx1"/>
                </a:solidFill>
              </a:rPr>
              <a:t>     </a:t>
            </a:r>
            <a:r>
              <a:rPr lang="en-US" sz="1050" b="1">
                <a:solidFill>
                  <a:schemeClr val="accent1"/>
                </a:solidFill>
              </a:rPr>
              <a:t>8 перезагрузка</a:t>
            </a:r>
            <a:endParaRPr lang="en-US" sz="1050"/>
          </a:p>
        </p:txBody>
      </p:sp>
      <p:sp>
        <p:nvSpPr>
          <p:cNvPr id="51309841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0820095" y="6382512"/>
            <a:ext cx="73152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9636E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7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183017" name="Text 0"/>
          <p:cNvSpPr/>
          <p:nvPr>
            <p:ph type="title" idx="100" hasCustomPrompt="1"/>
          </p:nvPr>
        </p:nvSpPr>
        <p:spPr bwMode="auto">
          <a:xfrm>
            <a:off x="640080" y="4114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800" b="1">
                <a:solidFill>
                  <a:schemeClr val="tx1"/>
                </a:solidFill>
              </a:rPr>
              <a:t>TPM: секреты в публичном образе</a:t>
            </a:r>
            <a:endParaRPr lang="en-US" sz="2800"/>
          </a:p>
        </p:txBody>
      </p:sp>
      <p:sp>
        <p:nvSpPr>
          <p:cNvPr id="1078430086" name="Text 1"/>
          <p:cNvSpPr txBox="1"/>
          <p:nvPr/>
        </p:nvSpPr>
        <p:spPr bwMode="auto">
          <a:xfrm>
            <a:off x="640080" y="89611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chemeClr val="accent4"/>
                </a:solidFill>
              </a:rPr>
              <a:t>Trusted Platform Module — чип или блок процессора: свои ключи хранит внутри и наружу не отдаёт</a:t>
            </a:r>
            <a:endParaRPr lang="en-US" sz="1500"/>
          </a:p>
        </p:txBody>
      </p:sp>
      <p:sp>
        <p:nvSpPr>
          <p:cNvPr id="24681883" name="Shape 2"/>
          <p:cNvSpPr/>
          <p:nvPr/>
        </p:nvSpPr>
        <p:spPr bwMode="auto">
          <a:xfrm>
            <a:off x="617220" y="1508759"/>
            <a:ext cx="1600200" cy="64008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2029792412" name="Text 3"/>
          <p:cNvSpPr txBox="1"/>
          <p:nvPr/>
        </p:nvSpPr>
        <p:spPr bwMode="auto">
          <a:xfrm>
            <a:off x="617220" y="156362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chemeClr val="tx1"/>
                </a:solidFill>
              </a:rPr>
              <a:t>Образ</a:t>
            </a:r>
            <a:endParaRPr lang="en-US" sz="1500"/>
          </a:p>
        </p:txBody>
      </p:sp>
      <p:sp>
        <p:nvSpPr>
          <p:cNvPr id="129912432" name="Text 4"/>
          <p:cNvSpPr txBox="1"/>
          <p:nvPr/>
        </p:nvSpPr>
        <p:spPr bwMode="auto">
          <a:xfrm>
            <a:off x="690372" y="1856232"/>
            <a:ext cx="1453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chemeClr val="accent4"/>
                </a:solidFill>
              </a:rPr>
              <a:t>.cred на диске</a:t>
            </a:r>
            <a:endParaRPr lang="en-US" sz="1200"/>
          </a:p>
        </p:txBody>
      </p:sp>
      <p:sp>
        <p:nvSpPr>
          <p:cNvPr id="2010357681" name="Shape 5"/>
          <p:cNvSpPr/>
          <p:nvPr/>
        </p:nvSpPr>
        <p:spPr bwMode="auto">
          <a:xfrm>
            <a:off x="1417320" y="2148840"/>
            <a:ext cx="0" cy="3977640"/>
          </a:xfrm>
          <a:prstGeom prst="line">
            <a:avLst/>
          </a:prstGeom>
          <a:noFill/>
          <a:ln w="12700">
            <a:solidFill>
              <a:srgbClr val="9AA1A9"/>
            </a:solidFill>
            <a:prstDash val="dash"/>
          </a:ln>
        </p:spPr>
      </p:sp>
      <p:sp>
        <p:nvSpPr>
          <p:cNvPr id="1676936201" name="Shape 6"/>
          <p:cNvSpPr/>
          <p:nvPr/>
        </p:nvSpPr>
        <p:spPr bwMode="auto">
          <a:xfrm>
            <a:off x="2994660" y="1508759"/>
            <a:ext cx="1600200" cy="640080"/>
          </a:xfrm>
          <a:prstGeom prst="roundRect">
            <a:avLst>
              <a:gd name="adj" fmla="val 8571"/>
            </a:avLst>
          </a:prstGeom>
          <a:solidFill>
            <a:schemeClr val="tx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507524438" name="Text 7"/>
          <p:cNvSpPr txBox="1"/>
          <p:nvPr/>
        </p:nvSpPr>
        <p:spPr bwMode="auto">
          <a:xfrm>
            <a:off x="2994660" y="156362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chemeClr val="bg1"/>
                </a:solidFill>
              </a:rPr>
              <a:t>systemd</a:t>
            </a:r>
            <a:endParaRPr lang="en-US" sz="1500"/>
          </a:p>
        </p:txBody>
      </p:sp>
      <p:sp>
        <p:nvSpPr>
          <p:cNvPr id="1525323247" name="Text 8"/>
          <p:cNvSpPr txBox="1"/>
          <p:nvPr/>
        </p:nvSpPr>
        <p:spPr bwMode="auto">
          <a:xfrm>
            <a:off x="3067812" y="1856232"/>
            <a:ext cx="1453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chemeClr val="accent5"/>
                </a:solidFill>
              </a:rPr>
              <a:t>systemd-creds</a:t>
            </a:r>
            <a:endParaRPr lang="en-US" sz="1200"/>
          </a:p>
        </p:txBody>
      </p:sp>
      <p:sp>
        <p:nvSpPr>
          <p:cNvPr id="1566704272" name="Shape 9"/>
          <p:cNvSpPr/>
          <p:nvPr/>
        </p:nvSpPr>
        <p:spPr bwMode="auto">
          <a:xfrm>
            <a:off x="3794760" y="2148840"/>
            <a:ext cx="0" cy="3977640"/>
          </a:xfrm>
          <a:prstGeom prst="line">
            <a:avLst/>
          </a:prstGeom>
          <a:noFill/>
          <a:ln w="12700">
            <a:solidFill>
              <a:srgbClr val="9AA1A9"/>
            </a:solidFill>
            <a:prstDash val="dash"/>
          </a:ln>
        </p:spPr>
      </p:sp>
      <p:sp>
        <p:nvSpPr>
          <p:cNvPr id="479800512" name="Shape 10"/>
          <p:cNvSpPr/>
          <p:nvPr/>
        </p:nvSpPr>
        <p:spPr bwMode="auto">
          <a:xfrm>
            <a:off x="5372100" y="1508759"/>
            <a:ext cx="1600200" cy="64008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2068821651" name="Text 11"/>
          <p:cNvSpPr txBox="1"/>
          <p:nvPr/>
        </p:nvSpPr>
        <p:spPr bwMode="auto">
          <a:xfrm>
            <a:off x="5372100" y="156362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chemeClr val="tx1"/>
                </a:solidFill>
              </a:rPr>
              <a:t>TPM</a:t>
            </a:r>
            <a:endParaRPr lang="en-US" sz="1500"/>
          </a:p>
        </p:txBody>
      </p:sp>
      <p:sp>
        <p:nvSpPr>
          <p:cNvPr id="2039765353" name="Text 12"/>
          <p:cNvSpPr txBox="1"/>
          <p:nvPr/>
        </p:nvSpPr>
        <p:spPr bwMode="auto">
          <a:xfrm>
            <a:off x="5445252" y="1856232"/>
            <a:ext cx="1453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chemeClr val="accent4"/>
                </a:solidFill>
              </a:rPr>
              <a:t>ключ SRK внутри</a:t>
            </a:r>
            <a:endParaRPr lang="en-US" sz="1200"/>
          </a:p>
        </p:txBody>
      </p:sp>
      <p:sp>
        <p:nvSpPr>
          <p:cNvPr id="397371037" name="Shape 13"/>
          <p:cNvSpPr/>
          <p:nvPr/>
        </p:nvSpPr>
        <p:spPr bwMode="auto">
          <a:xfrm>
            <a:off x="6172200" y="2148840"/>
            <a:ext cx="0" cy="3977640"/>
          </a:xfrm>
          <a:prstGeom prst="line">
            <a:avLst/>
          </a:prstGeom>
          <a:noFill/>
          <a:ln w="12700">
            <a:solidFill>
              <a:srgbClr val="9AA1A9"/>
            </a:solidFill>
            <a:prstDash val="dash"/>
          </a:ln>
        </p:spPr>
      </p:sp>
      <p:sp>
        <p:nvSpPr>
          <p:cNvPr id="836085697" name="Text 14"/>
          <p:cNvSpPr txBox="1"/>
          <p:nvPr/>
        </p:nvSpPr>
        <p:spPr bwMode="auto">
          <a:xfrm>
            <a:off x="1554480" y="233172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chemeClr val="accent1"/>
                </a:solidFill>
              </a:rPr>
              <a:t>Шифрование: один раз</a:t>
            </a:r>
            <a:endParaRPr lang="en-US" sz="1200"/>
          </a:p>
        </p:txBody>
      </p:sp>
      <p:sp>
        <p:nvSpPr>
          <p:cNvPr id="340781129" name="Shape 15"/>
          <p:cNvSpPr/>
          <p:nvPr/>
        </p:nvSpPr>
        <p:spPr bwMode="auto">
          <a:xfrm>
            <a:off x="3831336" y="2926080"/>
            <a:ext cx="23042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440781115" name="Text 16"/>
          <p:cNvSpPr txBox="1"/>
          <p:nvPr/>
        </p:nvSpPr>
        <p:spPr bwMode="auto">
          <a:xfrm>
            <a:off x="4594860" y="2670048"/>
            <a:ext cx="777240" cy="219456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секрет</a:t>
            </a:r>
            <a:endParaRPr lang="en-US" sz="1300"/>
          </a:p>
        </p:txBody>
      </p:sp>
      <p:sp>
        <p:nvSpPr>
          <p:cNvPr id="1932604875" name="Text 17"/>
          <p:cNvSpPr txBox="1"/>
          <p:nvPr/>
        </p:nvSpPr>
        <p:spPr bwMode="auto">
          <a:xfrm>
            <a:off x="4225671" y="2962656"/>
            <a:ext cx="1515617" cy="18288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chemeClr val="accent4"/>
                </a:solidFill>
              </a:rPr>
              <a:t>32 случайных байта</a:t>
            </a:r>
            <a:endParaRPr lang="en-US" sz="1100"/>
          </a:p>
        </p:txBody>
      </p:sp>
      <p:sp>
        <p:nvSpPr>
          <p:cNvPr id="2120005941" name="Shape 18"/>
          <p:cNvSpPr/>
          <p:nvPr/>
        </p:nvSpPr>
        <p:spPr bwMode="auto">
          <a:xfrm flipH="1">
            <a:off x="3831336" y="3429000"/>
            <a:ext cx="23042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541802905" name="Text 19"/>
          <p:cNvSpPr txBox="1"/>
          <p:nvPr/>
        </p:nvSpPr>
        <p:spPr bwMode="auto">
          <a:xfrm>
            <a:off x="4693920" y="3172968"/>
            <a:ext cx="579120" cy="219456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blob</a:t>
            </a:r>
            <a:endParaRPr lang="en-US" sz="1300"/>
          </a:p>
        </p:txBody>
      </p:sp>
      <p:sp>
        <p:nvSpPr>
          <p:cNvPr id="2018707973" name="Text 20"/>
          <p:cNvSpPr txBox="1"/>
          <p:nvPr/>
        </p:nvSpPr>
        <p:spPr bwMode="auto">
          <a:xfrm>
            <a:off x="3966527" y="3465576"/>
            <a:ext cx="2033905" cy="18288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chemeClr val="accent4"/>
                </a:solidFill>
              </a:rPr>
              <a:t>секрет, зашифрованный SRK</a:t>
            </a:r>
            <a:endParaRPr lang="en-US" sz="1100"/>
          </a:p>
        </p:txBody>
      </p:sp>
      <p:sp>
        <p:nvSpPr>
          <p:cNvPr id="454966117" name="Shape 21"/>
          <p:cNvSpPr/>
          <p:nvPr/>
        </p:nvSpPr>
        <p:spPr bwMode="auto">
          <a:xfrm flipH="1">
            <a:off x="1453896" y="3931920"/>
            <a:ext cx="23042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904425229" name="Text 22"/>
          <p:cNvSpPr txBox="1"/>
          <p:nvPr/>
        </p:nvSpPr>
        <p:spPr bwMode="auto">
          <a:xfrm>
            <a:off x="2266950" y="3675888"/>
            <a:ext cx="678180" cy="219456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.cred</a:t>
            </a:r>
            <a:endParaRPr lang="en-US" sz="1300"/>
          </a:p>
        </p:txBody>
      </p:sp>
      <p:sp>
        <p:nvSpPr>
          <p:cNvPr id="877728136" name="Text 23"/>
          <p:cNvSpPr txBox="1"/>
          <p:nvPr/>
        </p:nvSpPr>
        <p:spPr bwMode="auto">
          <a:xfrm>
            <a:off x="1478026" y="3968496"/>
            <a:ext cx="2256028" cy="18288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chemeClr val="accent4"/>
                </a:solidFill>
              </a:rPr>
              <a:t>blob + токен под AES-256-GCM</a:t>
            </a:r>
            <a:endParaRPr lang="en-US" sz="1100"/>
          </a:p>
        </p:txBody>
      </p:sp>
      <p:sp>
        <p:nvSpPr>
          <p:cNvPr id="1169926991" name="Text 24"/>
          <p:cNvSpPr txBox="1"/>
          <p:nvPr/>
        </p:nvSpPr>
        <p:spPr bwMode="auto">
          <a:xfrm>
            <a:off x="1554480" y="429768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chemeClr val="accent1"/>
                </a:solidFill>
              </a:rPr>
              <a:t>Расшифровка: при загрузке</a:t>
            </a:r>
            <a:endParaRPr lang="en-US" sz="1200"/>
          </a:p>
        </p:txBody>
      </p:sp>
      <p:sp>
        <p:nvSpPr>
          <p:cNvPr id="843573456" name="Shape 25"/>
          <p:cNvSpPr/>
          <p:nvPr/>
        </p:nvSpPr>
        <p:spPr bwMode="auto">
          <a:xfrm>
            <a:off x="1453896" y="4846320"/>
            <a:ext cx="23042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982395096" name="Text 26"/>
          <p:cNvSpPr txBox="1"/>
          <p:nvPr/>
        </p:nvSpPr>
        <p:spPr bwMode="auto">
          <a:xfrm>
            <a:off x="2266950" y="4590288"/>
            <a:ext cx="678180" cy="219456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.cred</a:t>
            </a:r>
            <a:endParaRPr lang="en-US" sz="1300"/>
          </a:p>
        </p:txBody>
      </p:sp>
      <p:sp>
        <p:nvSpPr>
          <p:cNvPr id="1800116619" name="Shape 27"/>
          <p:cNvSpPr/>
          <p:nvPr/>
        </p:nvSpPr>
        <p:spPr bwMode="auto">
          <a:xfrm>
            <a:off x="3831336" y="5349240"/>
            <a:ext cx="23042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607936857" name="Text 28"/>
          <p:cNvSpPr txBox="1"/>
          <p:nvPr/>
        </p:nvSpPr>
        <p:spPr bwMode="auto">
          <a:xfrm>
            <a:off x="4693920" y="5093208"/>
            <a:ext cx="579120" cy="219456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blob</a:t>
            </a:r>
            <a:endParaRPr lang="en-US" sz="1300"/>
          </a:p>
        </p:txBody>
      </p:sp>
      <p:sp>
        <p:nvSpPr>
          <p:cNvPr id="929215397" name="Text 29"/>
          <p:cNvSpPr txBox="1"/>
          <p:nvPr/>
        </p:nvSpPr>
        <p:spPr bwMode="auto">
          <a:xfrm>
            <a:off x="4484815" y="5385816"/>
            <a:ext cx="997331" cy="18288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chemeClr val="accent4"/>
                </a:solidFill>
              </a:rPr>
              <a:t>распечатать</a:t>
            </a:r>
            <a:endParaRPr lang="en-US" sz="1100"/>
          </a:p>
        </p:txBody>
      </p:sp>
      <p:sp>
        <p:nvSpPr>
          <p:cNvPr id="659540696" name="Shape 30"/>
          <p:cNvSpPr/>
          <p:nvPr/>
        </p:nvSpPr>
        <p:spPr bwMode="auto">
          <a:xfrm flipH="1">
            <a:off x="3831336" y="5852160"/>
            <a:ext cx="23042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208856645" name="Text 31"/>
          <p:cNvSpPr txBox="1"/>
          <p:nvPr/>
        </p:nvSpPr>
        <p:spPr bwMode="auto">
          <a:xfrm>
            <a:off x="4594860" y="5596128"/>
            <a:ext cx="777240" cy="219456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секрет</a:t>
            </a:r>
            <a:endParaRPr lang="en-US" sz="1300"/>
          </a:p>
        </p:txBody>
      </p:sp>
      <p:sp>
        <p:nvSpPr>
          <p:cNvPr id="1647620878" name="Text 32"/>
          <p:cNvSpPr txBox="1"/>
          <p:nvPr/>
        </p:nvSpPr>
        <p:spPr bwMode="auto">
          <a:xfrm>
            <a:off x="4040569" y="5888736"/>
            <a:ext cx="1885823" cy="18288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chemeClr val="accent4"/>
                </a:solidFill>
              </a:rPr>
              <a:t>→ ключ → токен в памяти</a:t>
            </a:r>
            <a:endParaRPr lang="en-US" sz="1100"/>
          </a:p>
        </p:txBody>
      </p:sp>
      <p:sp>
        <p:nvSpPr>
          <p:cNvPr id="1017628897" name="Shape 33"/>
          <p:cNvSpPr/>
          <p:nvPr/>
        </p:nvSpPr>
        <p:spPr bwMode="auto">
          <a:xfrm>
            <a:off x="7498080" y="1325880"/>
            <a:ext cx="4053535" cy="1207008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7643513" name="Text 34"/>
          <p:cNvSpPr txBox="1"/>
          <p:nvPr/>
        </p:nvSpPr>
        <p:spPr bwMode="auto">
          <a:xfrm>
            <a:off x="7772400" y="1417320"/>
            <a:ext cx="373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$ systemd-creds encrypt --with-key=tpm2 \</a:t>
            </a:r>
            <a:endParaRPr lang="en-US" sz="1100"/>
          </a:p>
        </p:txBody>
      </p:sp>
      <p:sp>
        <p:nvSpPr>
          <p:cNvPr id="529988501" name="Text 35"/>
          <p:cNvSpPr txBox="1"/>
          <p:nvPr/>
        </p:nvSpPr>
        <p:spPr bwMode="auto">
          <a:xfrm>
            <a:off x="7772400" y="1673352"/>
            <a:ext cx="373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    --name=osreboot-token token token.cred</a:t>
            </a:r>
            <a:endParaRPr lang="en-US" sz="1100"/>
          </a:p>
        </p:txBody>
      </p:sp>
      <p:sp>
        <p:nvSpPr>
          <p:cNvPr id="320848415" name="Text 36"/>
          <p:cNvSpPr txBox="1"/>
          <p:nvPr/>
        </p:nvSpPr>
        <p:spPr bwMode="auto">
          <a:xfrm>
            <a:off x="7772400" y="1929384"/>
            <a:ext cx="373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6E7781"/>
                </a:solidFill>
                <a:latin typeface="JetBrainsMonoNL NF"/>
                <a:ea typeface="JetBrainsMonoNL NF"/>
                <a:cs typeface="JetBrainsMonoNL NF"/>
              </a:rPr>
              <a:t># client/osreboot-heartbeat.service</a:t>
            </a:r>
            <a:endParaRPr lang="en-US" sz="1100"/>
          </a:p>
        </p:txBody>
      </p:sp>
      <p:sp>
        <p:nvSpPr>
          <p:cNvPr id="1676267246" name="Text 37"/>
          <p:cNvSpPr txBox="1"/>
          <p:nvPr/>
        </p:nvSpPr>
        <p:spPr bwMode="auto">
          <a:xfrm>
            <a:off x="7772400" y="2185416"/>
            <a:ext cx="373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LoadCredentialEncrypted=osreboot-token</a:t>
            </a:r>
            <a:endParaRPr lang="en-US" sz="1100"/>
          </a:p>
        </p:txBody>
      </p:sp>
      <p:sp>
        <p:nvSpPr>
          <p:cNvPr id="873423725" name="Shape 38"/>
          <p:cNvSpPr/>
          <p:nvPr/>
        </p:nvSpPr>
        <p:spPr bwMode="auto">
          <a:xfrm>
            <a:off x="7498080" y="2743200"/>
            <a:ext cx="4053535" cy="1371600"/>
          </a:xfrm>
          <a:prstGeom prst="rect">
            <a:avLst/>
          </a:prstGeom>
          <a:solidFill>
            <a:srgbClr val="E9F5EC"/>
          </a:solidFill>
          <a:ln/>
        </p:spPr>
      </p:sp>
      <p:sp>
        <p:nvSpPr>
          <p:cNvPr id="1831225377" name="Text 39"/>
          <p:cNvSpPr txBox="1"/>
          <p:nvPr/>
        </p:nvSpPr>
        <p:spPr bwMode="auto">
          <a:xfrm>
            <a:off x="7662672" y="2816352"/>
            <a:ext cx="37792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accent2"/>
                </a:solidFill>
              </a:rPr>
              <a:t>Что даёт</a:t>
            </a:r>
            <a:endParaRPr lang="en-US" sz="1500"/>
          </a:p>
        </p:txBody>
      </p:sp>
      <p:sp>
        <p:nvSpPr>
          <p:cNvPr id="989392661" name="Text 40"/>
          <p:cNvSpPr txBox="1"/>
          <p:nvPr/>
        </p:nvSpPr>
        <p:spPr bwMode="auto">
          <a:xfrm>
            <a:off x="7662672" y="3099816"/>
            <a:ext cx="3779215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tx1"/>
                </a:solidFill>
              </a:rPr>
              <a:t>Образы на VPS открыты, но .cred откроет только TPM этого ноутбука. Ключ в чипе, а не на диске: стирание его не трогает.</a:t>
            </a:r>
            <a:endParaRPr lang="en-US" sz="1300"/>
          </a:p>
        </p:txBody>
      </p:sp>
      <p:sp>
        <p:nvSpPr>
          <p:cNvPr id="259785308" name="Shape 41"/>
          <p:cNvSpPr/>
          <p:nvPr/>
        </p:nvSpPr>
        <p:spPr bwMode="auto">
          <a:xfrm>
            <a:off x="7498080" y="4251960"/>
            <a:ext cx="4053535" cy="1600200"/>
          </a:xfrm>
          <a:prstGeom prst="rect">
            <a:avLst/>
          </a:prstGeom>
          <a:solidFill>
            <a:srgbClr val="FDECEC"/>
          </a:solidFill>
          <a:ln/>
        </p:spPr>
      </p:sp>
      <p:sp>
        <p:nvSpPr>
          <p:cNvPr id="780377556" name="Text 42"/>
          <p:cNvSpPr txBox="1"/>
          <p:nvPr/>
        </p:nvSpPr>
        <p:spPr bwMode="auto">
          <a:xfrm>
            <a:off x="7662672" y="4325112"/>
            <a:ext cx="37792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accent3"/>
                </a:solidFill>
              </a:rPr>
              <a:t>Чего не даёт</a:t>
            </a:r>
            <a:endParaRPr lang="en-US" sz="1500"/>
          </a:p>
        </p:txBody>
      </p:sp>
      <p:sp>
        <p:nvSpPr>
          <p:cNvPr id="1933877765" name="Text 43"/>
          <p:cNvSpPr txBox="1"/>
          <p:nvPr/>
        </p:nvSpPr>
        <p:spPr bwMode="auto">
          <a:xfrm>
            <a:off x="7662672" y="4608576"/>
            <a:ext cx="3779215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tx1"/>
                </a:solidFill>
              </a:rPr>
              <a:t>Привязки к PCR (хешам загруженного кода) нет: root в любой системе на этом ноутбуке откроет токен. Так нужно среде восстановления: она тоже его открывает.</a:t>
            </a:r>
            <a:endParaRPr lang="en-US" sz="1300"/>
          </a:p>
        </p:txBody>
      </p:sp>
      <p:sp>
        <p:nvSpPr>
          <p:cNvPr id="1030450082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0820095" y="6382512"/>
            <a:ext cx="73152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9636E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8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3874286" name="Text 0"/>
          <p:cNvSpPr/>
          <p:nvPr>
            <p:ph type="title" idx="100" hasCustomPrompt="1"/>
          </p:nvPr>
        </p:nvSpPr>
        <p:spPr bwMode="auto">
          <a:xfrm>
            <a:off x="640080" y="4114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800" b="1">
                <a:solidFill>
                  <a:schemeClr val="tx1"/>
                </a:solidFill>
              </a:rPr>
              <a:t>Что видит сервер</a:t>
            </a:r>
            <a:endParaRPr lang="en-US" sz="2800"/>
          </a:p>
        </p:txBody>
      </p:sp>
      <p:sp>
        <p:nvSpPr>
          <p:cNvPr id="1004955348" name="Shape 1"/>
          <p:cNvSpPr/>
          <p:nvPr/>
        </p:nvSpPr>
        <p:spPr bwMode="auto">
          <a:xfrm>
            <a:off x="640080" y="1280160"/>
            <a:ext cx="5318608" cy="4343400"/>
          </a:xfrm>
          <a:prstGeom prst="rect">
            <a:avLst/>
          </a:prstGeom>
          <a:solidFill>
            <a:schemeClr val="bg2"/>
          </a:solidFill>
          <a:ln w="15875">
            <a:solidFill>
              <a:srgbClr val="9AA1A9"/>
            </a:solidFill>
            <a:prstDash val="dash"/>
          </a:ln>
        </p:spPr>
      </p:sp>
      <p:sp>
        <p:nvSpPr>
          <p:cNvPr id="1453645232" name="Text 2"/>
          <p:cNvSpPr txBox="1"/>
          <p:nvPr/>
        </p:nvSpPr>
        <p:spPr bwMode="auto">
          <a:xfrm>
            <a:off x="914400" y="1280160"/>
            <a:ext cx="4769968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  <a:defRPr/>
            </a:pPr>
            <a:r>
              <a:rPr lang="en-US" sz="1200" b="1">
                <a:solidFill>
                  <a:schemeClr val="accent4"/>
                </a:solidFill>
              </a:rPr>
              <a:t>СКРИНШОТ</a:t>
            </a:r>
            <a:endParaRPr lang="en-US" sz="1200"/>
          </a:p>
          <a:p>
            <a:pPr marL="0" indent="0" algn="ctr">
              <a:spcAft>
                <a:spcPts val="400"/>
              </a:spcAft>
              <a:buNone/>
              <a:defRPr/>
            </a:pPr>
            <a:r>
              <a:rPr lang="en-US" sz="1200">
                <a:solidFill>
                  <a:schemeClr val="tx1"/>
                </a:solidFill>
              </a:rPr>
              <a:t>браузер: https://osreboot.epsti.site во время или сразу после прогона</a:t>
            </a:r>
            <a:endParaRPr lang="en-US" sz="1200"/>
          </a:p>
          <a:p>
            <a:pPr marL="0" indent="0" algn="ctr">
              <a:spcAft>
                <a:spcPts val="400"/>
              </a:spcAft>
              <a:buNone/>
              <a:defRPr/>
            </a:pPr>
            <a:r>
              <a:rPr lang="en-US" sz="120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img/shot-6-status.png</a:t>
            </a:r>
            <a:endParaRPr lang="en-US" sz="1200"/>
          </a:p>
        </p:txBody>
      </p:sp>
      <p:sp>
        <p:nvSpPr>
          <p:cNvPr id="239995481" name="Text 3"/>
          <p:cNvSpPr txBox="1"/>
          <p:nvPr/>
        </p:nvSpPr>
        <p:spPr bwMode="auto">
          <a:xfrm>
            <a:off x="640080" y="5696712"/>
            <a:ext cx="531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chemeClr val="tx1"/>
                </a:solidFill>
              </a:rPr>
              <a:t>Страница состояния: этапы прогона и простой</a:t>
            </a:r>
            <a:endParaRPr lang="en-US" sz="1300"/>
          </a:p>
        </p:txBody>
      </p:sp>
      <p:sp>
        <p:nvSpPr>
          <p:cNvPr id="1162371998" name="Shape 4"/>
          <p:cNvSpPr/>
          <p:nvPr/>
        </p:nvSpPr>
        <p:spPr bwMode="auto">
          <a:xfrm>
            <a:off x="6233008" y="1280160"/>
            <a:ext cx="5318608" cy="4343400"/>
          </a:xfrm>
          <a:prstGeom prst="rect">
            <a:avLst/>
          </a:prstGeom>
          <a:solidFill>
            <a:schemeClr val="bg2"/>
          </a:solidFill>
          <a:ln w="15875">
            <a:solidFill>
              <a:srgbClr val="9AA1A9"/>
            </a:solidFill>
            <a:prstDash val="dash"/>
          </a:ln>
        </p:spPr>
      </p:sp>
      <p:sp>
        <p:nvSpPr>
          <p:cNvPr id="2122840205" name="Text 5"/>
          <p:cNvSpPr txBox="1"/>
          <p:nvPr/>
        </p:nvSpPr>
        <p:spPr bwMode="auto">
          <a:xfrm>
            <a:off x="6507328" y="1280160"/>
            <a:ext cx="4769968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  <a:defRPr/>
            </a:pPr>
            <a:r>
              <a:rPr lang="en-US" sz="1200" b="1">
                <a:solidFill>
                  <a:schemeClr val="accent4"/>
                </a:solidFill>
              </a:rPr>
              <a:t>СКРИНШОТ</a:t>
            </a:r>
            <a:endParaRPr lang="en-US" sz="1200"/>
          </a:p>
          <a:p>
            <a:pPr marL="0" indent="0" algn="ctr">
              <a:spcAft>
                <a:spcPts val="400"/>
              </a:spcAft>
              <a:buNone/>
              <a:defRPr/>
            </a:pPr>
            <a:r>
              <a:rPr lang="en-US" sz="1200">
                <a:solidFill>
                  <a:schemeClr val="tx1"/>
                </a:solidFill>
              </a:rPr>
              <a:t>терминал на VPS: строки access.log с GET /files/</a:t>
            </a:r>
            <a:endParaRPr lang="en-US" sz="1200"/>
          </a:p>
          <a:p>
            <a:pPr marL="0" indent="0" algn="ctr">
              <a:spcAft>
                <a:spcPts val="400"/>
              </a:spcAft>
              <a:buNone/>
              <a:defRPr/>
            </a:pPr>
            <a:r>
              <a:rPr lang="en-US" sz="120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img/shot-7-nginx.png</a:t>
            </a:r>
            <a:endParaRPr lang="en-US" sz="1200"/>
          </a:p>
        </p:txBody>
      </p:sp>
      <p:sp>
        <p:nvSpPr>
          <p:cNvPr id="509946817" name="Text 6"/>
          <p:cNvSpPr txBox="1"/>
          <p:nvPr/>
        </p:nvSpPr>
        <p:spPr bwMode="auto">
          <a:xfrm>
            <a:off x="6233008" y="5696712"/>
            <a:ext cx="531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chemeClr val="tx1"/>
                </a:solidFill>
              </a:rPr>
              <a:t>nginx на VPS: что и чем скачивал ноутбук</a:t>
            </a:r>
            <a:endParaRPr lang="en-US" sz="1300"/>
          </a:p>
        </p:txBody>
      </p:sp>
      <p:sp>
        <p:nvSpPr>
          <p:cNvPr id="1434615037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0820095" y="6382512"/>
            <a:ext cx="73152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9636E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9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7717052" name="Text 0"/>
          <p:cNvSpPr/>
          <p:nvPr>
            <p:ph type="title" idx="100" hasCustomPrompt="1"/>
          </p:nvPr>
        </p:nvSpPr>
        <p:spPr bwMode="auto">
          <a:xfrm>
            <a:off x="640080" y="4114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800" b="1">
                <a:solidFill>
                  <a:schemeClr val="tx1"/>
                </a:solidFill>
              </a:rPr>
              <a:t>Простой меряет сервер, а не ноутбук</a:t>
            </a:r>
            <a:endParaRPr lang="en-US" sz="2800"/>
          </a:p>
        </p:txBody>
      </p:sp>
      <p:sp>
        <p:nvSpPr>
          <p:cNvPr id="970055969" name="Shape 1"/>
          <p:cNvSpPr/>
          <p:nvPr/>
        </p:nvSpPr>
        <p:spPr bwMode="auto">
          <a:xfrm>
            <a:off x="640080" y="2514600"/>
            <a:ext cx="10911535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495944039" name="Shape 2"/>
          <p:cNvSpPr/>
          <p:nvPr/>
        </p:nvSpPr>
        <p:spPr bwMode="auto">
          <a:xfrm>
            <a:off x="685800" y="2423160"/>
            <a:ext cx="182880" cy="18288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887900248" name="Shape 3"/>
          <p:cNvSpPr/>
          <p:nvPr/>
        </p:nvSpPr>
        <p:spPr bwMode="auto">
          <a:xfrm>
            <a:off x="1024128" y="2423160"/>
            <a:ext cx="182880" cy="18288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76860217" name="Shape 4"/>
          <p:cNvSpPr/>
          <p:nvPr/>
        </p:nvSpPr>
        <p:spPr bwMode="auto">
          <a:xfrm>
            <a:off x="1362455" y="2423160"/>
            <a:ext cx="182880" cy="18288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28281540" name="Shape 5"/>
          <p:cNvSpPr/>
          <p:nvPr/>
        </p:nvSpPr>
        <p:spPr bwMode="auto">
          <a:xfrm>
            <a:off x="1700784" y="2423160"/>
            <a:ext cx="182880" cy="18288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150461568" name="Shape 6"/>
          <p:cNvSpPr/>
          <p:nvPr/>
        </p:nvSpPr>
        <p:spPr bwMode="auto">
          <a:xfrm>
            <a:off x="2039112" y="2423160"/>
            <a:ext cx="182880" cy="18288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03692889" name="Shape 7"/>
          <p:cNvSpPr/>
          <p:nvPr/>
        </p:nvSpPr>
        <p:spPr bwMode="auto">
          <a:xfrm>
            <a:off x="2377440" y="2423160"/>
            <a:ext cx="182880" cy="18288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123498468" name="Shape 8"/>
          <p:cNvSpPr/>
          <p:nvPr/>
        </p:nvSpPr>
        <p:spPr bwMode="auto">
          <a:xfrm>
            <a:off x="2715768" y="2423160"/>
            <a:ext cx="182880" cy="18288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343381310" name="Shape 9"/>
          <p:cNvSpPr/>
          <p:nvPr/>
        </p:nvSpPr>
        <p:spPr bwMode="auto">
          <a:xfrm>
            <a:off x="3054096" y="2423160"/>
            <a:ext cx="182880" cy="18288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567921145" name="Shape 10"/>
          <p:cNvSpPr/>
          <p:nvPr/>
        </p:nvSpPr>
        <p:spPr bwMode="auto">
          <a:xfrm>
            <a:off x="3392424" y="2423160"/>
            <a:ext cx="182880" cy="18288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893262460" name="Shape 11"/>
          <p:cNvSpPr/>
          <p:nvPr/>
        </p:nvSpPr>
        <p:spPr bwMode="auto">
          <a:xfrm>
            <a:off x="7955280" y="2423160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41414231" name="Shape 12"/>
          <p:cNvSpPr/>
          <p:nvPr/>
        </p:nvSpPr>
        <p:spPr bwMode="auto">
          <a:xfrm>
            <a:off x="8293607" y="2423160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809082303" name="Shape 13"/>
          <p:cNvSpPr/>
          <p:nvPr/>
        </p:nvSpPr>
        <p:spPr bwMode="auto">
          <a:xfrm>
            <a:off x="8631936" y="2423160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72041044" name="Shape 14"/>
          <p:cNvSpPr/>
          <p:nvPr/>
        </p:nvSpPr>
        <p:spPr bwMode="auto">
          <a:xfrm>
            <a:off x="8970264" y="2423160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912516625" name="Shape 15"/>
          <p:cNvSpPr/>
          <p:nvPr/>
        </p:nvSpPr>
        <p:spPr bwMode="auto">
          <a:xfrm>
            <a:off x="9308592" y="2423160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45616863" name="Shape 16"/>
          <p:cNvSpPr/>
          <p:nvPr/>
        </p:nvSpPr>
        <p:spPr bwMode="auto">
          <a:xfrm>
            <a:off x="9646920" y="2423160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41994975" name="Shape 17"/>
          <p:cNvSpPr/>
          <p:nvPr/>
        </p:nvSpPr>
        <p:spPr bwMode="auto">
          <a:xfrm>
            <a:off x="9985248" y="2423160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08385975" name="Shape 18"/>
          <p:cNvSpPr/>
          <p:nvPr/>
        </p:nvSpPr>
        <p:spPr bwMode="auto">
          <a:xfrm>
            <a:off x="10323576" y="2423160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40507365" name="Shape 19"/>
          <p:cNvSpPr/>
          <p:nvPr/>
        </p:nvSpPr>
        <p:spPr bwMode="auto">
          <a:xfrm>
            <a:off x="10661904" y="2423160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51961770" name="Shape 20"/>
          <p:cNvSpPr/>
          <p:nvPr/>
        </p:nvSpPr>
        <p:spPr bwMode="auto">
          <a:xfrm>
            <a:off x="3703320" y="2221992"/>
            <a:ext cx="3931920" cy="585216"/>
          </a:xfrm>
          <a:prstGeom prst="rect">
            <a:avLst/>
          </a:prstGeom>
          <a:solidFill>
            <a:srgbClr val="FBE9E9"/>
          </a:solidFill>
          <a:ln/>
        </p:spPr>
      </p:sp>
      <p:sp>
        <p:nvSpPr>
          <p:cNvPr id="1669288212" name="Text 21"/>
          <p:cNvSpPr txBox="1"/>
          <p:nvPr/>
        </p:nvSpPr>
        <p:spPr bwMode="auto">
          <a:xfrm>
            <a:off x="3703320" y="2221992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chemeClr val="accent3"/>
                </a:solidFill>
              </a:rPr>
              <a:t>простой ≈ 165 с (не в масштабе)</a:t>
            </a:r>
            <a:endParaRPr lang="en-US" sz="1500"/>
          </a:p>
        </p:txBody>
      </p:sp>
      <p:sp>
        <p:nvSpPr>
          <p:cNvPr id="230530517" name="Text 22"/>
          <p:cNvSpPr txBox="1"/>
          <p:nvPr/>
        </p:nvSpPr>
        <p:spPr bwMode="auto">
          <a:xfrm>
            <a:off x="640080" y="17373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5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boot ID a71f…</a:t>
            </a:r>
            <a:endParaRPr lang="en-US" sz="1350"/>
          </a:p>
        </p:txBody>
      </p:sp>
      <p:sp>
        <p:nvSpPr>
          <p:cNvPr id="1323709899" name="Text 23"/>
          <p:cNvSpPr txBox="1"/>
          <p:nvPr/>
        </p:nvSpPr>
        <p:spPr bwMode="auto">
          <a:xfrm>
            <a:off x="7955280" y="17373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50">
                <a:solidFill>
                  <a:schemeClr val="accent2"/>
                </a:solidFill>
                <a:latin typeface="JetBrainsMonoNL NF"/>
                <a:ea typeface="JetBrainsMonoNL NF"/>
                <a:cs typeface="JetBrainsMonoNL NF"/>
              </a:rPr>
              <a:t>boot ID 3c08… — новый</a:t>
            </a:r>
            <a:endParaRPr lang="en-US" sz="1350"/>
          </a:p>
        </p:txBody>
      </p:sp>
      <p:sp>
        <p:nvSpPr>
          <p:cNvPr id="2014155314" name="Text 24"/>
          <p:cNvSpPr txBox="1"/>
          <p:nvPr/>
        </p:nvSpPr>
        <p:spPr bwMode="auto">
          <a:xfrm>
            <a:off x="3154680" y="17373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250">
                <a:solidFill>
                  <a:schemeClr val="accent4"/>
                </a:solidFill>
              </a:rPr>
              <a:t>3 с без heartbeat — сервер открывает простой</a:t>
            </a:r>
            <a:endParaRPr lang="en-US" sz="1250"/>
          </a:p>
        </p:txBody>
      </p:sp>
      <p:sp>
        <p:nvSpPr>
          <p:cNvPr id="46134688" name="Text 25"/>
          <p:cNvSpPr txBox="1"/>
          <p:nvPr/>
        </p:nvSpPr>
        <p:spPr bwMode="auto">
          <a:xfrm>
            <a:off x="2514600" y="2926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250">
                <a:solidFill>
                  <a:schemeClr val="accent4"/>
                </a:solidFill>
              </a:rPr>
              <a:t>начало: последний сигнал</a:t>
            </a:r>
            <a:endParaRPr lang="en-US" sz="1250"/>
          </a:p>
          <a:p>
            <a:pPr marL="0" indent="0" algn="ctr">
              <a:buNone/>
              <a:defRPr/>
            </a:pPr>
            <a:r>
              <a:rPr lang="en-US" sz="1250">
                <a:solidFill>
                  <a:schemeClr val="accent4"/>
                </a:solidFill>
              </a:rPr>
              <a:t>по часам сервера</a:t>
            </a:r>
            <a:endParaRPr lang="en-US" sz="1250"/>
          </a:p>
        </p:txBody>
      </p:sp>
      <p:sp>
        <p:nvSpPr>
          <p:cNvPr id="1729427642" name="Text 26"/>
          <p:cNvSpPr txBox="1"/>
          <p:nvPr/>
        </p:nvSpPr>
        <p:spPr bwMode="auto">
          <a:xfrm>
            <a:off x="6446520" y="2926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250">
                <a:solidFill>
                  <a:schemeClr val="accent4"/>
                </a:solidFill>
              </a:rPr>
              <a:t>конец: первый сигнал</a:t>
            </a:r>
            <a:endParaRPr lang="en-US" sz="1250"/>
          </a:p>
          <a:p>
            <a:pPr marL="0" indent="0" algn="ctr">
              <a:buNone/>
              <a:defRPr/>
            </a:pPr>
            <a:r>
              <a:rPr lang="en-US" sz="1250">
                <a:solidFill>
                  <a:schemeClr val="accent4"/>
                </a:solidFill>
              </a:rPr>
              <a:t>по часам сервера</a:t>
            </a:r>
            <a:endParaRPr lang="en-US" sz="1250"/>
          </a:p>
        </p:txBody>
      </p:sp>
      <p:sp>
        <p:nvSpPr>
          <p:cNvPr id="1916902589" name="Text 27"/>
          <p:cNvSpPr txBox="1"/>
          <p:nvPr/>
        </p:nvSpPr>
        <p:spPr bwMode="auto">
          <a:xfrm>
            <a:off x="640080" y="3749040"/>
            <a:ext cx="10911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  <a:defRPr/>
            </a:pPr>
            <a:r>
              <a:rPr lang="en-US" sz="1700">
                <a:solidFill>
                  <a:schemeClr val="tx1"/>
                </a:solidFill>
              </a:rPr>
              <a:t>Раз в секунду ноутбук шлёт heartbeat с boot ID</a:t>
            </a:r>
            <a:endParaRPr lang="en-US" sz="1700"/>
          </a:p>
          <a:p>
            <a:pPr marL="203200" indent="-203200">
              <a:spcAft>
                <a:spcPts val="1000"/>
              </a:spcAft>
              <a:buSzPct val="100000"/>
              <a:buChar char="•"/>
              <a:defRPr/>
            </a:pPr>
            <a:r>
              <a:rPr lang="en-US" sz="1700">
                <a:solidFill>
                  <a:schemeClr val="tx1"/>
                </a:solidFill>
              </a:rPr>
              <a:t>Таймаут 3 с влияет только на то, когда простой станет виден, а не на его длину</a:t>
            </a:r>
            <a:endParaRPr lang="en-US" sz="1700"/>
          </a:p>
          <a:p>
            <a:pPr marL="203200" indent="-203200">
              <a:spcAft>
                <a:spcPts val="1000"/>
              </a:spcAft>
              <a:buSzPct val="100000"/>
              <a:buChar char="•"/>
              <a:defRPr/>
            </a:pPr>
            <a:r>
              <a:rPr lang="en-US" sz="1700">
                <a:solidFill>
                  <a:schemeClr val="tx1"/>
                </a:solidFill>
              </a:rPr>
              <a:t>Отчёты об этапах раскладывают простой на части</a:t>
            </a:r>
            <a:endParaRPr lang="en-US" sz="1700"/>
          </a:p>
        </p:txBody>
      </p:sp>
      <p:sp>
        <p:nvSpPr>
          <p:cNvPr id="926641940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0820095" y="6382512"/>
            <a:ext cx="73152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9636E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0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8390669" name="Text 0"/>
          <p:cNvSpPr/>
          <p:nvPr>
            <p:ph type="title" idx="100" hasCustomPrompt="1"/>
          </p:nvPr>
        </p:nvSpPr>
        <p:spPr bwMode="auto">
          <a:xfrm>
            <a:off x="640080" y="4114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800" b="1">
                <a:solidFill>
                  <a:schemeClr val="tx1"/>
                </a:solidFill>
              </a:rPr>
              <a:t>165 секунд простоя</a:t>
            </a:r>
            <a:endParaRPr lang="en-US" sz="2800"/>
          </a:p>
        </p:txBody>
      </p:sp>
      <p:sp>
        <p:nvSpPr>
          <p:cNvPr id="672521076" name="Text 1"/>
          <p:cNvSpPr txBox="1"/>
          <p:nvPr/>
        </p:nvSpPr>
        <p:spPr bwMode="auto">
          <a:xfrm>
            <a:off x="640080" y="132588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  <a:defRPr/>
            </a:pPr>
            <a:r>
              <a:rPr lang="en-US" sz="8000" b="1">
                <a:solidFill>
                  <a:schemeClr val="tx1"/>
                </a:solidFill>
              </a:rPr>
              <a:t>165 с</a:t>
            </a:r>
            <a:endParaRPr lang="en-US" sz="8000"/>
          </a:p>
        </p:txBody>
      </p:sp>
      <p:sp>
        <p:nvSpPr>
          <p:cNvPr id="278091330" name="Text 2"/>
          <p:cNvSpPr txBox="1"/>
          <p:nvPr/>
        </p:nvSpPr>
        <p:spPr bwMode="auto">
          <a:xfrm>
            <a:off x="640080" y="265176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accent4"/>
                </a:solidFill>
              </a:rPr>
              <a:t>медиана 4 полных прогонов: от последнего сигнала перед стиранием до первого после восстановления</a:t>
            </a:r>
            <a:endParaRPr lang="en-US" sz="1400"/>
          </a:p>
        </p:txBody>
      </p:sp>
      <p:sp>
        <p:nvSpPr>
          <p:cNvPr id="2041973424" name="Text 3"/>
          <p:cNvSpPr txBox="1"/>
          <p:nvPr/>
        </p:nvSpPr>
        <p:spPr bwMode="auto">
          <a:xfrm>
            <a:off x="640080" y="356616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700" b="1">
                <a:solidFill>
                  <a:schemeClr val="tx1"/>
                </a:solidFill>
              </a:rPr>
              <a:t>&lt; 2 с</a:t>
            </a:r>
            <a:endParaRPr lang="en-US" sz="1700"/>
          </a:p>
        </p:txBody>
      </p:sp>
      <p:sp>
        <p:nvSpPr>
          <p:cNvPr id="779602207" name="Text 4"/>
          <p:cNvSpPr txBox="1"/>
          <p:nvPr/>
        </p:nvSpPr>
        <p:spPr bwMode="auto">
          <a:xfrm>
            <a:off x="640080" y="38587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50">
                <a:solidFill>
                  <a:schemeClr val="accent4"/>
                </a:solidFill>
              </a:rPr>
              <a:t>разброс: 164,0–165,7 с</a:t>
            </a:r>
            <a:endParaRPr lang="en-US" sz="1350"/>
          </a:p>
        </p:txBody>
      </p:sp>
      <p:sp>
        <p:nvSpPr>
          <p:cNvPr id="749399175" name="Text 5"/>
          <p:cNvSpPr txBox="1"/>
          <p:nvPr/>
        </p:nvSpPr>
        <p:spPr bwMode="auto">
          <a:xfrm>
            <a:off x="640080" y="418795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700" b="1">
                <a:solidFill>
                  <a:schemeClr val="tx1"/>
                </a:solidFill>
              </a:rPr>
              <a:t>54–57 с</a:t>
            </a:r>
            <a:endParaRPr lang="en-US" sz="1700"/>
          </a:p>
        </p:txBody>
      </p:sp>
      <p:sp>
        <p:nvSpPr>
          <p:cNvPr id="1508455401" name="Text 6"/>
          <p:cNvSpPr txBox="1"/>
          <p:nvPr/>
        </p:nvSpPr>
        <p:spPr bwMode="auto">
          <a:xfrm>
            <a:off x="640080" y="44805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50">
                <a:solidFill>
                  <a:schemeClr val="accent4"/>
                </a:solidFill>
              </a:rPr>
              <a:t>работа среды восстановления, 6 прогонов</a:t>
            </a:r>
            <a:endParaRPr lang="en-US" sz="1350"/>
          </a:p>
        </p:txBody>
      </p:sp>
      <p:sp>
        <p:nvSpPr>
          <p:cNvPr id="1881844565" name="Text 7"/>
          <p:cNvSpPr txBox="1"/>
          <p:nvPr/>
        </p:nvSpPr>
        <p:spPr bwMode="auto">
          <a:xfrm>
            <a:off x="640080" y="480974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700" b="1">
                <a:solidFill>
                  <a:schemeClr val="tx1"/>
                </a:solidFill>
              </a:rPr>
              <a:t>100 Мбит/с</a:t>
            </a:r>
            <a:endParaRPr lang="en-US" sz="1700"/>
          </a:p>
        </p:txBody>
      </p:sp>
      <p:sp>
        <p:nvSpPr>
          <p:cNvPr id="1882212663" name="Text 8"/>
          <p:cNvSpPr txBox="1"/>
          <p:nvPr/>
        </p:nvSpPr>
        <p:spPr bwMode="auto">
          <a:xfrm>
            <a:off x="640080" y="51023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50">
                <a:solidFill>
                  <a:schemeClr val="accent4"/>
                </a:solidFill>
              </a:rPr>
              <a:t>порт ноутбука ограничивал скачивание</a:t>
            </a:r>
            <a:endParaRPr lang="en-US" sz="1350"/>
          </a:p>
        </p:txBody>
      </p:sp>
      <p:graphicFrame>
        <p:nvGraphicFramePr>
          <p:cNvPr id="463866703" name="Chart 0" descr=""/>
          <p:cNvGraphicFramePr>
            <a:graphicFrameLocks xmlns:a="http://schemas.openxmlformats.org/drawingml/2006/main"/>
          </p:cNvGraphicFramePr>
          <p:nvPr/>
        </p:nvGraphicFramePr>
        <p:xfrm rot="0">
          <a:off x="5120640" y="1325880"/>
          <a:ext cx="6428232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93956246" name="Shape 9"/>
          <p:cNvSpPr/>
          <p:nvPr/>
        </p:nvSpPr>
        <p:spPr bwMode="auto">
          <a:xfrm>
            <a:off x="640080" y="5486400"/>
            <a:ext cx="10911535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1868299280" name="Text 10"/>
          <p:cNvSpPr txBox="1"/>
          <p:nvPr/>
        </p:nvSpPr>
        <p:spPr bwMode="auto">
          <a:xfrm>
            <a:off x="640080" y="56052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tx1"/>
                </a:solidFill>
              </a:rPr>
              <a:t>Вывод: </a:t>
            </a:r>
            <a:r>
              <a:rPr lang="en-US" sz="1500">
                <a:solidFill>
                  <a:schemeClr val="tx1"/>
                </a:solidFill>
              </a:rPr>
              <a:t>ускорять нужно загрузки — меньший UKI, kexec вместо второго прохода прошивки. Быстрый интернет дал бы меньше, чем кажется.</a:t>
            </a:r>
            <a:endParaRPr lang="en-US" sz="1500"/>
          </a:p>
        </p:txBody>
      </p:sp>
      <p:sp>
        <p:nvSpPr>
          <p:cNvPr id="488106241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0820095" y="6382512"/>
            <a:ext cx="73152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9636E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132820" name="Text 0"/>
          <p:cNvSpPr/>
          <p:nvPr>
            <p:ph type="title" idx="100" hasCustomPrompt="1"/>
          </p:nvPr>
        </p:nvSpPr>
        <p:spPr bwMode="auto">
          <a:xfrm>
            <a:off x="640080" y="4114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800" b="1">
                <a:solidFill>
                  <a:schemeClr val="tx1"/>
                </a:solidFill>
              </a:rPr>
              <a:t>Проверим вживую</a:t>
            </a:r>
            <a:endParaRPr lang="en-US" sz="2800"/>
          </a:p>
        </p:txBody>
      </p:sp>
      <p:pic>
        <p:nvPicPr>
          <p:cNvPr id="1352616213" name="Image 0" descr="QR-код страницы состояния osreboot.epsti.site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60120" y="1463040"/>
            <a:ext cx="2651760" cy="2651760"/>
          </a:xfrm>
          <a:prstGeom prst="rect">
            <a:avLst/>
          </a:prstGeom>
        </p:spPr>
      </p:pic>
      <p:sp>
        <p:nvSpPr>
          <p:cNvPr id="1518225782" name="Text 1"/>
          <p:cNvSpPr txBox="1"/>
          <p:nvPr/>
        </p:nvSpPr>
        <p:spPr bwMode="auto">
          <a:xfrm>
            <a:off x="640080" y="4343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900" b="1">
                <a:solidFill>
                  <a:schemeClr val="tx1"/>
                </a:solidFill>
              </a:rPr>
              <a:t>osreboot.epsti.site</a:t>
            </a:r>
            <a:endParaRPr lang="en-US" sz="1900"/>
          </a:p>
        </p:txBody>
      </p:sp>
      <p:sp>
        <p:nvSpPr>
          <p:cNvPr id="1605246679" name="Text 2"/>
          <p:cNvSpPr txBox="1"/>
          <p:nvPr/>
        </p:nvSpPr>
        <p:spPr bwMode="auto">
          <a:xfrm>
            <a:off x="731520" y="47548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350">
                <a:solidFill>
                  <a:schemeClr val="accent4"/>
                </a:solidFill>
              </a:rPr>
              <a:t>Откройте на телефоне: та же страница, что на экране</a:t>
            </a:r>
            <a:endParaRPr lang="en-US" sz="1350"/>
          </a:p>
        </p:txBody>
      </p:sp>
      <p:sp>
        <p:nvSpPr>
          <p:cNvPr id="252510488" name="Text 3"/>
          <p:cNvSpPr txBox="1"/>
          <p:nvPr/>
        </p:nvSpPr>
        <p:spPr bwMode="auto">
          <a:xfrm>
            <a:off x="4754880" y="1371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800" b="1">
                <a:solidFill>
                  <a:schemeClr val="tx1"/>
                </a:solidFill>
              </a:rPr>
              <a:t>Чего ждём, по прогону 23.10</a:t>
            </a:r>
            <a:endParaRPr lang="en-US" sz="1800"/>
          </a:p>
        </p:txBody>
      </p:sp>
      <p:sp>
        <p:nvSpPr>
          <p:cNvPr id="1960512813" name="Shape 4"/>
          <p:cNvSpPr/>
          <p:nvPr/>
        </p:nvSpPr>
        <p:spPr bwMode="auto">
          <a:xfrm>
            <a:off x="6080760" y="2148840"/>
            <a:ext cx="0" cy="365760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71187467" name="Text 5"/>
          <p:cNvSpPr txBox="1"/>
          <p:nvPr/>
        </p:nvSpPr>
        <p:spPr bwMode="auto">
          <a:xfrm>
            <a:off x="4754880" y="196596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400" b="1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0 с</a:t>
            </a:r>
            <a:endParaRPr lang="en-US" sz="1400"/>
          </a:p>
        </p:txBody>
      </p:sp>
      <p:sp>
        <p:nvSpPr>
          <p:cNvPr id="1594755250" name="Shape 6"/>
          <p:cNvSpPr/>
          <p:nvPr/>
        </p:nvSpPr>
        <p:spPr bwMode="auto">
          <a:xfrm>
            <a:off x="6007607" y="2075688"/>
            <a:ext cx="146304" cy="146304"/>
          </a:xfrm>
          <a:prstGeom prst="ellipse">
            <a:avLst/>
          </a:prstGeom>
          <a:solidFill>
            <a:srgbClr val="9AA1A9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090841097" name="Text 7"/>
          <p:cNvSpPr txBox="1"/>
          <p:nvPr/>
        </p:nvSpPr>
        <p:spPr bwMode="auto">
          <a:xfrm>
            <a:off x="6355080" y="1965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chemeClr val="tx1"/>
                </a:solidFill>
              </a:rPr>
              <a:t>Стирание системы</a:t>
            </a:r>
            <a:endParaRPr lang="en-US" sz="1600"/>
          </a:p>
        </p:txBody>
      </p:sp>
      <p:sp>
        <p:nvSpPr>
          <p:cNvPr id="1476608284" name="Text 8"/>
          <p:cNvSpPr txBox="1"/>
          <p:nvPr/>
        </p:nvSpPr>
        <p:spPr bwMode="auto">
          <a:xfrm>
            <a:off x="4754880" y="242316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400" b="1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0 с</a:t>
            </a:r>
            <a:endParaRPr lang="en-US" sz="1400"/>
          </a:p>
        </p:txBody>
      </p:sp>
      <p:sp>
        <p:nvSpPr>
          <p:cNvPr id="1303168331" name="Shape 9"/>
          <p:cNvSpPr/>
          <p:nvPr/>
        </p:nvSpPr>
        <p:spPr bwMode="auto">
          <a:xfrm>
            <a:off x="6007607" y="2532888"/>
            <a:ext cx="146304" cy="146304"/>
          </a:xfrm>
          <a:prstGeom prst="ellipse">
            <a:avLst/>
          </a:prstGeom>
          <a:solidFill>
            <a:srgbClr val="9AA1A9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615661683" name="Text 10"/>
          <p:cNvSpPr txBox="1"/>
          <p:nvPr/>
        </p:nvSpPr>
        <p:spPr bwMode="auto">
          <a:xfrm>
            <a:off x="6355080" y="24231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chemeClr val="tx1"/>
                </a:solidFill>
              </a:rPr>
              <a:t>Перезагрузка и сетевой загрузчик</a:t>
            </a:r>
            <a:endParaRPr lang="en-US" sz="1600"/>
          </a:p>
        </p:txBody>
      </p:sp>
      <p:sp>
        <p:nvSpPr>
          <p:cNvPr id="1639944231" name="Text 11"/>
          <p:cNvSpPr txBox="1"/>
          <p:nvPr/>
        </p:nvSpPr>
        <p:spPr bwMode="auto">
          <a:xfrm>
            <a:off x="4754880" y="288036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400" b="1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24 с</a:t>
            </a:r>
            <a:endParaRPr lang="en-US" sz="1400"/>
          </a:p>
        </p:txBody>
      </p:sp>
      <p:sp>
        <p:nvSpPr>
          <p:cNvPr id="1835085019" name="Shape 12"/>
          <p:cNvSpPr/>
          <p:nvPr/>
        </p:nvSpPr>
        <p:spPr bwMode="auto">
          <a:xfrm>
            <a:off x="6007607" y="2990088"/>
            <a:ext cx="146304" cy="146304"/>
          </a:xfrm>
          <a:prstGeom prst="ellipse">
            <a:avLst/>
          </a:prstGeom>
          <a:solidFill>
            <a:srgbClr val="9AA1A9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576195919" name="Text 13"/>
          <p:cNvSpPr txBox="1"/>
          <p:nvPr/>
        </p:nvSpPr>
        <p:spPr bwMode="auto">
          <a:xfrm>
            <a:off x="6355080" y="2880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chemeClr val="tx1"/>
                </a:solidFill>
              </a:rPr>
              <a:t>Скачивание среды восстановления</a:t>
            </a:r>
            <a:endParaRPr lang="en-US" sz="1600"/>
          </a:p>
        </p:txBody>
      </p:sp>
      <p:sp>
        <p:nvSpPr>
          <p:cNvPr id="724053702" name="Text 14"/>
          <p:cNvSpPr txBox="1"/>
          <p:nvPr/>
        </p:nvSpPr>
        <p:spPr bwMode="auto">
          <a:xfrm>
            <a:off x="4754880" y="333756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400" b="1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40 с</a:t>
            </a:r>
            <a:endParaRPr lang="en-US" sz="1400"/>
          </a:p>
        </p:txBody>
      </p:sp>
      <p:sp>
        <p:nvSpPr>
          <p:cNvPr id="1340804761" name="Shape 15"/>
          <p:cNvSpPr/>
          <p:nvPr/>
        </p:nvSpPr>
        <p:spPr bwMode="auto">
          <a:xfrm>
            <a:off x="6007607" y="3447288"/>
            <a:ext cx="146304" cy="146304"/>
          </a:xfrm>
          <a:prstGeom prst="ellipse">
            <a:avLst/>
          </a:prstGeom>
          <a:solidFill>
            <a:srgbClr val="9AA1A9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473021876" name="Text 16"/>
          <p:cNvSpPr txBox="1"/>
          <p:nvPr/>
        </p:nvSpPr>
        <p:spPr bwMode="auto">
          <a:xfrm>
            <a:off x="6355080" y="33375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chemeClr val="tx1"/>
                </a:solidFill>
              </a:rPr>
              <a:t>Запуск среды восстановления</a:t>
            </a:r>
            <a:endParaRPr lang="en-US" sz="1600"/>
          </a:p>
        </p:txBody>
      </p:sp>
      <p:sp>
        <p:nvSpPr>
          <p:cNvPr id="828104745" name="Text 17"/>
          <p:cNvSpPr txBox="1"/>
          <p:nvPr/>
        </p:nvSpPr>
        <p:spPr bwMode="auto">
          <a:xfrm>
            <a:off x="4754880" y="379476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400" b="1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69 с</a:t>
            </a:r>
            <a:endParaRPr lang="en-US" sz="1400"/>
          </a:p>
        </p:txBody>
      </p:sp>
      <p:sp>
        <p:nvSpPr>
          <p:cNvPr id="178600680" name="Shape 18"/>
          <p:cNvSpPr/>
          <p:nvPr/>
        </p:nvSpPr>
        <p:spPr bwMode="auto">
          <a:xfrm>
            <a:off x="6007607" y="3904488"/>
            <a:ext cx="146304" cy="146304"/>
          </a:xfrm>
          <a:prstGeom prst="ellipse">
            <a:avLst/>
          </a:prstGeom>
          <a:solidFill>
            <a:srgbClr val="9AA1A9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731414589" name="Text 19"/>
          <p:cNvSpPr txBox="1"/>
          <p:nvPr/>
        </p:nvSpPr>
        <p:spPr bwMode="auto">
          <a:xfrm>
            <a:off x="6355080" y="37947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chemeClr val="tx1"/>
                </a:solidFill>
              </a:rPr>
              <a:t>Скачивание образов системы</a:t>
            </a:r>
            <a:endParaRPr lang="en-US" sz="1600"/>
          </a:p>
        </p:txBody>
      </p:sp>
      <p:sp>
        <p:nvSpPr>
          <p:cNvPr id="486744516" name="Text 20"/>
          <p:cNvSpPr txBox="1"/>
          <p:nvPr/>
        </p:nvSpPr>
        <p:spPr bwMode="auto">
          <a:xfrm>
            <a:off x="4754880" y="425196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400" b="1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111 с</a:t>
            </a:r>
            <a:endParaRPr lang="en-US" sz="1400"/>
          </a:p>
        </p:txBody>
      </p:sp>
      <p:sp>
        <p:nvSpPr>
          <p:cNvPr id="1899564909" name="Shape 21"/>
          <p:cNvSpPr/>
          <p:nvPr/>
        </p:nvSpPr>
        <p:spPr bwMode="auto">
          <a:xfrm>
            <a:off x="6007607" y="4361688"/>
            <a:ext cx="146304" cy="146304"/>
          </a:xfrm>
          <a:prstGeom prst="ellipse">
            <a:avLst/>
          </a:prstGeom>
          <a:solidFill>
            <a:srgbClr val="9AA1A9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092486028" name="Text 22"/>
          <p:cNvSpPr txBox="1"/>
          <p:nvPr/>
        </p:nvSpPr>
        <p:spPr bwMode="auto">
          <a:xfrm>
            <a:off x="6355080" y="4251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chemeClr val="tx1"/>
                </a:solidFill>
              </a:rPr>
              <a:t>Проверка контрольных сумм</a:t>
            </a:r>
            <a:endParaRPr lang="en-US" sz="1600"/>
          </a:p>
        </p:txBody>
      </p:sp>
      <p:sp>
        <p:nvSpPr>
          <p:cNvPr id="759188177" name="Text 23"/>
          <p:cNvSpPr txBox="1"/>
          <p:nvPr/>
        </p:nvSpPr>
        <p:spPr bwMode="auto">
          <a:xfrm>
            <a:off x="4754880" y="470916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400" b="1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116 с</a:t>
            </a:r>
            <a:endParaRPr lang="en-US" sz="1400"/>
          </a:p>
        </p:txBody>
      </p:sp>
      <p:sp>
        <p:nvSpPr>
          <p:cNvPr id="129977991" name="Shape 24"/>
          <p:cNvSpPr/>
          <p:nvPr/>
        </p:nvSpPr>
        <p:spPr bwMode="auto">
          <a:xfrm>
            <a:off x="6007607" y="4818888"/>
            <a:ext cx="146304" cy="146304"/>
          </a:xfrm>
          <a:prstGeom prst="ellipse">
            <a:avLst/>
          </a:prstGeom>
          <a:solidFill>
            <a:srgbClr val="9AA1A9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375961740" name="Text 25"/>
          <p:cNvSpPr txBox="1"/>
          <p:nvPr/>
        </p:nvSpPr>
        <p:spPr bwMode="auto">
          <a:xfrm>
            <a:off x="6355080" y="47091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chemeClr val="tx1"/>
                </a:solidFill>
              </a:rPr>
              <a:t>Запись на диск</a:t>
            </a:r>
            <a:endParaRPr lang="en-US" sz="1600"/>
          </a:p>
        </p:txBody>
      </p:sp>
      <p:sp>
        <p:nvSpPr>
          <p:cNvPr id="154743333" name="Text 26"/>
          <p:cNvSpPr txBox="1"/>
          <p:nvPr/>
        </p:nvSpPr>
        <p:spPr bwMode="auto">
          <a:xfrm>
            <a:off x="4754880" y="516636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400" b="1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124 с</a:t>
            </a:r>
            <a:endParaRPr lang="en-US" sz="1400"/>
          </a:p>
        </p:txBody>
      </p:sp>
      <p:sp>
        <p:nvSpPr>
          <p:cNvPr id="1332957402" name="Shape 27"/>
          <p:cNvSpPr/>
          <p:nvPr/>
        </p:nvSpPr>
        <p:spPr bwMode="auto">
          <a:xfrm>
            <a:off x="6007607" y="5276088"/>
            <a:ext cx="146304" cy="146304"/>
          </a:xfrm>
          <a:prstGeom prst="ellipse">
            <a:avLst/>
          </a:prstGeom>
          <a:solidFill>
            <a:srgbClr val="9AA1A9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73646380" name="Text 28"/>
          <p:cNvSpPr txBox="1"/>
          <p:nvPr/>
        </p:nvSpPr>
        <p:spPr bwMode="auto">
          <a:xfrm>
            <a:off x="6355080" y="5166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chemeClr val="tx1"/>
                </a:solidFill>
              </a:rPr>
              <a:t>Перезагрузка в восстановленную систему</a:t>
            </a:r>
            <a:endParaRPr lang="en-US" sz="1600"/>
          </a:p>
        </p:txBody>
      </p:sp>
      <p:sp>
        <p:nvSpPr>
          <p:cNvPr id="1885543203" name="Text 29"/>
          <p:cNvSpPr txBox="1"/>
          <p:nvPr/>
        </p:nvSpPr>
        <p:spPr bwMode="auto">
          <a:xfrm>
            <a:off x="4754880" y="562356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400" b="1">
                <a:solidFill>
                  <a:schemeClr val="accent2"/>
                </a:solidFill>
                <a:latin typeface="JetBrainsMonoNL NF"/>
                <a:ea typeface="JetBrainsMonoNL NF"/>
                <a:cs typeface="JetBrainsMonoNL NF"/>
              </a:rPr>
              <a:t>≈ 166 с</a:t>
            </a:r>
            <a:endParaRPr lang="en-US" sz="1400"/>
          </a:p>
        </p:txBody>
      </p:sp>
      <p:sp>
        <p:nvSpPr>
          <p:cNvPr id="1765142631" name="Shape 30"/>
          <p:cNvSpPr/>
          <p:nvPr/>
        </p:nvSpPr>
        <p:spPr bwMode="auto">
          <a:xfrm>
            <a:off x="6007607" y="5733288"/>
            <a:ext cx="146304" cy="146304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405772958" name="Text 31"/>
          <p:cNvSpPr txBox="1"/>
          <p:nvPr/>
        </p:nvSpPr>
        <p:spPr bwMode="auto">
          <a:xfrm>
            <a:off x="6355080" y="56235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chemeClr val="accent2"/>
                </a:solidFill>
              </a:rPr>
              <a:t>Система снова на связи</a:t>
            </a:r>
            <a:endParaRPr lang="en-US" sz="1600"/>
          </a:p>
        </p:txBody>
      </p:sp>
      <p:sp>
        <p:nvSpPr>
          <p:cNvPr id="1865248979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0820095" y="6382512"/>
            <a:ext cx="73152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9636E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2234325" name="Text 0"/>
          <p:cNvSpPr/>
          <p:nvPr>
            <p:ph type="title" idx="100" hasCustomPrompt="1"/>
          </p:nvPr>
        </p:nvSpPr>
        <p:spPr bwMode="auto">
          <a:xfrm>
            <a:off x="640080" y="4114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800" b="1">
                <a:solidFill>
                  <a:schemeClr val="tx1"/>
                </a:solidFill>
              </a:rPr>
              <a:t>Чего OSreboot пока не умеет</a:t>
            </a:r>
            <a:endParaRPr lang="en-US" sz="2800"/>
          </a:p>
        </p:txBody>
      </p:sp>
      <p:graphicFrame>
        <p:nvGraphicFramePr>
          <p:cNvPr id="1463888364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640080" y="1371600"/>
          <a:ext cx="10911535" cy="91440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5394960"/>
                <a:gridCol w="5516575"/>
              </a:tblGrid>
              <a:tr h="45720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400" b="1">
                          <a:solidFill>
                            <a:schemeClr val="accent4"/>
                          </a:solidFill>
                        </a:rPr>
                        <a:t>Ограничение</a:t>
                      </a:r>
                      <a:endParaRPr lang="en-US" sz="1400"/>
                    </a:p>
                  </a:txBody>
                  <a:tcPr marL="0" marR="137160"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19050" algn="ctr">
                      <a:solidFill>
                        <a:srgbClr val="1F2328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400" b="1">
                          <a:solidFill>
                            <a:schemeClr val="accent4"/>
                          </a:solidFill>
                        </a:rPr>
                        <a:t>Что сделать</a:t>
                      </a:r>
                      <a:endParaRPr lang="en-US" sz="1400"/>
                    </a:p>
                  </a:txBody>
                  <a:tcPr marL="0" marR="137160"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19050" algn="ctr">
                      <a:solidFill>
                        <a:srgbClr val="1F2328"/>
                      </a:solidFill>
                    </a:lnB>
                  </a:tcPr>
                </a:tc>
              </a:tr>
              <a:tr h="804672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Стёрли весь диск — пропал и iPXE, цепочка обрывается</a:t>
                      </a:r>
                      <a:endParaRPr lang="en-US" sz="1600"/>
                    </a:p>
                  </a:txBody>
                  <a:tcPr marL="0" marR="137160"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12700" algn="ctr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Проверить UEFI HTTP Boot на других прошивках и с адресом от DHCP</a:t>
                      </a:r>
                      <a:endParaRPr lang="en-US" sz="1600"/>
                    </a:p>
                  </a:txBody>
                  <a:tcPr marL="0" marR="137160"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12700" algn="ctr">
                      <a:solidFill>
                        <a:srgbClr val="D0D7DE"/>
                      </a:solidFill>
                    </a:lnB>
                  </a:tcPr>
                </a:tc>
              </a:tr>
              <a:tr h="804672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Восстановление запускает команда затирания, а не сама поломка</a:t>
                      </a:r>
                      <a:endParaRPr lang="en-US" sz="1600"/>
                    </a:p>
                  </a:txBody>
                  <a:tcPr marL="0" marR="137160"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12700" algn="ctr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Счётчик неудачных загрузок: Automatic Boot Assessment в systemd-boot</a:t>
                      </a:r>
                      <a:endParaRPr lang="en-US" sz="1600"/>
                    </a:p>
                  </a:txBody>
                  <a:tcPr marL="0" marR="137160"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12700" algn="ctr">
                      <a:solidFill>
                        <a:srgbClr val="D0D7DE"/>
                      </a:solidFill>
                    </a:lnB>
                  </a:tcPr>
                </a:tc>
              </a:tr>
              <a:tr h="804672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Цепочка не подписана: Secure Boot выключен</a:t>
                      </a:r>
                      <a:endParaRPr lang="en-US" sz="1600"/>
                    </a:p>
                  </a:txBody>
                  <a:tcPr marL="0" marR="137160"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12700" algn="ctr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Подписать iPXE и UKI, а образы — отдельным ключом</a:t>
                      </a:r>
                      <a:endParaRPr lang="en-US" sz="1600"/>
                    </a:p>
                  </a:txBody>
                  <a:tcPr marL="0" marR="137160"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12700" algn="ctr">
                      <a:solidFill>
                        <a:srgbClr val="D0D7DE"/>
                      </a:solidFill>
                    </a:lnB>
                  </a:tcPr>
                </a:tc>
              </a:tr>
              <a:tr h="804672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Нет удалённого питания: зависание в меню прошивки не поднять</a:t>
                      </a:r>
                      <a:endParaRPr lang="en-US" sz="1600"/>
                    </a:p>
                  </a:txBody>
                  <a:tcPr marL="0" marR="137160"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12700" algn="ctr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IP-KVM или умная розетка и «включаться при подаче питания»</a:t>
                      </a:r>
                      <a:endParaRPr lang="en-US" sz="1600"/>
                    </a:p>
                  </a:txBody>
                  <a:tcPr marL="0" marR="137160"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12700" algn="ctr">
                      <a:solidFill>
                        <a:srgbClr val="D0D7DE"/>
                      </a:solidFill>
                    </a:lnB>
                  </a:tcPr>
                </a:tc>
              </a:tr>
              <a:tr h="804672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4 полных прогона — ещё не статистика</a:t>
                      </a:r>
                      <a:endParaRPr lang="en-US" sz="1600"/>
                    </a:p>
                  </a:txBody>
                  <a:tcPr marL="0" marR="137160"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12700" algn="ctr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Серия из 10+ прогонов: extra/results/run-series.sh</a:t>
                      </a:r>
                      <a:endParaRPr lang="en-US" sz="1600"/>
                    </a:p>
                  </a:txBody>
                  <a:tcPr marL="0" marR="137160"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12700" algn="ctr">
                      <a:solidFill>
                        <a:srgbClr val="D0D7DE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28063703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0820095" y="6382512"/>
            <a:ext cx="73152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9636E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449990" name="Text 0"/>
          <p:cNvSpPr/>
          <p:nvPr>
            <p:ph type="title" idx="100" hasCustomPrompt="1"/>
          </p:nvPr>
        </p:nvSpPr>
        <p:spPr bwMode="auto">
          <a:xfrm>
            <a:off x="640080" y="4114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800" b="1">
                <a:solidFill>
                  <a:schemeClr val="tx1"/>
                </a:solidFill>
              </a:rPr>
              <a:t>Итоги</a:t>
            </a:r>
            <a:endParaRPr lang="en-US" sz="2800"/>
          </a:p>
        </p:txBody>
      </p:sp>
      <p:sp>
        <p:nvSpPr>
          <p:cNvPr id="179526473" name="Text 1"/>
          <p:cNvSpPr txBox="1"/>
          <p:nvPr/>
        </p:nvSpPr>
        <p:spPr bwMode="auto">
          <a:xfrm>
            <a:off x="640080" y="13898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3600" b="1">
                <a:solidFill>
                  <a:schemeClr val="accent1"/>
                </a:solidFill>
              </a:rPr>
              <a:t>1</a:t>
            </a:r>
            <a:endParaRPr lang="en-US" sz="3600"/>
          </a:p>
        </p:txBody>
      </p:sp>
      <p:sp>
        <p:nvSpPr>
          <p:cNvPr id="1298133542" name="Text 2"/>
          <p:cNvSpPr txBox="1"/>
          <p:nvPr/>
        </p:nvSpPr>
        <p:spPr bwMode="auto">
          <a:xfrm>
            <a:off x="1325880" y="14630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2100" b="1">
                <a:solidFill>
                  <a:schemeClr val="tx1"/>
                </a:solidFill>
              </a:rPr>
              <a:t>Работает</a:t>
            </a:r>
            <a:endParaRPr lang="en-US" sz="2100"/>
          </a:p>
        </p:txBody>
      </p:sp>
      <p:sp>
        <p:nvSpPr>
          <p:cNvPr id="2005393244" name="Text 3"/>
          <p:cNvSpPr txBox="1"/>
          <p:nvPr/>
        </p:nvSpPr>
        <p:spPr bwMode="auto">
          <a:xfrm>
            <a:off x="1325880" y="192024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550">
                <a:solidFill>
                  <a:schemeClr val="accent4"/>
                </a:solidFill>
              </a:rPr>
              <a:t>Ноутбук без BMC сам поднимает стёртую систему через интернет: UEFI → systemd-boot → iPXE по HTTPS → Linux в памяти → проверка и запись</a:t>
            </a:r>
            <a:endParaRPr lang="en-US" sz="1550"/>
          </a:p>
        </p:txBody>
      </p:sp>
      <p:sp>
        <p:nvSpPr>
          <p:cNvPr id="736611406" name="Text 4"/>
          <p:cNvSpPr txBox="1"/>
          <p:nvPr/>
        </p:nvSpPr>
        <p:spPr bwMode="auto">
          <a:xfrm>
            <a:off x="640080" y="2670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3600" b="1">
                <a:solidFill>
                  <a:schemeClr val="accent1"/>
                </a:solidFill>
              </a:rPr>
              <a:t>2</a:t>
            </a:r>
            <a:endParaRPr lang="en-US" sz="3600"/>
          </a:p>
        </p:txBody>
      </p:sp>
      <p:sp>
        <p:nvSpPr>
          <p:cNvPr id="93288677" name="Text 5"/>
          <p:cNvSpPr txBox="1"/>
          <p:nvPr/>
        </p:nvSpPr>
        <p:spPr bwMode="auto">
          <a:xfrm>
            <a:off x="1325880" y="27432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2100" b="1">
                <a:solidFill>
                  <a:schemeClr val="tx1"/>
                </a:solidFill>
              </a:rPr>
              <a:t>Около 165 с простоя, разброс меньше 2 с</a:t>
            </a:r>
            <a:endParaRPr lang="en-US" sz="2100"/>
          </a:p>
        </p:txBody>
      </p:sp>
      <p:sp>
        <p:nvSpPr>
          <p:cNvPr id="1530009298" name="Text 6"/>
          <p:cNvSpPr txBox="1"/>
          <p:nvPr/>
        </p:nvSpPr>
        <p:spPr bwMode="auto">
          <a:xfrm>
            <a:off x="1325880" y="32004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550">
                <a:solidFill>
                  <a:schemeClr val="accent4"/>
                </a:solidFill>
              </a:rPr>
              <a:t>57 % — две загрузки машины, 34 % — скачивание, 8 % — проверка и запись</a:t>
            </a:r>
            <a:endParaRPr lang="en-US" sz="1550"/>
          </a:p>
        </p:txBody>
      </p:sp>
      <p:sp>
        <p:nvSpPr>
          <p:cNvPr id="1241952175" name="Text 7"/>
          <p:cNvSpPr txBox="1"/>
          <p:nvPr/>
        </p:nvSpPr>
        <p:spPr bwMode="auto">
          <a:xfrm>
            <a:off x="640080" y="3950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3600" b="1">
                <a:solidFill>
                  <a:schemeClr val="accent1"/>
                </a:solidFill>
              </a:rPr>
              <a:t>3</a:t>
            </a:r>
            <a:endParaRPr lang="en-US" sz="3600"/>
          </a:p>
        </p:txBody>
      </p:sp>
      <p:sp>
        <p:nvSpPr>
          <p:cNvPr id="1356197547" name="Text 8"/>
          <p:cNvSpPr txBox="1"/>
          <p:nvPr/>
        </p:nvSpPr>
        <p:spPr bwMode="auto">
          <a:xfrm>
            <a:off x="1325880" y="40233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2100" b="1">
                <a:solidFill>
                  <a:schemeClr val="tx1"/>
                </a:solidFill>
              </a:rPr>
              <a:t>Безопасно и измеримо</a:t>
            </a:r>
            <a:endParaRPr lang="en-US" sz="2100"/>
          </a:p>
        </p:txBody>
      </p:sp>
      <p:sp>
        <p:nvSpPr>
          <p:cNvPr id="524078782" name="Text 9"/>
          <p:cNvSpPr txBox="1"/>
          <p:nvPr/>
        </p:nvSpPr>
        <p:spPr bwMode="auto">
          <a:xfrm>
            <a:off x="1325880" y="448056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550">
                <a:solidFill>
                  <a:schemeClr val="accent4"/>
                </a:solidFill>
              </a:rPr>
              <a:t>HTTPS с проверкой сервера, SHA-256, секреты в TPM; простой меряет внешний сервер</a:t>
            </a:r>
            <a:endParaRPr lang="en-US" sz="1550"/>
          </a:p>
        </p:txBody>
      </p:sp>
      <p:sp>
        <p:nvSpPr>
          <p:cNvPr id="791294090" name="Shape 10"/>
          <p:cNvSpPr/>
          <p:nvPr/>
        </p:nvSpPr>
        <p:spPr bwMode="auto">
          <a:xfrm>
            <a:off x="640080" y="5394960"/>
            <a:ext cx="10911535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284113102" name="Text 11"/>
          <p:cNvSpPr txBox="1"/>
          <p:nvPr/>
        </p:nvSpPr>
        <p:spPr bwMode="auto">
          <a:xfrm>
            <a:off x="640080" y="553212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2000" b="1">
                <a:solidFill>
                  <a:schemeClr val="tx1"/>
                </a:solidFill>
              </a:rPr>
              <a:t>Путь самый длинный, зато работает на обычном ноутбуке в чужой сети.</a:t>
            </a:r>
            <a:endParaRPr lang="en-US" sz="2000"/>
          </a:p>
        </p:txBody>
      </p:sp>
      <p:sp>
        <p:nvSpPr>
          <p:cNvPr id="952869613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0820095" y="6382512"/>
            <a:ext cx="73152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9636E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9821501" name="Text 0"/>
          <p:cNvSpPr/>
          <p:nvPr>
            <p:ph type="title" idx="100" hasCustomPrompt="1"/>
          </p:nvPr>
        </p:nvSpPr>
        <p:spPr bwMode="auto">
          <a:xfrm>
            <a:off x="640080" y="4114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800" b="1">
                <a:solidFill>
                  <a:schemeClr val="tx1"/>
                </a:solidFill>
              </a:rPr>
              <a:t>Спасибо! Вопросы?</a:t>
            </a:r>
            <a:endParaRPr lang="en-US" sz="2800"/>
          </a:p>
        </p:txBody>
      </p:sp>
      <p:pic>
        <p:nvPicPr>
          <p:cNvPr id="562311975" name="Image 0" descr="QR-код: github.com/Irenid/OSreboot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77240" y="1600200"/>
            <a:ext cx="1828800" cy="1828800"/>
          </a:xfrm>
          <a:prstGeom prst="rect">
            <a:avLst/>
          </a:prstGeom>
        </p:spPr>
      </p:pic>
      <p:sp>
        <p:nvSpPr>
          <p:cNvPr id="2066450027" name="Text 1"/>
          <p:cNvSpPr txBox="1"/>
          <p:nvPr/>
        </p:nvSpPr>
        <p:spPr bwMode="auto">
          <a:xfrm>
            <a:off x="548640" y="36118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chemeClr val="tx1"/>
                </a:solidFill>
              </a:rPr>
              <a:t>Репозиторий</a:t>
            </a:r>
            <a:endParaRPr lang="en-US" sz="1600"/>
          </a:p>
        </p:txBody>
      </p:sp>
      <p:sp>
        <p:nvSpPr>
          <p:cNvPr id="2066662270" name="Text 2"/>
          <p:cNvSpPr txBox="1"/>
          <p:nvPr/>
        </p:nvSpPr>
        <p:spPr bwMode="auto">
          <a:xfrm>
            <a:off x="548640" y="39776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chemeClr val="accent4"/>
                </a:solidFill>
              </a:rPr>
              <a:t>github.com/Irenid/OSreboot</a:t>
            </a:r>
            <a:endParaRPr lang="en-US" sz="1200"/>
          </a:p>
        </p:txBody>
      </p:sp>
      <p:pic>
        <p:nvPicPr>
          <p:cNvPr id="1801411561" name="Image 1" descr="QR-код: osreboot.epsti.site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3108960" y="1600200"/>
            <a:ext cx="1828800" cy="1828800"/>
          </a:xfrm>
          <a:prstGeom prst="rect">
            <a:avLst/>
          </a:prstGeom>
        </p:spPr>
      </p:pic>
      <p:sp>
        <p:nvSpPr>
          <p:cNvPr id="722489716" name="Text 3"/>
          <p:cNvSpPr txBox="1"/>
          <p:nvPr/>
        </p:nvSpPr>
        <p:spPr bwMode="auto">
          <a:xfrm>
            <a:off x="2880360" y="36118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chemeClr val="tx1"/>
                </a:solidFill>
              </a:rPr>
              <a:t>Страница состояния</a:t>
            </a:r>
            <a:endParaRPr lang="en-US" sz="1600"/>
          </a:p>
        </p:txBody>
      </p:sp>
      <p:sp>
        <p:nvSpPr>
          <p:cNvPr id="1936356835" name="Text 4"/>
          <p:cNvSpPr txBox="1"/>
          <p:nvPr/>
        </p:nvSpPr>
        <p:spPr bwMode="auto">
          <a:xfrm>
            <a:off x="2880360" y="39776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chemeClr val="accent4"/>
                </a:solidFill>
              </a:rPr>
              <a:t>osreboot.epsti.site</a:t>
            </a:r>
            <a:endParaRPr lang="en-US" sz="1200"/>
          </a:p>
        </p:txBody>
      </p:sp>
      <p:pic>
        <p:nvPicPr>
          <p:cNvPr id="1148634718" name="Image 2" descr="QR-код: paper.epsti.site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5440680" y="1600200"/>
            <a:ext cx="1828800" cy="1828800"/>
          </a:xfrm>
          <a:prstGeom prst="rect">
            <a:avLst/>
          </a:prstGeom>
        </p:spPr>
      </p:pic>
      <p:sp>
        <p:nvSpPr>
          <p:cNvPr id="247916999" name="Text 5"/>
          <p:cNvSpPr txBox="1"/>
          <p:nvPr/>
        </p:nvSpPr>
        <p:spPr bwMode="auto">
          <a:xfrm>
            <a:off x="5212080" y="36118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chemeClr val="tx1"/>
                </a:solidFill>
              </a:rPr>
              <a:t>Статья</a:t>
            </a:r>
            <a:endParaRPr lang="en-US" sz="1600"/>
          </a:p>
        </p:txBody>
      </p:sp>
      <p:sp>
        <p:nvSpPr>
          <p:cNvPr id="1285275874" name="Text 6"/>
          <p:cNvSpPr txBox="1"/>
          <p:nvPr/>
        </p:nvSpPr>
        <p:spPr bwMode="auto">
          <a:xfrm>
            <a:off x="5212080" y="39776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chemeClr val="accent4"/>
                </a:solidFill>
              </a:rPr>
              <a:t>paper.epsti.site</a:t>
            </a:r>
            <a:endParaRPr lang="en-US" sz="1200"/>
          </a:p>
        </p:txBody>
      </p:sp>
      <p:sp>
        <p:nvSpPr>
          <p:cNvPr id="85437644" name="Text 7"/>
          <p:cNvSpPr txBox="1"/>
          <p:nvPr/>
        </p:nvSpPr>
        <p:spPr bwMode="auto">
          <a:xfrm>
            <a:off x="8001000" y="1554480"/>
            <a:ext cx="3550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600" b="1">
                <a:solidFill>
                  <a:schemeClr val="accent4"/>
                </a:solidFill>
              </a:rPr>
              <a:t>Запасные слайды</a:t>
            </a:r>
            <a:endParaRPr lang="en-US" sz="1600"/>
          </a:p>
        </p:txBody>
      </p:sp>
      <p:sp>
        <p:nvSpPr>
          <p:cNvPr id="1748170377" name="Text 8"/>
          <p:cNvSpPr txBox="1"/>
          <p:nvPr/>
        </p:nvSpPr>
        <p:spPr bwMode="auto">
          <a:xfrm>
            <a:off x="8001000" y="2057400"/>
            <a:ext cx="35506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u="sng">
                <a:solidFill>
                  <a:schemeClr val="accent1"/>
                </a:solidFill>
                <a:hlinkClick r:id="rId6" action="ppaction://hlinksldjump" tooltip="Что внутри файлов .efi"/>
              </a:rPr>
              <a:t>Что внутри файлов .efi →</a:t>
            </a:r>
            <a:endParaRPr lang="en-US" sz="1600"/>
          </a:p>
        </p:txBody>
      </p:sp>
      <p:sp>
        <p:nvSpPr>
          <p:cNvPr id="1393802827" name="Text 9"/>
          <p:cNvSpPr txBox="1"/>
          <p:nvPr/>
        </p:nvSpPr>
        <p:spPr bwMode="auto">
          <a:xfrm>
            <a:off x="8001000" y="2560320"/>
            <a:ext cx="35506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u="sng">
                <a:solidFill>
                  <a:schemeClr val="accent1"/>
                </a:solidFill>
                <a:hlinkClick r:id="rId7" action="ppaction://hlinksldjump" tooltip="Как сервер замечает перезагрузку"/>
              </a:rPr>
              <a:t>Как сервер замечает перезагрузку →</a:t>
            </a:r>
            <a:endParaRPr lang="en-US" sz="1600"/>
          </a:p>
        </p:txBody>
      </p:sp>
      <p:sp>
        <p:nvSpPr>
          <p:cNvPr id="384846564" name="Text 10"/>
          <p:cNvSpPr txBox="1"/>
          <p:nvPr/>
        </p:nvSpPr>
        <p:spPr bwMode="auto">
          <a:xfrm>
            <a:off x="8001000" y="3063240"/>
            <a:ext cx="35506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u="sng">
                <a:solidFill>
                  <a:schemeClr val="accent1"/>
                </a:solidFill>
                <a:hlinkClick r:id="rId8" action="ppaction://hlinksldjump" tooltip="Как хранится токен ноутбука"/>
              </a:rPr>
              <a:t>Как хранится токен ноутбука →</a:t>
            </a:r>
            <a:endParaRPr lang="en-US" sz="1600"/>
          </a:p>
        </p:txBody>
      </p:sp>
      <p:sp>
        <p:nvSpPr>
          <p:cNvPr id="291813591" name="Text 11"/>
          <p:cNvSpPr txBox="1"/>
          <p:nvPr/>
        </p:nvSpPr>
        <p:spPr bwMode="auto">
          <a:xfrm>
            <a:off x="8001000" y="3566160"/>
            <a:ext cx="35506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u="sng">
                <a:solidFill>
                  <a:schemeClr val="accent1"/>
                </a:solidFill>
                <a:hlinkClick r:id="rId9" action="ppaction://hlinksldjump" tooltip="Все прогоны: таблица"/>
              </a:rPr>
              <a:t>Все прогоны: таблица →</a:t>
            </a:r>
            <a:endParaRPr lang="en-US" sz="1600"/>
          </a:p>
        </p:txBody>
      </p:sp>
      <p:sp>
        <p:nvSpPr>
          <p:cNvPr id="1661802283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0820095" y="6382512"/>
            <a:ext cx="73152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9636E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7142604" name="Text 1"/>
          <p:cNvSpPr/>
          <p:nvPr>
            <p:ph type="title" idx="101" hasCustomPrompt="1"/>
          </p:nvPr>
        </p:nvSpPr>
        <p:spPr bwMode="auto">
          <a:xfrm>
            <a:off x="640080" y="411480"/>
            <a:ext cx="8899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800" b="1">
                <a:solidFill>
                  <a:schemeClr val="tx1"/>
                </a:solidFill>
              </a:rPr>
              <a:t>Что внутри файлов .efi</a:t>
            </a:r>
            <a:endParaRPr lang="en-US" sz="2800"/>
          </a:p>
        </p:txBody>
      </p:sp>
      <p:sp>
        <p:nvSpPr>
          <p:cNvPr id="1236461105" name="Text 1"/>
          <p:cNvSpPr txBox="1"/>
          <p:nvPr/>
        </p:nvSpPr>
        <p:spPr bwMode="auto">
          <a:xfrm>
            <a:off x="9722815" y="457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400" u="sng">
                <a:solidFill>
                  <a:schemeClr val="accent1"/>
                </a:solidFill>
                <a:hlinkClick r:id="rId3" action="ppaction://hlinksldjump" tooltip="К слайду с вопросами"/>
              </a:rPr>
              <a:t>← к вопросам</a:t>
            </a:r>
            <a:endParaRPr lang="en-US" sz="1400"/>
          </a:p>
        </p:txBody>
      </p:sp>
      <p:sp>
        <p:nvSpPr>
          <p:cNvPr id="597079430" name="Shape 2"/>
          <p:cNvSpPr/>
          <p:nvPr/>
        </p:nvSpPr>
        <p:spPr bwMode="auto">
          <a:xfrm>
            <a:off x="640080" y="1325880"/>
            <a:ext cx="5250028" cy="1719072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53390983" name="Text 3"/>
          <p:cNvSpPr txBox="1"/>
          <p:nvPr/>
        </p:nvSpPr>
        <p:spPr bwMode="auto">
          <a:xfrm>
            <a:off x="868680" y="1417320"/>
            <a:ext cx="49757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$ objdump -h 2-ipxe/out/ipxe.efi</a:t>
            </a:r>
            <a:endParaRPr lang="en-US" sz="1100"/>
          </a:p>
        </p:txBody>
      </p:sp>
      <p:sp>
        <p:nvSpPr>
          <p:cNvPr id="321054992" name="Text 4"/>
          <p:cNvSpPr txBox="1"/>
          <p:nvPr/>
        </p:nvSpPr>
        <p:spPr bwMode="auto">
          <a:xfrm>
            <a:off x="868680" y="1673352"/>
            <a:ext cx="49757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Idx Name          Size</a:t>
            </a:r>
            <a:endParaRPr lang="en-US" sz="1100"/>
          </a:p>
        </p:txBody>
      </p:sp>
      <p:sp>
        <p:nvSpPr>
          <p:cNvPr id="322706674" name="Text 5"/>
          <p:cNvSpPr txBox="1"/>
          <p:nvPr/>
        </p:nvSpPr>
        <p:spPr bwMode="auto">
          <a:xfrm>
            <a:off x="868680" y="1929384"/>
            <a:ext cx="49757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  0 .text         000c0c2e</a:t>
            </a:r>
            <a:endParaRPr lang="en-US" sz="1100"/>
          </a:p>
        </p:txBody>
      </p:sp>
      <p:sp>
        <p:nvSpPr>
          <p:cNvPr id="231688107" name="Text 6"/>
          <p:cNvSpPr txBox="1"/>
          <p:nvPr/>
        </p:nvSpPr>
        <p:spPr bwMode="auto">
          <a:xfrm>
            <a:off x="868680" y="2185416"/>
            <a:ext cx="49757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  1 .rodata       0002e9dc</a:t>
            </a:r>
            <a:endParaRPr lang="en-US" sz="1100"/>
          </a:p>
        </p:txBody>
      </p:sp>
      <p:sp>
        <p:nvSpPr>
          <p:cNvPr id="2130937100" name="Text 7"/>
          <p:cNvSpPr txBox="1"/>
          <p:nvPr/>
        </p:nvSpPr>
        <p:spPr bwMode="auto">
          <a:xfrm>
            <a:off x="868680" y="2441448"/>
            <a:ext cx="49757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  2 .data         0002b338</a:t>
            </a:r>
            <a:endParaRPr lang="en-US" sz="1100"/>
          </a:p>
        </p:txBody>
      </p:sp>
      <p:sp>
        <p:nvSpPr>
          <p:cNvPr id="1780133288" name="Text 8"/>
          <p:cNvSpPr txBox="1"/>
          <p:nvPr/>
        </p:nvSpPr>
        <p:spPr bwMode="auto">
          <a:xfrm>
            <a:off x="868680" y="2697480"/>
            <a:ext cx="49757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  3 .bss          00408600</a:t>
            </a:r>
            <a:endParaRPr lang="en-US" sz="1100"/>
          </a:p>
        </p:txBody>
      </p:sp>
      <p:sp>
        <p:nvSpPr>
          <p:cNvPr id="814715842" name="Text 9"/>
          <p:cNvSpPr txBox="1"/>
          <p:nvPr/>
        </p:nvSpPr>
        <p:spPr bwMode="auto">
          <a:xfrm>
            <a:off x="640080" y="3154680"/>
            <a:ext cx="52500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tx1"/>
                </a:solidFill>
              </a:rPr>
              <a:t>ipxe.efi, 1,1 MiB: своя программа, не Linux</a:t>
            </a:r>
            <a:endParaRPr lang="en-US" sz="1500"/>
          </a:p>
        </p:txBody>
      </p:sp>
      <p:sp>
        <p:nvSpPr>
          <p:cNvPr id="432491720" name="Text 10"/>
          <p:cNvSpPr txBox="1"/>
          <p:nvPr/>
        </p:nvSpPr>
        <p:spPr bwMode="auto">
          <a:xfrm>
            <a:off x="640080" y="35844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.text</a:t>
            </a:r>
            <a:endParaRPr lang="en-US" sz="1300"/>
          </a:p>
        </p:txBody>
      </p:sp>
      <p:sp>
        <p:nvSpPr>
          <p:cNvPr id="1147349760" name="Text 11"/>
          <p:cNvSpPr txBox="1"/>
          <p:nvPr/>
        </p:nvSpPr>
        <p:spPr bwMode="auto">
          <a:xfrm>
            <a:off x="640080" y="38404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00">
                <a:solidFill>
                  <a:schemeClr val="accent4"/>
                </a:solidFill>
              </a:rPr>
              <a:t>0,75 MiB</a:t>
            </a:r>
            <a:endParaRPr lang="en-US" sz="1200"/>
          </a:p>
        </p:txBody>
      </p:sp>
      <p:sp>
        <p:nvSpPr>
          <p:cNvPr id="440168833" name="Text 12"/>
          <p:cNvSpPr txBox="1"/>
          <p:nvPr/>
        </p:nvSpPr>
        <p:spPr bwMode="auto">
          <a:xfrm>
            <a:off x="1828800" y="3584448"/>
            <a:ext cx="40613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tx1"/>
                </a:solidFill>
              </a:rPr>
              <a:t>код iPXE: драйверы сетевых карт, TCP/IP, DHCP, DNS, TLS, HTTP</a:t>
            </a:r>
            <a:endParaRPr lang="en-US" sz="1300"/>
          </a:p>
        </p:txBody>
      </p:sp>
      <p:sp>
        <p:nvSpPr>
          <p:cNvPr id="1216563098" name="Text 13"/>
          <p:cNvSpPr txBox="1"/>
          <p:nvPr/>
        </p:nvSpPr>
        <p:spPr bwMode="auto">
          <a:xfrm>
            <a:off x="640080" y="41330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.rodata</a:t>
            </a:r>
            <a:endParaRPr lang="en-US" sz="1300"/>
          </a:p>
        </p:txBody>
      </p:sp>
      <p:sp>
        <p:nvSpPr>
          <p:cNvPr id="283614948" name="Text 14"/>
          <p:cNvSpPr txBox="1"/>
          <p:nvPr/>
        </p:nvSpPr>
        <p:spPr bwMode="auto">
          <a:xfrm>
            <a:off x="640080" y="43891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00">
                <a:solidFill>
                  <a:schemeClr val="accent4"/>
                </a:solidFill>
              </a:rPr>
              <a:t>0,18 MiB</a:t>
            </a:r>
            <a:endParaRPr lang="en-US" sz="1200"/>
          </a:p>
        </p:txBody>
      </p:sp>
      <p:sp>
        <p:nvSpPr>
          <p:cNvPr id="663015569" name="Text 15"/>
          <p:cNvSpPr txBox="1"/>
          <p:nvPr/>
        </p:nvSpPr>
        <p:spPr bwMode="auto">
          <a:xfrm>
            <a:off x="1828800" y="4133088"/>
            <a:ext cx="40613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tx1"/>
                </a:solidFill>
              </a:rPr>
              <a:t>данные, в том числе вшитые корни ISRG X1 и X2</a:t>
            </a:r>
            <a:endParaRPr lang="en-US" sz="1300"/>
          </a:p>
        </p:txBody>
      </p:sp>
      <p:sp>
        <p:nvSpPr>
          <p:cNvPr id="1039997105" name="Text 16"/>
          <p:cNvSpPr txBox="1"/>
          <p:nvPr/>
        </p:nvSpPr>
        <p:spPr bwMode="auto">
          <a:xfrm>
            <a:off x="640080" y="46817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.data</a:t>
            </a:r>
            <a:endParaRPr lang="en-US" sz="1300"/>
          </a:p>
        </p:txBody>
      </p:sp>
      <p:sp>
        <p:nvSpPr>
          <p:cNvPr id="79357745" name="Text 17"/>
          <p:cNvSpPr txBox="1"/>
          <p:nvPr/>
        </p:nvSpPr>
        <p:spPr bwMode="auto">
          <a:xfrm>
            <a:off x="640080" y="493776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00">
                <a:solidFill>
                  <a:schemeClr val="accent4"/>
                </a:solidFill>
              </a:rPr>
              <a:t>0,17 MiB</a:t>
            </a:r>
            <a:endParaRPr lang="en-US" sz="1200"/>
          </a:p>
        </p:txBody>
      </p:sp>
      <p:sp>
        <p:nvSpPr>
          <p:cNvPr id="181860968" name="Text 18"/>
          <p:cNvSpPr txBox="1"/>
          <p:nvPr/>
        </p:nvSpPr>
        <p:spPr bwMode="auto">
          <a:xfrm>
            <a:off x="1828800" y="4681728"/>
            <a:ext cx="40613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tx1"/>
                </a:solidFill>
              </a:rPr>
              <a:t>данные, в том числе вшитый сценарий osreboot.ipxe</a:t>
            </a:r>
            <a:endParaRPr lang="en-US" sz="1300"/>
          </a:p>
        </p:txBody>
      </p:sp>
      <p:sp>
        <p:nvSpPr>
          <p:cNvPr id="1312494535" name="Text 19"/>
          <p:cNvSpPr txBox="1"/>
          <p:nvPr/>
        </p:nvSpPr>
        <p:spPr bwMode="auto">
          <a:xfrm>
            <a:off x="640080" y="52303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.bss</a:t>
            </a:r>
            <a:endParaRPr lang="en-US" sz="1300"/>
          </a:p>
        </p:txBody>
      </p:sp>
      <p:sp>
        <p:nvSpPr>
          <p:cNvPr id="1168223596" name="Text 20"/>
          <p:cNvSpPr txBox="1"/>
          <p:nvPr/>
        </p:nvSpPr>
        <p:spPr bwMode="auto">
          <a:xfrm>
            <a:off x="640080" y="548640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00">
                <a:solidFill>
                  <a:schemeClr val="accent4"/>
                </a:solidFill>
              </a:rPr>
              <a:t>4 MiB</a:t>
            </a:r>
            <a:endParaRPr lang="en-US" sz="1200"/>
          </a:p>
        </p:txBody>
      </p:sp>
      <p:sp>
        <p:nvSpPr>
          <p:cNvPr id="1873599089" name="Text 21"/>
          <p:cNvSpPr txBox="1"/>
          <p:nvPr/>
        </p:nvSpPr>
        <p:spPr bwMode="auto">
          <a:xfrm>
            <a:off x="1828800" y="5230368"/>
            <a:ext cx="40613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tx1"/>
                </a:solidFill>
              </a:rPr>
              <a:t>место под переменные; в файле не хранится</a:t>
            </a:r>
            <a:endParaRPr lang="en-US" sz="1300"/>
          </a:p>
        </p:txBody>
      </p:sp>
      <p:sp>
        <p:nvSpPr>
          <p:cNvPr id="974579848" name="Shape 22"/>
          <p:cNvSpPr/>
          <p:nvPr/>
        </p:nvSpPr>
        <p:spPr bwMode="auto">
          <a:xfrm>
            <a:off x="6301588" y="1325880"/>
            <a:ext cx="5250028" cy="1719072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27528444" name="Text 23"/>
          <p:cNvSpPr txBox="1"/>
          <p:nvPr/>
        </p:nvSpPr>
        <p:spPr bwMode="auto">
          <a:xfrm>
            <a:off x="6530188" y="1417320"/>
            <a:ext cx="49757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$ objdump -h 3-recovery/mkosi.output/osreboot-recovery.efi</a:t>
            </a:r>
            <a:endParaRPr lang="en-US" sz="1100"/>
          </a:p>
        </p:txBody>
      </p:sp>
      <p:sp>
        <p:nvSpPr>
          <p:cNvPr id="353387945" name="Text 24"/>
          <p:cNvSpPr txBox="1"/>
          <p:nvPr/>
        </p:nvSpPr>
        <p:spPr bwMode="auto">
          <a:xfrm>
            <a:off x="6530188" y="1673352"/>
            <a:ext cx="49757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Idx Name          Size</a:t>
            </a:r>
            <a:endParaRPr lang="en-US" sz="1100"/>
          </a:p>
        </p:txBody>
      </p:sp>
      <p:sp>
        <p:nvSpPr>
          <p:cNvPr id="1987434330" name="Text 25"/>
          <p:cNvSpPr txBox="1"/>
          <p:nvPr/>
        </p:nvSpPr>
        <p:spPr bwMode="auto">
          <a:xfrm>
            <a:off x="6530188" y="1929384"/>
            <a:ext cx="49757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  0 .text         00017b4e</a:t>
            </a:r>
            <a:endParaRPr lang="en-US" sz="1100"/>
          </a:p>
        </p:txBody>
      </p:sp>
      <p:sp>
        <p:nvSpPr>
          <p:cNvPr id="1589873763" name="Text 26"/>
          <p:cNvSpPr txBox="1"/>
          <p:nvPr/>
        </p:nvSpPr>
        <p:spPr bwMode="auto">
          <a:xfrm>
            <a:off x="6530188" y="2185416"/>
            <a:ext cx="49757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  7 .cmdline      00000016</a:t>
            </a:r>
            <a:endParaRPr lang="en-US" sz="1100"/>
          </a:p>
        </p:txBody>
      </p:sp>
      <p:sp>
        <p:nvSpPr>
          <p:cNvPr id="424184292" name="Text 27"/>
          <p:cNvSpPr txBox="1"/>
          <p:nvPr/>
        </p:nvSpPr>
        <p:spPr bwMode="auto">
          <a:xfrm>
            <a:off x="6530188" y="2441448"/>
            <a:ext cx="49757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  9 .linux        01072200</a:t>
            </a:r>
            <a:endParaRPr lang="en-US" sz="1100"/>
          </a:p>
        </p:txBody>
      </p:sp>
      <p:sp>
        <p:nvSpPr>
          <p:cNvPr id="846171541" name="Text 28"/>
          <p:cNvSpPr txBox="1"/>
          <p:nvPr/>
        </p:nvSpPr>
        <p:spPr bwMode="auto">
          <a:xfrm>
            <a:off x="6530188" y="2697480"/>
            <a:ext cx="49757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 10 .initrd       073b5a4c</a:t>
            </a:r>
            <a:endParaRPr lang="en-US" sz="1100"/>
          </a:p>
        </p:txBody>
      </p:sp>
      <p:sp>
        <p:nvSpPr>
          <p:cNvPr id="1423151735" name="Text 29"/>
          <p:cNvSpPr txBox="1"/>
          <p:nvPr/>
        </p:nvSpPr>
        <p:spPr bwMode="auto">
          <a:xfrm>
            <a:off x="6301588" y="3154680"/>
            <a:ext cx="52500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tx1"/>
                </a:solidFill>
              </a:rPr>
              <a:t>osreboot-recovery.efi, 132 MiB: Linux целиком (UKI)</a:t>
            </a:r>
            <a:endParaRPr lang="en-US" sz="1500"/>
          </a:p>
        </p:txBody>
      </p:sp>
      <p:sp>
        <p:nvSpPr>
          <p:cNvPr id="169932104" name="Text 30"/>
          <p:cNvSpPr txBox="1"/>
          <p:nvPr/>
        </p:nvSpPr>
        <p:spPr bwMode="auto">
          <a:xfrm>
            <a:off x="6301588" y="35844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.text</a:t>
            </a:r>
            <a:endParaRPr lang="en-US" sz="1300"/>
          </a:p>
        </p:txBody>
      </p:sp>
      <p:sp>
        <p:nvSpPr>
          <p:cNvPr id="1316149115" name="Text 31"/>
          <p:cNvSpPr txBox="1"/>
          <p:nvPr/>
        </p:nvSpPr>
        <p:spPr bwMode="auto">
          <a:xfrm>
            <a:off x="6301588" y="38404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00">
                <a:solidFill>
                  <a:schemeClr val="accent4"/>
                </a:solidFill>
              </a:rPr>
              <a:t>0,1 MiB</a:t>
            </a:r>
            <a:endParaRPr lang="en-US" sz="1200"/>
          </a:p>
        </p:txBody>
      </p:sp>
      <p:sp>
        <p:nvSpPr>
          <p:cNvPr id="346818131" name="Text 32"/>
          <p:cNvSpPr txBox="1"/>
          <p:nvPr/>
        </p:nvSpPr>
        <p:spPr bwMode="auto">
          <a:xfrm>
            <a:off x="7490308" y="3584448"/>
            <a:ext cx="40613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tx1"/>
                </a:solidFill>
              </a:rPr>
              <a:t>systemd-stub: запускает ядро</a:t>
            </a:r>
            <a:endParaRPr lang="en-US" sz="1300"/>
          </a:p>
        </p:txBody>
      </p:sp>
      <p:sp>
        <p:nvSpPr>
          <p:cNvPr id="533075980" name="Text 33"/>
          <p:cNvSpPr txBox="1"/>
          <p:nvPr/>
        </p:nvSpPr>
        <p:spPr bwMode="auto">
          <a:xfrm>
            <a:off x="6301588" y="41330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.cmdline</a:t>
            </a:r>
            <a:endParaRPr lang="en-US" sz="1300"/>
          </a:p>
        </p:txBody>
      </p:sp>
      <p:sp>
        <p:nvSpPr>
          <p:cNvPr id="499413430" name="Text 34"/>
          <p:cNvSpPr txBox="1"/>
          <p:nvPr/>
        </p:nvSpPr>
        <p:spPr bwMode="auto">
          <a:xfrm>
            <a:off x="6301588" y="43891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00">
                <a:solidFill>
                  <a:schemeClr val="accent4"/>
                </a:solidFill>
              </a:rPr>
              <a:t>22 байта</a:t>
            </a:r>
            <a:endParaRPr lang="en-US" sz="1200"/>
          </a:p>
        </p:txBody>
      </p:sp>
      <p:sp>
        <p:nvSpPr>
          <p:cNvPr id="1518013999" name="Text 35"/>
          <p:cNvSpPr txBox="1"/>
          <p:nvPr/>
        </p:nvSpPr>
        <p:spPr bwMode="auto">
          <a:xfrm>
            <a:off x="7490308" y="4133088"/>
            <a:ext cx="40613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tx1"/>
                </a:solidFill>
              </a:rPr>
              <a:t>systemd.firstboot=off</a:t>
            </a:r>
            <a:endParaRPr lang="en-US" sz="1300"/>
          </a:p>
        </p:txBody>
      </p:sp>
      <p:sp>
        <p:nvSpPr>
          <p:cNvPr id="274132771" name="Text 36"/>
          <p:cNvSpPr txBox="1"/>
          <p:nvPr/>
        </p:nvSpPr>
        <p:spPr bwMode="auto">
          <a:xfrm>
            <a:off x="6301588" y="46817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.linux</a:t>
            </a:r>
            <a:endParaRPr lang="en-US" sz="1300"/>
          </a:p>
        </p:txBody>
      </p:sp>
      <p:sp>
        <p:nvSpPr>
          <p:cNvPr id="136287890" name="Text 37"/>
          <p:cNvSpPr txBox="1"/>
          <p:nvPr/>
        </p:nvSpPr>
        <p:spPr bwMode="auto">
          <a:xfrm>
            <a:off x="6301588" y="493776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00">
                <a:solidFill>
                  <a:schemeClr val="accent4"/>
                </a:solidFill>
              </a:rPr>
              <a:t>16,4 MiB</a:t>
            </a:r>
            <a:endParaRPr lang="en-US" sz="1200"/>
          </a:p>
        </p:txBody>
      </p:sp>
      <p:sp>
        <p:nvSpPr>
          <p:cNvPr id="975707563" name="Text 38"/>
          <p:cNvSpPr txBox="1"/>
          <p:nvPr/>
        </p:nvSpPr>
        <p:spPr bwMode="auto">
          <a:xfrm>
            <a:off x="7490308" y="4681728"/>
            <a:ext cx="40613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tx1"/>
                </a:solidFill>
              </a:rPr>
              <a:t>ядро Linux 7.2.11</a:t>
            </a:r>
            <a:endParaRPr lang="en-US" sz="1300"/>
          </a:p>
        </p:txBody>
      </p:sp>
      <p:sp>
        <p:nvSpPr>
          <p:cNvPr id="1707828916" name="Text 39"/>
          <p:cNvSpPr txBox="1"/>
          <p:nvPr/>
        </p:nvSpPr>
        <p:spPr bwMode="auto">
          <a:xfrm>
            <a:off x="6301588" y="52303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.initrd</a:t>
            </a:r>
            <a:endParaRPr lang="en-US" sz="1300"/>
          </a:p>
        </p:txBody>
      </p:sp>
      <p:sp>
        <p:nvSpPr>
          <p:cNvPr id="231650741" name="Text 40"/>
          <p:cNvSpPr txBox="1"/>
          <p:nvPr/>
        </p:nvSpPr>
        <p:spPr bwMode="auto">
          <a:xfrm>
            <a:off x="6301588" y="548640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00">
                <a:solidFill>
                  <a:schemeClr val="accent4"/>
                </a:solidFill>
              </a:rPr>
              <a:t>115,7 MiB</a:t>
            </a:r>
            <a:endParaRPr lang="en-US" sz="1200"/>
          </a:p>
        </p:txBody>
      </p:sp>
      <p:sp>
        <p:nvSpPr>
          <p:cNvPr id="959511013" name="Text 41"/>
          <p:cNvSpPr txBox="1"/>
          <p:nvPr/>
        </p:nvSpPr>
        <p:spPr bwMode="auto">
          <a:xfrm>
            <a:off x="7490308" y="5230368"/>
            <a:ext cx="40613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tx1"/>
                </a:solidFill>
              </a:rPr>
              <a:t>вся система: 13 107 файлов — bash, curl, zstd, dd, osreboot-recovery</a:t>
            </a:r>
            <a:endParaRPr lang="en-US" sz="1300"/>
          </a:p>
        </p:txBody>
      </p:sp>
      <p:sp>
        <p:nvSpPr>
          <p:cNvPr id="144825695" name="Text 42"/>
          <p:cNvSpPr txBox="1"/>
          <p:nvPr/>
        </p:nvSpPr>
        <p:spPr bwMode="auto">
          <a:xfrm>
            <a:off x="640080" y="59436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00">
                <a:solidFill>
                  <a:schemeClr val="accent4"/>
                </a:solidFill>
              </a:rPr>
              <a:t>Размеры в выводе objdump шестнадцатеричные: 000c0c2e = 789 550 байт ≈ 0,75 MiB. Остальные столбцы и секции не показаны.</a:t>
            </a:r>
            <a:endParaRPr lang="en-US" sz="1200"/>
          </a:p>
        </p:txBody>
      </p:sp>
      <p:sp>
        <p:nvSpPr>
          <p:cNvPr id="1260653276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0820095" y="6382512"/>
            <a:ext cx="73152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9636E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6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8826195" name="Text 1"/>
          <p:cNvSpPr/>
          <p:nvPr>
            <p:ph type="title" idx="101" hasCustomPrompt="1"/>
          </p:nvPr>
        </p:nvSpPr>
        <p:spPr bwMode="auto">
          <a:xfrm>
            <a:off x="640080" y="411480"/>
            <a:ext cx="8899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800" b="1">
                <a:solidFill>
                  <a:schemeClr val="tx1"/>
                </a:solidFill>
              </a:rPr>
              <a:t>Как сервер замечает перезагрузку</a:t>
            </a:r>
            <a:endParaRPr lang="en-US" sz="2800"/>
          </a:p>
        </p:txBody>
      </p:sp>
      <p:sp>
        <p:nvSpPr>
          <p:cNvPr id="1081826600" name="Text 1"/>
          <p:cNvSpPr txBox="1"/>
          <p:nvPr/>
        </p:nvSpPr>
        <p:spPr bwMode="auto">
          <a:xfrm>
            <a:off x="9722815" y="457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400" u="sng">
                <a:solidFill>
                  <a:schemeClr val="accent1"/>
                </a:solidFill>
                <a:hlinkClick r:id="rId3" action="ppaction://hlinksldjump" tooltip="К слайду с вопросами"/>
              </a:rPr>
              <a:t>← к вопросам</a:t>
            </a:r>
            <a:endParaRPr lang="en-US" sz="1400"/>
          </a:p>
        </p:txBody>
      </p:sp>
      <p:sp>
        <p:nvSpPr>
          <p:cNvPr id="903945835" name="Shape 2"/>
          <p:cNvSpPr/>
          <p:nvPr/>
        </p:nvSpPr>
        <p:spPr bwMode="auto">
          <a:xfrm>
            <a:off x="640080" y="1325880"/>
            <a:ext cx="7406640" cy="4745736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53520368" name="Text 3"/>
          <p:cNvSpPr txBox="1"/>
          <p:nvPr/>
        </p:nvSpPr>
        <p:spPr bwMode="auto">
          <a:xfrm>
            <a:off x="822960" y="132588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server/src/monitor.ts</a:t>
            </a:r>
            <a:endParaRPr lang="en-US" sz="1100"/>
          </a:p>
        </p:txBody>
      </p:sp>
      <p:sp>
        <p:nvSpPr>
          <p:cNvPr id="322493725" name="Shape 4"/>
          <p:cNvSpPr/>
          <p:nvPr/>
        </p:nvSpPr>
        <p:spPr bwMode="auto">
          <a:xfrm>
            <a:off x="640080" y="1691640"/>
            <a:ext cx="7406640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255203719" name="Text 5"/>
          <p:cNvSpPr txBox="1"/>
          <p:nvPr/>
        </p:nvSpPr>
        <p:spPr bwMode="auto">
          <a:xfrm>
            <a:off x="1024128" y="1783080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79</a:t>
            </a:r>
            <a:endParaRPr lang="en-US" sz="900"/>
          </a:p>
        </p:txBody>
      </p:sp>
      <p:sp>
        <p:nvSpPr>
          <p:cNvPr id="990886202" name="Text 6"/>
          <p:cNvSpPr txBox="1"/>
          <p:nvPr/>
        </p:nvSpPr>
        <p:spPr bwMode="auto">
          <a:xfrm>
            <a:off x="1417320" y="1783080"/>
            <a:ext cx="6583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heartbeat(id: string, now: number, boot: string | null): void {</a:t>
            </a:r>
            <a:endParaRPr lang="en-US" sz="1050"/>
          </a:p>
        </p:txBody>
      </p:sp>
      <p:sp>
        <p:nvSpPr>
          <p:cNvPr id="1351830051" name="Text 7"/>
          <p:cNvSpPr txBox="1"/>
          <p:nvPr/>
        </p:nvSpPr>
        <p:spPr bwMode="auto">
          <a:xfrm>
            <a:off x="1024128" y="2029968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80</a:t>
            </a:r>
            <a:endParaRPr lang="en-US" sz="900"/>
          </a:p>
        </p:txBody>
      </p:sp>
      <p:sp>
        <p:nvSpPr>
          <p:cNvPr id="284843345" name="Text 8"/>
          <p:cNvSpPr txBox="1"/>
          <p:nvPr/>
        </p:nvSpPr>
        <p:spPr bwMode="auto">
          <a:xfrm>
            <a:off x="1417320" y="2029968"/>
            <a:ext cx="6583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  const device = this.#device(id);</a:t>
            </a:r>
            <a:endParaRPr lang="en-US" sz="1050"/>
          </a:p>
        </p:txBody>
      </p:sp>
      <p:sp>
        <p:nvSpPr>
          <p:cNvPr id="1487607442" name="Shape 9"/>
          <p:cNvSpPr/>
          <p:nvPr/>
        </p:nvSpPr>
        <p:spPr bwMode="auto">
          <a:xfrm>
            <a:off x="651053" y="2276856"/>
            <a:ext cx="7384694" cy="246888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631211627" name="Text 10"/>
          <p:cNvSpPr txBox="1"/>
          <p:nvPr/>
        </p:nvSpPr>
        <p:spPr bwMode="auto">
          <a:xfrm>
            <a:off x="745236" y="2286000"/>
            <a:ext cx="228600" cy="2286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chemeClr val="bg1"/>
                </a:solidFill>
              </a:rPr>
              <a:t>1</a:t>
            </a:r>
            <a:endParaRPr lang="en-US" sz="1050"/>
          </a:p>
        </p:txBody>
      </p:sp>
      <p:sp>
        <p:nvSpPr>
          <p:cNvPr id="1563447386" name="Text 11"/>
          <p:cNvSpPr txBox="1"/>
          <p:nvPr/>
        </p:nvSpPr>
        <p:spPr bwMode="auto">
          <a:xfrm>
            <a:off x="1024128" y="2276856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81</a:t>
            </a:r>
            <a:endParaRPr lang="en-US" sz="900"/>
          </a:p>
        </p:txBody>
      </p:sp>
      <p:sp>
        <p:nvSpPr>
          <p:cNvPr id="814993485" name="Text 12"/>
          <p:cNvSpPr txBox="1"/>
          <p:nvPr/>
        </p:nvSpPr>
        <p:spPr bwMode="auto">
          <a:xfrm>
            <a:off x="1417320" y="2276856"/>
            <a:ext cx="6583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  </a:t>
            </a:r>
            <a:r>
              <a:rPr lang="en-US" sz="1050">
                <a:solidFill>
                  <a:srgbClr val="6E7781"/>
                </a:solidFill>
                <a:latin typeface="JetBrainsMonoNL NF"/>
                <a:ea typeface="JetBrainsMonoNL NF"/>
                <a:cs typeface="JetBrainsMonoNL NF"/>
              </a:rPr>
              <a:t>// A new boot ID means the machine has restarted since its last heartbeat.</a:t>
            </a:r>
            <a:endParaRPr lang="en-US" sz="1050"/>
          </a:p>
        </p:txBody>
      </p:sp>
      <p:sp>
        <p:nvSpPr>
          <p:cNvPr id="1219452292" name="Shape 13"/>
          <p:cNvSpPr/>
          <p:nvPr/>
        </p:nvSpPr>
        <p:spPr bwMode="auto">
          <a:xfrm>
            <a:off x="651053" y="2523744"/>
            <a:ext cx="7384694" cy="246888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1464186493" name="Text 14"/>
          <p:cNvSpPr txBox="1"/>
          <p:nvPr/>
        </p:nvSpPr>
        <p:spPr bwMode="auto">
          <a:xfrm>
            <a:off x="1024128" y="2523744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82</a:t>
            </a:r>
            <a:endParaRPr lang="en-US" sz="900"/>
          </a:p>
        </p:txBody>
      </p:sp>
      <p:sp>
        <p:nvSpPr>
          <p:cNvPr id="954113488" name="Text 15"/>
          <p:cNvSpPr txBox="1"/>
          <p:nvPr/>
        </p:nvSpPr>
        <p:spPr bwMode="auto">
          <a:xfrm>
            <a:off x="1417320" y="2523744"/>
            <a:ext cx="6583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  const rebooted = boot !== null &amp;&amp; device.boot !== null &amp;&amp; boot !== device.boot;</a:t>
            </a:r>
            <a:endParaRPr lang="en-US" sz="1050"/>
          </a:p>
        </p:txBody>
      </p:sp>
      <p:sp>
        <p:nvSpPr>
          <p:cNvPr id="1648239539" name="Shape 16"/>
          <p:cNvSpPr/>
          <p:nvPr/>
        </p:nvSpPr>
        <p:spPr bwMode="auto">
          <a:xfrm>
            <a:off x="651053" y="2770632"/>
            <a:ext cx="7384694" cy="246888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1290768223" name="Text 17"/>
          <p:cNvSpPr txBox="1"/>
          <p:nvPr/>
        </p:nvSpPr>
        <p:spPr bwMode="auto">
          <a:xfrm>
            <a:off x="745236" y="2779776"/>
            <a:ext cx="228600" cy="2286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chemeClr val="bg1"/>
                </a:solidFill>
              </a:rPr>
              <a:t>2</a:t>
            </a:r>
            <a:endParaRPr lang="en-US" sz="1050"/>
          </a:p>
        </p:txBody>
      </p:sp>
      <p:sp>
        <p:nvSpPr>
          <p:cNvPr id="1941200793" name="Text 18"/>
          <p:cNvSpPr txBox="1"/>
          <p:nvPr/>
        </p:nvSpPr>
        <p:spPr bwMode="auto">
          <a:xfrm>
            <a:off x="1024128" y="2770632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83</a:t>
            </a:r>
            <a:endParaRPr lang="en-US" sz="900"/>
          </a:p>
        </p:txBody>
      </p:sp>
      <p:sp>
        <p:nvSpPr>
          <p:cNvPr id="2005966510" name="Text 19"/>
          <p:cNvSpPr txBox="1"/>
          <p:nvPr/>
        </p:nvSpPr>
        <p:spPr bwMode="auto">
          <a:xfrm>
            <a:off x="1417320" y="2770632"/>
            <a:ext cx="6583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  if (!device.outage &amp;&amp; rebooted &amp;&amp; device.lastSeen !== null) {</a:t>
            </a:r>
            <a:endParaRPr lang="en-US" sz="1050"/>
          </a:p>
        </p:txBody>
      </p:sp>
      <p:sp>
        <p:nvSpPr>
          <p:cNvPr id="166168048" name="Shape 20"/>
          <p:cNvSpPr/>
          <p:nvPr/>
        </p:nvSpPr>
        <p:spPr bwMode="auto">
          <a:xfrm>
            <a:off x="651053" y="3017519"/>
            <a:ext cx="7384694" cy="246888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993163528" name="Text 21"/>
          <p:cNvSpPr txBox="1"/>
          <p:nvPr/>
        </p:nvSpPr>
        <p:spPr bwMode="auto">
          <a:xfrm>
            <a:off x="1024128" y="3017519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84</a:t>
            </a:r>
            <a:endParaRPr lang="en-US" sz="900"/>
          </a:p>
        </p:txBody>
      </p:sp>
      <p:sp>
        <p:nvSpPr>
          <p:cNvPr id="163570416" name="Text 22"/>
          <p:cNvSpPr txBox="1"/>
          <p:nvPr/>
        </p:nvSpPr>
        <p:spPr bwMode="auto">
          <a:xfrm>
            <a:off x="1417320" y="3017519"/>
            <a:ext cx="6583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    </a:t>
            </a:r>
            <a:r>
              <a:rPr lang="en-US" sz="1050">
                <a:solidFill>
                  <a:srgbClr val="6E7781"/>
                </a:solidFill>
                <a:latin typeface="JetBrainsMonoNL NF"/>
                <a:ea typeface="JetBrainsMonoNL NF"/>
                <a:cs typeface="JetBrainsMonoNL NF"/>
              </a:rPr>
              <a:t>// Restarted faster than the timeout: no outage is open yet, but it was one.</a:t>
            </a:r>
            <a:endParaRPr lang="en-US" sz="1050"/>
          </a:p>
        </p:txBody>
      </p:sp>
      <p:sp>
        <p:nvSpPr>
          <p:cNvPr id="1842425469" name="Shape 23"/>
          <p:cNvSpPr/>
          <p:nvPr/>
        </p:nvSpPr>
        <p:spPr bwMode="auto">
          <a:xfrm>
            <a:off x="651053" y="3264408"/>
            <a:ext cx="7384694" cy="246888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1895147720" name="Text 24"/>
          <p:cNvSpPr txBox="1"/>
          <p:nvPr/>
        </p:nvSpPr>
        <p:spPr bwMode="auto">
          <a:xfrm>
            <a:off x="1024128" y="3264408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85</a:t>
            </a:r>
            <a:endParaRPr lang="en-US" sz="900"/>
          </a:p>
        </p:txBody>
      </p:sp>
      <p:sp>
        <p:nvSpPr>
          <p:cNvPr id="130023518" name="Text 25"/>
          <p:cNvSpPr txBox="1"/>
          <p:nvPr/>
        </p:nvSpPr>
        <p:spPr bwMode="auto">
          <a:xfrm>
            <a:off x="1417320" y="3264408"/>
            <a:ext cx="6583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    device.outage = openOutage(device.lastSeen);</a:t>
            </a:r>
            <a:endParaRPr lang="en-US" sz="1050"/>
          </a:p>
        </p:txBody>
      </p:sp>
      <p:sp>
        <p:nvSpPr>
          <p:cNvPr id="199655677" name="Shape 26"/>
          <p:cNvSpPr/>
          <p:nvPr/>
        </p:nvSpPr>
        <p:spPr bwMode="auto">
          <a:xfrm>
            <a:off x="651053" y="3511296"/>
            <a:ext cx="7384694" cy="246888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2027930945" name="Text 27"/>
          <p:cNvSpPr txBox="1"/>
          <p:nvPr/>
        </p:nvSpPr>
        <p:spPr bwMode="auto">
          <a:xfrm>
            <a:off x="1024128" y="3511296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86</a:t>
            </a:r>
            <a:endParaRPr lang="en-US" sz="900"/>
          </a:p>
        </p:txBody>
      </p:sp>
      <p:sp>
        <p:nvSpPr>
          <p:cNvPr id="727340431" name="Text 28"/>
          <p:cNvSpPr txBox="1"/>
          <p:nvPr/>
        </p:nvSpPr>
        <p:spPr bwMode="auto">
          <a:xfrm>
            <a:off x="1417320" y="3511296"/>
            <a:ext cx="6583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  }</a:t>
            </a:r>
            <a:endParaRPr lang="en-US" sz="1050"/>
          </a:p>
        </p:txBody>
      </p:sp>
      <p:sp>
        <p:nvSpPr>
          <p:cNvPr id="593401457" name="Shape 29"/>
          <p:cNvSpPr/>
          <p:nvPr/>
        </p:nvSpPr>
        <p:spPr bwMode="auto">
          <a:xfrm>
            <a:off x="651053" y="3758184"/>
            <a:ext cx="7384694" cy="246888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303615152" name="Text 30"/>
          <p:cNvSpPr txBox="1"/>
          <p:nvPr/>
        </p:nvSpPr>
        <p:spPr bwMode="auto">
          <a:xfrm>
            <a:off x="745236" y="3767328"/>
            <a:ext cx="228600" cy="2286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chemeClr val="bg1"/>
                </a:solidFill>
              </a:rPr>
              <a:t>3</a:t>
            </a:r>
            <a:endParaRPr lang="en-US" sz="1050"/>
          </a:p>
        </p:txBody>
      </p:sp>
      <p:sp>
        <p:nvSpPr>
          <p:cNvPr id="1401115238" name="Text 31"/>
          <p:cNvSpPr txBox="1"/>
          <p:nvPr/>
        </p:nvSpPr>
        <p:spPr bwMode="auto">
          <a:xfrm>
            <a:off x="1024128" y="3758184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87</a:t>
            </a:r>
            <a:endParaRPr lang="en-US" sz="900"/>
          </a:p>
        </p:txBody>
      </p:sp>
      <p:sp>
        <p:nvSpPr>
          <p:cNvPr id="445671541" name="Text 32"/>
          <p:cNvSpPr txBox="1"/>
          <p:nvPr/>
        </p:nvSpPr>
        <p:spPr bwMode="auto">
          <a:xfrm>
            <a:off x="1417320" y="3758184"/>
            <a:ext cx="6583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  </a:t>
            </a:r>
            <a:r>
              <a:rPr lang="en-US" sz="1050">
                <a:solidFill>
                  <a:srgbClr val="6E7781"/>
                </a:solidFill>
                <a:latin typeface="JetBrainsMonoNL NF"/>
                <a:ea typeface="JetBrainsMonoNL NF"/>
                <a:cs typeface="JetBrainsMonoNL NF"/>
              </a:rPr>
              <a:t>// The first heartbeat after an outage closes it.</a:t>
            </a:r>
            <a:endParaRPr lang="en-US" sz="1050"/>
          </a:p>
        </p:txBody>
      </p:sp>
      <p:sp>
        <p:nvSpPr>
          <p:cNvPr id="882586087" name="Shape 33"/>
          <p:cNvSpPr/>
          <p:nvPr/>
        </p:nvSpPr>
        <p:spPr bwMode="auto">
          <a:xfrm>
            <a:off x="651053" y="4005072"/>
            <a:ext cx="7384694" cy="246888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61438075" name="Text 34"/>
          <p:cNvSpPr txBox="1"/>
          <p:nvPr/>
        </p:nvSpPr>
        <p:spPr bwMode="auto">
          <a:xfrm>
            <a:off x="1024128" y="4005072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88</a:t>
            </a:r>
            <a:endParaRPr lang="en-US" sz="900"/>
          </a:p>
        </p:txBody>
      </p:sp>
      <p:sp>
        <p:nvSpPr>
          <p:cNvPr id="1336807839" name="Text 35"/>
          <p:cNvSpPr txBox="1"/>
          <p:nvPr/>
        </p:nvSpPr>
        <p:spPr bwMode="auto">
          <a:xfrm>
            <a:off x="1417320" y="4005072"/>
            <a:ext cx="6583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  if (device.outage) {</a:t>
            </a:r>
            <a:endParaRPr lang="en-US" sz="1050"/>
          </a:p>
        </p:txBody>
      </p:sp>
      <p:sp>
        <p:nvSpPr>
          <p:cNvPr id="1812999789" name="Shape 36"/>
          <p:cNvSpPr/>
          <p:nvPr/>
        </p:nvSpPr>
        <p:spPr bwMode="auto">
          <a:xfrm>
            <a:off x="651053" y="4251960"/>
            <a:ext cx="7384694" cy="246888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246721289" name="Text 37"/>
          <p:cNvSpPr txBox="1"/>
          <p:nvPr/>
        </p:nvSpPr>
        <p:spPr bwMode="auto">
          <a:xfrm>
            <a:off x="1024128" y="4251960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89</a:t>
            </a:r>
            <a:endParaRPr lang="en-US" sz="900"/>
          </a:p>
        </p:txBody>
      </p:sp>
      <p:sp>
        <p:nvSpPr>
          <p:cNvPr id="1884747467" name="Text 38"/>
          <p:cNvSpPr txBox="1"/>
          <p:nvPr/>
        </p:nvSpPr>
        <p:spPr bwMode="auto">
          <a:xfrm>
            <a:off x="1417320" y="4251960"/>
            <a:ext cx="6583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    const outage = device.outage;</a:t>
            </a:r>
            <a:endParaRPr lang="en-US" sz="1050"/>
          </a:p>
        </p:txBody>
      </p:sp>
      <p:sp>
        <p:nvSpPr>
          <p:cNvPr id="891288665" name="Shape 39"/>
          <p:cNvSpPr/>
          <p:nvPr/>
        </p:nvSpPr>
        <p:spPr bwMode="auto">
          <a:xfrm>
            <a:off x="651053" y="4498848"/>
            <a:ext cx="7384694" cy="246888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230798741" name="Text 40"/>
          <p:cNvSpPr txBox="1"/>
          <p:nvPr/>
        </p:nvSpPr>
        <p:spPr bwMode="auto">
          <a:xfrm>
            <a:off x="1024128" y="4498848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90</a:t>
            </a:r>
            <a:endParaRPr lang="en-US" sz="900"/>
          </a:p>
        </p:txBody>
      </p:sp>
      <p:sp>
        <p:nvSpPr>
          <p:cNvPr id="1067374271" name="Text 41"/>
          <p:cNvSpPr txBox="1"/>
          <p:nvPr/>
        </p:nvSpPr>
        <p:spPr bwMode="auto">
          <a:xfrm>
            <a:off x="1417320" y="4498848"/>
            <a:ext cx="6583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    outage.end = now;</a:t>
            </a:r>
            <a:endParaRPr lang="en-US" sz="1050"/>
          </a:p>
        </p:txBody>
      </p:sp>
      <p:sp>
        <p:nvSpPr>
          <p:cNvPr id="716419724" name="Shape 42"/>
          <p:cNvSpPr/>
          <p:nvPr/>
        </p:nvSpPr>
        <p:spPr bwMode="auto">
          <a:xfrm>
            <a:off x="651053" y="4745736"/>
            <a:ext cx="7384694" cy="246888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1052756265" name="Text 43"/>
          <p:cNvSpPr txBox="1"/>
          <p:nvPr/>
        </p:nvSpPr>
        <p:spPr bwMode="auto">
          <a:xfrm>
            <a:off x="1024128" y="4745736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91</a:t>
            </a:r>
            <a:endParaRPr lang="en-US" sz="900"/>
          </a:p>
        </p:txBody>
      </p:sp>
      <p:sp>
        <p:nvSpPr>
          <p:cNvPr id="1195277132" name="Text 44"/>
          <p:cNvSpPr txBox="1"/>
          <p:nvPr/>
        </p:nvSpPr>
        <p:spPr bwMode="auto">
          <a:xfrm>
            <a:off x="1417320" y="4745736"/>
            <a:ext cx="6583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    if (rebooted) outage.rebooted = true;</a:t>
            </a:r>
            <a:endParaRPr lang="en-US" sz="1050"/>
          </a:p>
        </p:txBody>
      </p:sp>
      <p:sp>
        <p:nvSpPr>
          <p:cNvPr id="1240627906" name="Shape 45"/>
          <p:cNvSpPr/>
          <p:nvPr/>
        </p:nvSpPr>
        <p:spPr bwMode="auto">
          <a:xfrm>
            <a:off x="651053" y="4992624"/>
            <a:ext cx="7384694" cy="246888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1802686509" name="Text 46"/>
          <p:cNvSpPr txBox="1"/>
          <p:nvPr/>
        </p:nvSpPr>
        <p:spPr bwMode="auto">
          <a:xfrm>
            <a:off x="1024128" y="4992624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92</a:t>
            </a:r>
            <a:endParaRPr lang="en-US" sz="900"/>
          </a:p>
        </p:txBody>
      </p:sp>
      <p:sp>
        <p:nvSpPr>
          <p:cNvPr id="178043902" name="Text 47"/>
          <p:cNvSpPr txBox="1"/>
          <p:nvPr/>
        </p:nvSpPr>
        <p:spPr bwMode="auto">
          <a:xfrm>
            <a:off x="1417320" y="4992624"/>
            <a:ext cx="6583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    device.outage = null;</a:t>
            </a:r>
            <a:endParaRPr lang="en-US" sz="1050"/>
          </a:p>
        </p:txBody>
      </p:sp>
      <p:sp>
        <p:nvSpPr>
          <p:cNvPr id="397435567" name="Shape 48"/>
          <p:cNvSpPr/>
          <p:nvPr/>
        </p:nvSpPr>
        <p:spPr bwMode="auto">
          <a:xfrm>
            <a:off x="651053" y="5239512"/>
            <a:ext cx="7384694" cy="246888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1109733469" name="Text 49"/>
          <p:cNvSpPr txBox="1"/>
          <p:nvPr/>
        </p:nvSpPr>
        <p:spPr bwMode="auto">
          <a:xfrm>
            <a:off x="1024128" y="5239512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93</a:t>
            </a:r>
            <a:endParaRPr lang="en-US" sz="900"/>
          </a:p>
        </p:txBody>
      </p:sp>
      <p:sp>
        <p:nvSpPr>
          <p:cNvPr id="1312132265" name="Text 50"/>
          <p:cNvSpPr txBox="1"/>
          <p:nvPr/>
        </p:nvSpPr>
        <p:spPr bwMode="auto">
          <a:xfrm>
            <a:off x="1417320" y="5239512"/>
            <a:ext cx="6583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    device.history = [outage, ...device.history].slice(0, HISTORY_SIZE);</a:t>
            </a:r>
            <a:endParaRPr lang="en-US" sz="1050"/>
          </a:p>
        </p:txBody>
      </p:sp>
      <p:sp>
        <p:nvSpPr>
          <p:cNvPr id="2097390528" name="Shape 51"/>
          <p:cNvSpPr/>
          <p:nvPr/>
        </p:nvSpPr>
        <p:spPr bwMode="auto">
          <a:xfrm>
            <a:off x="651053" y="5486400"/>
            <a:ext cx="7384694" cy="246888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1855322307" name="Text 52"/>
          <p:cNvSpPr txBox="1"/>
          <p:nvPr/>
        </p:nvSpPr>
        <p:spPr bwMode="auto">
          <a:xfrm>
            <a:off x="1024128" y="5486400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94</a:t>
            </a:r>
            <a:endParaRPr lang="en-US" sz="900"/>
          </a:p>
        </p:txBody>
      </p:sp>
      <p:sp>
        <p:nvSpPr>
          <p:cNvPr id="813759125" name="Text 53"/>
          <p:cNvSpPr txBox="1"/>
          <p:nvPr/>
        </p:nvSpPr>
        <p:spPr bwMode="auto">
          <a:xfrm>
            <a:off x="1417320" y="5486400"/>
            <a:ext cx="6583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    this.#hooks.onOutageEnd?.(device, outage);</a:t>
            </a:r>
            <a:endParaRPr lang="en-US" sz="1050"/>
          </a:p>
        </p:txBody>
      </p:sp>
      <p:sp>
        <p:nvSpPr>
          <p:cNvPr id="1339519342" name="Shape 54"/>
          <p:cNvSpPr/>
          <p:nvPr/>
        </p:nvSpPr>
        <p:spPr bwMode="auto">
          <a:xfrm>
            <a:off x="651053" y="5733288"/>
            <a:ext cx="7384694" cy="246888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818461704" name="Text 55"/>
          <p:cNvSpPr txBox="1"/>
          <p:nvPr/>
        </p:nvSpPr>
        <p:spPr bwMode="auto">
          <a:xfrm>
            <a:off x="1024128" y="5733288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95</a:t>
            </a:r>
            <a:endParaRPr lang="en-US" sz="900"/>
          </a:p>
        </p:txBody>
      </p:sp>
      <p:sp>
        <p:nvSpPr>
          <p:cNvPr id="328386946" name="Text 56"/>
          <p:cNvSpPr txBox="1"/>
          <p:nvPr/>
        </p:nvSpPr>
        <p:spPr bwMode="auto">
          <a:xfrm>
            <a:off x="1417320" y="5733288"/>
            <a:ext cx="6583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  }</a:t>
            </a:r>
            <a:endParaRPr lang="en-US" sz="1050"/>
          </a:p>
        </p:txBody>
      </p:sp>
      <p:sp>
        <p:nvSpPr>
          <p:cNvPr id="195719492" name="Text 57"/>
          <p:cNvSpPr txBox="1"/>
          <p:nvPr/>
        </p:nvSpPr>
        <p:spPr bwMode="auto">
          <a:xfrm>
            <a:off x="8412480" y="1399032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chemeClr val="bg1"/>
                </a:solidFill>
              </a:rPr>
              <a:t>1</a:t>
            </a:r>
            <a:endParaRPr lang="en-US" sz="1100"/>
          </a:p>
        </p:txBody>
      </p:sp>
      <p:sp>
        <p:nvSpPr>
          <p:cNvPr id="1090045044" name="Text 58"/>
          <p:cNvSpPr txBox="1"/>
          <p:nvPr/>
        </p:nvSpPr>
        <p:spPr bwMode="auto">
          <a:xfrm>
            <a:off x="8796528" y="1371600"/>
            <a:ext cx="275508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chemeClr val="tx1"/>
                </a:solidFill>
              </a:rPr>
              <a:t>Новый boot ID</a:t>
            </a:r>
            <a:endParaRPr lang="en-US" sz="1450"/>
          </a:p>
        </p:txBody>
      </p:sp>
      <p:sp>
        <p:nvSpPr>
          <p:cNvPr id="972041340" name="Text 59"/>
          <p:cNvSpPr txBox="1"/>
          <p:nvPr/>
        </p:nvSpPr>
        <p:spPr bwMode="auto">
          <a:xfrm>
            <a:off x="8796528" y="1737360"/>
            <a:ext cx="275508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accent4"/>
                </a:solidFill>
              </a:rPr>
              <a:t>Ядро генерирует его при каждой загрузке: другой ID — машина перезагрузилась</a:t>
            </a:r>
            <a:endParaRPr lang="en-US" sz="1300"/>
          </a:p>
        </p:txBody>
      </p:sp>
      <p:sp>
        <p:nvSpPr>
          <p:cNvPr id="1263119872" name="Text 60"/>
          <p:cNvSpPr txBox="1"/>
          <p:nvPr/>
        </p:nvSpPr>
        <p:spPr bwMode="auto">
          <a:xfrm>
            <a:off x="8412480" y="2862072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chemeClr val="bg1"/>
                </a:solidFill>
              </a:rPr>
              <a:t>2</a:t>
            </a:r>
            <a:endParaRPr lang="en-US" sz="1100"/>
          </a:p>
        </p:txBody>
      </p:sp>
      <p:sp>
        <p:nvSpPr>
          <p:cNvPr id="1599515208" name="Text 61"/>
          <p:cNvSpPr txBox="1"/>
          <p:nvPr/>
        </p:nvSpPr>
        <p:spPr bwMode="auto">
          <a:xfrm>
            <a:off x="8796528" y="2834640"/>
            <a:ext cx="275508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chemeClr val="tx1"/>
                </a:solidFill>
              </a:rPr>
              <a:t>Быстрая перезагрузка</a:t>
            </a:r>
            <a:endParaRPr lang="en-US" sz="1450"/>
          </a:p>
        </p:txBody>
      </p:sp>
      <p:sp>
        <p:nvSpPr>
          <p:cNvPr id="660153286" name="Text 62"/>
          <p:cNvSpPr txBox="1"/>
          <p:nvPr/>
        </p:nvSpPr>
        <p:spPr bwMode="auto">
          <a:xfrm>
            <a:off x="8796528" y="3200400"/>
            <a:ext cx="275508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accent4"/>
                </a:solidFill>
              </a:rPr>
              <a:t>Вернулась быстрее таймаута 3 с: простой всё равно открывается, от последнего сигнала</a:t>
            </a:r>
            <a:endParaRPr lang="en-US" sz="1300"/>
          </a:p>
        </p:txBody>
      </p:sp>
      <p:sp>
        <p:nvSpPr>
          <p:cNvPr id="1312038949" name="Text 63"/>
          <p:cNvSpPr txBox="1"/>
          <p:nvPr/>
        </p:nvSpPr>
        <p:spPr bwMode="auto">
          <a:xfrm>
            <a:off x="8412480" y="4325112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chemeClr val="bg1"/>
                </a:solidFill>
              </a:rPr>
              <a:t>3</a:t>
            </a:r>
            <a:endParaRPr lang="en-US" sz="1100"/>
          </a:p>
        </p:txBody>
      </p:sp>
      <p:sp>
        <p:nvSpPr>
          <p:cNvPr id="1118038662" name="Text 64"/>
          <p:cNvSpPr txBox="1"/>
          <p:nvPr/>
        </p:nvSpPr>
        <p:spPr bwMode="auto">
          <a:xfrm>
            <a:off x="8796528" y="4297680"/>
            <a:ext cx="275508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chemeClr val="tx1"/>
                </a:solidFill>
              </a:rPr>
              <a:t>Конец простоя</a:t>
            </a:r>
            <a:endParaRPr lang="en-US" sz="1450"/>
          </a:p>
        </p:txBody>
      </p:sp>
      <p:sp>
        <p:nvSpPr>
          <p:cNvPr id="192898362" name="Text 65"/>
          <p:cNvSpPr txBox="1"/>
          <p:nvPr/>
        </p:nvSpPr>
        <p:spPr bwMode="auto">
          <a:xfrm>
            <a:off x="8796528" y="4663440"/>
            <a:ext cx="275508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accent4"/>
                </a:solidFill>
              </a:rPr>
              <a:t>Его закрывает первый сигнал, по часам сервера; простой уходит в историю и строкой в outages.csv</a:t>
            </a:r>
            <a:endParaRPr lang="en-US" sz="1300"/>
          </a:p>
        </p:txBody>
      </p:sp>
      <p:sp>
        <p:nvSpPr>
          <p:cNvPr id="1334692876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0820095" y="6382512"/>
            <a:ext cx="73152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9636E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7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5666259" name="Text 1"/>
          <p:cNvSpPr/>
          <p:nvPr>
            <p:ph type="title" idx="101" hasCustomPrompt="1"/>
          </p:nvPr>
        </p:nvSpPr>
        <p:spPr bwMode="auto">
          <a:xfrm>
            <a:off x="640080" y="411480"/>
            <a:ext cx="8899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800" b="1">
                <a:solidFill>
                  <a:schemeClr val="tx1"/>
                </a:solidFill>
              </a:rPr>
              <a:t>Как хранится токен ноутбука</a:t>
            </a:r>
            <a:endParaRPr lang="en-US" sz="2800"/>
          </a:p>
        </p:txBody>
      </p:sp>
      <p:sp>
        <p:nvSpPr>
          <p:cNvPr id="1866806472" name="Text 1"/>
          <p:cNvSpPr txBox="1"/>
          <p:nvPr/>
        </p:nvSpPr>
        <p:spPr bwMode="auto">
          <a:xfrm>
            <a:off x="9722815" y="457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400" u="sng">
                <a:solidFill>
                  <a:schemeClr val="accent1"/>
                </a:solidFill>
                <a:hlinkClick r:id="rId3" action="ppaction://hlinksldjump" tooltip="К слайду с вопросами"/>
              </a:rPr>
              <a:t>← к вопросам</a:t>
            </a:r>
            <a:endParaRPr lang="en-US" sz="1400"/>
          </a:p>
        </p:txBody>
      </p:sp>
      <p:sp>
        <p:nvSpPr>
          <p:cNvPr id="339446316" name="Text 2"/>
          <p:cNvSpPr txBox="1"/>
          <p:nvPr/>
        </p:nvSpPr>
        <p:spPr bwMode="auto">
          <a:xfrm>
            <a:off x="640080" y="1444752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chemeClr val="bg1"/>
                </a:solidFill>
              </a:rPr>
              <a:t>1</a:t>
            </a:r>
            <a:endParaRPr lang="en-US" sz="1300"/>
          </a:p>
        </p:txBody>
      </p:sp>
      <p:sp>
        <p:nvSpPr>
          <p:cNvPr id="1774175093" name="Text 3"/>
          <p:cNvSpPr txBox="1"/>
          <p:nvPr/>
        </p:nvSpPr>
        <p:spPr bwMode="auto">
          <a:xfrm>
            <a:off x="1097280" y="1417320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chemeClr val="tx1"/>
                </a:solidFill>
              </a:rPr>
              <a:t>Создание</a:t>
            </a:r>
            <a:endParaRPr lang="en-US" sz="1700"/>
          </a:p>
        </p:txBody>
      </p:sp>
      <p:sp>
        <p:nvSpPr>
          <p:cNvPr id="704574112" name="Text 4"/>
          <p:cNvSpPr txBox="1"/>
          <p:nvPr/>
        </p:nvSpPr>
        <p:spPr bwMode="auto">
          <a:xfrm>
            <a:off x="1097280" y="1828800"/>
            <a:ext cx="4724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50">
                <a:solidFill>
                  <a:schemeClr val="accent4"/>
                </a:solidFill>
              </a:rPr>
              <a:t>openssl rand -hex 32: 256 случайных бит</a:t>
            </a:r>
            <a:endParaRPr lang="en-US" sz="1450"/>
          </a:p>
        </p:txBody>
      </p:sp>
      <p:sp>
        <p:nvSpPr>
          <p:cNvPr id="682671925" name="Text 5"/>
          <p:cNvSpPr txBox="1"/>
          <p:nvPr/>
        </p:nvSpPr>
        <p:spPr bwMode="auto">
          <a:xfrm>
            <a:off x="640080" y="2724911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chemeClr val="bg1"/>
                </a:solidFill>
              </a:rPr>
              <a:t>2</a:t>
            </a:r>
            <a:endParaRPr lang="en-US" sz="1300"/>
          </a:p>
        </p:txBody>
      </p:sp>
      <p:sp>
        <p:nvSpPr>
          <p:cNvPr id="1099374035" name="Text 6"/>
          <p:cNvSpPr txBox="1"/>
          <p:nvPr/>
        </p:nvSpPr>
        <p:spPr bwMode="auto">
          <a:xfrm>
            <a:off x="1097280" y="2697480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chemeClr val="tx1"/>
                </a:solidFill>
              </a:rPr>
              <a:t>На сервере только хеш</a:t>
            </a:r>
            <a:endParaRPr lang="en-US" sz="1700"/>
          </a:p>
        </p:txBody>
      </p:sp>
      <p:sp>
        <p:nvSpPr>
          <p:cNvPr id="2036496247" name="Text 7"/>
          <p:cNvSpPr txBox="1"/>
          <p:nvPr/>
        </p:nvSpPr>
        <p:spPr bwMode="auto">
          <a:xfrm>
            <a:off x="1097280" y="3108960"/>
            <a:ext cx="4724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50">
                <a:solidFill>
                  <a:schemeClr val="accent4"/>
                </a:solidFill>
              </a:rPr>
              <a:t>SHA-256 в devices.json: из хеша токен не получить</a:t>
            </a:r>
            <a:endParaRPr lang="en-US" sz="1450"/>
          </a:p>
        </p:txBody>
      </p:sp>
      <p:sp>
        <p:nvSpPr>
          <p:cNvPr id="322975892" name="Text 8"/>
          <p:cNvSpPr txBox="1"/>
          <p:nvPr/>
        </p:nvSpPr>
        <p:spPr bwMode="auto">
          <a:xfrm>
            <a:off x="640080" y="4005072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chemeClr val="bg1"/>
                </a:solidFill>
              </a:rPr>
              <a:t>3</a:t>
            </a:r>
            <a:endParaRPr lang="en-US" sz="1300"/>
          </a:p>
        </p:txBody>
      </p:sp>
      <p:sp>
        <p:nvSpPr>
          <p:cNvPr id="1616674161" name="Text 9"/>
          <p:cNvSpPr txBox="1"/>
          <p:nvPr/>
        </p:nvSpPr>
        <p:spPr bwMode="auto">
          <a:xfrm>
            <a:off x="1097280" y="3977640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chemeClr val="tx1"/>
                </a:solidFill>
              </a:rPr>
              <a:t>Шифрует TPM ноутбука</a:t>
            </a:r>
            <a:endParaRPr lang="en-US" sz="1700"/>
          </a:p>
        </p:txBody>
      </p:sp>
      <p:sp>
        <p:nvSpPr>
          <p:cNvPr id="54431801" name="Text 10"/>
          <p:cNvSpPr txBox="1"/>
          <p:nvPr/>
        </p:nvSpPr>
        <p:spPr bwMode="auto">
          <a:xfrm>
            <a:off x="1097280" y="4389120"/>
            <a:ext cx="4724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50">
                <a:solidFill>
                  <a:schemeClr val="accent4"/>
                </a:solidFill>
              </a:rPr>
              <a:t>systemd-creds encrypt --with-key=tpm2: в образе только .cred</a:t>
            </a:r>
            <a:endParaRPr lang="en-US" sz="1450"/>
          </a:p>
        </p:txBody>
      </p:sp>
      <p:sp>
        <p:nvSpPr>
          <p:cNvPr id="685823738" name="Text 11"/>
          <p:cNvSpPr txBox="1"/>
          <p:nvPr/>
        </p:nvSpPr>
        <p:spPr bwMode="auto">
          <a:xfrm>
            <a:off x="6370168" y="1444752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chemeClr val="bg1"/>
                </a:solidFill>
              </a:rPr>
              <a:t>4</a:t>
            </a:r>
            <a:endParaRPr lang="en-US" sz="1300"/>
          </a:p>
        </p:txBody>
      </p:sp>
      <p:sp>
        <p:nvSpPr>
          <p:cNvPr id="1396562914" name="Text 12"/>
          <p:cNvSpPr txBox="1"/>
          <p:nvPr/>
        </p:nvSpPr>
        <p:spPr bwMode="auto">
          <a:xfrm>
            <a:off x="6827368" y="1417320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chemeClr val="tx1"/>
                </a:solidFill>
              </a:rPr>
              <a:t>Расшифровка в память</a:t>
            </a:r>
            <a:endParaRPr lang="en-US" sz="1700"/>
          </a:p>
        </p:txBody>
      </p:sp>
      <p:sp>
        <p:nvSpPr>
          <p:cNvPr id="1894785882" name="Text 13"/>
          <p:cNvSpPr txBox="1"/>
          <p:nvPr/>
        </p:nvSpPr>
        <p:spPr bwMode="auto">
          <a:xfrm>
            <a:off x="6827368" y="1828800"/>
            <a:ext cx="4724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50">
                <a:solidFill>
                  <a:schemeClr val="accent4"/>
                </a:solidFill>
              </a:rPr>
              <a:t>systemd кладёт токен в папку credentials службы, её видит только служба</a:t>
            </a:r>
            <a:endParaRPr lang="en-US" sz="1450"/>
          </a:p>
        </p:txBody>
      </p:sp>
      <p:sp>
        <p:nvSpPr>
          <p:cNvPr id="464958688" name="Text 14"/>
          <p:cNvSpPr txBox="1"/>
          <p:nvPr/>
        </p:nvSpPr>
        <p:spPr bwMode="auto">
          <a:xfrm>
            <a:off x="6370168" y="2724911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chemeClr val="bg1"/>
                </a:solidFill>
              </a:rPr>
              <a:t>5</a:t>
            </a:r>
            <a:endParaRPr lang="en-US" sz="1300"/>
          </a:p>
        </p:txBody>
      </p:sp>
      <p:sp>
        <p:nvSpPr>
          <p:cNvPr id="1131055404" name="Text 15"/>
          <p:cNvSpPr txBox="1"/>
          <p:nvPr/>
        </p:nvSpPr>
        <p:spPr bwMode="auto">
          <a:xfrm>
            <a:off x="6827368" y="2697480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chemeClr val="tx1"/>
                </a:solidFill>
              </a:rPr>
              <a:t>Отправка</a:t>
            </a:r>
            <a:endParaRPr lang="en-US" sz="1700"/>
          </a:p>
        </p:txBody>
      </p:sp>
      <p:sp>
        <p:nvSpPr>
          <p:cNvPr id="635088472" name="Text 16"/>
          <p:cNvSpPr txBox="1"/>
          <p:nvPr/>
        </p:nvSpPr>
        <p:spPr bwMode="auto">
          <a:xfrm>
            <a:off x="6827368" y="3108960"/>
            <a:ext cx="4724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50">
                <a:solidFill>
                  <a:schemeClr val="accent4"/>
                </a:solidFill>
              </a:rPr>
              <a:t>curl получает токен через stdin, а не в аргументах; только HTTPS</a:t>
            </a:r>
            <a:endParaRPr lang="en-US" sz="1450"/>
          </a:p>
        </p:txBody>
      </p:sp>
      <p:sp>
        <p:nvSpPr>
          <p:cNvPr id="1531761186" name="Text 17"/>
          <p:cNvSpPr txBox="1"/>
          <p:nvPr/>
        </p:nvSpPr>
        <p:spPr bwMode="auto">
          <a:xfrm>
            <a:off x="6370168" y="4005072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chemeClr val="bg1"/>
                </a:solidFill>
              </a:rPr>
              <a:t>6</a:t>
            </a:r>
            <a:endParaRPr lang="en-US" sz="1300"/>
          </a:p>
        </p:txBody>
      </p:sp>
      <p:sp>
        <p:nvSpPr>
          <p:cNvPr id="833126436" name="Text 18"/>
          <p:cNvSpPr txBox="1"/>
          <p:nvPr/>
        </p:nvSpPr>
        <p:spPr bwMode="auto">
          <a:xfrm>
            <a:off x="6827368" y="3977640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chemeClr val="tx1"/>
                </a:solidFill>
              </a:rPr>
              <a:t>Проверка</a:t>
            </a:r>
            <a:endParaRPr lang="en-US" sz="1700"/>
          </a:p>
        </p:txBody>
      </p:sp>
      <p:sp>
        <p:nvSpPr>
          <p:cNvPr id="781304318" name="Text 19"/>
          <p:cNvSpPr txBox="1"/>
          <p:nvPr/>
        </p:nvSpPr>
        <p:spPr bwMode="auto">
          <a:xfrm>
            <a:off x="6827368" y="4389120"/>
            <a:ext cx="4724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50">
                <a:solidFill>
                  <a:schemeClr val="accent4"/>
                </a:solidFill>
              </a:rPr>
              <a:t>сервер сравнивает SHA-256 через timingSafeEqual: время не зависит от совпадения</a:t>
            </a:r>
            <a:endParaRPr lang="en-US" sz="1450"/>
          </a:p>
        </p:txBody>
      </p:sp>
      <p:sp>
        <p:nvSpPr>
          <p:cNvPr id="1344356510" name="Shape 20"/>
          <p:cNvSpPr/>
          <p:nvPr/>
        </p:nvSpPr>
        <p:spPr bwMode="auto">
          <a:xfrm>
            <a:off x="640080" y="5349240"/>
            <a:ext cx="10911535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1273245085" name="Text 21"/>
          <p:cNvSpPr txBox="1"/>
          <p:nvPr/>
        </p:nvSpPr>
        <p:spPr bwMode="auto">
          <a:xfrm>
            <a:off x="640080" y="548640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tx1"/>
                </a:solidFill>
              </a:rPr>
              <a:t>Правила: </a:t>
            </a:r>
            <a:r>
              <a:rPr lang="en-US" sz="1500">
                <a:solidFill>
                  <a:schemeClr val="tx1"/>
                </a:solidFill>
              </a:rPr>
              <a:t>не в переменных окружения, не в аргументах команд, открытым — только в памяти. SSH-ключи туннеля и хоста — тоже через TPM.</a:t>
            </a:r>
            <a:endParaRPr lang="en-US" sz="1500"/>
          </a:p>
        </p:txBody>
      </p:sp>
      <p:sp>
        <p:nvSpPr>
          <p:cNvPr id="1363004207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0820095" y="6382512"/>
            <a:ext cx="73152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9636E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8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0834832" name="Text 1"/>
          <p:cNvSpPr/>
          <p:nvPr>
            <p:ph type="title" idx="101" hasCustomPrompt="1"/>
          </p:nvPr>
        </p:nvSpPr>
        <p:spPr bwMode="auto">
          <a:xfrm>
            <a:off x="640080" y="411480"/>
            <a:ext cx="8899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800" b="1">
                <a:solidFill>
                  <a:schemeClr val="tx1"/>
                </a:solidFill>
              </a:rPr>
              <a:t>Все прогоны на ноутбуке, секунды</a:t>
            </a:r>
            <a:endParaRPr lang="en-US" sz="2800"/>
          </a:p>
        </p:txBody>
      </p:sp>
      <p:sp>
        <p:nvSpPr>
          <p:cNvPr id="1987463098" name="Text 1"/>
          <p:cNvSpPr txBox="1"/>
          <p:nvPr/>
        </p:nvSpPr>
        <p:spPr bwMode="auto">
          <a:xfrm>
            <a:off x="9722815" y="457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400" u="sng">
                <a:solidFill>
                  <a:schemeClr val="accent1"/>
                </a:solidFill>
                <a:hlinkClick r:id="rId3" action="ppaction://hlinksldjump" tooltip="К слайду с вопросами"/>
              </a:rPr>
              <a:t>← к вопросам</a:t>
            </a:r>
            <a:endParaRPr lang="en-US" sz="1400"/>
          </a:p>
        </p:txBody>
      </p:sp>
      <p:graphicFrame>
        <p:nvGraphicFramePr>
          <p:cNvPr id="90775722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640080" y="1325880"/>
          <a:ext cx="11018520" cy="91440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1188720"/>
                <a:gridCol w="1920240"/>
                <a:gridCol w="1097280"/>
                <a:gridCol w="1463040"/>
                <a:gridCol w="1234440"/>
                <a:gridCol w="914400"/>
                <a:gridCol w="822960"/>
                <a:gridCol w="1280160"/>
                <a:gridCol w="1097280"/>
              </a:tblGrid>
              <a:tr h="548640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100" b="1">
                          <a:solidFill>
                            <a:schemeClr val="accent4"/>
                          </a:solidFill>
                        </a:rPr>
                        <a:t>Дата, МСК</a:t>
                      </a:r>
                      <a:endParaRPr lang="en-US" sz="1100"/>
                    </a:p>
                  </a:txBody>
                  <a:tcPr marL="73152" marR="73152"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19050" algn="ctr">
                      <a:solidFill>
                        <a:srgbClr val="1F2328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100" b="1">
                          <a:solidFill>
                            <a:schemeClr val="accent4"/>
                          </a:solidFill>
                        </a:rPr>
                        <a:t>Запуск</a:t>
                      </a:r>
                      <a:endParaRPr lang="en-US" sz="1100"/>
                    </a:p>
                  </a:txBody>
                  <a:tcPr marL="73152" marR="73152"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19050" algn="ctr">
                      <a:solidFill>
                        <a:srgbClr val="1F2328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100" b="1">
                          <a:solidFill>
                            <a:schemeClr val="accent4"/>
                          </a:solidFill>
                        </a:rPr>
                        <a:t>Сетевая загрузка</a:t>
                      </a:r>
                      <a:endParaRPr lang="en-US" sz="1100"/>
                    </a:p>
                  </a:txBody>
                  <a:tcPr marL="73152" marR="73152"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19050" algn="ctr">
                      <a:solidFill>
                        <a:srgbClr val="1F2328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100" b="1">
                          <a:solidFill>
                            <a:schemeClr val="accent4"/>
                          </a:solidFill>
                        </a:rPr>
                        <a:t>Среда восстановления</a:t>
                      </a:r>
                      <a:endParaRPr lang="en-US" sz="1100"/>
                    </a:p>
                  </a:txBody>
                  <a:tcPr marL="73152" marR="73152"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19050" algn="ctr">
                      <a:solidFill>
                        <a:srgbClr val="1F2328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100" b="1">
                          <a:solidFill>
                            <a:schemeClr val="accent4"/>
                          </a:solidFill>
                        </a:rPr>
                        <a:t>из неё: скачивание</a:t>
                      </a:r>
                      <a:endParaRPr lang="en-US" sz="1100"/>
                    </a:p>
                  </a:txBody>
                  <a:tcPr marL="73152" marR="73152"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19050" algn="ctr">
                      <a:solidFill>
                        <a:srgbClr val="1F2328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100" b="1">
                          <a:solidFill>
                            <a:schemeClr val="accent4"/>
                          </a:solidFill>
                        </a:rPr>
                        <a:t>проверка</a:t>
                      </a:r>
                      <a:endParaRPr lang="en-US" sz="1100"/>
                    </a:p>
                  </a:txBody>
                  <a:tcPr marL="73152" marR="73152"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19050" algn="ctr">
                      <a:solidFill>
                        <a:srgbClr val="1F2328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100" b="1">
                          <a:solidFill>
                            <a:schemeClr val="accent4"/>
                          </a:solidFill>
                        </a:rPr>
                        <a:t>запись</a:t>
                      </a:r>
                      <a:endParaRPr lang="en-US" sz="1100"/>
                    </a:p>
                  </a:txBody>
                  <a:tcPr marL="73152" marR="73152"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19050" algn="ctr">
                      <a:solidFill>
                        <a:srgbClr val="1F2328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100" b="1">
                          <a:solidFill>
                            <a:schemeClr val="accent4"/>
                          </a:solidFill>
                        </a:rPr>
                        <a:t>Перезагрузка до сигнала</a:t>
                      </a:r>
                      <a:endParaRPr lang="en-US" sz="1100"/>
                    </a:p>
                  </a:txBody>
                  <a:tcPr marL="73152" marR="73152"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19050" algn="ctr">
                      <a:solidFill>
                        <a:srgbClr val="1F2328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100" b="1">
                          <a:solidFill>
                            <a:schemeClr val="accent4"/>
                          </a:solidFill>
                        </a:rPr>
                        <a:t>Весь простой</a:t>
                      </a:r>
                      <a:endParaRPr lang="en-US" sz="1100"/>
                    </a:p>
                  </a:txBody>
                  <a:tcPr marL="73152" marR="73152"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19050" algn="ctr">
                      <a:solidFill>
                        <a:srgbClr val="1F2328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300">
                          <a:solidFill>
                            <a:schemeClr val="tx1"/>
                          </a:solidFill>
                        </a:rPr>
                        <a:t>23.10 06:25</a:t>
                      </a:r>
                      <a:endParaRPr lang="en-US" sz="1300"/>
                    </a:p>
                  </a:txBody>
                  <a:tcPr marL="73152" marR="73152"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9525" algn="ctr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300">
                          <a:solidFill>
                            <a:schemeClr val="tx1"/>
                          </a:solidFill>
                        </a:rPr>
                        <a:t>без стирания</a:t>
                      </a:r>
                      <a:endParaRPr lang="en-US" sz="1300"/>
                    </a:p>
                  </a:txBody>
                  <a:tcPr marL="73152" marR="73152"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9525" algn="ctr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30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300"/>
                    </a:p>
                  </a:txBody>
                  <a:tcPr marL="73152" marR="73152"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9525" algn="ctr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300">
                          <a:solidFill>
                            <a:schemeClr val="tx1"/>
                          </a:solidFill>
                        </a:rPr>
                        <a:t>56,4</a:t>
                      </a:r>
                      <a:endParaRPr lang="en-US" sz="1300"/>
                    </a:p>
                  </a:txBody>
                  <a:tcPr marL="73152" marR="73152"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9525" algn="ctr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300">
                          <a:solidFill>
                            <a:schemeClr val="tx1"/>
                          </a:solidFill>
                        </a:rPr>
                        <a:t>42,5</a:t>
                      </a:r>
                      <a:endParaRPr lang="en-US" sz="1300"/>
                    </a:p>
                  </a:txBody>
                  <a:tcPr marL="73152" marR="73152"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9525" algn="ctr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300">
                          <a:solidFill>
                            <a:schemeClr val="tx1"/>
                          </a:solidFill>
                        </a:rPr>
                        <a:t>4,8</a:t>
                      </a:r>
                      <a:endParaRPr lang="en-US" sz="1300"/>
                    </a:p>
                  </a:txBody>
                  <a:tcPr marL="73152" marR="73152"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9525" algn="ctr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300">
                          <a:solidFill>
                            <a:schemeClr val="tx1"/>
                          </a:solidFill>
                        </a:rPr>
                        <a:t>8,1</a:t>
                      </a:r>
                      <a:endParaRPr lang="en-US" sz="1300"/>
                    </a:p>
                  </a:txBody>
                  <a:tcPr marL="73152" marR="73152"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9525" algn="ctr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300">
                          <a:solidFill>
                            <a:schemeClr val="tx1"/>
                          </a:solidFill>
                        </a:rPr>
                        <a:t>38,3</a:t>
                      </a:r>
                      <a:endParaRPr lang="en-US" sz="1300"/>
                    </a:p>
                  </a:txBody>
                  <a:tcPr marL="73152" marR="73152"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9525" algn="ctr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300" b="1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300"/>
                    </a:p>
                  </a:txBody>
                  <a:tcPr marL="73152" marR="73152"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9525" algn="ctr">
                      <a:solidFill>
                        <a:srgbClr val="D0D7DE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300">
                          <a:solidFill>
                            <a:schemeClr val="tx1"/>
                          </a:solidFill>
                        </a:rPr>
                        <a:t>23.10 06:30</a:t>
                      </a:r>
                      <a:endParaRPr lang="en-US" sz="1300"/>
                    </a:p>
                  </a:txBody>
                  <a:tcPr marL="73152" marR="73152"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9525" algn="ctr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300">
                          <a:solidFill>
                            <a:schemeClr val="tx1"/>
                          </a:solidFill>
                          <a:latin typeface="JetBrainsMonoNL NF"/>
                          <a:ea typeface="JetBrainsMonoNL NF"/>
                          <a:cs typeface="JetBrainsMonoNL NF"/>
                        </a:rPr>
                        <a:t>osreboot-wipe</a:t>
                      </a:r>
                      <a:endParaRPr lang="en-US" sz="1300">
                        <a:latin typeface="JetBrainsMonoNL NF"/>
                        <a:ea typeface="JetBrainsMonoNL NF"/>
                        <a:cs typeface="JetBrainsMonoNL NF"/>
                      </a:endParaRPr>
                    </a:p>
                  </a:txBody>
                  <a:tcPr marL="73152" marR="73152"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9525" algn="ctr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300">
                          <a:solidFill>
                            <a:schemeClr val="tx1"/>
                          </a:solidFill>
                        </a:rPr>
                        <a:t>68,1</a:t>
                      </a:r>
                      <a:endParaRPr lang="en-US" sz="1300"/>
                    </a:p>
                  </a:txBody>
                  <a:tcPr marL="73152" marR="73152"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9525" algn="ctr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300">
                          <a:solidFill>
                            <a:schemeClr val="tx1"/>
                          </a:solidFill>
                        </a:rPr>
                        <a:t>55,1</a:t>
                      </a:r>
                      <a:endParaRPr lang="en-US" sz="1300"/>
                    </a:p>
                  </a:txBody>
                  <a:tcPr marL="73152" marR="73152"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9525" algn="ctr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300">
                          <a:solidFill>
                            <a:schemeClr val="tx1"/>
                          </a:solidFill>
                        </a:rPr>
                        <a:t>41,0</a:t>
                      </a:r>
                      <a:endParaRPr lang="en-US" sz="1300"/>
                    </a:p>
                  </a:txBody>
                  <a:tcPr marL="73152" marR="73152"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9525" algn="ctr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300">
                          <a:solidFill>
                            <a:schemeClr val="tx1"/>
                          </a:solidFill>
                        </a:rPr>
                        <a:t>4,8</a:t>
                      </a:r>
                      <a:endParaRPr lang="en-US" sz="1300"/>
                    </a:p>
                  </a:txBody>
                  <a:tcPr marL="73152" marR="73152"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9525" algn="ctr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300">
                          <a:solidFill>
                            <a:schemeClr val="tx1"/>
                          </a:solidFill>
                        </a:rPr>
                        <a:t>8,3</a:t>
                      </a:r>
                      <a:endParaRPr lang="en-US" sz="1300"/>
                    </a:p>
                  </a:txBody>
                  <a:tcPr marL="73152" marR="73152"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9525" algn="ctr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300">
                          <a:solidFill>
                            <a:schemeClr val="tx1"/>
                          </a:solidFill>
                        </a:rPr>
                        <a:t>40,5</a:t>
                      </a:r>
                      <a:endParaRPr lang="en-US" sz="1300"/>
                    </a:p>
                  </a:txBody>
                  <a:tcPr marL="73152" marR="73152"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9525" algn="ctr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300" b="1">
                          <a:solidFill>
                            <a:schemeClr val="tx1"/>
                          </a:solidFill>
                        </a:rPr>
                        <a:t>164,0</a:t>
                      </a:r>
                      <a:endParaRPr lang="en-US" sz="1300"/>
                    </a:p>
                  </a:txBody>
                  <a:tcPr marL="73152" marR="73152"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9525" algn="ctr">
                      <a:solidFill>
                        <a:srgbClr val="D0D7DE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300">
                          <a:solidFill>
                            <a:schemeClr val="tx1"/>
                          </a:solidFill>
                        </a:rPr>
                        <a:t>23.10 18:49</a:t>
                      </a:r>
                      <a:endParaRPr lang="en-US" sz="1300"/>
                    </a:p>
                  </a:txBody>
                  <a:tcPr marL="73152" marR="73152"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9525" algn="ctr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300">
                          <a:solidFill>
                            <a:schemeClr val="tx1"/>
                          </a:solidFill>
                        </a:rPr>
                        <a:t>без стирания</a:t>
                      </a:r>
                      <a:endParaRPr lang="en-US" sz="1300"/>
                    </a:p>
                  </a:txBody>
                  <a:tcPr marL="73152" marR="73152"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9525" algn="ctr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30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300"/>
                    </a:p>
                  </a:txBody>
                  <a:tcPr marL="73152" marR="73152"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9525" algn="ctr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300">
                          <a:solidFill>
                            <a:schemeClr val="tx1"/>
                          </a:solidFill>
                        </a:rPr>
                        <a:t>54,0</a:t>
                      </a:r>
                      <a:endParaRPr lang="en-US" sz="1300"/>
                    </a:p>
                  </a:txBody>
                  <a:tcPr marL="73152" marR="73152"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9525" algn="ctr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300">
                          <a:solidFill>
                            <a:schemeClr val="tx1"/>
                          </a:solidFill>
                        </a:rPr>
                        <a:t>39,7</a:t>
                      </a:r>
                      <a:endParaRPr lang="en-US" sz="1300"/>
                    </a:p>
                  </a:txBody>
                  <a:tcPr marL="73152" marR="73152"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9525" algn="ctr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300">
                          <a:solidFill>
                            <a:schemeClr val="tx1"/>
                          </a:solidFill>
                        </a:rPr>
                        <a:t>4,8</a:t>
                      </a:r>
                      <a:endParaRPr lang="en-US" sz="1300"/>
                    </a:p>
                  </a:txBody>
                  <a:tcPr marL="73152" marR="73152"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9525" algn="ctr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300">
                          <a:solidFill>
                            <a:schemeClr val="tx1"/>
                          </a:solidFill>
                        </a:rPr>
                        <a:t>8,3</a:t>
                      </a:r>
                      <a:endParaRPr lang="en-US" sz="1300"/>
                    </a:p>
                  </a:txBody>
                  <a:tcPr marL="73152" marR="73152"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9525" algn="ctr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300">
                          <a:solidFill>
                            <a:schemeClr val="tx1"/>
                          </a:solidFill>
                        </a:rPr>
                        <a:t>41,1</a:t>
                      </a:r>
                      <a:endParaRPr lang="en-US" sz="1300"/>
                    </a:p>
                  </a:txBody>
                  <a:tcPr marL="73152" marR="73152"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9525" algn="ctr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300" b="1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300"/>
                    </a:p>
                  </a:txBody>
                  <a:tcPr marL="73152" marR="73152"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9525" algn="ctr">
                      <a:solidFill>
                        <a:srgbClr val="D0D7DE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300">
                          <a:solidFill>
                            <a:schemeClr val="tx1"/>
                          </a:solidFill>
                        </a:rPr>
                        <a:t>23.10 18:53</a:t>
                      </a:r>
                      <a:endParaRPr lang="en-US" sz="1300"/>
                    </a:p>
                  </a:txBody>
                  <a:tcPr marL="73152" marR="73152"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9525" algn="ctr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300">
                          <a:solidFill>
                            <a:schemeClr val="tx1"/>
                          </a:solidFill>
                          <a:latin typeface="JetBrainsMonoNL NF"/>
                          <a:ea typeface="JetBrainsMonoNL NF"/>
                          <a:cs typeface="JetBrainsMonoNL NF"/>
                        </a:rPr>
                        <a:t>osreboot-wipe</a:t>
                      </a:r>
                      <a:endParaRPr lang="en-US" sz="1300">
                        <a:latin typeface="JetBrainsMonoNL NF"/>
                        <a:ea typeface="JetBrainsMonoNL NF"/>
                        <a:cs typeface="JetBrainsMonoNL NF"/>
                      </a:endParaRPr>
                    </a:p>
                  </a:txBody>
                  <a:tcPr marL="73152" marR="73152"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9525" algn="ctr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300">
                          <a:solidFill>
                            <a:schemeClr val="tx1"/>
                          </a:solidFill>
                        </a:rPr>
                        <a:t>67,9</a:t>
                      </a:r>
                      <a:endParaRPr lang="en-US" sz="1300"/>
                    </a:p>
                  </a:txBody>
                  <a:tcPr marL="73152" marR="73152"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9525" algn="ctr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300">
                          <a:solidFill>
                            <a:schemeClr val="tx1"/>
                          </a:solidFill>
                        </a:rPr>
                        <a:t>55,9</a:t>
                      </a:r>
                      <a:endParaRPr lang="en-US" sz="1300"/>
                    </a:p>
                  </a:txBody>
                  <a:tcPr marL="73152" marR="73152"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9525" algn="ctr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300">
                          <a:solidFill>
                            <a:schemeClr val="tx1"/>
                          </a:solidFill>
                        </a:rPr>
                        <a:t>41,7</a:t>
                      </a:r>
                      <a:endParaRPr lang="en-US" sz="1300"/>
                    </a:p>
                  </a:txBody>
                  <a:tcPr marL="73152" marR="73152"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9525" algn="ctr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300">
                          <a:solidFill>
                            <a:schemeClr val="tx1"/>
                          </a:solidFill>
                        </a:rPr>
                        <a:t>4,8</a:t>
                      </a:r>
                      <a:endParaRPr lang="en-US" sz="1300"/>
                    </a:p>
                  </a:txBody>
                  <a:tcPr marL="73152" marR="73152"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9525" algn="ctr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300">
                          <a:solidFill>
                            <a:schemeClr val="tx1"/>
                          </a:solidFill>
                        </a:rPr>
                        <a:t>8,3</a:t>
                      </a:r>
                      <a:endParaRPr lang="en-US" sz="1300"/>
                    </a:p>
                  </a:txBody>
                  <a:tcPr marL="73152" marR="73152"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9525" algn="ctr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300">
                          <a:solidFill>
                            <a:schemeClr val="tx1"/>
                          </a:solidFill>
                        </a:rPr>
                        <a:t>41,6</a:t>
                      </a:r>
                      <a:endParaRPr lang="en-US" sz="1300"/>
                    </a:p>
                  </a:txBody>
                  <a:tcPr marL="73152" marR="73152"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9525" algn="ctr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300" b="1">
                          <a:solidFill>
                            <a:schemeClr val="tx1"/>
                          </a:solidFill>
                        </a:rPr>
                        <a:t>165,7</a:t>
                      </a:r>
                      <a:endParaRPr lang="en-US" sz="1300"/>
                    </a:p>
                  </a:txBody>
                  <a:tcPr marL="73152" marR="73152"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9525" algn="ctr">
                      <a:solidFill>
                        <a:srgbClr val="D0D7DE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300">
                          <a:solidFill>
                            <a:schemeClr val="tx1"/>
                          </a:solidFill>
                        </a:rPr>
                        <a:t>23.10 22:31</a:t>
                      </a:r>
                      <a:endParaRPr lang="en-US" sz="1300"/>
                    </a:p>
                  </a:txBody>
                  <a:tcPr marL="73152" marR="73152"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9525" algn="ctr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300">
                          <a:solidFill>
                            <a:schemeClr val="tx1"/>
                          </a:solidFill>
                        </a:rPr>
                        <a:t>прервано на скачивании</a:t>
                      </a:r>
                      <a:endParaRPr lang="en-US" sz="1300"/>
                    </a:p>
                  </a:txBody>
                  <a:tcPr marL="73152" marR="73152"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9525" algn="ctr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30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300"/>
                    </a:p>
                  </a:txBody>
                  <a:tcPr marL="73152" marR="73152"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9525" algn="ctr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30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300"/>
                    </a:p>
                  </a:txBody>
                  <a:tcPr marL="73152" marR="73152"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9525" algn="ctr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30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300"/>
                    </a:p>
                  </a:txBody>
                  <a:tcPr marL="73152" marR="73152"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9525" algn="ctr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30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300"/>
                    </a:p>
                  </a:txBody>
                  <a:tcPr marL="73152" marR="73152"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9525" algn="ctr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30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300"/>
                    </a:p>
                  </a:txBody>
                  <a:tcPr marL="73152" marR="73152"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9525" algn="ctr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30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300"/>
                    </a:p>
                  </a:txBody>
                  <a:tcPr marL="73152" marR="73152"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9525" algn="ctr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300" b="1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300"/>
                    </a:p>
                  </a:txBody>
                  <a:tcPr marL="73152" marR="73152"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9525" algn="ctr">
                      <a:solidFill>
                        <a:srgbClr val="D0D7DE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300">
                          <a:solidFill>
                            <a:schemeClr val="tx1"/>
                          </a:solidFill>
                        </a:rPr>
                        <a:t>24.10 04:37</a:t>
                      </a:r>
                      <a:endParaRPr lang="en-US" sz="1300"/>
                    </a:p>
                  </a:txBody>
                  <a:tcPr marL="73152" marR="73152"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9525" algn="ctr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300">
                          <a:solidFill>
                            <a:schemeClr val="tx1"/>
                          </a:solidFill>
                          <a:latin typeface="JetBrainsMonoNL NF"/>
                          <a:ea typeface="JetBrainsMonoNL NF"/>
                          <a:cs typeface="JetBrainsMonoNL NF"/>
                        </a:rPr>
                        <a:t>osreboot-wipe</a:t>
                      </a:r>
                      <a:endParaRPr lang="en-US" sz="1300">
                        <a:latin typeface="JetBrainsMonoNL NF"/>
                        <a:ea typeface="JetBrainsMonoNL NF"/>
                        <a:cs typeface="JetBrainsMonoNL NF"/>
                      </a:endParaRPr>
                    </a:p>
                  </a:txBody>
                  <a:tcPr marL="73152" marR="73152"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9525" algn="ctr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300">
                          <a:solidFill>
                            <a:schemeClr val="tx1"/>
                          </a:solidFill>
                        </a:rPr>
                        <a:t>67,4</a:t>
                      </a:r>
                      <a:endParaRPr lang="en-US" sz="1300"/>
                    </a:p>
                  </a:txBody>
                  <a:tcPr marL="73152" marR="73152"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9525" algn="ctr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300">
                          <a:solidFill>
                            <a:schemeClr val="tx1"/>
                          </a:solidFill>
                        </a:rPr>
                        <a:t>57,1</a:t>
                      </a:r>
                      <a:endParaRPr lang="en-US" sz="1300"/>
                    </a:p>
                  </a:txBody>
                  <a:tcPr marL="73152" marR="73152"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9525" algn="ctr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300">
                          <a:solidFill>
                            <a:schemeClr val="tx1"/>
                          </a:solidFill>
                        </a:rPr>
                        <a:t>42,8</a:t>
                      </a:r>
                      <a:endParaRPr lang="en-US" sz="1300"/>
                    </a:p>
                  </a:txBody>
                  <a:tcPr marL="73152" marR="73152"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9525" algn="ctr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300">
                          <a:solidFill>
                            <a:schemeClr val="tx1"/>
                          </a:solidFill>
                        </a:rPr>
                        <a:t>4,7</a:t>
                      </a:r>
                      <a:endParaRPr lang="en-US" sz="1300"/>
                    </a:p>
                  </a:txBody>
                  <a:tcPr marL="73152" marR="73152"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9525" algn="ctr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300">
                          <a:solidFill>
                            <a:schemeClr val="tx1"/>
                          </a:solidFill>
                        </a:rPr>
                        <a:t>8,4</a:t>
                      </a:r>
                      <a:endParaRPr lang="en-US" sz="1300"/>
                    </a:p>
                  </a:txBody>
                  <a:tcPr marL="73152" marR="73152"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9525" algn="ctr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300">
                          <a:solidFill>
                            <a:schemeClr val="tx1"/>
                          </a:solidFill>
                        </a:rPr>
                        <a:t>39,9</a:t>
                      </a:r>
                      <a:endParaRPr lang="en-US" sz="1300"/>
                    </a:p>
                  </a:txBody>
                  <a:tcPr marL="73152" marR="73152"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9525" algn="ctr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300" b="1">
                          <a:solidFill>
                            <a:schemeClr val="tx1"/>
                          </a:solidFill>
                        </a:rPr>
                        <a:t>164,8</a:t>
                      </a:r>
                      <a:endParaRPr lang="en-US" sz="1300"/>
                    </a:p>
                  </a:txBody>
                  <a:tcPr marL="73152" marR="73152"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9525" algn="ctr">
                      <a:solidFill>
                        <a:srgbClr val="D0D7DE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300">
                          <a:solidFill>
                            <a:schemeClr val="tx1"/>
                          </a:solidFill>
                        </a:rPr>
                        <a:t>24.10 07:57</a:t>
                      </a:r>
                      <a:endParaRPr lang="en-US" sz="1300"/>
                    </a:p>
                  </a:txBody>
                  <a:tcPr marL="73152" marR="73152"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9525" algn="ctr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300">
                          <a:solidFill>
                            <a:schemeClr val="tx1"/>
                          </a:solidFill>
                          <a:latin typeface="JetBrainsMonoNL NF"/>
                          <a:ea typeface="JetBrainsMonoNL NF"/>
                          <a:cs typeface="JetBrainsMonoNL NF"/>
                        </a:rPr>
                        <a:t>osreboot-wipe</a:t>
                      </a:r>
                      <a:endParaRPr lang="en-US" sz="1300">
                        <a:latin typeface="JetBrainsMonoNL NF"/>
                        <a:ea typeface="JetBrainsMonoNL NF"/>
                        <a:cs typeface="JetBrainsMonoNL NF"/>
                      </a:endParaRPr>
                    </a:p>
                  </a:txBody>
                  <a:tcPr marL="73152" marR="73152"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9525" algn="ctr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300">
                          <a:solidFill>
                            <a:schemeClr val="tx1"/>
                          </a:solidFill>
                        </a:rPr>
                        <a:t>69,2</a:t>
                      </a:r>
                      <a:endParaRPr lang="en-US" sz="1300"/>
                    </a:p>
                  </a:txBody>
                  <a:tcPr marL="73152" marR="73152"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9525" algn="ctr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300">
                          <a:solidFill>
                            <a:schemeClr val="tx1"/>
                          </a:solidFill>
                        </a:rPr>
                        <a:t>55,7</a:t>
                      </a:r>
                      <a:endParaRPr lang="en-US" sz="1300"/>
                    </a:p>
                  </a:txBody>
                  <a:tcPr marL="73152" marR="73152"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9525" algn="ctr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300">
                          <a:solidFill>
                            <a:schemeClr val="tx1"/>
                          </a:solidFill>
                        </a:rPr>
                        <a:t>41,5</a:t>
                      </a:r>
                      <a:endParaRPr lang="en-US" sz="1300"/>
                    </a:p>
                  </a:txBody>
                  <a:tcPr marL="73152" marR="73152"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9525" algn="ctr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300">
                          <a:solidFill>
                            <a:schemeClr val="tx1"/>
                          </a:solidFill>
                        </a:rPr>
                        <a:t>4,8</a:t>
                      </a:r>
                      <a:endParaRPr lang="en-US" sz="1300"/>
                    </a:p>
                  </a:txBody>
                  <a:tcPr marL="73152" marR="73152"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9525" algn="ctr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300">
                          <a:solidFill>
                            <a:schemeClr val="tx1"/>
                          </a:solidFill>
                        </a:rPr>
                        <a:t>8,3</a:t>
                      </a:r>
                      <a:endParaRPr lang="en-US" sz="1300"/>
                    </a:p>
                  </a:txBody>
                  <a:tcPr marL="73152" marR="73152"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9525" algn="ctr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300">
                          <a:solidFill>
                            <a:schemeClr val="tx1"/>
                          </a:solidFill>
                        </a:rPr>
                        <a:t>39,3</a:t>
                      </a:r>
                      <a:endParaRPr lang="en-US" sz="1300"/>
                    </a:p>
                  </a:txBody>
                  <a:tcPr marL="73152" marR="73152"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9525" algn="ctr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300" b="1">
                          <a:solidFill>
                            <a:schemeClr val="tx1"/>
                          </a:solidFill>
                        </a:rPr>
                        <a:t>165,2</a:t>
                      </a:r>
                      <a:endParaRPr lang="en-US" sz="1300"/>
                    </a:p>
                  </a:txBody>
                  <a:tcPr marL="73152" marR="73152"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9525" algn="ctr">
                      <a:solidFill>
                        <a:srgbClr val="D0D7DE"/>
                      </a:solidFill>
                    </a:lnB>
                  </a:tcPr>
                </a:tc>
              </a:tr>
              <a:tr h="411480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300" b="1">
                          <a:solidFill>
                            <a:schemeClr val="tx1"/>
                          </a:solidFill>
                        </a:rPr>
                        <a:t>Медиана</a:t>
                      </a:r>
                      <a:endParaRPr lang="en-US" sz="1300"/>
                    </a:p>
                  </a:txBody>
                  <a:tcPr marL="73152" marR="73152"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9525" algn="ctr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300" b="1">
                          <a:solidFill>
                            <a:schemeClr val="tx1"/>
                          </a:solidFill>
                        </a:rPr>
                        <a:t>полные прогоны</a:t>
                      </a:r>
                      <a:endParaRPr lang="en-US" sz="1300"/>
                    </a:p>
                  </a:txBody>
                  <a:tcPr marL="73152" marR="73152"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9525" algn="ctr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300" b="1">
                          <a:solidFill>
                            <a:schemeClr val="tx1"/>
                          </a:solidFill>
                        </a:rPr>
                        <a:t>68,0</a:t>
                      </a:r>
                      <a:endParaRPr lang="en-US" sz="1300"/>
                    </a:p>
                  </a:txBody>
                  <a:tcPr marL="73152" marR="73152"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9525" algn="ctr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300" b="1">
                          <a:solidFill>
                            <a:schemeClr val="tx1"/>
                          </a:solidFill>
                        </a:rPr>
                        <a:t>55,8</a:t>
                      </a:r>
                      <a:endParaRPr lang="en-US" sz="1300"/>
                    </a:p>
                  </a:txBody>
                  <a:tcPr marL="73152" marR="73152"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9525" algn="ctr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300" b="1">
                          <a:solidFill>
                            <a:schemeClr val="tx1"/>
                          </a:solidFill>
                        </a:rPr>
                        <a:t>41,6</a:t>
                      </a:r>
                      <a:endParaRPr lang="en-US" sz="1300"/>
                    </a:p>
                  </a:txBody>
                  <a:tcPr marL="73152" marR="73152"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9525" algn="ctr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300" b="1">
                          <a:solidFill>
                            <a:schemeClr val="tx1"/>
                          </a:solidFill>
                        </a:rPr>
                        <a:t>4,8</a:t>
                      </a:r>
                      <a:endParaRPr lang="en-US" sz="1300"/>
                    </a:p>
                  </a:txBody>
                  <a:tcPr marL="73152" marR="73152"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9525" algn="ctr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300" b="1">
                          <a:solidFill>
                            <a:schemeClr val="tx1"/>
                          </a:solidFill>
                        </a:rPr>
                        <a:t>8,3</a:t>
                      </a:r>
                      <a:endParaRPr lang="en-US" sz="1300"/>
                    </a:p>
                  </a:txBody>
                  <a:tcPr marL="73152" marR="73152"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9525" algn="ctr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300" b="1">
                          <a:solidFill>
                            <a:schemeClr val="tx1"/>
                          </a:solidFill>
                        </a:rPr>
                        <a:t>40,2</a:t>
                      </a:r>
                      <a:endParaRPr lang="en-US" sz="1300"/>
                    </a:p>
                  </a:txBody>
                  <a:tcPr marL="73152" marR="73152"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9525" algn="ctr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300" b="1">
                          <a:solidFill>
                            <a:schemeClr val="tx1"/>
                          </a:solidFill>
                        </a:rPr>
                        <a:t>165,0</a:t>
                      </a:r>
                      <a:endParaRPr lang="en-US" sz="1300"/>
                    </a:p>
                  </a:txBody>
                  <a:tcPr marL="73152" marR="73152"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9525" algn="ctr">
                      <a:solidFill>
                        <a:srgbClr val="D0D7DE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386277933" name="Text 2"/>
          <p:cNvSpPr txBox="1"/>
          <p:nvPr/>
        </p:nvSpPr>
        <p:spPr bwMode="auto">
          <a:xfrm>
            <a:off x="640080" y="51206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accent4"/>
                </a:solidFill>
              </a:rPr>
              <a:t>По часам сервера (outages.csv). «Без стирания» — запуск из основной системы: весь простой тестовой системы для таких прогонов не определён. 23.10 в 22:31 канал до VPS упал до 0,25 MiB/s, и скачивание прервалось.</a:t>
            </a:r>
            <a:endParaRPr lang="en-US" sz="1300"/>
          </a:p>
        </p:txBody>
      </p:sp>
      <p:sp>
        <p:nvSpPr>
          <p:cNvPr id="507635110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0820095" y="6382512"/>
            <a:ext cx="73152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9636E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_rels/theme3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Sreboot">
  <a:themeElements>
    <a:clrScheme name="OSreboot">
      <a:dk1>
        <a:srgbClr val="1F2328"/>
      </a:dk1>
      <a:lt1>
        <a:srgbClr val="FFFFFF"/>
      </a:lt1>
      <a:dk2>
        <a:srgbClr val="1F2328"/>
      </a:dk2>
      <a:lt2>
        <a:srgbClr val="F6F8FA"/>
      </a:lt2>
      <a:accent1>
        <a:srgbClr val="D9480F"/>
      </a:accent1>
      <a:accent2>
        <a:srgbClr val="2B8A3E"/>
      </a:accent2>
      <a:accent3>
        <a:srgbClr val="C92A2A"/>
      </a:accent3>
      <a:accent4>
        <a:srgbClr val="59636E"/>
      </a:accent4>
      <a:accent5>
        <a:srgbClr val="D0D7DE"/>
      </a:accent5>
      <a:accent6>
        <a:srgbClr val="FFF0E0"/>
      </a:accent6>
      <a:hlink>
        <a:srgbClr val="D9480F"/>
      </a:hlink>
      <a:folHlink>
        <a:srgbClr val="D9480F"/>
      </a:folHlink>
    </a:clrScheme>
    <a:fontScheme name="OSreboo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Sreboot">
  <a:themeElements>
    <a:clrScheme name="OSreboot">
      <a:dk1>
        <a:srgbClr val="1F2328"/>
      </a:dk1>
      <a:lt1>
        <a:srgbClr val="FFFFFF"/>
      </a:lt1>
      <a:dk2>
        <a:srgbClr val="1F2328"/>
      </a:dk2>
      <a:lt2>
        <a:srgbClr val="F6F8FA"/>
      </a:lt2>
      <a:accent1>
        <a:srgbClr val="D9480F"/>
      </a:accent1>
      <a:accent2>
        <a:srgbClr val="2B8A3E"/>
      </a:accent2>
      <a:accent3>
        <a:srgbClr val="C92A2A"/>
      </a:accent3>
      <a:accent4>
        <a:srgbClr val="59636E"/>
      </a:accent4>
      <a:accent5>
        <a:srgbClr val="D0D7DE"/>
      </a:accent5>
      <a:accent6>
        <a:srgbClr val="FFF0E0"/>
      </a:accent6>
      <a:hlink>
        <a:srgbClr val="D9480F"/>
      </a:hlink>
      <a:folHlink>
        <a:srgbClr val="D9480F"/>
      </a:folHlink>
    </a:clrScheme>
    <a:fontScheme name="OSreboo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3.xml><?xml version="1.0" encoding="utf-8"?>
<a:theme xmlns:a="http://schemas.openxmlformats.org/drawingml/2006/main" xmlns:r="http://schemas.openxmlformats.org/officeDocument/2006/relationships" xmlns:p="http://schemas.openxmlformats.org/presentationml/2006/main" name="OSreboot">
  <a:themeElements>
    <a:clrScheme name="OSreboot">
      <a:dk1>
        <a:srgbClr val="1F2328"/>
      </a:dk1>
      <a:lt1>
        <a:srgbClr val="FFFFFF"/>
      </a:lt1>
      <a:dk2>
        <a:srgbClr val="1F2328"/>
      </a:dk2>
      <a:lt2>
        <a:srgbClr val="F6F8FA"/>
      </a:lt2>
      <a:accent1>
        <a:srgbClr val="D9480F"/>
      </a:accent1>
      <a:accent2>
        <a:srgbClr val="2B8A3E"/>
      </a:accent2>
      <a:accent3>
        <a:srgbClr val="C92A2A"/>
      </a:accent3>
      <a:accent4>
        <a:srgbClr val="59636E"/>
      </a:accent4>
      <a:accent5>
        <a:srgbClr val="D0D7DE"/>
      </a:accent5>
      <a:accent6>
        <a:srgbClr val="FFF0E0"/>
      </a:accent6>
      <a:hlink>
        <a:srgbClr val="D9480F"/>
      </a:hlink>
      <a:folHlink>
        <a:srgbClr val="D9480F"/>
      </a:folHlink>
    </a:clrScheme>
    <a:fontScheme name="OSreboo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ONLYOFFICE/10.0.0.169</Application>
  <PresentationFormat>On-screen Show (4:3)</PresentationFormat>
  <Paragraphs>0</Paragraphs>
  <Slides>28</Slides>
  <Notes>28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OSreboot</dc:title>
  <dc:subject>PptxGenJS Presentation</dc:subject>
  <dc:creator>Рыжов Иван</dc:creator>
  <cp:lastModifiedBy/>
  <cp:revision>2</cp:revision>
  <dcterms:created xsi:type="dcterms:W3CDTF">2026-10-30T22:19:41Z</dcterms:created>
  <dcterms:modified xsi:type="dcterms:W3CDTF">2026-10-31T01:51:55Z</dcterms:modified>
</cp:coreProperties>
</file>