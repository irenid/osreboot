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bc60a30b-f2de-2c51-5a76-93f63d4021b5}">
          <p14:sldIdLst>
            <p14:sldId id="256"/>
            <p14:sldId id="257"/>
            <p14:sldId id="258"/>
            <p14:sldId id="259"/>
            <p14:sldId id="260"/>
          </p14:sldIdLst>
        </p14:section>
        <p14:section name="Как устроено" id="{f44da49a-c10d-b75a-b791-16006b62a12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Результаты" id="{b96463b3-0d8e-dbff-c5dc-bb58197e1f4f}">
          <p14:sldIdLst>
            <p14:sldId id="270"/>
            <p14:sldId id="271"/>
            <p14:sldId id="272"/>
            <p14:sldId id="273"/>
          </p14:sldIdLst>
        </p14:section>
        <p14:section name="Демонстрация" id="{50bfdcd5-6bc3-470f-bfdc-c78590be19ae}">
          <p14:sldIdLst>
            <p14:sldId id="274"/>
          </p14:sldIdLst>
        </p14:section>
        <p14:section name="Итоги" id="{12cd9696-854d-5899-cbcf-936f4616c488}">
          <p14:sldIdLst>
            <p14:sldId id="275"/>
            <p14:sldId id="276"/>
            <p14:sldId id="277"/>
          </p14:sldIdLst>
        </p14:section>
        <p14:section name="Запасные слайды" id="{a653de83-1a82-89e0-b62d-102a62cf537d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1B1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B1B19"/>
                </a:solidFill>
                <a:latin typeface="+mn-lt"/>
              </a:rPr>
              <a:t>Весь простой по прогонам (МСК), секунды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Весь простой, с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 с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23.10, 06:30</c:v>
                  </c:pt>
                  <c:pt idx="1">
                    <c:v>23.10, 18:53</c:v>
                  </c:pt>
                  <c:pt idx="2">
                    <c:v>24.10, 04:37</c:v>
                  </c:pt>
                  <c:pt idx="3">
                    <c:v>24.10, 07:57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164</c:v>
                </c:pt>
                <c:pt idx="1">
                  <c:v>165.7</c:v>
                </c:pt>
                <c:pt idx="2">
                  <c:v>164.8</c:v>
                </c:pt>
                <c:pt idx="3">
                  <c:v>165.2</c:v>
                </c:pt>
              </c:numCache>
            </c:numRef>
          </c:val>
        </c:ser>
        <c:dLbls>
          <c:numFmt formatCode="0.0&quot; с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1B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6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b"/>
        <c:majorGridlines>
          <c:spPr>
            <a:ln w="12700" cap="flat">
              <a:solidFill>
                <a:srgbClr val="DD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6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0:25 · по плану закончить к 0:25
ГЛАВНОЕ: представиться и одной фразой сказать, что будет показано вживую.
• «Здравствуйте! Меня зовут …. Тема — OSreboot: ноутбук, который сам поднимает уничтоженную систему через интернет».
• «В конце я сотру систему на этом ноутбуке прямо здесь — и посмотрим, поднимется ли он сам».
ПЕРЕХОД: «Но сначала — вопрос к вам».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0:20 · по плану закончить к 0:45
СПРОСИ: прочитай вопрос вслух. «Поднимите руку: кто за А? За Б? За В?» Подними руку сам — так залу проще включиться.
ЖДИ 3–5 секунд. Если молчат: «Обычно отвечают А — позвонить тому, кто рядом».
ДАЛЬШЕ: щёлкни — откроется ответ.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0:30 · по плану закончить к 1:15
ГЛАВНОЕ: у сервера есть BMC, у ноутбука — нет.
• «В — так умеет сервер в дата-центре: у него есть BMC — отдельный маленький компьютер на плате. Через него включают питание, видят экран и ставят систему по сети».
• «У ноутбука и домашнего ПК BMC нет. Остаются флешка или поездка — простой на часы и дни».
• «Мой вопрос: можно ли сделать вариант В без BMC?»
ЕСЛИ СПРОСЯТ «А Intel vPro / AMT?» — «Это то же удалённое управление в железе, оно есть не у всех. Я хотел обойтись без него».
ПЕРЕХОД: «Отсюда цель работы».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1:55
ГЛАВНОЕ: прочитай заголовок — это цель одной фразой.
• Четыре требования слева направо: без BMC и помощника рядом; без человека; безопасно; измеримо.
• Подчеркни «измеримо»: «Простой меряет внешний сервер, а не сам ноутбук — поэтому цифрам можно верить».
• «Всё — открытыми средствами: UEFI, iPXE, Linux, systemd».
ПЕРЕХОД: «Почему не взять готовое решение?»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2:35
ГЛАВНОЕ: каждое готовое решение закрывает задачу только частично. Слайд можно пропустить, если не хватает времени.
• «Я разобрал 82 источника. Производители — Dell, HP, Apple — восстанавливают только свою ОС со своих серверов. Дата-центр — MAAS, Ironic — нужны BMC и своя сеть. Образы дисков — Clonezilla — запускает человек. Обновления с откатом не переживают стирания диска».
• «И никто не меряет простой».
• Честно: «У OSreboot в первом столбце тоже половинка: восстановление запускает команда затирания, а не сама поломка. Вернусь к этому в ограничениях».
ЕСЛИ СПРОСЯТ «Dell BIOSConnect делает то же самое?» — «Только Windows, только со своих серверов, код закрыт, простой не меряет».
ЕСЛИ НЕ ХВАТАЕТ ВРЕМЕНИ: одна фраза «готовые решения закрывают задачу по частям» — и дальше.
ПЕРЕХОД: «Главная техническая загадка — откуда грузиться, если диск стёрт».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0:20 · по плану закончить к 2:55
СПРОСИ: «Диск стёрт. Откуда загрузиться? Кто за флешку? За PXE? За прошивку?»
ЖДИ 3–5 секунд.
ДАЛЬШЕ: щёлкни — все три варианта окажутся зачёркнуты. В этом и интрига.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3:35
ГЛАВНОЕ: ни один вариант не подошёл, поэтому iPXE лежит на диске.
• «А — нужен человек. Б — нужна своя сеть с DHCP- и TFTP-сервером рядом, в чужой аудитории её нет».
• «В я очень хотел: UEFI HTTP Boot. Но прошивка этого ноутбука удалила мою загрузочную запись с адресом сервера при следующем включении — даже не обратившись к серверу. HTTPS она не умеет, а адрес берёт только у DHCP-сервера сети».
• «Решение: iPXE — сетевой загрузчик с HTTPS — лежит на основном разделе EFI, который затирание не трогает. Его один раз запускает systemd-boot».
ЕСЛИ СПРОСЯТ «А перепрошить BIOS?» — «Неудачная запись превращает ноутбук в кирпич, без программатора его не поднять. Отказался».
ЕСЛИ СПРОСЯТ «iPXE на том же диске — не жульничество?» — «Стирается тестовая система, а iPXE играет роль BMC: он должен пережить поломку. Стирание всего диска — ограничение, оно в конце».
ПЕРЕХОД: «Вот как это выглядит целиком».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0:45 · по плану закончить к 4:20
ГЛАВНОЕ: что стирается, что остаётся и что идёт по сети.
• Слева ноутбук. Основную систему и её раздел EFI (тёмно-синие) не трогаем; два оранжевых тестовых раздела стираем и восстанавливаем.
• На основном разделе EFI лежат systemd-boot и iPXE — они переживают затирание.
• Среда восстановления — Linux в одном файле, 132 MiB. Она работает из памяти, поэтому может переписывать диск.
• Справа VPS: nginx с HTTPS и сервер на Node.js без внешних зависимостей. Он раздаёт файлы, принимает сигналы, считает простой и показывает страницу.
• По сети к ноутбуку идут файлы, около 540 MiB; обратно — сигнал раз в секунду и этапы.
ПЕРЕХОД: «Теперь по шагам».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1:05 · по плану закончить к 5:25
ГЛАВНОЕ: 4 фазы и 8 этапов. Эти же 8 названий будут на странице состояния во время демо.
• 1. Стирание: osreboot-wipe сначала проверяет, что после сброса запустится iPXE, ставит одноразовую запись, затирает по 64 MiB в начале двух разделов и сбрасывает машину.
• 2–3. Сетевая загрузка, около 68 с: прошивка → systemd-boot → iPXE. Он получает адрес, находит сервер и по HTTPS качает среду восстановления. Доверяет только сертификатам Let’s Encrypt.
• 4–7. В памяти, около 56 с: находит разделы по меткам, качает образы, проверяет SHA-256, пишет, читает обратно, ставит BootNext.
• 8. Возврат, около 41 с: загрузка восстановленной системы, первый сигнал закрывает простой.
ЕСЛИ СПРОСЯТ «Почему iPXE не через BootNext прошивки?» — «Прошивка Insyde дважды записала свою запись под нужным номером и загрузила старую систему. Одноразовая запись systemd-boot надёжнее: от прошивки нужна только первая запись BootOrder».
ЕСЛИ СПРОСЯТ «Что такое UKI?» — «Ядро, начальный образ и параметры в одном файле .efi; его можно запустить как обычную программу UEFI».
ПЕРЕХОД: «А как сервер понимает, что ноутбук лёг и встал?»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6:05
ГЛАВНОЕ: простой — от последнего сигнала до первого, по часам сервера.
• «Ноутбук раз в секунду шлёт heartbeat — "я жив" и boot ID».
• «Нет сигналов 3 секунды — сервер открывает простой. Но началом считается последний сигнал, а концом — первый после. Оба времени — по часам сервера».
• «Поэтому таймаут влияет только на то, когда простой станет виден, а не на его длину. И неверные часы ноутбука замер не портят».
СПРОСИ (внизу слайда): «А если перезагрузка за 2 секунды — быстрее таймаута? Сервер заметит? Да или нет?» Жди 3 секунды и щёлкни.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0:15 · по плану закончить к 6:20
• «Да. Ядро Linux при каждой загрузке придумывает новый случайный boot ID. Новый ID в сигнале значит, что была перезагрузка, — и это простой, даже короткий».
ПЕРЕХОД: «Ещё одна загадка — пароли».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0:20 · по плану закончить к 6:40
КОНТЕКСТ: «Образы лежат на сервере открыто — их качают iPXE и среда восстановления, пока у машины нет ни одного пароля. А ноутбуку нужен пароль, чтобы сервер верил его сигналам».
СПРОСИ: «Где его хранить? А, Б или В?» Жди 3–5 секунд и щёлкни.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7:20
ГЛАВНОЕ: TPM — сейф, ключ от которого вварен в этот ноутбук.
• «А — любой скачает образ и будет слать сигналы от имени ноутбука. Б — копия диска значит копию пароля, а диск можно стереть».
• «В — TPM: чип в ноутбуке, который шифрует так, что расшифровать может только он. Его ключ никогда не покидает чип».
• Схема внизу: «Токен шифрует TPM, в образ кладётся только шифровка. Скачать её может любой, расшифровать — только этот ноутбук».
• «Так же зашифрованы SSH-ключи туннеля. А сервер хранит только SHA-256 токена».
ЕСЛИ СПРОСЯТ «А root на этом ноутбуке расшифрует?» — «Да: привязки к PCR нет, иначе тестовая система и среда восстановления не смогли бы расшифровать. TPM защищает от копирования на другой компьютер, а не от того, кто уже управляет ноутбуком».
ЕСЛИ СПРОСЯТ «А если сбросить TPM?» — «Шифровки станут бесполезны: ключи и токен создаются заново, образы пересобираются».
ПЕРЕХОД: «Восстановление пишет на диск — значит, нужны предохранители».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8:00
ГЛАВНОЕ: три вопроса — куда пишет, что пишет, что будет, если сломалось.
• Куда: только два раздела с нужными метками, каждая ровно одна; тип, файловая система и размер до 4 и 128 GiB; раздел не смонтирован; сама работает из памяти.
• Что: HTTPS с проверкой сертификата, SHA-256 до записи, чтение обратно после.
• Если сломалось: iPXE перезагружает машину через 60 с, среда восстановления — через 20 минут, оставив вход по SSH; зависшее скачивание повторяется.
ПЕРЕД СЛЕДУЮЩИМ СЛАЙДОМ СПРОСИ: «Как думаете, сколько длится простой? Минута? Десять?» — и щёлкни.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0:35 · по плану закончить к 8:35
ГЛАВНОЕ: около 165 секунд — меньше трёх минут без человека.
• «165 секунд — медиана четырёх полных прогонов со стиранием, от 164,0 до 165,7 с».
• «Разброс меньше двух секунд — процесс почти детерминирован. Но это один ноутбук и одна сеть: это ещё не статистика».
• «Скачивание упиралось в порт ноутбука на 100 Мбит/с».
ПЕРЕХОД: «А на что уходят эти секунды? Ещё один вопрос».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0:20 · по плану закончить к 8:55
СПРОСИ: «Что заняло больше всего: скачивание 537 мегабайт, проверка и запись или загрузки машины?» Посчитай руки.
ЖДИ 5 секунд. Обычно выбирают А — тем интереснее ответ.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0:45 · по плану закончить к 9:40
ГЛАВНОЕ: ответ В. Две загрузки машины — 57 % простоя.
• Пройди по шкале сверху вниз: сброс и прошивка до iPXE — 24 с; скачивание среды — 15; старт Linux в памяти — 28; образы — 42; проверка и запись — 13; перезагрузка до сигнала — 42.
• «Загрузки машины — 94,5 с, больше половины. Скачивание — 57 с, треть. Проверка и запись — 13 с».
• Вывод: «Быстрый интернет даст меньше, чем кажется. Ускорять нужно загрузки: меньший образ среды восстановления и kexec вместо второго прохода прошивки».
• «Скачивание упиралось в 100-мегабитный порт ноутбука: 11 MiB/с — 98 % предела».
ЗАПАСНОЙ ВАРИАНТ ДЕМО: если на демонстрации подведёт сеть, вернись сюда по ссылке со слайда демо и расскажи прогон по шкале.
ПЕРЕХОД: «Получилось не с первого раза».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0:45 · по плану закончить к 10:25
ГЛАВНОЕ: 2–3 истории, коротко. Слайд можно пропустить и рассказать эти истории во время демо, пока идёт сетевая загрузка.
• Прошивка удаляла запись с адресом сервера — поэтому iPXE лежит на диске.
• BootNext дважды загрузил старую систему: прошивка Insyde записала свою запись под нужным номером. Перешёл на одноразовую запись systemd-boot.
• Домашний роутер отвечал на DNS ошибкой — повторы и публичные DNS-серверы.
• После сброса старая SSH-сессия часами держала порт — туннель через Unix-сокет.
ЕЩЁ (если спросят): snponly.efi не видел сетевую карту — собрал полный ipxe.efi с собственными драйверами.
ПЕРЕХОД: «Хватит слов — давайте сотрём систему».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4:00 · по плану закончить к 14:25
ПЕРЕД СТАРТОМ:
• QR на экране 10 секунд: «Откройте на телефоне — увидите то же, что и я».
• На странице ноутбук «на связи», сигнал приходит раз в секунду.
• На ноутбуке: osreboot-wipe без --apply — проверки проходят.
• Посмотри на часы и нажми Enter: osreboot-wipe --apply. Переключи экран на страницу состояния.
ЧТО ГОВОРИТЬ (секунды от Enter):
0 — «Скрипт поставил одноразовую запись iPXE, остановил сигналы, затёр по 64 MiB и сбросил машину. Системы больше нет».
0–24 — пустое время: расскажи, почему iPXE лежит на диске (история про прошивку, слайд «Что пошло не по плану»).
24 — «iPXE нашёл сервер и качает среду восстановления по HTTPS, 132 MiB».
40 — «Стартует Linux целиком в памяти, около 28 секунд».
69 — «Среда восстановления отчиталась и нашла разделы. Качаются образы, 405 MiB, около 11 MiB/с».
111 — «Проверка SHA-256: не совпадёт хоть один байт — ничего не запишется».
116 — «Запись, чтение обратно и сверка, потом BootNext».
124 — «Перезагрузка в восстановленную систему. Ждём первый сигнал с новым boot ID».
≈166 — «Вот он! Смотрим цифру простоя на странице. Строка с этапами записалась в outages.csv».
ЕСЛИ СЕТЬ МЕДЛЕННЕЕ: скачивание растянется — комментируй проценты на странице.
ЕСЛИ СЛОМАЛОСЬ: «Сработал предохранитель: через 60 секунд или 20 минут машина сама вернётся в свою систему». Нажми кнопку внизу слайда — откроется слайд 17 с записью прогона — или включи запасное видео.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0:40 · по плану закончить к 15:05
СПРОСИ (по желанию): «Что будет, если стереть весь диск целиком?» → «iPXE пропадёт, и цепочка оборвётся. Это главное ограничение».
• Пройди по строкам: слева ограничение, справа — что с ним делать.
• Особо: «Запускает восстановление команда затирания. Настоящую поломку должен ловить счётчик неудачных загрузок в systemd-boot».
• «Цепочка не подписана: кто управляет сервером, тот управляет восстановлением. Следующий шаг — подпись и Secure Boot».
ПЕРЕХОД: «Итоги».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0:25 · по плану закончить к 15:30
• «Помните первый вопрос? Вариант В — починить удалённо — теперь есть и у ноутбука без BMC».
• Три пункта: работает; около 165 секунд, больше половины — загрузки; открыто и измеримо.
• «Спасибо за внимание! Готов ответить на вопросы».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сколько понадобится
• Слева QR-коды: репозиторий и страница состояния.
• Справа кнопки на запасные слайды: репозиторий, секреты, таблица всех прогонов. На каждом запасном слайде есть кнопка «к вопросам».
• Не знаешь ответа: «Хороший вопрос. Это я не проверял; проверил бы так: …».
ЧАСТЫЕ ВОПРОСЫ:
• Сколько прогонов? — 6 полных прогонов среды восстановления, из них 4 со стиранием.
• Что если VPS недоступен? — iPXE не скачает boot.ipxe и через 60 с перезагрузит машину; одноразовая запись уже израсходована, поэтому загрузится основная система.
• Почему не BootNext? — прошивка дважды подменила запись; одноразовая запись systemd-boot надёжнее.
• Чем это лучше переустановки с флешки? — не нужен человек рядом, и простой измерен.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сколько понадобится
Покажи нужную папку и одной фразой скажи, что в ней. Подробности — в README, раздел «Приложение. Как запустить».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сколько понадобится
Веди по шагам 1→6. Главная мысль: открытым токен есть только при создании и в памяти во время работы; сервер хранит только хеш.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ВРЕМЯ: сколько понадобится
Покажи, что разброс маленький: среда восстановления 54,0–57,1 с, весь простой 164,0–165,7 с. Прерванный прогон — честно: канал до VPS тогда упал до 0,25 MiB/s.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691640"/>
            <a:ext cx="105156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063240"/>
            <a:ext cx="10058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</a:rPr>
              <a:t>OSreboot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alpha val="9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317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?   ВОПРОС ЗАЛУ</a:t>
            </a:r>
            <a:endParaRPr lang="en-US" sz="15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</a:rPr>
              <a:t>OSreboot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D1"/>
                </a:solidFill>
              </a:rPr>
              <a:t>OSreboot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3D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ЗАПАСНОЙ СЛАЙД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1440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3"/>
                </a:solidFill>
              </a:rPr>
              <a:t>OSreboot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osreboot.epsti.site/" TargetMode="External"/><Relationship Id="rId3" Type="http://schemas.openxmlformats.org/officeDocument/2006/relationships/slide" Target="slide17.xml"/><Relationship Id="rId1" Type="http://schemas.openxmlformats.org/officeDocument/2006/relationships/image" Target="../media/image-19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renid/OSreboot" TargetMode="External"/><Relationship Id="rId4" Type="http://schemas.openxmlformats.org/officeDocument/2006/relationships/hyperlink" Target="https://osreboot.epsti.site/" TargetMode="Externa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image" Target="../media/image-23-1.png"/><Relationship Id="rId3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image" Target="../media/image-23-6.png"/><Relationship Id="rId8" Type="http://schemas.openxmlformats.org/officeDocument/2006/relationships/image" Target="../media/image-23-7.png"/><Relationship Id="rId9" Type="http://schemas.openxmlformats.org/officeDocument/2006/relationships/image" Target="../media/image-23-8.png"/><Relationship Id="rId10" Type="http://schemas.openxmlformats.org/officeDocument/2006/relationships/image" Target="../media/image-23-9.png"/><Relationship Id="rId11" Type="http://schemas.openxmlformats.org/officeDocument/2006/relationships/image" Target="../media/image-23-10.pn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6916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sz="8000" b="1" dirty="0">
                <a:solidFill>
                  <a:schemeClr val="bg1"/>
                </a:solidFill>
              </a:rPr>
              <a:t>OSreboot</a:t>
            </a:r>
            <a:endParaRPr lang="ru-RU" sz="8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063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000" dirty="0">
                <a:solidFill>
                  <a:schemeClr val="bg2"/>
                </a:solidFill>
              </a:rPr>
              <a:t>Ноутбук сам восстанавливает стёртую систему через интернет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b="1" spc="300" kern="0" dirty="0">
                <a:solidFill>
                  <a:schemeClr val="accent1"/>
                </a:solidFill>
              </a:rPr>
              <a:t>КУРСОВОЙ ПРОЕКТ · 2026</a:t>
            </a:r>
            <a:endParaRPr lang="ru-RU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4480560"/>
            <a:ext cx="7040880" cy="0"/>
          </a:xfrm>
          <a:prstGeom prst="line">
            <a:avLst/>
          </a:prstGeom>
          <a:noFill/>
          <a:ln w="25400">
            <a:solidFill>
              <a:srgbClr val="B9C3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34340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4343400"/>
            <a:ext cx="274320" cy="274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3434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27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bg2"/>
                </a:solidFill>
              </a:rPr>
              <a:t>система стёрта</a:t>
            </a:r>
            <a:endParaRPr lang="ru-RU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727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300" dirty="0">
                <a:solidFill>
                  <a:schemeClr val="bg2"/>
                </a:solidFill>
              </a:rPr>
              <a:t>снова на связи</a:t>
            </a:r>
            <a:endParaRPr lang="ru-RU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4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без BMC</a:t>
            </a:r>
            <a:endParaRPr lang="ru-RU" sz="1600" dirty="0"/>
          </a:p>
        </p:txBody>
      </p:sp>
      <p:sp>
        <p:nvSpPr>
          <p:cNvPr id="17" name="Text 15"/>
          <p:cNvSpPr/>
          <p:nvPr/>
        </p:nvSpPr>
        <p:spPr>
          <a:xfrm>
            <a:off x="2331720" y="5120640"/>
            <a:ext cx="3246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4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без флешки и человека рядом</a:t>
            </a:r>
            <a:endParaRPr lang="ru-RU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5120640"/>
            <a:ext cx="214884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4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с замером простоя</a:t>
            </a:r>
            <a:endParaRPr lang="ru-RU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2"/>
                </a:solidFill>
              </a:rPr>
              <a:t>[Имя Фамилия] · [группа] · руководитель: [Фамилия И. О.]</a:t>
            </a:r>
            <a:endParaRPr lang="ru-RU" sz="1700" dirty="0"/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Компьютер в другом городе не загружается: система на диске уничтожена. Что вы сделаете?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Попрошу кого-нибудь вставить флешку</a:t>
            </a:r>
            <a:endParaRPr lang="ru-RU" sz="2100" dirty="0"/>
          </a:p>
        </p:txBody>
      </p:sp>
      <p:sp>
        <p:nvSpPr>
          <p:cNvPr id="6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Поеду и переустановлю систему сам</a:t>
            </a:r>
            <a:endParaRPr lang="ru-RU" sz="2100" dirty="0"/>
          </a:p>
        </p:txBody>
      </p:sp>
      <p:sp>
        <p:nvSpPr>
          <p:cNvPr id="9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Починю удалённо, не вставая со стула</a:t>
            </a:r>
            <a:endParaRPr lang="ru-RU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за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427421"/>
            <a:ext cx="291694" cy="2916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5376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dirty="0">
                <a:solidFill>
                  <a:schemeClr val="tx1"/>
                </a:solidFill>
              </a:rPr>
              <a:t>Поднимите руку: кто за А? За Б? За В?</a:t>
            </a:r>
            <a:endParaRPr lang="ru-RU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Компьютер в другом городе не загружается: система на диске уничтожена. Что вы сделаете?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Попрошу кого-нибудь вставить флешку</a:t>
            </a:r>
            <a:endParaRPr lang="ru-RU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нужен человек рядом</a:t>
            </a:r>
            <a:endParaRPr lang="ru-RU" sz="1500" dirty="0"/>
          </a:p>
        </p:txBody>
      </p:sp>
      <p:sp>
        <p:nvSpPr>
          <p:cNvPr id="7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Поеду и переустановлю систему сам</a:t>
            </a:r>
            <a:endParaRPr lang="ru-RU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часы или дни простоя</a:t>
            </a:r>
            <a:endParaRPr lang="ru-RU" sz="1500" dirty="0"/>
          </a:p>
        </p:txBody>
      </p:sp>
      <p:sp>
        <p:nvSpPr>
          <p:cNvPr id="11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Починю удалённо, не вставая со стула</a:t>
            </a:r>
            <a:endParaRPr lang="ru-RU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так умеет сервер в дата-центре: у него есть BMC</a:t>
            </a:r>
            <a:endParaRPr lang="ru-RU" sz="1500" dirty="0"/>
          </a:p>
        </p:txBody>
      </p:sp>
      <p:sp>
        <p:nvSpPr>
          <p:cNvPr id="15" name="Ответ"/>
          <p:cNvSpPr/>
          <p:nvPr/>
        </p:nvSpPr>
        <p:spPr>
          <a:xfrm>
            <a:off x="548640" y="5193792"/>
            <a:ext cx="11094415" cy="1024128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42239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0" descr="значок: 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295" y="5541447"/>
            <a:ext cx="328818" cy="32881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54480" y="5303520"/>
            <a:ext cx="9859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У сервера в дата-центре есть BMC</a:t>
            </a:r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 (iDRAC, iLO, IPMI) — отдельный компьютер на плате: питание, экран и установка системы по сети. </a:t>
            </a:r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У ноутбука BMC нет. Задача работы — сделать «В» без него.</a:t>
            </a:r>
            <a:endParaRPr lang="ru-RU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3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ЗАДАЧА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Цель: ноутбук без BMC сам восстанавливает систему через интернет — с замером простоя</a:t>
            </a:r>
            <a:endParaRPr lang="ru-RU" sz="3400" dirty="0"/>
          </a:p>
        </p:txBody>
      </p:sp>
      <p:sp>
        <p:nvSpPr>
          <p:cNvPr id="4" name="Без BMC и второго ПК"/>
          <p:cNvSpPr/>
          <p:nvPr/>
        </p:nvSpPr>
        <p:spPr>
          <a:xfrm>
            <a:off x="548640" y="1965960"/>
            <a:ext cx="2567864" cy="324612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значок: 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393899"/>
            <a:ext cx="424282" cy="4242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546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Без BMC и второго ПК</a:t>
            </a:r>
            <a:endParaRPr lang="ru-RU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accent4"/>
                </a:solidFill>
              </a:rPr>
              <a:t>Всё для восстановления приходит с VPS через интернет</a:t>
            </a:r>
            <a:endParaRPr lang="ru-RU" sz="1600" dirty="0"/>
          </a:p>
        </p:txBody>
      </p:sp>
      <p:sp>
        <p:nvSpPr>
          <p:cNvPr id="9" name="Без человека"/>
          <p:cNvSpPr/>
          <p:nvPr/>
        </p:nvSpPr>
        <p:spPr>
          <a:xfrm>
            <a:off x="3390824" y="1965960"/>
            <a:ext cx="2567864" cy="324612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665144" y="2240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значок: refre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63" y="2393899"/>
            <a:ext cx="424282" cy="4242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31546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Без человека</a:t>
            </a:r>
            <a:endParaRPr lang="ru-RU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88620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accent4"/>
                </a:solidFill>
              </a:rPr>
              <a:t>После команды «уничтожить» машина поднимается сама</a:t>
            </a:r>
            <a:endParaRPr lang="ru-RU" sz="1600" dirty="0"/>
          </a:p>
        </p:txBody>
      </p:sp>
      <p:sp>
        <p:nvSpPr>
          <p:cNvPr id="14" name="Безопасно"/>
          <p:cNvSpPr/>
          <p:nvPr/>
        </p:nvSpPr>
        <p:spPr>
          <a:xfrm>
            <a:off x="6233008" y="1965960"/>
            <a:ext cx="2567864" cy="324612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507328" y="2240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значок: 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947" y="2393899"/>
            <a:ext cx="424282" cy="4242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31546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Безопасно</a:t>
            </a:r>
            <a:endParaRPr lang="ru-RU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88620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accent4"/>
                </a:solidFill>
              </a:rPr>
              <a:t>Пишутся только два тестовых раздела, в публичных образах нет секретов</a:t>
            </a:r>
            <a:endParaRPr lang="ru-RU" sz="1600" dirty="0"/>
          </a:p>
        </p:txBody>
      </p:sp>
      <p:sp>
        <p:nvSpPr>
          <p:cNvPr id="19" name="Измеримо"/>
          <p:cNvSpPr/>
          <p:nvPr/>
        </p:nvSpPr>
        <p:spPr>
          <a:xfrm>
            <a:off x="9075191" y="1965960"/>
            <a:ext cx="2567864" cy="324612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9349511" y="2240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значок: 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131" y="2393899"/>
            <a:ext cx="424282" cy="4242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15468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Измеримо</a:t>
            </a:r>
            <a:endParaRPr lang="ru-RU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88620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accent4"/>
                </a:solidFill>
              </a:rPr>
              <a:t>Простой и каждый этап фиксирует внешний сервер, а не сам ноутбук</a:t>
            </a:r>
            <a:endParaRPr lang="ru-RU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accent4"/>
                </a:solidFill>
              </a:rPr>
              <a:t>Открытыми средствами: UEFI · iPXE · Linux · systemd · mkosi · Node.js</a:t>
            </a:r>
            <a:endParaRPr lang="ru-RU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4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ОБЗОР · 82 ИСТОЧНИКА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Готовые решения закрывают задачу по частям</a:t>
            </a:r>
            <a:endParaRPr lang="ru-RU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712464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Сам, без человека</a:t>
            </a:r>
            <a:endParaRPr lang="ru-RU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43373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Без BMC</a:t>
            </a:r>
            <a:endParaRPr lang="ru-RU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74282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Образ из интернета</a:t>
            </a:r>
            <a:endParaRPr lang="ru-RU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05192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Переживает стирание диска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36101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Своя система, открытый код</a:t>
            </a:r>
            <a:endParaRPr lang="ru-RU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67010" y="1755648"/>
            <a:ext cx="122118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accent4"/>
                </a:solidFill>
              </a:rPr>
              <a:t>Замер простоя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11094415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624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Производители ПК</a:t>
            </a:r>
            <a:endParaRPr lang="ru-RU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2898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Dell, HP, Lenovo, Apple</a:t>
            </a:r>
            <a:endParaRPr lang="ru-RU" sz="1200" dirty="0"/>
          </a:p>
        </p:txBody>
      </p:sp>
      <p:sp>
        <p:nvSpPr>
          <p:cNvPr id="13" name="Shape 11"/>
          <p:cNvSpPr/>
          <p:nvPr/>
        </p:nvSpPr>
        <p:spPr>
          <a:xfrm>
            <a:off x="4176751" y="2715768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4475" y="2793492"/>
            <a:ext cx="137160" cy="1371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Shape 13"/>
          <p:cNvSpPr/>
          <p:nvPr/>
        </p:nvSpPr>
        <p:spPr>
          <a:xfrm>
            <a:off x="5507660" y="2715768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8569" y="2715768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9478" y="2715768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0387" y="2715768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1297" y="2715768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67328"/>
            <a:ext cx="11094415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" y="3227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Дата-центр</a:t>
            </a:r>
            <a:endParaRPr lang="ru-RU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3502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MAAS, Ironic, Tinkerbell</a:t>
            </a:r>
            <a:endParaRPr lang="ru-RU" sz="1200" dirty="0"/>
          </a:p>
        </p:txBody>
      </p:sp>
      <p:sp>
        <p:nvSpPr>
          <p:cNvPr id="23" name="Shape 21"/>
          <p:cNvSpPr/>
          <p:nvPr/>
        </p:nvSpPr>
        <p:spPr>
          <a:xfrm>
            <a:off x="4176751" y="3319272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4475" y="3396996"/>
            <a:ext cx="137160" cy="1371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Shape 23"/>
          <p:cNvSpPr/>
          <p:nvPr/>
        </p:nvSpPr>
        <p:spPr>
          <a:xfrm>
            <a:off x="5507660" y="3319272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8569" y="3319272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69478" y="3319272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0387" y="3319272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1297" y="3319272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70832"/>
            <a:ext cx="11094415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3831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Образы дисков</a:t>
            </a:r>
            <a:endParaRPr lang="ru-RU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1056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Clonezilla, FOG, ReaR</a:t>
            </a:r>
            <a:endParaRPr lang="ru-RU" sz="1200" dirty="0"/>
          </a:p>
        </p:txBody>
      </p:sp>
      <p:sp>
        <p:nvSpPr>
          <p:cNvPr id="33" name="Shape 31"/>
          <p:cNvSpPr/>
          <p:nvPr/>
        </p:nvSpPr>
        <p:spPr>
          <a:xfrm>
            <a:off x="4176751" y="3922776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07660" y="3922776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8569" y="3922776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69478" y="3922776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0387" y="3922776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31297" y="3922776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974336"/>
            <a:ext cx="11094415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Обновления с откатом</a:t>
            </a:r>
            <a:endParaRPr lang="ru-RU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" y="4709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RAUC, OSTree, Mender</a:t>
            </a:r>
            <a:endParaRPr lang="ru-RU" sz="1200" dirty="0"/>
          </a:p>
        </p:txBody>
      </p:sp>
      <p:sp>
        <p:nvSpPr>
          <p:cNvPr id="42" name="Shape 40"/>
          <p:cNvSpPr/>
          <p:nvPr/>
        </p:nvSpPr>
        <p:spPr>
          <a:xfrm>
            <a:off x="4176751" y="4526280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07660" y="4526280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38569" y="4526280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9478" y="4526280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00387" y="4526280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31297" y="4526280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48" name="Строка OSreboot"/>
          <p:cNvSpPr/>
          <p:nvPr/>
        </p:nvSpPr>
        <p:spPr>
          <a:xfrm>
            <a:off x="438912" y="5010912"/>
            <a:ext cx="11313871" cy="530352"/>
          </a:xfrm>
          <a:prstGeom prst="roundRect">
            <a:avLst>
              <a:gd name="adj" fmla="val 20690"/>
            </a:avLst>
          </a:prstGeom>
          <a:solidFill>
            <a:schemeClr val="accent2">
              <a:alpha val="13000"/>
            </a:scheme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03504" y="5038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OSreboot</a:t>
            </a:r>
            <a:endParaRPr lang="ru-RU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603504" y="5312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эта работа</a:t>
            </a:r>
            <a:endParaRPr lang="ru-RU" sz="1200" dirty="0"/>
          </a:p>
        </p:txBody>
      </p:sp>
      <p:sp>
        <p:nvSpPr>
          <p:cNvPr id="51" name="Shape 49"/>
          <p:cNvSpPr/>
          <p:nvPr/>
        </p:nvSpPr>
        <p:spPr>
          <a:xfrm>
            <a:off x="4176751" y="5129784"/>
            <a:ext cx="292608" cy="292608"/>
          </a:xfrm>
          <a:prstGeom prst="ellipse">
            <a:avLst/>
          </a:prstGeom>
          <a:ln w="22225">
            <a:solidFill>
              <a:schemeClr val="accent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54475" y="5207508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Shape 51"/>
          <p:cNvSpPr/>
          <p:nvPr/>
        </p:nvSpPr>
        <p:spPr>
          <a:xfrm>
            <a:off x="5507660" y="5129784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38569" y="5129784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69478" y="5129784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00387" y="5129784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31297" y="5129784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5751576"/>
            <a:ext cx="292608" cy="292608"/>
          </a:xfrm>
          <a:prstGeom prst="ellipse">
            <a:avLst/>
          </a:prstGeom>
          <a:solidFill>
            <a:schemeClr val="tx2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32688" y="5760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да</a:t>
            </a:r>
            <a:endParaRPr lang="ru-RU" sz="1400" dirty="0"/>
          </a:p>
        </p:txBody>
      </p:sp>
      <p:sp>
        <p:nvSpPr>
          <p:cNvPr id="60" name="Shape 58"/>
          <p:cNvSpPr/>
          <p:nvPr/>
        </p:nvSpPr>
        <p:spPr>
          <a:xfrm>
            <a:off x="1463040" y="5751576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40764" y="5829300"/>
            <a:ext cx="137160" cy="1371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847088" y="5760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частично</a:t>
            </a:r>
            <a:endParaRPr lang="ru-RU" sz="1400" dirty="0"/>
          </a:p>
        </p:txBody>
      </p:sp>
      <p:sp>
        <p:nvSpPr>
          <p:cNvPr id="63" name="Shape 61"/>
          <p:cNvSpPr/>
          <p:nvPr/>
        </p:nvSpPr>
        <p:spPr>
          <a:xfrm>
            <a:off x="2871216" y="5751576"/>
            <a:ext cx="292608" cy="292608"/>
          </a:xfrm>
          <a:prstGeom prst="ellipse">
            <a:avLst/>
          </a:prstGeom>
          <a:ln w="22225">
            <a:solidFill>
              <a:schemeClr val="tx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255264" y="5760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нет</a:t>
            </a:r>
            <a:endParaRPr lang="ru-RU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3931920" y="5705856"/>
            <a:ext cx="7711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OSreboot: запускает команда затирания, а не сама поломка; переживает стирание, если уцелел основной раздел EFI с iPXE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5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Диск стёрт. Откуда компьютеру загрузиться?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С флешки</a:t>
            </a:r>
            <a:endParaRPr lang="ru-RU" sz="2100" dirty="0"/>
          </a:p>
        </p:txBody>
      </p:sp>
      <p:sp>
        <p:nvSpPr>
          <p:cNvPr id="6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 локальной сети: PXE</a:t>
            </a:r>
            <a:endParaRPr lang="ru-RU" sz="2100" dirty="0"/>
          </a:p>
        </p:txBody>
      </p:sp>
      <p:sp>
        <p:nvSpPr>
          <p:cNvPr id="9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Прошивка скачает систему из интернета</a:t>
            </a:r>
            <a:endParaRPr lang="ru-RU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за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427421"/>
            <a:ext cx="291694" cy="2916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5376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dirty="0">
                <a:solidFill>
                  <a:schemeClr val="tx1"/>
                </a:solidFill>
              </a:rPr>
              <a:t>Поднимите руку: кто за А? За Б? За В?</a:t>
            </a:r>
            <a:endParaRPr lang="ru-RU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6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Диск стёрт. Откуда компьютеру загрузиться?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Shape 3"/>
          <p:cNvSpPr/>
          <p:nvPr/>
        </p:nvSpPr>
        <p:spPr>
          <a:xfrm>
            <a:off x="3314090" y="28163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не подходи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943" y="29162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С флешки</a:t>
            </a:r>
            <a:endParaRPr lang="ru-RU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нужен человек рядом</a:t>
            </a:r>
            <a:endParaRPr lang="ru-RU" sz="1500" dirty="0"/>
          </a:p>
        </p:txBody>
      </p:sp>
      <p:sp>
        <p:nvSpPr>
          <p:cNvPr id="9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11" name="Shape 8"/>
          <p:cNvSpPr/>
          <p:nvPr/>
        </p:nvSpPr>
        <p:spPr>
          <a:xfrm>
            <a:off x="7103669" y="28163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mage 1" descr="не подходи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521" y="2916204"/>
            <a:ext cx="275783" cy="2757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По локальной сети: PXE</a:t>
            </a:r>
            <a:endParaRPr lang="ru-RU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нужен свой DHCP- и TFTP-сервер в той же сети</a:t>
            </a:r>
            <a:endParaRPr lang="ru-RU" sz="1500" dirty="0"/>
          </a:p>
        </p:txBody>
      </p:sp>
      <p:sp>
        <p:nvSpPr>
          <p:cNvPr id="15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7" name="Shape 13"/>
          <p:cNvSpPr/>
          <p:nvPr/>
        </p:nvSpPr>
        <p:spPr>
          <a:xfrm>
            <a:off x="10893247" y="28163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mage 2" descr="не подходи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100" y="29162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Прошивка скачает систему из интернета</a:t>
            </a:r>
            <a:endParaRPr lang="ru-RU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UEFI HTTP Boot: прошивка ноутбука удаляет запись с адресом, HTTPS не умеет</a:t>
            </a:r>
            <a:endParaRPr lang="ru-RU" sz="1500" dirty="0"/>
          </a:p>
        </p:txBody>
      </p:sp>
      <p:sp>
        <p:nvSpPr>
          <p:cNvPr id="21" name="Ответ"/>
          <p:cNvSpPr/>
          <p:nvPr/>
        </p:nvSpPr>
        <p:spPr>
          <a:xfrm>
            <a:off x="548640" y="5193792"/>
            <a:ext cx="11094415" cy="1024128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5422392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3" descr="значок: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95" y="5541447"/>
            <a:ext cx="328818" cy="3288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5303520"/>
            <a:ext cx="9859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Решение: </a:t>
            </a:r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iPXE — сетевой загрузчик с HTTPS — лежит на основном разделе EFI, который затирание не трогает. Его один раз запускает systemd-boot.</a:t>
            </a:r>
            <a:endParaRPr lang="ru-RU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7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КАК УСТРОЕНО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Что где лежит и что идёт по сети</a:t>
            </a:r>
            <a:endParaRPr lang="ru-RU" sz="3400" dirty="0"/>
          </a:p>
        </p:txBody>
      </p:sp>
      <p:sp>
        <p:nvSpPr>
          <p:cNvPr id="4" name="Ноутбук"/>
          <p:cNvSpPr/>
          <p:nvPr/>
        </p:nvSpPr>
        <p:spPr>
          <a:xfrm>
            <a:off x="548640" y="1783080"/>
            <a:ext cx="6172200" cy="4224528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ноутбу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853" y="2089861"/>
            <a:ext cx="291694" cy="291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947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Ноутбук</a:t>
            </a:r>
            <a:endParaRPr lang="ru-RU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44752" y="2258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без BMC · UEFI Insyde · NVMe</a:t>
            </a:r>
            <a:endParaRPr lang="ru-RU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b="1" spc="200" kern="0" dirty="0">
                <a:solidFill>
                  <a:schemeClr val="accent4"/>
                </a:solidFill>
              </a:rPr>
              <a:t>ДИСК</a:t>
            </a:r>
            <a:endParaRPr lang="ru-RU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962656"/>
            <a:ext cx="1417320" cy="89611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bg1"/>
                </a:solidFill>
              </a:rPr>
              <a:t>Основной раздел EFI</a:t>
            </a:r>
            <a:endParaRPr lang="ru-RU" sz="13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bg1"/>
                </a:solidFill>
              </a:rPr>
              <a:t>systemd-boot, iPXE</a:t>
            </a:r>
            <a:endParaRPr lang="ru-RU" sz="1300" dirty="0"/>
          </a:p>
        </p:txBody>
      </p:sp>
      <p:sp>
        <p:nvSpPr>
          <p:cNvPr id="11" name="Text 8"/>
          <p:cNvSpPr/>
          <p:nvPr/>
        </p:nvSpPr>
        <p:spPr>
          <a:xfrm>
            <a:off x="2221992" y="2962656"/>
            <a:ext cx="1600200" cy="896112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bg1"/>
                </a:solidFill>
              </a:rPr>
              <a:t>Основная система</a:t>
            </a:r>
            <a:endParaRPr lang="ru-RU" sz="13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bg1"/>
                </a:solidFill>
              </a:rPr>
              <a:t>не трогаем</a:t>
            </a:r>
            <a:endParaRPr lang="ru-RU" sz="1300" dirty="0"/>
          </a:p>
        </p:txBody>
      </p:sp>
      <p:sp>
        <p:nvSpPr>
          <p:cNvPr id="12" name="Text 9"/>
          <p:cNvSpPr/>
          <p:nvPr/>
        </p:nvSpPr>
        <p:spPr>
          <a:xfrm>
            <a:off x="3849624" y="2962656"/>
            <a:ext cx="1188720" cy="89611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tx2"/>
                </a:solidFill>
              </a:rPr>
              <a:t>osreboot-esp</a:t>
            </a:r>
            <a:endParaRPr lang="ru-RU" sz="1300" dirty="0"/>
          </a:p>
        </p:txBody>
      </p:sp>
      <p:sp>
        <p:nvSpPr>
          <p:cNvPr id="13" name="Text 10"/>
          <p:cNvSpPr/>
          <p:nvPr/>
        </p:nvSpPr>
        <p:spPr>
          <a:xfrm>
            <a:off x="5065776" y="2962656"/>
            <a:ext cx="1417320" cy="896112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tx2"/>
                </a:solidFill>
              </a:rPr>
              <a:t>osreboot-root</a:t>
            </a:r>
            <a:endParaRPr lang="ru-RU" sz="1300" dirty="0"/>
          </a:p>
        </p:txBody>
      </p:sp>
      <p:sp>
        <p:nvSpPr>
          <p:cNvPr id="14" name="Shape 11"/>
          <p:cNvSpPr/>
          <p:nvPr/>
        </p:nvSpPr>
        <p:spPr>
          <a:xfrm>
            <a:off x="3849624" y="3986784"/>
            <a:ext cx="2633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9624" y="3913632"/>
            <a:ext cx="0" cy="7315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83096" y="3913632"/>
            <a:ext cx="0" cy="7315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58184" y="405993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tx1"/>
                </a:solidFill>
              </a:rPr>
              <a:t>тестовая система: её стираем и восстанавливаем</a:t>
            </a:r>
            <a:endParaRPr lang="ru-RU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b="1" spc="200" kern="0" dirty="0">
                <a:solidFill>
                  <a:schemeClr val="accent4"/>
                </a:solidFill>
              </a:rPr>
              <a:t>ОПЕРАТИВНАЯ ПАМЯТЬ</a:t>
            </a:r>
            <a:endParaRPr lang="ru-RU" sz="1200" dirty="0"/>
          </a:p>
        </p:txBody>
      </p:sp>
      <p:sp>
        <p:nvSpPr>
          <p:cNvPr id="19" name="Среда восстановления"/>
          <p:cNvSpPr/>
          <p:nvPr/>
        </p:nvSpPr>
        <p:spPr>
          <a:xfrm>
            <a:off x="777240" y="4846320"/>
            <a:ext cx="5715000" cy="960120"/>
          </a:xfrm>
          <a:prstGeom prst="roundRect">
            <a:avLst>
              <a:gd name="adj" fmla="val 9524"/>
            </a:avLst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20" name="Shape 17"/>
          <p:cNvSpPr/>
          <p:nvPr/>
        </p:nvSpPr>
        <p:spPr>
          <a:xfrm>
            <a:off x="932688" y="502920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1" descr="памят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43" y="5148255"/>
            <a:ext cx="328818" cy="3288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664208" y="4937760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chemeClr val="tx1"/>
                </a:solidFill>
              </a:rPr>
              <a:t>Среда восстановления</a:t>
            </a:r>
            <a:endParaRPr lang="ru-RU" sz="1400" dirty="0"/>
          </a:p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Linux в одном файле (UKI), 132 MiB. Работает из памяти, пока пишет на диск</a:t>
            </a:r>
            <a:endParaRPr lang="ru-RU" sz="1400" dirty="0"/>
          </a:p>
        </p:txBody>
      </p:sp>
      <p:sp>
        <p:nvSpPr>
          <p:cNvPr id="23" name="VPS"/>
          <p:cNvSpPr/>
          <p:nvPr/>
        </p:nvSpPr>
        <p:spPr>
          <a:xfrm>
            <a:off x="8549640" y="1783080"/>
            <a:ext cx="3090672" cy="4224528"/>
          </a:xfrm>
          <a:prstGeom prst="roundRect">
            <a:avLst>
              <a:gd name="adj" fmla="val 4142"/>
            </a:avLst>
          </a:prstGeom>
          <a:solidFill>
            <a:schemeClr val="bg2"/>
          </a:solidFill>
          <a:ln/>
        </p:spPr>
      </p:sp>
      <p:sp>
        <p:nvSpPr>
          <p:cNvPr id="24" name="Shape 20"/>
          <p:cNvSpPr/>
          <p:nvPr/>
        </p:nvSpPr>
        <p:spPr>
          <a:xfrm>
            <a:off x="8778240" y="19842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2" descr="серве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853" y="2089861"/>
            <a:ext cx="291694" cy="29169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445752" y="1947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b="1" dirty="0">
                <a:solidFill>
                  <a:schemeClr val="tx1"/>
                </a:solidFill>
              </a:rPr>
              <a:t>VPS</a:t>
            </a:r>
            <a:endParaRPr lang="ru-RU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9445752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1 виртуальный процессор</a:t>
            </a:r>
            <a:endParaRPr lang="ru-RU" sz="1300" dirty="0"/>
          </a:p>
        </p:txBody>
      </p:sp>
      <p:sp>
        <p:nvSpPr>
          <p:cNvPr id="28" name="Shape 23"/>
          <p:cNvSpPr/>
          <p:nvPr/>
        </p:nvSpPr>
        <p:spPr>
          <a:xfrm>
            <a:off x="8778240" y="2743200"/>
            <a:ext cx="263347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942832" y="28163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</a:rPr>
              <a:t>nginx</a:t>
            </a:r>
            <a:endParaRPr lang="ru-RU" sz="1500" dirty="0"/>
          </a:p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HTTPS, сертификат Let’s Encrypt</a:t>
            </a:r>
            <a:endParaRPr lang="ru-RU" sz="1500" dirty="0"/>
          </a:p>
        </p:txBody>
      </p:sp>
      <p:sp>
        <p:nvSpPr>
          <p:cNvPr id="30" name="Shape 25"/>
          <p:cNvSpPr/>
          <p:nvPr/>
        </p:nvSpPr>
        <p:spPr>
          <a:xfrm>
            <a:off x="8778240" y="3639312"/>
            <a:ext cx="2633472" cy="1481328"/>
          </a:xfrm>
          <a:prstGeom prst="roundRect">
            <a:avLst>
              <a:gd name="adj" fmla="val 6173"/>
            </a:avLst>
          </a:prstGeom>
          <a:solidFill>
            <a:schemeClr val="bg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942832" y="3730752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ru-RU" sz="1500" b="1" dirty="0">
                <a:solidFill>
                  <a:schemeClr val="tx1"/>
                </a:solidFill>
              </a:rPr>
              <a:t>Сервер на Node.js</a:t>
            </a:r>
            <a:endParaRPr lang="ru-RU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раздаёт файлы восстановления</a:t>
            </a:r>
            <a:endParaRPr lang="ru-RU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принимает сигналы и этапы</a:t>
            </a:r>
            <a:endParaRPr lang="ru-RU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считает простой</a:t>
            </a:r>
            <a:endParaRPr lang="ru-RU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ru-RU" sz="1300" dirty="0">
                <a:solidFill>
                  <a:schemeClr val="tx1"/>
                </a:solidFill>
              </a:rPr>
              <a:t>показывает страницу состояния</a:t>
            </a:r>
            <a:endParaRPr lang="ru-RU" sz="1300" dirty="0"/>
          </a:p>
        </p:txBody>
      </p:sp>
      <p:sp>
        <p:nvSpPr>
          <p:cNvPr id="32" name="Shape 27"/>
          <p:cNvSpPr/>
          <p:nvPr/>
        </p:nvSpPr>
        <p:spPr>
          <a:xfrm>
            <a:off x="8778240" y="5230368"/>
            <a:ext cx="2633472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942832" y="526694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outages.csv</a:t>
            </a:r>
            <a:endParaRPr lang="ru-RU" sz="1400" dirty="0"/>
          </a:p>
          <a:p>
            <a:pPr indent="0" marL="0">
              <a:buNone/>
            </a:pPr>
            <a:r>
              <a:rPr lang="ru-RU" sz="1200" dirty="0">
                <a:solidFill>
                  <a:schemeClr val="tx1"/>
                </a:solidFill>
              </a:rPr>
              <a:t>каждый простой с этапами</a:t>
            </a:r>
            <a:endParaRPr lang="ru-RU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6839712" y="2212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tx1"/>
                </a:solidFill>
              </a:rPr>
              <a:t>Файлы по HTTPS</a:t>
            </a:r>
            <a:endParaRPr lang="ru-RU" sz="1300" dirty="0"/>
          </a:p>
        </p:txBody>
      </p:sp>
      <p:sp>
        <p:nvSpPr>
          <p:cNvPr id="35" name="Shape 30"/>
          <p:cNvSpPr/>
          <p:nvPr/>
        </p:nvSpPr>
        <p:spPr>
          <a:xfrm>
            <a:off x="6903720" y="2542032"/>
            <a:ext cx="1463040" cy="384048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839712" y="29900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boot.ipxe, среда 132 MiB, образы 405 MiB</a:t>
            </a:r>
            <a:endParaRPr lang="ru-RU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839712" y="4114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300" b="1" dirty="0">
                <a:solidFill>
                  <a:schemeClr val="tx1"/>
                </a:solidFill>
              </a:rPr>
              <a:t>Сигнал раз в секунду</a:t>
            </a:r>
            <a:endParaRPr lang="ru-RU" sz="1300" dirty="0"/>
          </a:p>
        </p:txBody>
      </p:sp>
      <p:sp>
        <p:nvSpPr>
          <p:cNvPr id="38" name="Shape 33"/>
          <p:cNvSpPr/>
          <p:nvPr/>
        </p:nvSpPr>
        <p:spPr>
          <a:xfrm>
            <a:off x="6903720" y="4617720"/>
            <a:ext cx="1463040" cy="38404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839712" y="50657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и отчёты об этапах</a:t>
            </a:r>
            <a:endParaRPr lang="ru-RU" sz="1200" dirty="0"/>
          </a:p>
        </p:txBody>
      </p:sp>
      <p:sp>
        <p:nvSpPr>
          <p:cNvPr id="40" name="Shape 35"/>
          <p:cNvSpPr/>
          <p:nvPr/>
        </p:nvSpPr>
        <p:spPr>
          <a:xfrm>
            <a:off x="548640" y="6144768"/>
            <a:ext cx="201168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41248" y="6117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не трогается</a:t>
            </a:r>
            <a:endParaRPr lang="ru-RU" sz="1300" dirty="0"/>
          </a:p>
        </p:txBody>
      </p:sp>
      <p:sp>
        <p:nvSpPr>
          <p:cNvPr id="42" name="Shape 37"/>
          <p:cNvSpPr/>
          <p:nvPr/>
        </p:nvSpPr>
        <p:spPr>
          <a:xfrm>
            <a:off x="2185416" y="6144768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2478024" y="6117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стирается и восстанавливается</a:t>
            </a:r>
            <a:endParaRPr lang="ru-RU" sz="1300" dirty="0"/>
          </a:p>
        </p:txBody>
      </p:sp>
      <p:sp>
        <p:nvSpPr>
          <p:cNvPr id="44" name="Shape 39"/>
          <p:cNvSpPr/>
          <p:nvPr/>
        </p:nvSpPr>
        <p:spPr>
          <a:xfrm>
            <a:off x="5143500" y="6144768"/>
            <a:ext cx="201168" cy="2011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5436108" y="6117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только в памяти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8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ЦЕПОЧКА ВОССТАНОВЛЕНИЯ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Восемь этапов — те же, что на странице состояния</a:t>
            </a:r>
            <a:endParaRPr lang="ru-RU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32588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chemeClr val="bg1"/>
                </a:solidFill>
              </a:rPr>
              <a:t>1 · Стирание</a:t>
            </a:r>
            <a:endParaRPr lang="ru-RU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1600200"/>
            <a:ext cx="396929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chemeClr val="bg1"/>
                </a:solidFill>
              </a:rPr>
              <a:t>2 · Сетевая загрузка · ≈ 68 с</a:t>
            </a:r>
            <a:endParaRPr lang="ru-RU" sz="1400" dirty="0"/>
          </a:p>
        </p:txBody>
      </p:sp>
      <p:sp>
        <p:nvSpPr>
          <p:cNvPr id="6" name="Text 4"/>
          <p:cNvSpPr/>
          <p:nvPr/>
        </p:nvSpPr>
        <p:spPr>
          <a:xfrm>
            <a:off x="5935254" y="1600200"/>
            <a:ext cx="326883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chemeClr val="bg1"/>
                </a:solidFill>
              </a:rPr>
              <a:t>3 · В памяти · ≈ 56 с</a:t>
            </a:r>
            <a:endParaRPr lang="ru-RU" sz="1400" dirty="0"/>
          </a:p>
        </p:txBody>
      </p:sp>
      <p:sp>
        <p:nvSpPr>
          <p:cNvPr id="7" name="Text 5"/>
          <p:cNvSpPr/>
          <p:nvPr/>
        </p:nvSpPr>
        <p:spPr>
          <a:xfrm>
            <a:off x="9249804" y="1600200"/>
            <a:ext cx="2393251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b="1" dirty="0">
                <a:solidFill>
                  <a:schemeClr val="bg1"/>
                </a:solidFill>
              </a:rPr>
              <a:t>4 · Возврат · ≈ 41 с</a:t>
            </a:r>
            <a:endParaRPr lang="ru-RU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1</a:t>
            </a:r>
            <a:endParaRPr lang="ru-RU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7744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Стирание системы</a:t>
            </a:r>
            <a:endParaRPr lang="ru-RU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2491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osreboot-wipe: проверки, одноразовая запись iPXE, по 64 MiB нулей, сброс</a:t>
            </a:r>
            <a:endParaRPr lang="ru-RU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2</a:t>
            </a:r>
            <a:endParaRPr lang="ru-RU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3756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Перезагрузка и сетевой загрузчик</a:t>
            </a:r>
            <a:endParaRPr lang="ru-RU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8503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Прошивка → systemd-boot → iPXE: адрес по DHCP, имя сервера по DNS</a:t>
            </a:r>
            <a:endParaRPr lang="ru-RU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3</a:t>
            </a:r>
            <a:endParaRPr lang="ru-RU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9768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Скачивание среды восстановления</a:t>
            </a:r>
            <a:endParaRPr lang="ru-RU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4515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HTTPS, 132 MiB; iPXE доверяет только сертификатам Let’s Encrypt</a:t>
            </a:r>
            <a:endParaRPr lang="ru-RU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7608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4</a:t>
            </a:r>
            <a:endParaRPr lang="ru-RU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5780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Запуск среды восстановления</a:t>
            </a:r>
            <a:endParaRPr lang="ru-RU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0527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Linux целиком в памяти; находит тестовые разделы по меткам</a:t>
            </a:r>
            <a:endParaRPr lang="ru-RU" sz="1400" dirty="0"/>
          </a:p>
        </p:txBody>
      </p:sp>
      <p:sp>
        <p:nvSpPr>
          <p:cNvPr id="20" name="Text 18"/>
          <p:cNvSpPr/>
          <p:nvPr/>
        </p:nvSpPr>
        <p:spPr>
          <a:xfrm>
            <a:off x="6324448" y="23957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5</a:t>
            </a:r>
            <a:endParaRPr lang="ru-RU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10248" y="237744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Скачивание образов системы</a:t>
            </a:r>
            <a:endParaRPr lang="ru-RU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10248" y="272491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Два раздела, 405 MiB, сжаты zstd</a:t>
            </a:r>
            <a:endParaRPr lang="ru-RU" sz="1400" dirty="0"/>
          </a:p>
        </p:txBody>
      </p:sp>
      <p:sp>
        <p:nvSpPr>
          <p:cNvPr id="23" name="Text 21"/>
          <p:cNvSpPr/>
          <p:nvPr/>
        </p:nvSpPr>
        <p:spPr>
          <a:xfrm>
            <a:off x="6324448" y="33558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6</a:t>
            </a:r>
            <a:endParaRPr lang="ru-RU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10248" y="333756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Проверка контрольных сумм</a:t>
            </a:r>
            <a:endParaRPr lang="ru-RU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10248" y="368503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SHA-256 каждого образа — до записи</a:t>
            </a:r>
            <a:endParaRPr lang="ru-RU" sz="1400" dirty="0"/>
          </a:p>
        </p:txBody>
      </p:sp>
      <p:sp>
        <p:nvSpPr>
          <p:cNvPr id="26" name="Text 24"/>
          <p:cNvSpPr/>
          <p:nvPr/>
        </p:nvSpPr>
        <p:spPr>
          <a:xfrm>
            <a:off x="6324448" y="431596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7</a:t>
            </a:r>
            <a:endParaRPr lang="ru-RU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10248" y="429768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Запись на диск</a:t>
            </a:r>
            <a:endParaRPr lang="ru-RU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10248" y="464515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Запись, чтение обратно и сверка, BootNext на восстановленную систему</a:t>
            </a:r>
            <a:endParaRPr lang="ru-RU" sz="1400" dirty="0"/>
          </a:p>
        </p:txBody>
      </p:sp>
      <p:sp>
        <p:nvSpPr>
          <p:cNvPr id="29" name="Text 27"/>
          <p:cNvSpPr/>
          <p:nvPr/>
        </p:nvSpPr>
        <p:spPr>
          <a:xfrm>
            <a:off x="6324448" y="527608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8</a:t>
            </a:r>
            <a:endParaRPr lang="ru-RU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010248" y="525780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Перезагрузка в восстановленную систему</a:t>
            </a:r>
            <a:endParaRPr lang="ru-RU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010248" y="5605272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Первый сигнал с новым boot ID закрывает простой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9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ЗАМЕР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Простой меряет сервер, а не ноутбук</a:t>
            </a:r>
            <a:endParaRPr lang="ru-RU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383280" cy="0"/>
          </a:xfrm>
          <a:prstGeom prst="line">
            <a:avLst/>
          </a:prstGeom>
          <a:noFill/>
          <a:ln w="12700">
            <a:solidFill>
              <a:srgbClr val="9A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2834640"/>
            <a:ext cx="3504895" cy="0"/>
          </a:xfrm>
          <a:prstGeom prst="line">
            <a:avLst/>
          </a:prstGeom>
          <a:noFill/>
          <a:ln w="12700">
            <a:solidFill>
              <a:srgbClr val="9A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6245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821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973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701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Простой"/>
          <p:cNvSpPr/>
          <p:nvPr/>
        </p:nvSpPr>
        <p:spPr>
          <a:xfrm>
            <a:off x="3931920" y="2487168"/>
            <a:ext cx="4206240" cy="694944"/>
          </a:xfrm>
          <a:prstGeom prst="roundRect">
            <a:avLst>
              <a:gd name="adj" fmla="val 157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248716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простой ≈ 165 с (не в масштабе)</a:t>
            </a:r>
            <a:endParaRPr lang="ru-RU" sz="1700" dirty="0"/>
          </a:p>
        </p:txBody>
      </p:sp>
      <p:sp>
        <p:nvSpPr>
          <p:cNvPr id="17" name="Shape 15"/>
          <p:cNvSpPr/>
          <p:nvPr/>
        </p:nvSpPr>
        <p:spPr>
          <a:xfrm>
            <a:off x="831189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7765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341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7493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069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0645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221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3797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ID a71f…</a:t>
            </a:r>
            <a:endParaRPr lang="ru-RU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11896" y="201168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ID 3c08… — новый</a:t>
            </a:r>
            <a:endParaRPr lang="ru-RU" sz="1400" dirty="0"/>
          </a:p>
        </p:txBody>
      </p:sp>
      <p:sp>
        <p:nvSpPr>
          <p:cNvPr id="28" name="Shape 26"/>
          <p:cNvSpPr/>
          <p:nvPr/>
        </p:nvSpPr>
        <p:spPr>
          <a:xfrm>
            <a:off x="3657600" y="2395728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331720"/>
            <a:ext cx="0" cy="12801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331720"/>
            <a:ext cx="0" cy="12801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9476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3 с тишины → сервер открывает простой</a:t>
            </a:r>
            <a:endParaRPr lang="ru-RU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начало: последний сигнал</a:t>
            </a:r>
            <a:endParaRPr lang="ru-RU" sz="14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по часам сервера</a:t>
            </a:r>
            <a:endParaRPr lang="ru-RU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конец: первый сигнал</a:t>
            </a:r>
            <a:endParaRPr lang="ru-RU" sz="14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по часам сервера</a:t>
            </a:r>
            <a:endParaRPr lang="ru-RU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0" descr="значок: 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90" y="4012570"/>
            <a:ext cx="222748" cy="22274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115568" y="3959352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Раз в секунду ноутбук шлёт heartbeat: «я жив» и boot ID</a:t>
            </a:r>
            <a:endParaRPr lang="ru-RU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Image 1" descr="значок: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0" y="4488058"/>
            <a:ext cx="222748" cy="222748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115568" y="4434840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Таймаут 3 с влияет только на то, когда простой станет виден, а не на его длину</a:t>
            </a:r>
            <a:endParaRPr lang="ru-RU" sz="1700" dirty="0"/>
          </a:p>
        </p:txBody>
      </p:sp>
      <p:sp>
        <p:nvSpPr>
          <p:cNvPr id="40" name="Shape 36"/>
          <p:cNvSpPr/>
          <p:nvPr/>
        </p:nvSpPr>
        <p:spPr>
          <a:xfrm>
            <a:off x="548640" y="48828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2" descr="значок: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" y="4963546"/>
            <a:ext cx="222748" cy="222748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115568" y="4910328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Отчёты об этапах раскладывают простой на части</a:t>
            </a:r>
            <a:endParaRPr lang="ru-RU" sz="1700" dirty="0"/>
          </a:p>
        </p:txBody>
      </p:sp>
      <p:sp>
        <p:nvSpPr>
          <p:cNvPr id="43" name="Вопрос залу"/>
          <p:cNvSpPr/>
          <p:nvPr/>
        </p:nvSpPr>
        <p:spPr>
          <a:xfrm>
            <a:off x="548640" y="5440680"/>
            <a:ext cx="11094415" cy="804672"/>
          </a:xfrm>
          <a:prstGeom prst="roundRect">
            <a:avLst>
              <a:gd name="adj" fmla="val 15909"/>
            </a:avLst>
          </a:prstGeom>
          <a:solidFill>
            <a:schemeClr val="accent1">
              <a:alpha val="13000"/>
            </a:schemeClr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777240" y="544068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Вопрос залу: 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перезагрузка за 2 с — быстрее таймаута 3 с. Сервер заметит простой?</a:t>
            </a:r>
            <a:endParaRPr lang="ru-RU" sz="1600" dirty="0"/>
          </a:p>
        </p:txBody>
      </p:sp>
      <p:sp>
        <p:nvSpPr>
          <p:cNvPr id="45" name="Text 40"/>
          <p:cNvSpPr/>
          <p:nvPr/>
        </p:nvSpPr>
        <p:spPr>
          <a:xfrm>
            <a:off x="8915400" y="5614416"/>
            <a:ext cx="12344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Да</a:t>
            </a:r>
            <a:endParaRPr lang="ru-RU" sz="1800" dirty="0"/>
          </a:p>
        </p:txBody>
      </p:sp>
      <p:sp>
        <p:nvSpPr>
          <p:cNvPr id="46" name="Text 41"/>
          <p:cNvSpPr/>
          <p:nvPr/>
        </p:nvSpPr>
        <p:spPr>
          <a:xfrm>
            <a:off x="10287000" y="5614416"/>
            <a:ext cx="12344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Нет</a:t>
            </a:r>
            <a:endParaRPr lang="ru-RU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10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ЗАМЕР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Простой меряет сервер, а не ноутбук</a:t>
            </a:r>
            <a:endParaRPr lang="ru-RU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383280" cy="0"/>
          </a:xfrm>
          <a:prstGeom prst="line">
            <a:avLst/>
          </a:prstGeom>
          <a:noFill/>
          <a:ln w="12700">
            <a:solidFill>
              <a:srgbClr val="9AA3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2834640"/>
            <a:ext cx="3504895" cy="0"/>
          </a:xfrm>
          <a:prstGeom prst="line">
            <a:avLst/>
          </a:prstGeom>
          <a:noFill/>
          <a:ln w="12700">
            <a:solidFill>
              <a:srgbClr val="9A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6245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821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9397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973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7016" y="273405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Простой"/>
          <p:cNvSpPr/>
          <p:nvPr/>
        </p:nvSpPr>
        <p:spPr>
          <a:xfrm>
            <a:off x="3931920" y="2487168"/>
            <a:ext cx="4206240" cy="694944"/>
          </a:xfrm>
          <a:prstGeom prst="roundRect">
            <a:avLst>
              <a:gd name="adj" fmla="val 157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248716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простой ≈ 165 с (не в масштабе)</a:t>
            </a:r>
            <a:endParaRPr lang="ru-RU" sz="1700" dirty="0"/>
          </a:p>
        </p:txBody>
      </p:sp>
      <p:sp>
        <p:nvSpPr>
          <p:cNvPr id="17" name="Shape 15"/>
          <p:cNvSpPr/>
          <p:nvPr/>
        </p:nvSpPr>
        <p:spPr>
          <a:xfrm>
            <a:off x="831189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7765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341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7493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069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0645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221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37976" y="2734056"/>
            <a:ext cx="201168" cy="20116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ID a71f…</a:t>
            </a:r>
            <a:endParaRPr lang="ru-RU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11896" y="201168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ID 3c08… — новый</a:t>
            </a:r>
            <a:endParaRPr lang="ru-RU" sz="1400" dirty="0"/>
          </a:p>
        </p:txBody>
      </p:sp>
      <p:sp>
        <p:nvSpPr>
          <p:cNvPr id="28" name="Shape 26"/>
          <p:cNvSpPr/>
          <p:nvPr/>
        </p:nvSpPr>
        <p:spPr>
          <a:xfrm>
            <a:off x="3657600" y="2395728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331720"/>
            <a:ext cx="0" cy="12801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331720"/>
            <a:ext cx="0" cy="128016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9476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3 с тишины → сервер открывает простой</a:t>
            </a:r>
            <a:endParaRPr lang="ru-RU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начало: последний сигнал</a:t>
            </a:r>
            <a:endParaRPr lang="ru-RU" sz="14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по часам сервера</a:t>
            </a:r>
            <a:endParaRPr lang="ru-RU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конец: первый сигнал</a:t>
            </a:r>
            <a:endParaRPr lang="ru-RU" sz="1400" dirty="0"/>
          </a:p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по часам сервера</a:t>
            </a:r>
            <a:endParaRPr lang="ru-RU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0" descr="значок: 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90" y="4012570"/>
            <a:ext cx="222748" cy="22274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115568" y="3959352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Раз в секунду ноутбук шлёт heartbeat: «я жив» и boot ID</a:t>
            </a:r>
            <a:endParaRPr lang="ru-RU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44074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Image 1" descr="значок: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0" y="4488058"/>
            <a:ext cx="222748" cy="222748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115568" y="4434840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Таймаут 3 с влияет только на то, когда простой станет виден, а не на его длину</a:t>
            </a:r>
            <a:endParaRPr lang="ru-RU" sz="1700" dirty="0"/>
          </a:p>
        </p:txBody>
      </p:sp>
      <p:sp>
        <p:nvSpPr>
          <p:cNvPr id="40" name="Shape 36"/>
          <p:cNvSpPr/>
          <p:nvPr/>
        </p:nvSpPr>
        <p:spPr>
          <a:xfrm>
            <a:off x="548640" y="488289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2" descr="значок: 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" y="4963546"/>
            <a:ext cx="222748" cy="222748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115568" y="4910328"/>
            <a:ext cx="10527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tx1"/>
                </a:solidFill>
              </a:rPr>
              <a:t>Отчёты об этапах раскладывают простой на части</a:t>
            </a:r>
            <a:endParaRPr lang="ru-RU" sz="1700" dirty="0"/>
          </a:p>
        </p:txBody>
      </p:sp>
      <p:sp>
        <p:nvSpPr>
          <p:cNvPr id="43" name="Вопрос залу"/>
          <p:cNvSpPr/>
          <p:nvPr/>
        </p:nvSpPr>
        <p:spPr>
          <a:xfrm>
            <a:off x="548640" y="5440680"/>
            <a:ext cx="11094415" cy="804672"/>
          </a:xfrm>
          <a:prstGeom prst="roundRect">
            <a:avLst>
              <a:gd name="adj" fmla="val 15909"/>
            </a:avLst>
          </a:prstGeom>
          <a:solidFill>
            <a:schemeClr val="accent1">
              <a:alpha val="13000"/>
            </a:schemeClr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777240" y="5440680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Вопрос залу: 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перезагрузка за 2 с — быстрее таймаута 3 с. Сервер заметит простой?</a:t>
            </a:r>
            <a:endParaRPr lang="ru-RU" sz="1600" dirty="0"/>
          </a:p>
          <a:p>
            <a:pPr indent="0" marL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Да: при каждой загрузке ядро придумывает новый boot ID</a:t>
            </a:r>
            <a:endParaRPr lang="ru-RU" sz="1600" dirty="0"/>
          </a:p>
        </p:txBody>
      </p:sp>
      <p:sp>
        <p:nvSpPr>
          <p:cNvPr id="45" name="Text 40"/>
          <p:cNvSpPr/>
          <p:nvPr/>
        </p:nvSpPr>
        <p:spPr>
          <a:xfrm>
            <a:off x="8915400" y="5614416"/>
            <a:ext cx="123444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Да</a:t>
            </a:r>
            <a:endParaRPr lang="ru-RU" sz="1800" dirty="0"/>
          </a:p>
        </p:txBody>
      </p:sp>
      <p:sp>
        <p:nvSpPr>
          <p:cNvPr id="46" name="Text 41"/>
          <p:cNvSpPr/>
          <p:nvPr/>
        </p:nvSpPr>
        <p:spPr>
          <a:xfrm>
            <a:off x="10287000" y="5614416"/>
            <a:ext cx="12344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accent4"/>
                </a:solidFill>
              </a:rPr>
              <a:t>Нет</a:t>
            </a:r>
            <a:endParaRPr lang="ru-RU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11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Образы лежат в интернете открыто. Где ноутбуку хранить свой пароль для сервера?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В образе системы</a:t>
            </a:r>
            <a:endParaRPr lang="ru-RU" sz="2100" dirty="0"/>
          </a:p>
        </p:txBody>
      </p:sp>
      <p:sp>
        <p:nvSpPr>
          <p:cNvPr id="6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На диске, в отдельном разделе</a:t>
            </a:r>
            <a:endParaRPr lang="ru-RU" sz="2100" dirty="0"/>
          </a:p>
        </p:txBody>
      </p:sp>
      <p:sp>
        <p:nvSpPr>
          <p:cNvPr id="9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В чипе внутри ноутбука</a:t>
            </a:r>
            <a:endParaRPr lang="ru-RU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за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427421"/>
            <a:ext cx="291694" cy="2916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5376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dirty="0">
                <a:solidFill>
                  <a:schemeClr val="tx1"/>
                </a:solidFill>
              </a:rPr>
              <a:t>Поднимите руку: кто за А? За Б? За В?</a:t>
            </a:r>
            <a:endParaRPr lang="ru-RU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12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Образы лежат в интернете открыто. Где ноутбуку хранить свой пароль для сервера?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Shape 3"/>
          <p:cNvSpPr/>
          <p:nvPr/>
        </p:nvSpPr>
        <p:spPr>
          <a:xfrm>
            <a:off x="3314090" y="28163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не подходи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3943" y="29162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В образе системы</a:t>
            </a:r>
            <a:endParaRPr lang="ru-RU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любой скачает образ и будет слать сигналы от имени ноутбука</a:t>
            </a:r>
            <a:endParaRPr lang="ru-RU" sz="1500" dirty="0"/>
          </a:p>
        </p:txBody>
      </p:sp>
      <p:sp>
        <p:nvSpPr>
          <p:cNvPr id="9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11" name="Shape 8"/>
          <p:cNvSpPr/>
          <p:nvPr/>
        </p:nvSpPr>
        <p:spPr>
          <a:xfrm>
            <a:off x="7103669" y="2816352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mage 1" descr="не подходи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521" y="2916204"/>
            <a:ext cx="275783" cy="2757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На диске, в отдельном разделе</a:t>
            </a:r>
            <a:endParaRPr lang="ru-RU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копия диска — это копия пароля, а диск можно стереть целиком</a:t>
            </a:r>
            <a:endParaRPr lang="ru-RU" sz="1500" dirty="0"/>
          </a:p>
        </p:txBody>
      </p:sp>
      <p:sp>
        <p:nvSpPr>
          <p:cNvPr id="15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7" name="Shape 13"/>
          <p:cNvSpPr/>
          <p:nvPr/>
        </p:nvSpPr>
        <p:spPr>
          <a:xfrm>
            <a:off x="10893247" y="2816352"/>
            <a:ext cx="475488" cy="47548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mage 2" descr="подходи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100" y="29162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В чипе внутри ноутбука</a:t>
            </a:r>
            <a:endParaRPr lang="ru-RU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4169664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accent4"/>
                </a:solidFill>
              </a:rPr>
              <a:t>TPM шифрует так, что расшифровать может только он сам</a:t>
            </a:r>
            <a:endParaRPr lang="ru-RU" sz="1500" dirty="0"/>
          </a:p>
        </p:txBody>
      </p:sp>
      <p:sp>
        <p:nvSpPr>
          <p:cNvPr id="21" name="Токен"/>
          <p:cNvSpPr/>
          <p:nvPr/>
        </p:nvSpPr>
        <p:spPr>
          <a:xfrm>
            <a:off x="548640" y="5193792"/>
            <a:ext cx="237744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13232" y="541324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значок: 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87" y="5532303"/>
            <a:ext cx="328818" cy="3288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53400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Токен</a:t>
            </a:r>
            <a:endParaRPr lang="ru-RU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417320" y="5669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256 случайных бит</a:t>
            </a:r>
            <a:endParaRPr lang="ru-RU" sz="1300" dirty="0"/>
          </a:p>
        </p:txBody>
      </p:sp>
      <p:sp>
        <p:nvSpPr>
          <p:cNvPr id="26" name="Shape 20"/>
          <p:cNvSpPr/>
          <p:nvPr/>
        </p:nvSpPr>
        <p:spPr>
          <a:xfrm>
            <a:off x="3035808" y="5568696"/>
            <a:ext cx="308762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7" name="TPM ноутбука"/>
          <p:cNvSpPr/>
          <p:nvPr/>
        </p:nvSpPr>
        <p:spPr>
          <a:xfrm>
            <a:off x="3454298" y="5193792"/>
            <a:ext cx="237744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18890" y="541324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значок: chi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945" y="5532303"/>
            <a:ext cx="328818" cy="3288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22978" y="53400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TPM ноутбука</a:t>
            </a:r>
            <a:endParaRPr lang="ru-RU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322978" y="5669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шифрует своим ключом</a:t>
            </a:r>
            <a:endParaRPr lang="ru-RU" sz="1300" dirty="0"/>
          </a:p>
        </p:txBody>
      </p:sp>
      <p:sp>
        <p:nvSpPr>
          <p:cNvPr id="32" name="Shape 25"/>
          <p:cNvSpPr/>
          <p:nvPr/>
        </p:nvSpPr>
        <p:spPr>
          <a:xfrm>
            <a:off x="5941466" y="5568696"/>
            <a:ext cx="308762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3" name="Образ"/>
          <p:cNvSpPr/>
          <p:nvPr/>
        </p:nvSpPr>
        <p:spPr>
          <a:xfrm>
            <a:off x="6359957" y="5193792"/>
            <a:ext cx="237744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24549" y="541324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5" descr="значок: file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04" y="5532303"/>
            <a:ext cx="328818" cy="32881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28637" y="53400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Образ</a:t>
            </a:r>
            <a:endParaRPr lang="ru-RU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7228637" y="5669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хранит только шифровку</a:t>
            </a:r>
            <a:endParaRPr lang="ru-RU" sz="1300" dirty="0"/>
          </a:p>
        </p:txBody>
      </p:sp>
      <p:sp>
        <p:nvSpPr>
          <p:cNvPr id="38" name="Shape 30"/>
          <p:cNvSpPr/>
          <p:nvPr/>
        </p:nvSpPr>
        <p:spPr>
          <a:xfrm>
            <a:off x="8847125" y="5568696"/>
            <a:ext cx="308762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9" name="Этот ноутбук"/>
          <p:cNvSpPr/>
          <p:nvPr/>
        </p:nvSpPr>
        <p:spPr>
          <a:xfrm>
            <a:off x="9265615" y="5193792"/>
            <a:ext cx="2377440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430207" y="5413248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Image 6" descr="значок: lapt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9262" y="5532303"/>
            <a:ext cx="328818" cy="32881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134295" y="53400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Этот ноутбук</a:t>
            </a:r>
            <a:endParaRPr lang="ru-RU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10134295" y="5669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единственный расшифрует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13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БЕЗОПАСНОСТЬ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Предохранители: не записать лишнее и не застрять</a:t>
            </a:r>
            <a:endParaRPr lang="ru-RU" sz="3400" dirty="0"/>
          </a:p>
        </p:txBody>
      </p:sp>
      <p:sp>
        <p:nvSpPr>
          <p:cNvPr id="4" name="Пишет только туда"/>
          <p:cNvSpPr/>
          <p:nvPr/>
        </p:nvSpPr>
        <p:spPr>
          <a:xfrm>
            <a:off x="548640" y="1920240"/>
            <a:ext cx="3515258" cy="4206240"/>
          </a:xfrm>
          <a:prstGeom prst="roundRect">
            <a:avLst>
              <a:gd name="adj" fmla="val 364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значок: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314529"/>
            <a:ext cx="381853" cy="3818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2235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Пишет только туда</a:t>
            </a:r>
            <a:endParaRPr lang="ru-RU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30123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Только разделы с метками osreboot-esp и osreboot-root, каждая — ровно один раз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Подходят тип, файловая система и размер (до 4 и 128 GiB), раздел не смонтирован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Сама работает из памяти</a:t>
            </a:r>
            <a:endParaRPr lang="ru-RU" sz="1600" dirty="0"/>
          </a:p>
        </p:txBody>
      </p:sp>
      <p:sp>
        <p:nvSpPr>
          <p:cNvPr id="9" name="Пишет только то"/>
          <p:cNvSpPr/>
          <p:nvPr/>
        </p:nvSpPr>
        <p:spPr>
          <a:xfrm>
            <a:off x="4338218" y="1920240"/>
            <a:ext cx="3515258" cy="4206240"/>
          </a:xfrm>
          <a:prstGeom prst="roundRect">
            <a:avLst>
              <a:gd name="adj" fmla="val 3642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176272"/>
            <a:ext cx="658368" cy="65836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значок: 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796" y="2314529"/>
            <a:ext cx="381853" cy="38185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2258568"/>
            <a:ext cx="2235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Пишет только то</a:t>
            </a:r>
            <a:endParaRPr lang="ru-RU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063240"/>
            <a:ext cx="30123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HTTPS: iPXE доверяет только сертификатам Let’s Encrypt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SHA-256 каждого образа до записи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Чтение обратно и сверка после записи</a:t>
            </a:r>
            <a:endParaRPr lang="ru-RU" sz="1600" dirty="0"/>
          </a:p>
        </p:txBody>
      </p:sp>
      <p:sp>
        <p:nvSpPr>
          <p:cNvPr id="14" name="Не застревает"/>
          <p:cNvSpPr/>
          <p:nvPr/>
        </p:nvSpPr>
        <p:spPr>
          <a:xfrm>
            <a:off x="8127797" y="1920240"/>
            <a:ext cx="3515258" cy="4206240"/>
          </a:xfrm>
          <a:prstGeom prst="roundRect">
            <a:avLst>
              <a:gd name="adj" fmla="val 3642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значок: refre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374" y="2314529"/>
            <a:ext cx="381853" cy="3818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2258568"/>
            <a:ext cx="2235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Не застревает</a:t>
            </a:r>
            <a:endParaRPr lang="ru-RU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063240"/>
            <a:ext cx="30123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Ошибка в iPXE — перезагрузка через 60 с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Ошибка восстановления — этап failed, вход по SSH, перезагрузка через 20 мин</a:t>
            </a:r>
            <a:endParaRPr lang="ru-RU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Зависшее скачивание (меньше 1 KiB/s минуту) — повтор</a:t>
            </a:r>
            <a:endParaRPr lang="ru-RU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14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РЕЗУЛЬТАТЫ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Весь простой — около 165 секунд, без человека рядом</a:t>
            </a:r>
            <a:endParaRPr lang="ru-RU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ru-RU" sz="12000" b="1" dirty="0">
                <a:solidFill>
                  <a:schemeClr val="tx2"/>
                </a:solidFill>
              </a:rPr>
              <a:t>165</a:t>
            </a:r>
            <a:pPr indent="0" marL="0">
              <a:buNone/>
            </a:pPr>
            <a:r>
              <a:rPr lang="ru-RU" sz="5400" b="1" dirty="0">
                <a:solidFill>
                  <a:schemeClr val="accent1"/>
                </a:solidFill>
              </a:rPr>
              <a:t> с</a:t>
            </a:r>
            <a:endParaRPr lang="ru-RU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accent4"/>
                </a:solidFill>
              </a:rPr>
              <a:t>медиана 4 полных прогонов: от последнего сигнала перед стиранием до первого после восстановления</a:t>
            </a:r>
            <a:endParaRPr lang="ru-RU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5371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Разброс меньше 2 с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 — процесс почти детерминирован</a:t>
            </a:r>
            <a:endParaRPr lang="ru-RU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8406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54–57 с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 — работа среды восстановления, 6 прогонов</a:t>
            </a:r>
            <a:endParaRPr lang="ru-RU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1441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100 Мбит/с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 — порт ноутбука ограничивал скачивание</a:t>
            </a:r>
            <a:endParaRPr lang="ru-RU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212080" y="1783080"/>
          <a:ext cx="6428232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15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78992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Из 165 секунд — что заняло больше всего времени?</a:t>
            </a:r>
            <a:endParaRPr lang="ru-RU" sz="3400" dirty="0"/>
          </a:p>
        </p:txBody>
      </p:sp>
      <p:sp>
        <p:nvSpPr>
          <p:cNvPr id="3" name="Вариант А"/>
          <p:cNvSpPr/>
          <p:nvPr/>
        </p:nvSpPr>
        <p:spPr>
          <a:xfrm>
            <a:off x="548640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А</a:t>
            </a:r>
            <a:endParaRPr lang="ru-RU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Скачивание 537 MiB по сети</a:t>
            </a:r>
            <a:endParaRPr lang="ru-RU" sz="2100" dirty="0"/>
          </a:p>
        </p:txBody>
      </p:sp>
      <p:sp>
        <p:nvSpPr>
          <p:cNvPr id="6" name="Вариант Б"/>
          <p:cNvSpPr/>
          <p:nvPr/>
        </p:nvSpPr>
        <p:spPr>
          <a:xfrm>
            <a:off x="4338218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2538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Б</a:t>
            </a:r>
            <a:endParaRPr lang="ru-RU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Проверка и запись на диск</a:t>
            </a:r>
            <a:endParaRPr lang="ru-RU" sz="2100" dirty="0"/>
          </a:p>
        </p:txBody>
      </p:sp>
      <p:sp>
        <p:nvSpPr>
          <p:cNvPr id="9" name="Вариант В"/>
          <p:cNvSpPr/>
          <p:nvPr/>
        </p:nvSpPr>
        <p:spPr>
          <a:xfrm>
            <a:off x="8127797" y="2542032"/>
            <a:ext cx="3515258" cy="2395728"/>
          </a:xfrm>
          <a:prstGeom prst="roundRect">
            <a:avLst>
              <a:gd name="adj" fmla="val 53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02117" y="2798064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В</a:t>
            </a:r>
            <a:endParaRPr lang="ru-RU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3474720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Загрузки машины: прошивка, загрузчики, ядра</a:t>
            </a:r>
            <a:endParaRPr lang="ru-RU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за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" y="5427421"/>
            <a:ext cx="291694" cy="29169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5376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dirty="0">
                <a:solidFill>
                  <a:schemeClr val="tx1"/>
                </a:solidFill>
              </a:rPr>
              <a:t>Поднимите руку: кто за А? За Б? За В?</a:t>
            </a:r>
            <a:endParaRPr lang="ru-RU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16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ОТВЕТ: В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Больше половины простоя — две загрузки машины</a:t>
            </a:r>
            <a:endParaRPr lang="ru-RU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246120" y="16824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Прогон 23.10, 18:53 МСК · секунды от последнего сигнала</a:t>
            </a:r>
            <a:endParaRPr lang="ru-RU" sz="1200" dirty="0"/>
          </a:p>
        </p:txBody>
      </p:sp>
      <p:sp>
        <p:nvSpPr>
          <p:cNvPr id="5" name="Shape 3"/>
          <p:cNvSpPr/>
          <p:nvPr/>
        </p:nvSpPr>
        <p:spPr>
          <a:xfrm>
            <a:off x="3246120" y="1956816"/>
            <a:ext cx="0" cy="3364992"/>
          </a:xfrm>
          <a:prstGeom prst="line">
            <a:avLst/>
          </a:prstGeom>
          <a:noFill/>
          <a:ln w="9525">
            <a:solidFill>
              <a:srgbClr val="9AA3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0 с</a:t>
            </a:r>
            <a:endParaRPr lang="ru-RU" sz="1200" dirty="0"/>
          </a:p>
        </p:txBody>
      </p:sp>
      <p:sp>
        <p:nvSpPr>
          <p:cNvPr id="7" name="Shape 5"/>
          <p:cNvSpPr/>
          <p:nvPr/>
        </p:nvSpPr>
        <p:spPr>
          <a:xfrm>
            <a:off x="405384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808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30</a:t>
            </a:r>
            <a:endParaRPr lang="ru-RU" sz="1200" dirty="0"/>
          </a:p>
        </p:txBody>
      </p:sp>
      <p:sp>
        <p:nvSpPr>
          <p:cNvPr id="9" name="Shape 7"/>
          <p:cNvSpPr/>
          <p:nvPr/>
        </p:nvSpPr>
        <p:spPr>
          <a:xfrm>
            <a:off x="486156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580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60</a:t>
            </a:r>
            <a:endParaRPr lang="ru-RU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90</a:t>
            </a:r>
            <a:endParaRPr lang="ru-RU" sz="1200" dirty="0"/>
          </a:p>
        </p:txBody>
      </p:sp>
      <p:sp>
        <p:nvSpPr>
          <p:cNvPr id="13" name="Shape 11"/>
          <p:cNvSpPr/>
          <p:nvPr/>
        </p:nvSpPr>
        <p:spPr>
          <a:xfrm>
            <a:off x="647700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124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120</a:t>
            </a:r>
            <a:endParaRPr lang="ru-RU" sz="1200" dirty="0"/>
          </a:p>
        </p:txBody>
      </p:sp>
      <p:sp>
        <p:nvSpPr>
          <p:cNvPr id="15" name="Shape 13"/>
          <p:cNvSpPr/>
          <p:nvPr/>
        </p:nvSpPr>
        <p:spPr>
          <a:xfrm>
            <a:off x="728472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1896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150</a:t>
            </a:r>
            <a:endParaRPr lang="ru-RU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1956816"/>
            <a:ext cx="0" cy="3364992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00" dirty="0">
                <a:solidFill>
                  <a:schemeClr val="accent4"/>
                </a:solidFill>
              </a:rPr>
              <a:t>180</a:t>
            </a:r>
            <a:endParaRPr lang="ru-RU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Сброс, прошивка, iPXE</a:t>
            </a:r>
            <a:endParaRPr lang="ru-RU" sz="1400" dirty="0"/>
          </a:p>
        </p:txBody>
      </p:sp>
      <p:sp>
        <p:nvSpPr>
          <p:cNvPr id="20" name="Сброс, прошивка, iPXE: 24.4 с"/>
          <p:cNvSpPr/>
          <p:nvPr/>
        </p:nvSpPr>
        <p:spPr>
          <a:xfrm>
            <a:off x="3246120" y="2075688"/>
            <a:ext cx="656946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76218" y="2048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24,4 с</a:t>
            </a:r>
            <a:endParaRPr lang="ru-RU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Скачивание среды, 132 MiB</a:t>
            </a:r>
            <a:endParaRPr lang="ru-RU" sz="1400" dirty="0"/>
          </a:p>
        </p:txBody>
      </p:sp>
      <p:sp>
        <p:nvSpPr>
          <p:cNvPr id="23" name="Скачивание среды, 132 MiB: 15.300000000000004 с"/>
          <p:cNvSpPr/>
          <p:nvPr/>
        </p:nvSpPr>
        <p:spPr>
          <a:xfrm>
            <a:off x="3903066" y="2441448"/>
            <a:ext cx="411937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88155" y="24140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15,3 с</a:t>
            </a:r>
            <a:endParaRPr lang="ru-RU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Старт Linux в памяти</a:t>
            </a:r>
            <a:endParaRPr lang="ru-RU" sz="1400" dirty="0"/>
          </a:p>
        </p:txBody>
      </p:sp>
      <p:sp>
        <p:nvSpPr>
          <p:cNvPr id="26" name="Старт Linux в памяти: 28.5 с"/>
          <p:cNvSpPr/>
          <p:nvPr/>
        </p:nvSpPr>
        <p:spPr>
          <a:xfrm>
            <a:off x="4315003" y="2807208"/>
            <a:ext cx="767334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55489" y="2779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28,5 с</a:t>
            </a:r>
            <a:endParaRPr lang="ru-RU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145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Поиск разделов</a:t>
            </a:r>
            <a:endParaRPr lang="ru-RU" sz="1400" dirty="0"/>
          </a:p>
        </p:txBody>
      </p:sp>
      <p:sp>
        <p:nvSpPr>
          <p:cNvPr id="29" name="Поиск разделов: 0.7999999999999972 с"/>
          <p:cNvSpPr/>
          <p:nvPr/>
        </p:nvSpPr>
        <p:spPr>
          <a:xfrm>
            <a:off x="5082337" y="3172968"/>
            <a:ext cx="27432" cy="201168"/>
          </a:xfrm>
          <a:prstGeom prst="rect">
            <a:avLst>
              <a:gd name="adj" fmla="val 166667"/>
            </a:avLst>
          </a:prstGeom>
          <a:solidFill>
            <a:schemeClr val="accent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77028" y="3145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0,8 с</a:t>
            </a:r>
            <a:endParaRPr lang="ru-RU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Скачивание образов, 405 MiB</a:t>
            </a:r>
            <a:endParaRPr lang="ru-RU" sz="1400" dirty="0"/>
          </a:p>
        </p:txBody>
      </p:sp>
      <p:sp>
        <p:nvSpPr>
          <p:cNvPr id="32" name="Скачивание образов, 405 MiB: 41.7 с"/>
          <p:cNvSpPr/>
          <p:nvPr/>
        </p:nvSpPr>
        <p:spPr>
          <a:xfrm>
            <a:off x="5103876" y="3538728"/>
            <a:ext cx="1122731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99759" y="35112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41,7 с</a:t>
            </a:r>
            <a:endParaRPr lang="ru-RU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Проверка SHA-256</a:t>
            </a:r>
            <a:endParaRPr lang="ru-RU" sz="1400" dirty="0"/>
          </a:p>
        </p:txBody>
      </p:sp>
      <p:sp>
        <p:nvSpPr>
          <p:cNvPr id="35" name="Проверка SHA-256: 4.799999999999997 с"/>
          <p:cNvSpPr/>
          <p:nvPr/>
        </p:nvSpPr>
        <p:spPr>
          <a:xfrm>
            <a:off x="6226607" y="3904488"/>
            <a:ext cx="129235" cy="201168"/>
          </a:xfrm>
          <a:prstGeom prst="roundRect">
            <a:avLst>
              <a:gd name="adj" fmla="val 35377"/>
            </a:avLst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28994" y="3877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4,8 с</a:t>
            </a:r>
            <a:endParaRPr lang="ru-RU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Запись и сверка</a:t>
            </a:r>
            <a:endParaRPr lang="ru-RU" sz="1400" dirty="0"/>
          </a:p>
        </p:txBody>
      </p:sp>
      <p:sp>
        <p:nvSpPr>
          <p:cNvPr id="38" name="Запись и сверка: 8.299999999999997 с"/>
          <p:cNvSpPr/>
          <p:nvPr/>
        </p:nvSpPr>
        <p:spPr>
          <a:xfrm>
            <a:off x="6355842" y="4270248"/>
            <a:ext cx="223469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52463" y="42428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8,3 с</a:t>
            </a:r>
            <a:endParaRPr lang="ru-RU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608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BootNext, журнал</a:t>
            </a:r>
            <a:endParaRPr lang="ru-RU" sz="1400" dirty="0"/>
          </a:p>
        </p:txBody>
      </p:sp>
      <p:sp>
        <p:nvSpPr>
          <p:cNvPr id="41" name="BootNext, журнал: 0.29999999999999716 с"/>
          <p:cNvSpPr/>
          <p:nvPr/>
        </p:nvSpPr>
        <p:spPr>
          <a:xfrm>
            <a:off x="6579311" y="4636008"/>
            <a:ext cx="27432" cy="201168"/>
          </a:xfrm>
          <a:prstGeom prst="rect">
            <a:avLst>
              <a:gd name="adj" fmla="val 166667"/>
            </a:avLst>
          </a:prstGeom>
          <a:solidFill>
            <a:schemeClr val="accent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60540" y="4608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0,3 с</a:t>
            </a:r>
            <a:endParaRPr lang="ru-RU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974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tx1"/>
                </a:solidFill>
              </a:rPr>
              <a:t>Перезагрузка до сигнала</a:t>
            </a:r>
            <a:endParaRPr lang="ru-RU" sz="1400" dirty="0"/>
          </a:p>
        </p:txBody>
      </p:sp>
      <p:sp>
        <p:nvSpPr>
          <p:cNvPr id="44" name="Перезагрузка до сигнала: 41.599999999999994 с"/>
          <p:cNvSpPr/>
          <p:nvPr/>
        </p:nvSpPr>
        <p:spPr>
          <a:xfrm>
            <a:off x="6587388" y="5001768"/>
            <a:ext cx="112003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80579" y="49743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tx1"/>
                </a:solidFill>
              </a:rPr>
              <a:t>41,6 с</a:t>
            </a:r>
            <a:endParaRPr lang="ru-RU" sz="1300" dirty="0"/>
          </a:p>
        </p:txBody>
      </p:sp>
      <p:sp>
        <p:nvSpPr>
          <p:cNvPr id="46" name="Загрузки машины: прошивка, загрузчики, ядра"/>
          <p:cNvSpPr/>
          <p:nvPr/>
        </p:nvSpPr>
        <p:spPr>
          <a:xfrm>
            <a:off x="8595360" y="1783080"/>
            <a:ext cx="3044952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7" name="Shape 45"/>
          <p:cNvSpPr/>
          <p:nvPr/>
        </p:nvSpPr>
        <p:spPr>
          <a:xfrm>
            <a:off x="8796528" y="1984248"/>
            <a:ext cx="256032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189720" y="18928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tx1"/>
                </a:solidFill>
              </a:rPr>
              <a:t>94,5 с · 57 %</a:t>
            </a:r>
            <a:endParaRPr lang="ru-RU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9189720" y="233172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Загрузки машины: прошивка, загрузчики, ядра</a:t>
            </a:r>
            <a:endParaRPr lang="ru-RU" sz="1300" dirty="0"/>
          </a:p>
        </p:txBody>
      </p:sp>
      <p:sp>
        <p:nvSpPr>
          <p:cNvPr id="50" name="Скачивание: среда 132 MiB и образы 405 MiB"/>
          <p:cNvSpPr/>
          <p:nvPr/>
        </p:nvSpPr>
        <p:spPr>
          <a:xfrm>
            <a:off x="8595360" y="2944368"/>
            <a:ext cx="3044952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1" name="Shape 49"/>
          <p:cNvSpPr/>
          <p:nvPr/>
        </p:nvSpPr>
        <p:spPr>
          <a:xfrm>
            <a:off x="8796528" y="3145536"/>
            <a:ext cx="256032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tx1"/>
                </a:solidFill>
              </a:rPr>
              <a:t>57,0 с · 34 %</a:t>
            </a:r>
            <a:endParaRPr lang="ru-RU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9189720" y="34930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Скачивание: среда 132 MiB и образы 405 MiB</a:t>
            </a:r>
            <a:endParaRPr lang="ru-RU" sz="1300" dirty="0"/>
          </a:p>
        </p:txBody>
      </p:sp>
      <p:sp>
        <p:nvSpPr>
          <p:cNvPr id="54" name="Проверка SHA-256 и запись на диск"/>
          <p:cNvSpPr/>
          <p:nvPr/>
        </p:nvSpPr>
        <p:spPr>
          <a:xfrm>
            <a:off x="8595360" y="4105656"/>
            <a:ext cx="3044952" cy="1024128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55" name="Shape 53"/>
          <p:cNvSpPr/>
          <p:nvPr/>
        </p:nvSpPr>
        <p:spPr>
          <a:xfrm>
            <a:off x="8796528" y="4306824"/>
            <a:ext cx="256032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189720" y="42153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tx1"/>
                </a:solidFill>
              </a:rPr>
              <a:t>13,1 с · 8 %</a:t>
            </a:r>
            <a:endParaRPr lang="ru-RU" sz="2400" dirty="0"/>
          </a:p>
        </p:txBody>
      </p:sp>
      <p:sp>
        <p:nvSpPr>
          <p:cNvPr id="57" name="Text 55"/>
          <p:cNvSpPr txBox="1"/>
          <p:nvPr/>
        </p:nvSpPr>
        <p:spPr>
          <a:xfrm>
            <a:off x="9189720" y="46542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Проверка SHA-256 и запись на диск</a:t>
            </a:r>
            <a:endParaRPr lang="ru-RU" sz="1300" dirty="0"/>
          </a:p>
        </p:txBody>
      </p:sp>
      <p:sp>
        <p:nvSpPr>
          <p:cNvPr id="58" name="Shape 56"/>
          <p:cNvSpPr/>
          <p:nvPr/>
        </p:nvSpPr>
        <p:spPr>
          <a:xfrm>
            <a:off x="8796528" y="5358384"/>
            <a:ext cx="256032" cy="256032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189720" y="534009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1,1 с — поиск разделов, BootNext, журнал</a:t>
            </a:r>
            <a:endParaRPr lang="ru-RU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7790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tx1"/>
                </a:solidFill>
              </a:rPr>
              <a:t>Вывод: </a:t>
            </a:r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ускорять нужно загрузки — меньший UKI, kexec вместо второго прохода прошивки. Скачивание упиралось в порт ноутбука на 100 Мбит/с: 11 MiB/с, 98 % предела.</a:t>
            </a:r>
            <a:endParaRPr lang="ru-RU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17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ГРАБЛИ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Что пошло не по плану</a:t>
            </a:r>
            <a:endParaRPr lang="ru-RU" sz="3400" dirty="0"/>
          </a:p>
        </p:txBody>
      </p:sp>
      <p:sp>
        <p:nvSpPr>
          <p:cNvPr id="4" name="Проблема 1"/>
          <p:cNvSpPr/>
          <p:nvPr/>
        </p:nvSpPr>
        <p:spPr>
          <a:xfrm>
            <a:off x="548640" y="1810512"/>
            <a:ext cx="5410048" cy="2029968"/>
          </a:xfrm>
          <a:prstGeom prst="roundRect">
            <a:avLst>
              <a:gd name="adj" fmla="val 6306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66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пробле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81758"/>
            <a:ext cx="318211" cy="3182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4175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Прошивка удаляет загрузочную запись с адресом сервера — ещё до загрузки, не сделав ни одного запроса</a:t>
            </a:r>
            <a:endParaRPr lang="ru-RU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299923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решени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114446"/>
            <a:ext cx="318211" cy="31821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999232"/>
            <a:ext cx="4175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iPXE на основном разделе EFI: затирание его не трогает</a:t>
            </a:r>
            <a:endParaRPr lang="ru-RU" sz="1600" dirty="0"/>
          </a:p>
        </p:txBody>
      </p:sp>
      <p:sp>
        <p:nvSpPr>
          <p:cNvPr id="11" name="Проблема 2"/>
          <p:cNvSpPr/>
          <p:nvPr/>
        </p:nvSpPr>
        <p:spPr>
          <a:xfrm>
            <a:off x="6233008" y="1810512"/>
            <a:ext cx="5410048" cy="2029968"/>
          </a:xfrm>
          <a:prstGeom prst="roundRect">
            <a:avLst>
              <a:gd name="adj" fmla="val 6306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489040" y="2066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проблем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2181758"/>
            <a:ext cx="318211" cy="3182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38848" y="2029968"/>
            <a:ext cx="4175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BootNext дважды загрузил старую систему: прошивка записала свою запись под нужным номером</a:t>
            </a:r>
            <a:endParaRPr lang="ru-RU" sz="1700" dirty="0"/>
          </a:p>
        </p:txBody>
      </p:sp>
      <p:sp>
        <p:nvSpPr>
          <p:cNvPr id="15" name="Shape 10"/>
          <p:cNvSpPr/>
          <p:nvPr/>
        </p:nvSpPr>
        <p:spPr>
          <a:xfrm>
            <a:off x="6489040" y="299923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3" descr="реш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114446"/>
            <a:ext cx="318211" cy="31821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38848" y="2999232"/>
            <a:ext cx="4175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Одноразовая запись systemd-boot: от прошивки нужна только первая запись BootOrder</a:t>
            </a:r>
            <a:endParaRPr lang="ru-RU" sz="1600" dirty="0"/>
          </a:p>
        </p:txBody>
      </p:sp>
      <p:sp>
        <p:nvSpPr>
          <p:cNvPr id="18" name="Проблема 3"/>
          <p:cNvSpPr/>
          <p:nvPr/>
        </p:nvSpPr>
        <p:spPr>
          <a:xfrm>
            <a:off x="548640" y="4050792"/>
            <a:ext cx="5410048" cy="2029968"/>
          </a:xfrm>
          <a:prstGeom prst="roundRect">
            <a:avLst>
              <a:gd name="adj" fmla="val 6306"/>
            </a:avLst>
          </a:prstGeom>
          <a:solidFill>
            <a:schemeClr val="bg2"/>
          </a:solidFill>
          <a:ln/>
        </p:spPr>
      </p:sp>
      <p:sp>
        <p:nvSpPr>
          <p:cNvPr id="19" name="Shape 13"/>
          <p:cNvSpPr/>
          <p:nvPr/>
        </p:nvSpPr>
        <p:spPr>
          <a:xfrm>
            <a:off x="804672" y="430682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проблем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422038"/>
            <a:ext cx="318211" cy="31821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4270248"/>
            <a:ext cx="4175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Домашний роутер отвечал на первые DNS-запросы ошибкой</a:t>
            </a:r>
            <a:endParaRPr lang="ru-RU" sz="1700" dirty="0"/>
          </a:p>
        </p:txBody>
      </p:sp>
      <p:sp>
        <p:nvSpPr>
          <p:cNvPr id="22" name="Shape 15"/>
          <p:cNvSpPr/>
          <p:nvPr/>
        </p:nvSpPr>
        <p:spPr>
          <a:xfrm>
            <a:off x="804672" y="523951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5" descr="решение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5354726"/>
            <a:ext cx="318211" cy="31821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54480" y="5239512"/>
            <a:ext cx="4175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Три повтора, затем DNS-серверы 1.1.1.1 и 8.8.8.8</a:t>
            </a:r>
            <a:endParaRPr lang="ru-RU" sz="1600" dirty="0"/>
          </a:p>
        </p:txBody>
      </p:sp>
      <p:sp>
        <p:nvSpPr>
          <p:cNvPr id="25" name="Проблема 4"/>
          <p:cNvSpPr/>
          <p:nvPr/>
        </p:nvSpPr>
        <p:spPr>
          <a:xfrm>
            <a:off x="6233008" y="4050792"/>
            <a:ext cx="5410048" cy="2029968"/>
          </a:xfrm>
          <a:prstGeom prst="roundRect">
            <a:avLst>
              <a:gd name="adj" fmla="val 6306"/>
            </a:avLst>
          </a:prstGeom>
          <a:solidFill>
            <a:schemeClr val="bg2"/>
          </a:solidFill>
          <a:ln/>
        </p:spPr>
      </p:sp>
      <p:sp>
        <p:nvSpPr>
          <p:cNvPr id="26" name="Shape 18"/>
          <p:cNvSpPr/>
          <p:nvPr/>
        </p:nvSpPr>
        <p:spPr>
          <a:xfrm>
            <a:off x="6489040" y="430682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6" descr="проблем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254" y="4422038"/>
            <a:ext cx="318211" cy="31821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38848" y="4270248"/>
            <a:ext cx="4175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После сброса старая SSH-сессия часами держала порт туннеля</a:t>
            </a:r>
            <a:endParaRPr lang="ru-RU" sz="1700" dirty="0"/>
          </a:p>
        </p:txBody>
      </p:sp>
      <p:sp>
        <p:nvSpPr>
          <p:cNvPr id="29" name="Shape 20"/>
          <p:cNvSpPr/>
          <p:nvPr/>
        </p:nvSpPr>
        <p:spPr>
          <a:xfrm>
            <a:off x="6489040" y="523951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mage 7" descr="решение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254" y="5354726"/>
            <a:ext cx="318211" cy="31821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38848" y="5239512"/>
            <a:ext cx="4175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1"/>
                </a:solidFill>
              </a:rPr>
              <a:t>Туннель через Unix-сокет: новое подключение заменяет старое</a:t>
            </a:r>
            <a:endParaRPr lang="ru-RU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18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ДЕМОНСТРАЦИЯ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600" b="1" dirty="0">
                <a:solidFill>
                  <a:schemeClr val="bg1"/>
                </a:solidFill>
              </a:rPr>
              <a:t>Проверим 165 секунд вживую</a:t>
            </a:r>
            <a:endParaRPr lang="ru-RU" sz="3600" dirty="0"/>
          </a:p>
        </p:txBody>
      </p:sp>
      <p:sp>
        <p:nvSpPr>
          <p:cNvPr id="4" name="QR-код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3590"/>
            </a:avLst>
          </a:prstGeom>
          <a:solidFill>
            <a:schemeClr val="bg1"/>
          </a:solidFill>
          <a:ln/>
        </p:spPr>
      </p:sp>
      <p:pic>
        <p:nvPicPr>
          <p:cNvPr id="5" name="Image 0" descr="QR-код страницы состояния osreboot.epsti.site">
            <a:hlinkClick r:id="rId2" tooltip="Страница состояния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892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tx2"/>
                </a:solidFill>
              </a:rPr>
              <a:t>osreboot.epsti.site</a:t>
            </a:r>
            <a:endParaRPr lang="ru-RU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49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Откройте на телефоне: та же страница, что на экране</a:t>
            </a:r>
            <a:endParaRPr lang="ru-RU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7830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Чего ждём — по прогону 23.10</a:t>
            </a:r>
            <a:endParaRPr lang="ru-RU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3042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0 с</a:t>
            </a:r>
            <a:endParaRPr lang="ru-RU" sz="1700" dirty="0"/>
          </a:p>
        </p:txBody>
      </p:sp>
      <p:sp>
        <p:nvSpPr>
          <p:cNvPr id="10" name="Shape 7"/>
          <p:cNvSpPr/>
          <p:nvPr/>
        </p:nvSpPr>
        <p:spPr>
          <a:xfrm>
            <a:off x="5833872" y="239572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99632" y="230428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Стирание системы</a:t>
            </a:r>
            <a:endParaRPr lang="ru-RU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7066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0 с</a:t>
            </a:r>
            <a:endParaRPr lang="ru-RU" sz="1700" dirty="0"/>
          </a:p>
        </p:txBody>
      </p:sp>
      <p:sp>
        <p:nvSpPr>
          <p:cNvPr id="13" name="Shape 10"/>
          <p:cNvSpPr/>
          <p:nvPr/>
        </p:nvSpPr>
        <p:spPr>
          <a:xfrm>
            <a:off x="5833872" y="2798064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99632" y="27066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Перезагрузка и сетевой загрузчик</a:t>
            </a:r>
            <a:endParaRPr lang="ru-RU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108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24 с</a:t>
            </a:r>
            <a:endParaRPr lang="ru-RU" sz="1700" dirty="0"/>
          </a:p>
        </p:txBody>
      </p:sp>
      <p:sp>
        <p:nvSpPr>
          <p:cNvPr id="16" name="Shape 13"/>
          <p:cNvSpPr/>
          <p:nvPr/>
        </p:nvSpPr>
        <p:spPr>
          <a:xfrm>
            <a:off x="5833872" y="3200400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99632" y="310896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Скачивание среды восстановления</a:t>
            </a:r>
            <a:endParaRPr lang="ru-RU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5112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40 с</a:t>
            </a:r>
            <a:endParaRPr lang="ru-RU" sz="1700" dirty="0"/>
          </a:p>
        </p:txBody>
      </p:sp>
      <p:sp>
        <p:nvSpPr>
          <p:cNvPr id="19" name="Shape 16"/>
          <p:cNvSpPr/>
          <p:nvPr/>
        </p:nvSpPr>
        <p:spPr>
          <a:xfrm>
            <a:off x="5833872" y="3602736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99632" y="351129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Запуск среды восстановления</a:t>
            </a:r>
            <a:endParaRPr lang="ru-RU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9136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69 с</a:t>
            </a:r>
            <a:endParaRPr lang="ru-RU" sz="1700" dirty="0"/>
          </a:p>
        </p:txBody>
      </p:sp>
      <p:sp>
        <p:nvSpPr>
          <p:cNvPr id="22" name="Shape 19"/>
          <p:cNvSpPr/>
          <p:nvPr/>
        </p:nvSpPr>
        <p:spPr>
          <a:xfrm>
            <a:off x="5833872" y="4005072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199632" y="391363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Скачивание образов системы</a:t>
            </a:r>
            <a:endParaRPr lang="ru-RU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3159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111 с</a:t>
            </a:r>
            <a:endParaRPr lang="ru-RU" sz="1700" dirty="0"/>
          </a:p>
        </p:txBody>
      </p:sp>
      <p:sp>
        <p:nvSpPr>
          <p:cNvPr id="25" name="Shape 22"/>
          <p:cNvSpPr/>
          <p:nvPr/>
        </p:nvSpPr>
        <p:spPr>
          <a:xfrm>
            <a:off x="5833872" y="4407408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99632" y="431596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Проверка контрольных сумм</a:t>
            </a:r>
            <a:endParaRPr lang="ru-RU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71830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116 с</a:t>
            </a:r>
            <a:endParaRPr lang="ru-RU" sz="1700" dirty="0"/>
          </a:p>
        </p:txBody>
      </p:sp>
      <p:sp>
        <p:nvSpPr>
          <p:cNvPr id="28" name="Shape 25"/>
          <p:cNvSpPr/>
          <p:nvPr/>
        </p:nvSpPr>
        <p:spPr>
          <a:xfrm>
            <a:off x="5833872" y="4809744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99632" y="471830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Запись на диск</a:t>
            </a:r>
            <a:endParaRPr lang="ru-RU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5120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124 с</a:t>
            </a:r>
            <a:endParaRPr lang="ru-RU" sz="1700" dirty="0"/>
          </a:p>
        </p:txBody>
      </p:sp>
      <p:sp>
        <p:nvSpPr>
          <p:cNvPr id="31" name="Shape 28"/>
          <p:cNvSpPr/>
          <p:nvPr/>
        </p:nvSpPr>
        <p:spPr>
          <a:xfrm>
            <a:off x="5833872" y="5212080"/>
            <a:ext cx="146304" cy="14630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99632" y="512064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Перезагрузка в восстановленную систему</a:t>
            </a:r>
            <a:endParaRPr lang="ru-RU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5229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ru-RU" sz="1700" b="1" dirty="0">
                <a:solidFill>
                  <a:schemeClr val="accent1"/>
                </a:solidFill>
              </a:rPr>
              <a:t>≈ 166 с</a:t>
            </a:r>
            <a:endParaRPr lang="ru-RU" sz="1700" dirty="0"/>
          </a:p>
        </p:txBody>
      </p:sp>
      <p:sp>
        <p:nvSpPr>
          <p:cNvPr id="34" name="Shape 31"/>
          <p:cNvSpPr/>
          <p:nvPr/>
        </p:nvSpPr>
        <p:spPr>
          <a:xfrm>
            <a:off x="5833872" y="5614416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199632" y="552297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b="1" dirty="0">
                <a:solidFill>
                  <a:schemeClr val="bg1"/>
                </a:solidFill>
              </a:rPr>
              <a:t>Система снова на связи</a:t>
            </a:r>
            <a:endParaRPr lang="ru-RU" sz="1700" dirty="0"/>
          </a:p>
        </p:txBody>
      </p:sp>
      <p:sp>
        <p:nvSpPr>
          <p:cNvPr id="36" name="Text 33">
            <a:hlinkClick r:id="rId3" tooltip="Куда ушли 165 секунд" action="ppaction://hlinksldjump"/>
          </p:cNvPr>
          <p:cNvSpPr/>
          <p:nvPr/>
        </p:nvSpPr>
        <p:spPr>
          <a:xfrm>
            <a:off x="4572000" y="5833872"/>
            <a:ext cx="493776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400" b="1" u="sng" dirty="0">
                <a:solidFill>
                  <a:schemeClr val="tx2"/>
                </a:solidFill>
                <a:hlinkClick r:id="rId3" action="ppaction://hlinksldjump" tooltip="Куда ушли 165 секун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Если сеть подведёт — запись прогона, слайд 17  →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3D1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19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ЧЕСТНО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400" b="1" dirty="0">
                <a:solidFill>
                  <a:schemeClr val="tx1"/>
                </a:solidFill>
              </a:rPr>
              <a:t>Чего OSreboot пока не умеет — и что с этим делать</a:t>
            </a:r>
            <a:endParaRPr lang="ru-RU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b="1" spc="200" kern="0" dirty="0">
                <a:solidFill>
                  <a:schemeClr val="accent4"/>
                </a:solidFill>
              </a:rPr>
              <a:t>ОГРАНИЧЕНИЕ</a:t>
            </a:r>
            <a:endParaRPr lang="ru-RU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200" b="1" spc="200" kern="0" dirty="0">
                <a:solidFill>
                  <a:schemeClr val="accent4"/>
                </a:solidFill>
              </a:rPr>
              <a:t>ЧТО СДЕЛАТЬ</a:t>
            </a:r>
            <a:endParaRPr lang="ru-RU" sz="1200" dirty="0"/>
          </a:p>
        </p:txBody>
      </p:sp>
      <p:sp>
        <p:nvSpPr>
          <p:cNvPr id="6" name="Стёрли весь диск — пропал и iPXE, цепочка обрывается"/>
          <p:cNvSpPr/>
          <p:nvPr/>
        </p:nvSpPr>
        <p:spPr>
          <a:xfrm>
            <a:off x="548640" y="1920240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Стёрли весь диск — пропал и iPXE, цепочка обрывается</a:t>
            </a:r>
            <a:endParaRPr lang="ru-RU" sz="1500" dirty="0"/>
          </a:p>
        </p:txBody>
      </p:sp>
      <p:sp>
        <p:nvSpPr>
          <p:cNvPr id="8" name="Shape 6"/>
          <p:cNvSpPr/>
          <p:nvPr/>
        </p:nvSpPr>
        <p:spPr>
          <a:xfrm>
            <a:off x="5779008" y="2103120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Проверить UEFI HTTP Boot на других прошивках и с адресом от DHCP"/>
          <p:cNvSpPr/>
          <p:nvPr/>
        </p:nvSpPr>
        <p:spPr>
          <a:xfrm>
            <a:off x="6400800" y="1920240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20240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Проверить UEFI HTTP Boot на других прошивках и с адресом от DHCP</a:t>
            </a:r>
            <a:endParaRPr lang="ru-RU" sz="1500" dirty="0"/>
          </a:p>
        </p:txBody>
      </p:sp>
      <p:sp>
        <p:nvSpPr>
          <p:cNvPr id="11" name="Восстановление запускает команда затирания, а не сама поломка"/>
          <p:cNvSpPr/>
          <p:nvPr/>
        </p:nvSpPr>
        <p:spPr>
          <a:xfrm>
            <a:off x="548640" y="2624328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624328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Восстановление запускает команда затирания, а не сама поломка</a:t>
            </a:r>
            <a:endParaRPr lang="ru-RU" sz="1500" dirty="0"/>
          </a:p>
        </p:txBody>
      </p:sp>
      <p:sp>
        <p:nvSpPr>
          <p:cNvPr id="13" name="Shape 11"/>
          <p:cNvSpPr/>
          <p:nvPr/>
        </p:nvSpPr>
        <p:spPr>
          <a:xfrm>
            <a:off x="5779008" y="2807208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4" name="Счётчик неудачных загрузок: Automatic Boot Assessment в systemd-boot"/>
          <p:cNvSpPr/>
          <p:nvPr/>
        </p:nvSpPr>
        <p:spPr>
          <a:xfrm>
            <a:off x="6400800" y="2624328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624328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Счётчик неудачных загрузок: Automatic Boot Assessment в systemd-boot</a:t>
            </a:r>
            <a:endParaRPr lang="ru-RU" sz="1500" dirty="0"/>
          </a:p>
        </p:txBody>
      </p:sp>
      <p:sp>
        <p:nvSpPr>
          <p:cNvPr id="16" name="Цепочка не подписана: кто управляет сервером, тот управляет и восстановлением"/>
          <p:cNvSpPr/>
          <p:nvPr/>
        </p:nvSpPr>
        <p:spPr>
          <a:xfrm>
            <a:off x="548640" y="3328416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2841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Цепочка не подписана: кто управляет сервером, тот управляет и восстановлением</a:t>
            </a:r>
            <a:endParaRPr lang="ru-RU" sz="1500" dirty="0"/>
          </a:p>
        </p:txBody>
      </p:sp>
      <p:sp>
        <p:nvSpPr>
          <p:cNvPr id="18" name="Shape 16"/>
          <p:cNvSpPr/>
          <p:nvPr/>
        </p:nvSpPr>
        <p:spPr>
          <a:xfrm>
            <a:off x="5779008" y="3511296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9" name="Подписать iPXE, UKI и образы, включить Secure Boot"/>
          <p:cNvSpPr/>
          <p:nvPr/>
        </p:nvSpPr>
        <p:spPr>
          <a:xfrm>
            <a:off x="6400800" y="3328416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32841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Подписать iPXE, UKI и образы, включить Secure Boot</a:t>
            </a:r>
            <a:endParaRPr lang="ru-RU" sz="1500" dirty="0"/>
          </a:p>
        </p:txBody>
      </p:sp>
      <p:sp>
        <p:nvSpPr>
          <p:cNvPr id="21" name="57 % простоя — две загрузки машины"/>
          <p:cNvSpPr/>
          <p:nvPr/>
        </p:nvSpPr>
        <p:spPr>
          <a:xfrm>
            <a:off x="548640" y="4032504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32504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57 % простоя — две загрузки машины</a:t>
            </a:r>
            <a:endParaRPr lang="ru-RU" sz="1500" dirty="0"/>
          </a:p>
        </p:txBody>
      </p:sp>
      <p:sp>
        <p:nvSpPr>
          <p:cNvPr id="23" name="Shape 21"/>
          <p:cNvSpPr/>
          <p:nvPr/>
        </p:nvSpPr>
        <p:spPr>
          <a:xfrm>
            <a:off x="5779008" y="4215384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4" name="Меньший UKI, kexec вместо второго прохода прошивки, гигабитная сеть"/>
          <p:cNvSpPr/>
          <p:nvPr/>
        </p:nvSpPr>
        <p:spPr>
          <a:xfrm>
            <a:off x="6400800" y="4032504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032504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Меньший UKI, kexec вместо второго прохода прошивки, гигабитная сеть</a:t>
            </a:r>
            <a:endParaRPr lang="ru-RU" sz="1500" dirty="0"/>
          </a:p>
        </p:txBody>
      </p:sp>
      <p:sp>
        <p:nvSpPr>
          <p:cNvPr id="26" name="Нет удалённого питания: зависание в меню прошивки не поднять"/>
          <p:cNvSpPr/>
          <p:nvPr/>
        </p:nvSpPr>
        <p:spPr>
          <a:xfrm>
            <a:off x="548640" y="4736592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73659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Нет удалённого питания: зависание в меню прошивки не поднять</a:t>
            </a:r>
            <a:endParaRPr lang="ru-RU" sz="1500" dirty="0"/>
          </a:p>
        </p:txBody>
      </p:sp>
      <p:sp>
        <p:nvSpPr>
          <p:cNvPr id="28" name="Shape 26"/>
          <p:cNvSpPr/>
          <p:nvPr/>
        </p:nvSpPr>
        <p:spPr>
          <a:xfrm>
            <a:off x="5779008" y="4919472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9" name="IP-KVM или умная розетка и «включаться при подаче питания»"/>
          <p:cNvSpPr/>
          <p:nvPr/>
        </p:nvSpPr>
        <p:spPr>
          <a:xfrm>
            <a:off x="6400800" y="4736592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4736592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IP-KVM или умная розетка и «включаться при подаче питания»</a:t>
            </a:r>
            <a:endParaRPr lang="ru-RU" sz="1500" dirty="0"/>
          </a:p>
        </p:txBody>
      </p:sp>
      <p:sp>
        <p:nvSpPr>
          <p:cNvPr id="31" name="4 полных прогона — ещё не статистика"/>
          <p:cNvSpPr/>
          <p:nvPr/>
        </p:nvSpPr>
        <p:spPr>
          <a:xfrm>
            <a:off x="548640" y="5440680"/>
            <a:ext cx="5120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44068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4 полных прогона — ещё не статистика</a:t>
            </a:r>
            <a:endParaRPr lang="ru-RU" sz="1500" dirty="0"/>
          </a:p>
        </p:txBody>
      </p:sp>
      <p:sp>
        <p:nvSpPr>
          <p:cNvPr id="33" name="Shape 31"/>
          <p:cNvSpPr/>
          <p:nvPr/>
        </p:nvSpPr>
        <p:spPr>
          <a:xfrm>
            <a:off x="5779008" y="5623560"/>
            <a:ext cx="457200" cy="237744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34" name="Серия из 10+ прогонов: scripts/run-series.sh"/>
          <p:cNvSpPr/>
          <p:nvPr/>
        </p:nvSpPr>
        <p:spPr>
          <a:xfrm>
            <a:off x="6400800" y="5440680"/>
            <a:ext cx="5239512" cy="603504"/>
          </a:xfrm>
          <a:prstGeom prst="roundRect">
            <a:avLst>
              <a:gd name="adj" fmla="val 15152"/>
            </a:avLst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0" y="5440680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Серия из 10+ прогонов: scripts/run-series.sh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20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ИТОГИ</a:t>
            </a:r>
            <a:endParaRPr lang="ru-RU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600" b="1" dirty="0">
                <a:solidFill>
                  <a:schemeClr val="bg1"/>
                </a:solidFill>
              </a:rPr>
              <a:t>Вариант «В» из первого вопроса теперь есть и у ноутбука без BMC</a:t>
            </a:r>
            <a:endParaRPr lang="ru-RU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значок: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60" y="2220620"/>
            <a:ext cx="450799" cy="4507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3911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bg1"/>
                </a:solidFill>
              </a:rPr>
              <a:t>Работает</a:t>
            </a:r>
            <a:endParaRPr lang="ru-RU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478024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2"/>
                </a:solidFill>
              </a:rPr>
              <a:t>Ноутбук без BMC сам поднимает стёртую систему через интернет: UEFI → iPXE по HTTPS → Linux в памяти → проверка и запись</a:t>
            </a:r>
            <a:endParaRPr lang="ru-RU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значок: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0" y="3546500"/>
            <a:ext cx="450799" cy="4507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36499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bg1"/>
                </a:solidFill>
              </a:rPr>
              <a:t>Около 165 с простоя, разброс меньше 2 с</a:t>
            </a:r>
            <a:endParaRPr lang="ru-RU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803904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2"/>
                </a:solidFill>
              </a:rPr>
              <a:t>57 % — две загрузки машины, 34 % — скачивание, 8 % — проверка и запись</a:t>
            </a:r>
            <a:endParaRPr lang="ru-RU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значок: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0" y="4872380"/>
            <a:ext cx="450799" cy="45079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69087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400" b="1" dirty="0">
                <a:solidFill>
                  <a:schemeClr val="bg1"/>
                </a:solidFill>
              </a:rPr>
              <a:t>Открыто и измеримо</a:t>
            </a:r>
            <a:endParaRPr lang="ru-RU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129784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700" dirty="0">
                <a:solidFill>
                  <a:schemeClr val="bg2"/>
                </a:solidFill>
              </a:rPr>
              <a:t>Код, образы и замеры — в репозитории; простой меряет внешний сервер</a:t>
            </a:r>
            <a:endParaRPr lang="ru-RU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3D1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21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676656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600" b="1" dirty="0">
                <a:solidFill>
                  <a:schemeClr val="bg1"/>
                </a:solidFill>
              </a:rPr>
              <a:t>Спасибо! Вопросы?</a:t>
            </a:r>
            <a:endParaRPr lang="ru-RU" sz="3600" dirty="0"/>
          </a:p>
        </p:txBody>
      </p:sp>
      <p:sp>
        <p:nvSpPr>
          <p:cNvPr id="3" name="Репозиторий"/>
          <p:cNvSpPr/>
          <p:nvPr/>
        </p:nvSpPr>
        <p:spPr>
          <a:xfrm>
            <a:off x="548640" y="1874520"/>
            <a:ext cx="2880360" cy="37947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4" name="Image 0" descr="QR-код: github.com/Irenid/OSreboot">
            <a:hlinkClick r:id="rId2" tooltip="Репозиторий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0312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462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Репозиторий</a:t>
            </a:r>
            <a:endParaRPr lang="ru-RU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github.com/Irenid/OSreboot</a:t>
            </a:r>
            <a:endParaRPr lang="ru-RU" sz="1400" dirty="0"/>
          </a:p>
        </p:txBody>
      </p:sp>
      <p:sp>
        <p:nvSpPr>
          <p:cNvPr id="7" name="Страница состояния"/>
          <p:cNvSpPr/>
          <p:nvPr/>
        </p:nvSpPr>
        <p:spPr>
          <a:xfrm>
            <a:off x="3703320" y="1874520"/>
            <a:ext cx="2880360" cy="37947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8" name="Image 1" descr="QR-код: osreboot.epsti.site">
            <a:hlinkClick r:id="rId4" tooltip="Страница состояния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103120"/>
            <a:ext cx="2194560" cy="2194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40480" y="4462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2"/>
                </a:solidFill>
              </a:rPr>
              <a:t>Страница состояния</a:t>
            </a:r>
            <a:endParaRPr lang="ru-RU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osreboot.epsti.site</a:t>
            </a:r>
            <a:endParaRPr lang="ru-RU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b="1" spc="200" kern="0" dirty="0">
                <a:solidFill>
                  <a:schemeClr val="accent1"/>
                </a:solidFill>
              </a:rPr>
              <a:t>ЗАПАСНЫЕ СЛАЙДЫ</a:t>
            </a:r>
            <a:endParaRPr lang="ru-RU" sz="1300" dirty="0"/>
          </a:p>
        </p:txBody>
      </p:sp>
      <p:sp>
        <p:nvSpPr>
          <p:cNvPr id="13" name="Text 8">
            <a:hlinkClick r:id="rId5" tooltip="Репозиторий: что где лежит" action="ppaction://hlinksldjump"/>
          </p:cNvPr>
          <p:cNvSpPr/>
          <p:nvPr/>
        </p:nvSpPr>
        <p:spPr>
          <a:xfrm>
            <a:off x="7315200" y="2286000"/>
            <a:ext cx="432511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600" b="1" u="sng" dirty="0">
                <a:solidFill>
                  <a:schemeClr val="tx2"/>
                </a:solidFill>
                <a:hlinkClick r:id="rId5" action="ppaction://hlinksldjump" tooltip="Репозиторий: что где лежит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Репозиторий: что где лежит  →</a:t>
            </a:r>
            <a:endParaRPr lang="ru-RU" sz="1600" dirty="0"/>
          </a:p>
        </p:txBody>
      </p:sp>
      <p:sp>
        <p:nvSpPr>
          <p:cNvPr id="14" name="Text 9">
            <a:hlinkClick r:id="rId6" tooltip="Секреты: путь токена" action="ppaction://hlinksldjump"/>
          </p:cNvPr>
          <p:cNvSpPr/>
          <p:nvPr/>
        </p:nvSpPr>
        <p:spPr>
          <a:xfrm>
            <a:off x="7315200" y="2971800"/>
            <a:ext cx="432511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600" b="1" u="sng" dirty="0">
                <a:solidFill>
                  <a:schemeClr val="tx2"/>
                </a:solidFill>
                <a:hlinkClick r:id="rId6" action="ppaction://hlinksldjump" tooltip="Секреты: путь токен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Секреты: путь токена  →</a:t>
            </a:r>
            <a:endParaRPr lang="ru-RU" sz="1600" dirty="0"/>
          </a:p>
        </p:txBody>
      </p:sp>
      <p:sp>
        <p:nvSpPr>
          <p:cNvPr id="15" name="Text 10">
            <a:hlinkClick r:id="rId7" tooltip="Все прогоны: таблица" action="ppaction://hlinksldjump"/>
          </p:cNvPr>
          <p:cNvSpPr/>
          <p:nvPr/>
        </p:nvSpPr>
        <p:spPr>
          <a:xfrm>
            <a:off x="7315200" y="3657600"/>
            <a:ext cx="4325112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600" b="1" u="sng" dirty="0">
                <a:solidFill>
                  <a:schemeClr val="tx2"/>
                </a:solidFill>
                <a:hlinkClick r:id="rId7" action="ppaction://hlinksldjump" tooltip="Все прогоны: таблиц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прогоны: таблица  →</a:t>
            </a:r>
            <a:endParaRPr lang="ru-RU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0" y="4572000"/>
            <a:ext cx="4325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</a:rPr>
              <a:t>165 с</a:t>
            </a:r>
            <a:pPr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 простоя · </a:t>
            </a:r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</a:rPr>
              <a:t>8</a:t>
            </a:r>
            <a:pPr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 этапов · </a:t>
            </a:r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</a:rPr>
              <a:t>537 MiB</a:t>
            </a:r>
            <a:pPr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 по сети · </a:t>
            </a:r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</a:rPr>
              <a:t>0</a:t>
            </a:r>
            <a:pPr indent="0" marL="0">
              <a:buNone/>
            </a:pPr>
            <a:r>
              <a:rPr lang="ru-RU" sz="1600" dirty="0">
                <a:solidFill>
                  <a:schemeClr val="bg1"/>
                </a:solidFill>
              </a:rPr>
              <a:t> открытых секретов в образах</a:t>
            </a:r>
            <a:endParaRPr lang="ru-RU" sz="1600" dirty="0"/>
          </a:p>
        </p:txBody>
      </p:sp>
      <p:sp>
        <p:nvSpPr>
          <p:cNvPr id="17" name="Text 0"/>
          <p:cNvSpPr/>
          <p:nvPr>
            <p:ph idx="100" type="body" hasCustomPrompt="1"/>
          </p:nvPr>
        </p:nvSpPr>
        <p:spPr>
          <a:xfrm>
            <a:off x="548640" y="3291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3D1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22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1"/>
                </a:solidFill>
              </a:rPr>
              <a:t>Репозиторий: что где лежит</a:t>
            </a:r>
            <a:endParaRPr lang="ru-RU" sz="3000" dirty="0"/>
          </a:p>
        </p:txBody>
      </p:sp>
      <p:sp>
        <p:nvSpPr>
          <p:cNvPr id="3" name="Text 1">
            <a:hlinkClick r:id="rId1" tooltip="Спасибо! Вопросы?" action="ppaction://hlinksldjump"/>
          </p:cNvPr>
          <p:cNvSpPr/>
          <p:nvPr/>
        </p:nvSpPr>
        <p:spPr>
          <a:xfrm>
            <a:off x="9628632" y="365760"/>
            <a:ext cx="201168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400" b="1" u="sng" dirty="0">
                <a:solidFill>
                  <a:schemeClr val="tx1"/>
                </a:solidFill>
                <a:hlinkClick r:id="rId1" action="ppaction://hlinksldjump" tooltip="Спасибо! Вопросы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к вопросам</a:t>
            </a:r>
            <a:endParaRPr lang="ru-RU" sz="1400" dirty="0"/>
          </a:p>
        </p:txBody>
      </p:sp>
      <p:sp>
        <p:nvSpPr>
          <p:cNvPr id="4" name="src/"/>
          <p:cNvSpPr/>
          <p:nvPr/>
        </p:nvSpPr>
        <p:spPr>
          <a:xfrm>
            <a:off x="548640" y="1783080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9385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пап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34540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56232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ru-RU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67128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Сервер на Node.js: сигналы, простой, раздача файлов</a:t>
            </a:r>
            <a:endParaRPr lang="ru-RU" sz="1300" dirty="0"/>
          </a:p>
        </p:txBody>
      </p:sp>
      <p:sp>
        <p:nvSpPr>
          <p:cNvPr id="9" name="web/"/>
          <p:cNvSpPr/>
          <p:nvPr/>
        </p:nvSpPr>
        <p:spPr>
          <a:xfrm>
            <a:off x="6233008" y="1783080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388456" y="19385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пап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68" y="203454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10248" y="1856232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endParaRPr lang="ru-RU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010248" y="2167128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Страница состояния и проверка доступа /probe</a:t>
            </a:r>
            <a:endParaRPr lang="ru-RU" sz="1300" dirty="0"/>
          </a:p>
        </p:txBody>
      </p:sp>
      <p:sp>
        <p:nvSpPr>
          <p:cNvPr id="14" name="client/"/>
          <p:cNvSpPr/>
          <p:nvPr/>
        </p:nvSpPr>
        <p:spPr>
          <a:xfrm>
            <a:off x="548640" y="2679192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704088" y="2834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пап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930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7523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</a:t>
            </a:r>
            <a:endParaRPr lang="ru-RU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3063240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Клиент на sh и curl: heartbeat и отчёты об этапах</a:t>
            </a:r>
            <a:endParaRPr lang="ru-RU" sz="1300" dirty="0"/>
          </a:p>
        </p:txBody>
      </p:sp>
      <p:sp>
        <p:nvSpPr>
          <p:cNvPr id="19" name="image/"/>
          <p:cNvSpPr/>
          <p:nvPr/>
        </p:nvSpPr>
        <p:spPr>
          <a:xfrm>
            <a:off x="6233008" y="2679192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8456" y="2834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3" descr="пап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29306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0248" y="275234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image/</a:t>
            </a:r>
            <a:endParaRPr lang="ru-RU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010248" y="3063240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Тестовая система (mkosi), osreboot-wipe, первая установка</a:t>
            </a:r>
            <a:endParaRPr lang="ru-RU" sz="1300" dirty="0"/>
          </a:p>
        </p:txBody>
      </p:sp>
      <p:sp>
        <p:nvSpPr>
          <p:cNvPr id="24" name="ipxe/"/>
          <p:cNvSpPr/>
          <p:nvPr/>
        </p:nvSpPr>
        <p:spPr>
          <a:xfrm>
            <a:off x="548640" y="3575304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704088" y="373075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4" descr="папк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826764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36484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ipxe/</a:t>
            </a:r>
            <a:endParaRPr lang="ru-RU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325880" y="3959352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Сборка iPXE со встроенным сценарием, установка на ноутбук</a:t>
            </a:r>
            <a:endParaRPr lang="ru-RU" sz="1300" dirty="0"/>
          </a:p>
        </p:txBody>
      </p:sp>
      <p:sp>
        <p:nvSpPr>
          <p:cNvPr id="29" name="recovery/"/>
          <p:cNvSpPr/>
          <p:nvPr/>
        </p:nvSpPr>
        <p:spPr>
          <a:xfrm>
            <a:off x="6233008" y="3575304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6388456" y="373075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папк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468" y="3826764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10248" y="3648456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recovery/</a:t>
            </a:r>
            <a:endParaRPr lang="ru-RU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010248" y="3959352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Среда восстановления: UKI и скрипт osreboot-recovery</a:t>
            </a:r>
            <a:endParaRPr lang="ru-RU" sz="1300" dirty="0"/>
          </a:p>
        </p:txBody>
      </p:sp>
      <p:sp>
        <p:nvSpPr>
          <p:cNvPr id="34" name="deploy/"/>
          <p:cNvSpPr/>
          <p:nvPr/>
        </p:nvSpPr>
        <p:spPr>
          <a:xfrm>
            <a:off x="548640" y="4471416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35" name="Shape 27"/>
          <p:cNvSpPr/>
          <p:nvPr/>
        </p:nvSpPr>
        <p:spPr>
          <a:xfrm>
            <a:off x="704088" y="46268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6" descr="папк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722876"/>
            <a:ext cx="265176" cy="26517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25880" y="454456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deploy/</a:t>
            </a:r>
            <a:endParaRPr lang="ru-RU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1325880" y="4855464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VPS: служба systemd, nginx, sshd для SSH-туннеля</a:t>
            </a:r>
            <a:endParaRPr lang="ru-RU" sz="1300" dirty="0"/>
          </a:p>
        </p:txBody>
      </p:sp>
      <p:sp>
        <p:nvSpPr>
          <p:cNvPr id="39" name="scripts/"/>
          <p:cNvSpPr/>
          <p:nvPr/>
        </p:nvSpPr>
        <p:spPr>
          <a:xfrm>
            <a:off x="6233008" y="4471416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40" name="Shape 31"/>
          <p:cNvSpPr/>
          <p:nvPr/>
        </p:nvSpPr>
        <p:spPr>
          <a:xfrm>
            <a:off x="6388456" y="462686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7" descr="папка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4468" y="4722876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10248" y="454456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ru-RU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7010248" y="4855464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run-series.sh — серия прогонов</a:t>
            </a:r>
            <a:endParaRPr lang="ru-RU" sz="1300" dirty="0"/>
          </a:p>
        </p:txBody>
      </p:sp>
      <p:sp>
        <p:nvSpPr>
          <p:cNvPr id="44" name="docs/, results/"/>
          <p:cNvSpPr/>
          <p:nvPr/>
        </p:nvSpPr>
        <p:spPr>
          <a:xfrm>
            <a:off x="548640" y="5367528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45" name="Shape 35"/>
          <p:cNvSpPr/>
          <p:nvPr/>
        </p:nvSpPr>
        <p:spPr>
          <a:xfrm>
            <a:off x="704088" y="552297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6" name="Image 8" descr="папка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5618988"/>
            <a:ext cx="265176" cy="26517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325880" y="544068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docs/, results/</a:t>
            </a:r>
            <a:endParaRPr lang="ru-RU" sz="1500" dirty="0"/>
          </a:p>
        </p:txBody>
      </p:sp>
      <p:sp>
        <p:nvSpPr>
          <p:cNvPr id="48" name="Text 37"/>
          <p:cNvSpPr txBox="1"/>
          <p:nvPr/>
        </p:nvSpPr>
        <p:spPr>
          <a:xfrm>
            <a:off x="1325880" y="5751576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Рисунки и данные замеров</a:t>
            </a:r>
            <a:endParaRPr lang="ru-RU" sz="1300" dirty="0"/>
          </a:p>
        </p:txBody>
      </p:sp>
      <p:sp>
        <p:nvSpPr>
          <p:cNvPr id="49" name="README.md"/>
          <p:cNvSpPr/>
          <p:nvPr/>
        </p:nvSpPr>
        <p:spPr>
          <a:xfrm>
            <a:off x="6233008" y="5367528"/>
            <a:ext cx="5410048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50" name="Shape 39"/>
          <p:cNvSpPr/>
          <p:nvPr/>
        </p:nvSpPr>
        <p:spPr>
          <a:xfrm>
            <a:off x="6388456" y="552297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1" name="Image 9" descr="папка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4468" y="5618988"/>
            <a:ext cx="265176" cy="265176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10248" y="5440680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ru-RU" sz="1500" dirty="0"/>
          </a:p>
        </p:txBody>
      </p:sp>
      <p:sp>
        <p:nvSpPr>
          <p:cNvPr id="53" name="Text 41"/>
          <p:cNvSpPr txBox="1"/>
          <p:nvPr/>
        </p:nvSpPr>
        <p:spPr>
          <a:xfrm>
            <a:off x="7010248" y="5751576"/>
            <a:ext cx="449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Статья: обзор, устройство, замеры, инструкция по запуску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23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1"/>
                </a:solidFill>
              </a:rPr>
              <a:t>Секреты: путь токена устройства</a:t>
            </a:r>
            <a:endParaRPr lang="ru-RU" sz="3000" dirty="0"/>
          </a:p>
        </p:txBody>
      </p:sp>
      <p:sp>
        <p:nvSpPr>
          <p:cNvPr id="3" name="Text 1">
            <a:hlinkClick r:id="rId1" tooltip="Спасибо! Вопросы?" action="ppaction://hlinksldjump"/>
          </p:cNvPr>
          <p:cNvSpPr/>
          <p:nvPr/>
        </p:nvSpPr>
        <p:spPr>
          <a:xfrm>
            <a:off x="9628632" y="365760"/>
            <a:ext cx="201168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400" b="1" u="sng" dirty="0">
                <a:solidFill>
                  <a:schemeClr val="tx1"/>
                </a:solidFill>
                <a:hlinkClick r:id="rId1" action="ppaction://hlinksldjump" tooltip="Спасибо! Вопросы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к вопросам</a:t>
            </a:r>
            <a:endParaRPr lang="ru-RU" sz="1400" dirty="0"/>
          </a:p>
        </p:txBody>
      </p:sp>
      <p:sp>
        <p:nvSpPr>
          <p:cNvPr id="4" name="Создание"/>
          <p:cNvSpPr/>
          <p:nvPr/>
        </p:nvSpPr>
        <p:spPr>
          <a:xfrm>
            <a:off x="548640" y="18288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1</a:t>
            </a:r>
            <a:endParaRPr lang="ru-RU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031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Создание</a:t>
            </a:r>
            <a:endParaRPr lang="ru-RU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openssl rand -hex 32: 256 случайных бит</a:t>
            </a:r>
            <a:endParaRPr lang="ru-RU" sz="1400" dirty="0"/>
          </a:p>
        </p:txBody>
      </p:sp>
      <p:sp>
        <p:nvSpPr>
          <p:cNvPr id="8" name="На сервере — только хеш"/>
          <p:cNvSpPr/>
          <p:nvPr/>
        </p:nvSpPr>
        <p:spPr>
          <a:xfrm>
            <a:off x="4338218" y="18288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/>
          <p:nvPr/>
        </p:nvSpPr>
        <p:spPr>
          <a:xfrm>
            <a:off x="4566818" y="2057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2</a:t>
            </a:r>
            <a:endParaRPr lang="ru-RU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2618" y="21031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На сервере — только хеш</a:t>
            </a:r>
            <a:endParaRPr lang="ru-RU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6974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SHA-256 в devices.json: из хеша токен не получить</a:t>
            </a:r>
            <a:endParaRPr lang="ru-RU" sz="1400" dirty="0"/>
          </a:p>
        </p:txBody>
      </p:sp>
      <p:sp>
        <p:nvSpPr>
          <p:cNvPr id="12" name="Шифрует TPM ноутбука"/>
          <p:cNvSpPr/>
          <p:nvPr/>
        </p:nvSpPr>
        <p:spPr>
          <a:xfrm>
            <a:off x="8127797" y="18288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7" y="20574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3</a:t>
            </a:r>
            <a:endParaRPr lang="ru-RU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42197" y="21031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Шифрует TPM ноутбука</a:t>
            </a:r>
            <a:endParaRPr lang="ru-RU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6974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systemd-creds encrypt --with-key=tpm2: в образе только .cred</a:t>
            </a:r>
            <a:endParaRPr lang="ru-RU" sz="1400" dirty="0"/>
          </a:p>
        </p:txBody>
      </p:sp>
      <p:sp>
        <p:nvSpPr>
          <p:cNvPr id="16" name="Расшифровка в память"/>
          <p:cNvSpPr/>
          <p:nvPr/>
        </p:nvSpPr>
        <p:spPr>
          <a:xfrm>
            <a:off x="548640" y="36576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4</a:t>
            </a:r>
            <a:endParaRPr lang="ru-RU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319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Расшифровка в память</a:t>
            </a:r>
            <a:endParaRPr lang="ru-RU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systemd кладёт токен в папку credentials службы; её видит только служба</a:t>
            </a:r>
            <a:endParaRPr lang="ru-RU" sz="1400" dirty="0"/>
          </a:p>
        </p:txBody>
      </p:sp>
      <p:sp>
        <p:nvSpPr>
          <p:cNvPr id="20" name="Отправка"/>
          <p:cNvSpPr/>
          <p:nvPr/>
        </p:nvSpPr>
        <p:spPr>
          <a:xfrm>
            <a:off x="4338218" y="36576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/>
          <p:nvPr/>
        </p:nvSpPr>
        <p:spPr>
          <a:xfrm>
            <a:off x="4566818" y="3886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5</a:t>
            </a:r>
            <a:endParaRPr lang="ru-RU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52618" y="39319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Отправка</a:t>
            </a:r>
            <a:endParaRPr lang="ru-RU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5262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curl получает токен через stdin, а не в аргументах; только HTTPS</a:t>
            </a:r>
            <a:endParaRPr lang="ru-RU" sz="1400" dirty="0"/>
          </a:p>
        </p:txBody>
      </p:sp>
      <p:sp>
        <p:nvSpPr>
          <p:cNvPr id="24" name="Проверка"/>
          <p:cNvSpPr/>
          <p:nvPr/>
        </p:nvSpPr>
        <p:spPr>
          <a:xfrm>
            <a:off x="8127797" y="3657600"/>
            <a:ext cx="3515258" cy="1627632"/>
          </a:xfrm>
          <a:prstGeom prst="roundRect">
            <a:avLst>
              <a:gd name="adj" fmla="val 7865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/>
          <p:nvPr/>
        </p:nvSpPr>
        <p:spPr>
          <a:xfrm>
            <a:off x="8356397" y="3886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6</a:t>
            </a:r>
            <a:endParaRPr lang="ru-RU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42197" y="3931920"/>
            <a:ext cx="2417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Проверка</a:t>
            </a:r>
            <a:endParaRPr lang="ru-RU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526280"/>
            <a:ext cx="30580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400" dirty="0">
                <a:solidFill>
                  <a:schemeClr val="accent4"/>
                </a:solidFill>
              </a:rPr>
              <a:t>Сервер сравнивает SHA-256 через timingSafeEqual: время не зависит от совпадения</a:t>
            </a:r>
            <a:endParaRPr lang="ru-RU" sz="1400" dirty="0"/>
          </a:p>
        </p:txBody>
      </p:sp>
      <p:sp>
        <p:nvSpPr>
          <p:cNvPr id="28" name="Правила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20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5778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tx1"/>
                </a:solidFill>
              </a:rPr>
              <a:t>Правила: </a:t>
            </a:r>
            <a:pPr indent="0" marL="0">
              <a:buNone/>
            </a:pPr>
            <a:r>
              <a:rPr lang="ru-RU" sz="1500" dirty="0">
                <a:solidFill>
                  <a:schemeClr val="tx1"/>
                </a:solidFill>
              </a:rPr>
              <a:t>не в переменных окружения · не в аргументах команд · открытым — только в памяти · SSH-ключи туннеля и хоста — тоже через TPM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24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sz="3000" b="1" dirty="0">
                <a:solidFill>
                  <a:schemeClr val="tx1"/>
                </a:solidFill>
              </a:rPr>
              <a:t>Все прогоны на ноутбуке, секунды</a:t>
            </a:r>
            <a:endParaRPr lang="ru-RU" sz="3000" dirty="0"/>
          </a:p>
        </p:txBody>
      </p:sp>
      <p:sp>
        <p:nvSpPr>
          <p:cNvPr id="3" name="Text 1">
            <a:hlinkClick r:id="rId1" tooltip="Спасибо! Вопросы?" action="ppaction://hlinksldjump"/>
          </p:cNvPr>
          <p:cNvSpPr/>
          <p:nvPr/>
        </p:nvSpPr>
        <p:spPr>
          <a:xfrm>
            <a:off x="9628632" y="365760"/>
            <a:ext cx="201168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ru-RU" sz="1400" b="1" u="sng" dirty="0">
                <a:solidFill>
                  <a:schemeClr val="tx1"/>
                </a:solidFill>
                <a:hlinkClick r:id="rId1" action="ppaction://hlinksldjump" tooltip="Спасибо! Вопросы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к вопросам</a:t>
            </a:r>
            <a:endParaRPr lang="ru-RU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1051560"/>
                <a:gridCol w="1463040"/>
                <a:gridCol w="1143000"/>
                <a:gridCol w="868680"/>
                <a:gridCol w="777240"/>
                <a:gridCol w="1261872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Дата, МСК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Запуск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Сетевая загрузка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Среда восстановления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из неё: скачивание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проверка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запись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Перезагрузка до сигнала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accent4"/>
                          </a:solidFill>
                        </a:rPr>
                        <a:t>Весь простой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23.10 06:25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без стирания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56,4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42,5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38,3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23.10 06:30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osreboot-wipe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68,1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55,1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41,0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40,5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164,0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23.10 18:49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без стирания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54,0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39,7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41,1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23.10 18:53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osreboot-wipe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67,9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55,9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41,7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41,6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165,7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23.10 22:31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прервано на скачивании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24.10 04:37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osreboot-wipe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67,4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57,1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42,8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8,4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39,9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164,8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24.10 07:57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osreboot-wipe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69,2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55,7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41,5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dirty="0">
                          <a:solidFill>
                            <a:schemeClr val="tx1"/>
                          </a:solidFill>
                        </a:rPr>
                        <a:t>39,3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165,2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Медиана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полные прогоны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68,0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55,8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41,6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8,3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40,2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ru-RU" sz="1300" b="1" dirty="0">
                          <a:solidFill>
                            <a:schemeClr val="tx1"/>
                          </a:solidFill>
                        </a:rPr>
                        <a:t>165,0</a:t>
                      </a:r>
                      <a:endParaRPr lang="ru-RU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961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300" dirty="0">
                <a:solidFill>
                  <a:schemeClr val="accent4"/>
                </a:solidFill>
              </a:rPr>
              <a:t>По часам сервера (data/outages.csv). «Без стирания» — запуск из основной системы: весь простой тестовой системы для таких прогонов не определён. 23.10 в 22:31 канал до VPS упал до 0,25 MiB/s, и скачивание прервалось.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673"/>
                </a:solidFill>
              </a:defRPr>
            </a:lvl1pPr>
          </a:lstStyle>
          <a:p>
            <a:pPr algn="r"/>
            <a:fld id="{F7021451-1387-4CA6-816F-3879F97B5CBC}" type="slidenum">
              <a:rPr b="0" lang="ru-RU"/>
              <a:t>25</a:t>
            </a:fld>
            <a:endParaRPr lang="ru-RU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Sreboot">
  <a:themeElements>
    <a:clrScheme name="OSreboot">
      <a:dk1>
        <a:srgbClr val="1B1B19"/>
      </a:dk1>
      <a:lt1>
        <a:srgbClr val="FFFFFF"/>
      </a:lt1>
      <a:dk2>
        <a:srgbClr val="14233A"/>
      </a:dk2>
      <a:lt2>
        <a:srgbClr val="EEF2F6"/>
      </a:lt2>
      <a:accent1>
        <a:srgbClr val="EB6834"/>
      </a:accent1>
      <a:accent2>
        <a:srgbClr val="2A78D6"/>
      </a:accent2>
      <a:accent3>
        <a:srgbClr val="1BAF7A"/>
      </a:accent3>
      <a:accent4>
        <a:srgbClr val="5F6673"/>
      </a:accent4>
      <a:accent5>
        <a:srgbClr val="137A55"/>
      </a:accent5>
      <a:accent6>
        <a:srgbClr val="B8432C"/>
      </a:accent6>
      <a:hlink>
        <a:srgbClr val="14233A"/>
      </a:hlink>
      <a:folHlink>
        <a:srgbClr val="14233A"/>
      </a:folHlink>
    </a:clrScheme>
    <a:fontScheme name="OSrebo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OSreboot — доклад</dc:title>
  <dc:subject>Ноутбук сам восстанавливает стёртую систему через интернет</dc:subject>
  <dc:creator>PptxGenJS</dc:creator>
  <cp:lastModifiedBy>PptxGenJS</cp:lastModifiedBy>
  <cp:revision>1</cp:revision>
  <dcterms:created xsi:type="dcterms:W3CDTF">2026-10-24T05:50:43Z</dcterms:created>
  <dcterms:modified xsi:type="dcterms:W3CDTF">2026-10-24T05:50:43Z</dcterms:modified>
</cp:coreProperties>
</file>