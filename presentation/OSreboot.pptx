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bc60a30b-f2de-2c51-5a76-93f63d4021b5}">
          <p14:sldIdLst>
            <p14:sldId id="256"/>
            <p14:sldId id="257"/>
            <p14:sldId id="258"/>
            <p14:sldId id="259"/>
            <p14:sldId id="260"/>
          </p14:sldIdLst>
        </p14:section>
        <p14:section name="Как устроено" id="{f44da49a-c10d-b75a-b791-16006b62a12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зультаты" id="{b96463b3-0d8e-dbff-c5dc-bb58197e1f4f}">
          <p14:sldIdLst>
            <p14:sldId id="270"/>
            <p14:sldId id="271"/>
            <p14:sldId id="272"/>
            <p14:sldId id="273"/>
          </p14:sldIdLst>
        </p14:section>
        <p14:section name="Демонстрация" id="{50bfdcd5-6bc3-470f-bfdc-c78590be19ae}">
          <p14:sldIdLst>
            <p14:sldId id="274"/>
          </p14:sldIdLst>
        </p14:section>
        <p14:section name="Итоги" id="{12cd9696-854d-5899-cbcf-936f4616c488}">
          <p14:sldIdLst>
            <p14:sldId id="275"/>
            <p14:sldId id="276"/>
            <p14:sldId id="277"/>
          </p14:sldIdLst>
        </p14:section>
        <p14:section name="Запасные слайды" id="{a653de83-1a82-89e0-b62d-102a62cf537d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1B1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B1B19"/>
                </a:solidFill>
                <a:latin typeface="+mn-lt"/>
              </a:rPr>
              <a:t>Весь простой по прогонам (МСК), секунды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Весь простой, 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 с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B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23.10, 06:30</c:v>
                  </c:pt>
                  <c:pt idx="1">
                    <c:v>23.10, 18:53</c:v>
                  </c:pt>
                  <c:pt idx="2">
                    <c:v>24.10, 04:37</c:v>
                  </c:pt>
                  <c:pt idx="3">
                    <c:v>24.10, 07:57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164</c:v>
                </c:pt>
                <c:pt idx="1">
                  <c:v>165.7</c:v>
                </c:pt>
                <c:pt idx="2">
                  <c:v>164.8</c:v>
                </c:pt>
                <c:pt idx="3">
                  <c:v>165.2</c:v>
                </c:pt>
              </c:numCache>
            </c:numRef>
          </c:val>
        </c:ser>
        <c:dLbls>
          <c:numFmt formatCode="0.0&quot; с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1B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b"/>
        <c:majorGridlines>
          <c:spPr>
            <a:ln w="12700" cap="flat">
              <a:solidFill>
                <a:srgbClr val="DD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0:25 · по плану закончить к 0:25
ГЛАВНОЕ: представиться и одной фразой сказать, что будет показано вживую.
• «Здравствуйте! Меня зовут …. Тема — OSreboot: ноутбук, который сам поднимает уничтоженную систему через интернет».
• «В конце я сотру систему на этом ноутбуке прямо здесь — и посмотрим, поднимется ли он сам».
ПЕРЕХОД: «Но сначала — вопрос к вам».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0:45
СПРОСИ: прочитай вопрос вслух. «Поднимите руку: кто за А? За Б? За В?» Подними руку сам — так залу проще включиться.
ЖДИ 3–5 секунд. Если молчат: «Обычно отвечают А — позвонить тому, кто рядом».
ДАЛЬШЕ: щёлкни — откроется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0:30 · по плану закончить к 1:15
ГЛАВНОЕ: у сервера есть BMC, у ноутбука — нет.
• «В — так умеет сервер в дата-центре: у него есть BMC — отдельный маленький компьютер на плате. Через него включают питание, видят экран и ставят систему по сети».
• «У ноутбука и домашнего ПК BMC нет. Остаются флешка или поездка — простой на часы и дни».
• «Мой вопрос: можно ли сделать вариант В без BMC?»
ЕСЛИ СПРОСЯТ «А Intel vPro / AMT?» — «Это то же удалённое управление в железе, оно есть не у всех. Я хотел обойтись без него».
ПЕРЕХОД: «Отсюда цель работы».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1:55
ГЛАВНОЕ: прочитай заголовок — это цель одной фразой.
• Четыре требования слева направо: без BMC и помощника рядом; без человека; безопасно; измеримо.
• Подчеркни «измеримо»: «Простой меряет внешний сервер, а не сам ноутбук — поэтому цифрам можно верить».
• «Всё — открытыми средствами: UEFI, iPXE, Linux, systemd».
ПЕРЕХОД: «Почему не взять готовое решение?»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2:35
ГЛАВНОЕ: каждое готовое решение закрывает задачу только частично. Слайд можно пропустить, если не хватает времени.
• «Я посмотрел, что уже есть. Производители — Dell, HP, Apple — восстанавливают только свою ОС со своих серверов. Дата-центр — MAAS, Ironic — нужны BMC и своя сеть. Образы дисков — Clonezilla — запускает человек. Обновления с откатом не переживают стирания диска».
• «И никто не меряет простой».
• Честно: «У OSreboot в первом столбце тоже половинка: восстановление запускает команда затирания, а не сама поломка. Вернусь к этому в ограничениях».
ЕСЛИ СПРОСЯТ «Dell BIOSConnect делает то же самое?» — «Только Windows, только со своих серверов, код закрыт, простой не меряет».
ЕСЛИ НЕ ХВАТАЕТ ВРЕМЕНИ: одна фраза «готовые решения закрывают задачу по частям» — и дальше.
ПЕРЕХОД: «Главная техническая загадка — откуда грузиться, если диск стёрт».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2:55
СПРОСИ: «Диск стёрт. Откуда загрузиться? Кто за флешку? За PXE? За прошивку?»
ЖДИ 3–5 секунд.
ДАЛЬШЕ: щёлкни — все три варианта окажутся зачёркнуты. В этом и интрига.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3:35
ГЛАВНОЕ: ни один вариант не подошёл, поэтому iPXE лежит на диске.
• «А — нужен человек. Б — нужна своя сеть с DHCP- и TFTP-сервером рядом, в чужой аудитории её нет».
• «В я очень хотел: UEFI HTTP Boot. Но прошивка этого ноутбука удалила мою загрузочную запись с адресом сервера при следующем включении — даже не обратившись к серверу. HTTPS она не умеет, а адрес берёт только у DHCP-сервера сети».
• «Решение: iPXE — сетевой загрузчик с HTTPS — лежит на основном разделе EFI, который затирание не трогает. Его запускает systemd-boot, пока система не восстановится».
ЕСЛИ СПРОСЯТ «А перепрошить BIOS?» — «Неудачная запись превращает ноутбук в кирпич, без программатора его не поднять. Отказался».
ЕСЛИ СПРОСЯТ «iPXE на том же диске — не жульничество?» — «Стирается тестовая система, а iPXE играет роль BMC: он должен пережить поломку. Стирание всего диска — ограничение, оно в конце».
ПЕРЕХОД: «Вот как это выглядит целиком».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0:45 · по плану закончить к 4:20
ГЛАВНОЕ: что стирается, что остаётся и что идёт по сети.
• Слева ноутбук. Основную систему и её раздел EFI (тёмно-синие) не трогаем; два оранжевых тестовых раздела стираем и восстанавливаем.
• На основном разделе EFI лежат systemd-boot и iPXE — они переживают затирание.
• Среда восстановления — Linux в одном файле, 132 MiB. Она работает из памяти, поэтому может переписывать диск.
• Справа VPS: nginx с HTTPS и сервер на Node.js без внешних зависимостей. Он раздаёт файлы, принимает сигналы, считает простой и показывает страницу.
• По сети к ноутбуку идут файлы, около 540 MiB; обратно — сигнал раз в секунду и этапы.
ПЕРЕХОД: «Теперь по шагам».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1:05 · по плану закончить к 5:25
ГЛАВНОЕ: 4 фазы и 8 этапов. Эти же 8 названий будут на странице состояния во время демо.
• 1. Стирание: osreboot-wipe сначала проверяет, что после сброса запустится iPXE, делает запись iPXE записью по умолчанию (она переживёт и отключение питания), затирает по 64 MiB в начале двух разделов и сбрасывает машину.
• 2–3. Сетевая загрузка, около 68 с: прошивка → systemd-boot → iPXE. Он получает адрес, находит сервер и по HTTPS качает среду восстановления. Доверяет только сертификатам Let’s Encrypt.
• 4–7. В памяти, около 56 с: находит разделы по меткам, качает образы, проверяет SHA-256, пишет, читает обратно, ставит BootNext.
• 8. Возврат, около 41 с: загрузка восстановленной системы; она убирает запись iPXE, а её первый сигнал закрывает простой.
ЕСЛИ СПРОСЯТ «Почему iPXE не через BootNext прошивки?» — «Прошивка Insyde дважды записала свою запись под нужным номером и загрузила старую систему. Надёжнее, когда systemd-boot запускает iPXE по записи по умолчанию: от прошивки нужна только первая запись BootOrder».
ЕСЛИ СПРОСЯТ «Что такое UKI?» — «Ядро, начальный образ и параметры в одном файле .efi; его можно запустить как обычную программу UEFI».
ПЕРЕХОД: «А как сервер понимает, что ноутбук лёг и встал?»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6:05
ГЛАВНОЕ: простой — от последнего сигнала до первого, по часам сервера.
• «Ноутбук раз в секунду шлёт heartbeat — "я жив" и boot ID».
• «Нет сигналов 3 секунды — сервер открывает простой. Но началом считается последний сигнал, а концом — первый после. Оба времени — по часам сервера».
• «Поэтому таймаут влияет только на то, когда простой станет виден, а не на его длину. И неверные часы ноутбука замер не портят».
СПРОСИ (внизу слайда): «А если перезагрузка за 2 секунды — быстрее таймаута? Сервер заметит? Да или нет?» Жди 3 секунды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0:15 · по плану закончить к 6:20
• «Да. Ядро Linux при каждой загрузке придумывает новый случайный boot ID. Новый ID в сигнале значит, что была перезагрузка, — и это простой, даже короткий».
ПЕРЕХОД: «Ещё одна загадка — пароли».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6:40
КОНТЕКСТ: «Образы лежат на сервере открыто — их качают iPXE и среда восстановления, пока у машины нет ни одного пароля. А ноутбуку нужен пароль, чтобы сервер верил его сигналам».
СПРОСИ: «Где его хранить? А, Б или В?» Жди 3–5 секунд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7:20
ГЛАВНОЕ: TPM — сейф, ключ от которого вварен в этот ноутбук.
• «А — любой скачает образ и будет слать сигналы от имени ноутбука. Б — копия диска значит копию пароля, а диск можно стереть».
• «В — TPM: чип в ноутбуке, который шифрует так, что расшифровать может только он. Его ключ никогда не покидает чип».
• Схема внизу: «Токен шифрует TPM, в образ кладётся только шифровка. Скачать её может любой, расшифровать — только этот ноутбук».
• «Так же зашифрованы SSH-ключи туннеля. А сервер хранит только SHA-256 токена».
ЕСЛИ СПРОСЯТ «А root на этом ноутбуке расшифрует?» — «Да: привязки к PCR нет, иначе тестовая система и среда восстановления не смогли бы расшифровать. TPM защищает от копирования на другой компьютер, а не от того, кто уже управляет ноутбуком».
ЕСЛИ СПРОСЯТ «А если сбросить TPM?» — «Шифровки станут бесполезны: ключи и токен создаются заново, образы пересобираются».
ПЕРЕХОД: «Восстановление пишет на диск — значит, нужны предохранители».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8:00
ГЛАВНОЕ: три вопроса — куда пишет, что пишет, что будет, если сломалось.
• Куда: только два раздела с нужными метками, каждая ровно одна; тип, файловая система и размер до 4 и 128 GiB; раздел не смонтирован; сама работает из памяти.
• Что: HTTPS с проверкой сертификата, SHA-256 до записи, чтение обратно после.
• Если сломалось: нет сети — iPXE через 10 с начинает заново, а скачивание ждёт сеть и докачивает; отключили питание — после включения снова iPXE, пока восстановленная система не уберёт его запись; ошибка в среде восстановления — этап failed, вход по SSH, через 20 минут перезагрузка в основную систему.
ПЕРЕД СЛЕДУЮЩИМ СЛАЙДОМ СПРОСИ: «Как думаете, сколько длится простой? Минута? Десять?» —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0:35 · по плану закончить к 8:35
ГЛАВНОЕ: около 165 секунд — меньше трёх минут без человека.
• «165 секунд — медиана четырёх полных прогонов со стиранием, от 164,0 до 165,7 с».
• «Разброс меньше двух секунд — процесс почти детерминирован. Но это один ноутбук и одна сеть: это ещё не статистика».
• «Скачивание упиралось в порт ноутбука на 100 Мбит/с».
ПЕРЕХОД: «А на что уходят эти секунды? Ещё один вопрос».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8:55
СПРОСИ: «Что заняло больше всего: скачивание 537 мегабайт, проверка и запись или загрузки машины?» Посчитай руки.
ЖДИ 5 секунд. Обычно выбирают А — тем интереснее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0:45 · по плану закончить к 9:40</a:t>
            </a:r>
          </a:p>
          <a:p/>
          <a:p>
            <a:r>
              <a:t>ГЛАВНОЕ: ответ В. Две загрузки машины — 57 % простоя.</a:t>
            </a:r>
          </a:p>
          <a:p>
            <a:r>
              <a:t>• Пройди по шкале сверху вниз: сброс и прошивка до iPXE — 24 с; скачивание среды — 15; старт Linux в памяти — 28; образы — 42; проверка и запись — 13; перезагрузка до сигнала — 42.</a:t>
            </a:r>
          </a:p>
          <a:p>
            <a:r>
              <a:t>• «Загрузки машины — 94,5 с, больше половины. Скачивание — 57 с, треть. Проверка и запись — 13 с».</a:t>
            </a:r>
          </a:p>
          <a:p>
            <a:r>
              <a:t>• Вывод: «Быстрый интернет даст меньше, чем кажется. Ускорять нужно загрузки: меньший образ среды восстановления и kexec вместо второго прохода прошивки».</a:t>
            </a:r>
          </a:p>
          <a:p>
            <a:r>
              <a:t>• «Скачивание упиралось в 100-мегабитный порт ноутбука: 11 MiB/с — 98 % предела».</a:t>
            </a:r>
          </a:p>
          <a:p>
            <a:r>
              <a:t>ПЕРЕХОД: «Теперь проверим вживую».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4:00 · по плану закончить к 13:40</a:t>
            </a:r>
          </a:p>
          <a:p/>
          <a:p>
            <a:r>
              <a:t>ПЕРЕД СТАРТОМ:</a:t>
            </a:r>
          </a:p>
          <a:p>
            <a:r>
              <a:t>• QR на экране 10 секунд: «Откройте на телефоне — увидите то же, что и я».</a:t>
            </a:r>
          </a:p>
          <a:p>
            <a:r>
              <a:t>• На странице ноутбук «на связи», сигнал приходит раз в секунду.</a:t>
            </a:r>
          </a:p>
          <a:p>
            <a:r>
              <a:t>• На ноутбуке: osreboot-wipe без --apply — проверки проходят.</a:t>
            </a:r>
          </a:p>
          <a:p>
            <a:r>
              <a:t>• Посмотри на часы и нажми Enter: osreboot-wipe --apply. Переключи экран на страницу состояния.</a:t>
            </a:r>
          </a:p>
          <a:p>
            <a:r>
              <a:t>ЧТО ГОВОРИТЬ (секунды от Enter):</a:t>
            </a:r>
          </a:p>
          <a:p>
            <a:r>
              <a:t>0 — «Скрипт поставил запись iPXE по умолчанию, остановил сигналы, затёр по 64 MiB и сбросил машину. Системы больше нет».</a:t>
            </a:r>
          </a:p>
          <a:p>
            <a:r>
              <a:t>0–24 — пустое время: расскажи, почему iPXE лежит на диске (прошивка удаляет запись с адресом сервера).</a:t>
            </a:r>
          </a:p>
          <a:p>
            <a:r>
              <a:t>24 — «iPXE нашёл сервер и качает среду восстановления по HTTPS, 132 MiB».</a:t>
            </a:r>
          </a:p>
          <a:p>
            <a:r>
              <a:t>40 — «Стартует Linux целиком в памяти, около 28 секунд».</a:t>
            </a:r>
          </a:p>
          <a:p>
            <a:r>
              <a:t>69 — «Среда восстановления отчиталась и нашла разделы. Качаются образы, 405 MiB, около 11 MiB/с».</a:t>
            </a:r>
          </a:p>
          <a:p>
            <a:r>
              <a:t>111 — «Проверка SHA-256: не совпадёт хоть один байт — ничего не запишется».</a:t>
            </a:r>
          </a:p>
          <a:p>
            <a:r>
              <a:t>116 — «Запись, чтение обратно и сверка, потом BootNext».</a:t>
            </a:r>
          </a:p>
          <a:p>
            <a:r>
              <a:t>124 — «Перезагрузка в восстановленную систему. Ждём первый сигнал с новым boot ID».</a:t>
            </a:r>
          </a:p>
          <a:p>
            <a:r>
              <a:t>≈166 — «Вот он! Смотрим цифру простоя на странице. Строка с этапами записалась в outages.csv».</a:t>
            </a:r>
          </a:p>
          <a:p>
            <a:r>
              <a:t>ЕСЛИ СЕТЬ МЕДЛЕННЕЕ: скачивание растянется — комментируй проценты на странице.</a:t>
            </a:r>
          </a:p>
          <a:p>
            <a:r>
              <a:t>ЕСЛИ ПРОПАЛА СЕТЬ: «iPXE повторяет каждые 10 секунд, а скачивание докачается, когда сеть вернётся». ЕСЛИ ОШИБКА В СРЕДЕ ВОССТАНОВЛЕНИЯ: «Сработал предохранитель: через 20 минут машина сама вернётся в свою систему».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0:40 · по плану закончить к 14:20</a:t>
            </a:r>
          </a:p>
          <a:p/>
          <a:p>
            <a:r>
              <a:t>СПРОСИ (по желанию): «Что будет, если стереть весь диск целиком?» → «iPXE пропадёт, и цепочка оборвётся. Это главное ограничение».</a:t>
            </a:r>
          </a:p>
          <a:p>
            <a:r>
              <a:t>• Пройди по строкам: слева ограничение, справа — что с ним делать.</a:t>
            </a:r>
          </a:p>
          <a:p>
            <a:r>
              <a:t>• Особо: «Запускает восстановление команда затирания. Настоящую поломку должен ловить счётчик неудачных загрузок в systemd-boot».</a:t>
            </a:r>
          </a:p>
          <a:p>
            <a:r>
              <a:t>ПЕРЕХОД: «Итоги».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0:25 · по плану закончить к 14:45</a:t>
            </a:r>
          </a:p>
          <a:p/>
          <a:p>
            <a:r>
              <a:t>• «Помните первый вопрос? Вариант В — починить удалённо — теперь есть и у ноутбука без BMC».</a:t>
            </a:r>
          </a:p>
          <a:p>
            <a:r>
              <a:t>• Три пункта: работает; около 165 секунд, больше половины — загрузки; открыто и измеримо.</a:t>
            </a:r>
          </a:p>
          <a:p>
            <a:r>
              <a:t>• «Спасибо за внимание! Готов ответить на вопросы».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• Слева QR-коды: репозиторий, страница состояния и статья (paper.epsti.site).</a:t>
            </a:r>
          </a:p>
          <a:p>
            <a:r>
              <a:t>• Справа кнопки на запасные слайды: репозиторий, секреты, таблица всех прогонов. На каждом запасном слайде есть кнопка «к вопросам».</a:t>
            </a:r>
          </a:p>
          <a:p>
            <a:r>
              <a:t>• Не знаешь ответа: «Хороший вопрос. Это я не проверял; проверил бы так: …».</a:t>
            </a:r>
          </a:p>
          <a:p>
            <a:r>
              <a:t>ЧАСТЫЕ ВОПРОСЫ:</a:t>
            </a:r>
          </a:p>
          <a:p>
            <a:r>
              <a:t>• Сколько прогонов? — 6 полных прогонов среды восстановления, из них 4 со стиранием.</a:t>
            </a:r>
          </a:p>
          <a:p>
            <a:r>
              <a:t>• Что если VPS недоступен? — iPXE покажет ошибку и через 10 с начнёт заново, пока сервер не ответит; запись iPXE по умолчанию остаётся, поэтому и после отключения питания машина снова попадёт в iPXE.</a:t>
            </a:r>
          </a:p>
          <a:p>
            <a:r>
              <a:t>• Почему не BootNext? — прошивка дважды подменила запись; надёжнее, когда systemd-boot запускает iPXE по записи по умолчанию.</a:t>
            </a:r>
          </a:p>
          <a:p>
            <a:r>
              <a:t>• Чем это лучше переустановки с флешки? — не нужен человек рядом, и простой измерен.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Покажи нужную папку и одной фразой скажи, что в ней. Подробности — в README, раздел «Приложение. Как запустить».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Веди по шагам 1→6. Главная мысль: открытым токен есть только при создании и в памяти во время работы; сервер хранит только хеш.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Покажи, что разброс маленький: среда восстановления 54,0–57,1 с, весь простой 164,0–165,7 с. Прерванный прогон — честно: канал до VPS тогда упал до 0,25 MiB/s.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3317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?   ВОПРОС ЗАЛУ</a:t>
            </a:r>
            <a:endParaRPr lang="en-US" sz="15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1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CKUP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1945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ЗАПАСНОЙ СЛАЙД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hyperlink" Target="https://osreboot.epsti.site/" TargetMode="External"/><Relationship Id="rId3" Type="http://schemas.openxmlformats.org/officeDocument/2006/relationships/slide" Target="slide17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hyperlink" Target="https://github.com/Irenid/OSreboot" TargetMode="External"/><Relationship Id="rId3" Type="http://schemas.openxmlformats.org/officeDocument/2006/relationships/image" Target="../media/image-22-2.png"/><Relationship Id="rId4" Type="http://schemas.openxmlformats.org/officeDocument/2006/relationships/hyperlink" Target="https://osreboot.epsti.site/" TargetMode="External"/><Relationship Id="rId5" Type="http://schemas.openxmlformats.org/officeDocument/2006/relationships/slide" Target="slide23.xml"/><Relationship Id="rId6" Type="http://schemas.openxmlformats.org/officeDocument/2006/relationships/slide" Target="slide24.xml"/><Relationship Id="rId7" Type="http://schemas.openxmlformats.org/officeDocument/2006/relationships/slide" Target="slide25.xml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22.xml"/><Relationship Id="rId10" Type="http://schemas.openxmlformats.org/officeDocument/2006/relationships/image" Target="../media/image-22-3.png"/><Relationship Id="rId11" Type="http://schemas.openxmlformats.org/officeDocument/2006/relationships/hyperlink" Target="https://paper.epsti.site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image" Target="../media/image-23-4.png"/><Relationship Id="rId6" Type="http://schemas.openxmlformats.org/officeDocument/2006/relationships/image" Target="../media/image-23-5.png"/><Relationship Id="rId7" Type="http://schemas.openxmlformats.org/officeDocument/2006/relationships/image" Target="../media/image-23-6.png"/><Relationship Id="rId8" Type="http://schemas.openxmlformats.org/officeDocument/2006/relationships/image" Target="../media/image-23-7.png"/><Relationship Id="rId9" Type="http://schemas.openxmlformats.org/officeDocument/2006/relationships/image" Target="../media/image-23-8.png"/><Relationship Id="rId10" Type="http://schemas.openxmlformats.org/officeDocument/2006/relationships/image" Target="../media/image-23-9.png"/><Relationship Id="rId11" Type="http://schemas.openxmlformats.org/officeDocument/2006/relationships/image" Target="../media/image-23-10.png"/><Relationship Id="rId12" Type="http://schemas.openxmlformats.org/officeDocument/2006/relationships/slideLayout" Target="../slideLayouts/slideLayout6.xml"/><Relationship Id="rId1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sz="8000" b="1" dirty="0">
                <a:solidFill>
                  <a:schemeClr val="bg1"/>
                </a:solidFill>
              </a:rPr>
              <a:t>OSreboot</a:t>
            </a:r>
            <a:endParaRPr lang="ru-RU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dirty="0">
                <a:solidFill>
                  <a:schemeClr val="bg2"/>
                </a:solidFill>
              </a:rPr>
              <a:t>Ноутбук сам восстанавливает стёртую систему через интернет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b="1" spc="300" kern="0" dirty="0">
                <a:solidFill>
                  <a:schemeClr val="accent1"/>
                </a:solidFill>
              </a:rPr>
              <a:t>КУРСОВОЙ ПРОЕКТ · 2026</a:t>
            </a:r>
            <a:endParaRPr lang="ru-RU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4480560"/>
            <a:ext cx="7040880" cy="0"/>
          </a:xfrm>
          <a:prstGeom prst="line">
            <a:avLst/>
          </a:prstGeom>
          <a:noFill/>
          <a:ln w="25400">
            <a:solidFill>
              <a:srgbClr val="B9C3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4340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43434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система стёрта</a:t>
            </a:r>
            <a:endParaRPr lang="ru-RU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снова на связи</a:t>
            </a:r>
            <a:endParaRPr lang="ru-RU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120640"/>
            <a:ext cx="132588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BMC</a:t>
            </a:r>
            <a:endParaRPr lang="ru-RU" sz="1600" dirty="0"/>
          </a:p>
        </p:txBody>
      </p:sp>
      <p:sp>
        <p:nvSpPr>
          <p:cNvPr id="17" name="Text 15"/>
          <p:cNvSpPr/>
          <p:nvPr/>
        </p:nvSpPr>
        <p:spPr>
          <a:xfrm>
            <a:off x="2331720" y="5120640"/>
            <a:ext cx="324612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флешки и человека рядом</a:t>
            </a:r>
            <a:endParaRPr lang="ru-RU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5120640"/>
            <a:ext cx="214884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с замером простоя</a:t>
            </a:r>
            <a:endParaRPr lang="ru-RU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Рыжов Иван · группа ВПИ 26</a:t>
            </a:r>
            <a:endParaRPr lang="ru-RU" sz="17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7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часы или дни простоя</a:t>
            </a:r>
            <a:endParaRPr lang="ru-RU" sz="1500" dirty="0"/>
          </a:p>
        </p:txBody>
      </p:sp>
      <p:sp>
        <p:nvSpPr>
          <p:cNvPr id="11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так умеет сервер в дата-центре: у него есть BMC</a:t>
            </a:r>
            <a:endParaRPr lang="ru-RU" sz="1500" dirty="0"/>
          </a:p>
        </p:txBody>
      </p:sp>
      <p:sp>
        <p:nvSpPr>
          <p:cNvPr id="15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0" descr="значок: 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сервера в дата-центре есть BMC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 (iDRAC, iLO, IPMI) — отдельный компьютер на плате: питание, экран и установка системы по сети. </a:t>
            </a:r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ноутбука BMC нет. Задача работы — сделать «В» без него.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ЗАДАЧА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Цель: ноутбук без BMC сам восстанавливает систему через интернет — с замером простоя</a:t>
            </a:r>
            <a:endParaRPr lang="ru-RU" sz="3400" dirty="0"/>
          </a:p>
        </p:txBody>
      </p:sp>
      <p:sp>
        <p:nvSpPr>
          <p:cNvPr id="4" name="Без BMC и второго ПК"/>
          <p:cNvSpPr/>
          <p:nvPr/>
        </p:nvSpPr>
        <p:spPr>
          <a:xfrm>
            <a:off x="548640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gl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393899"/>
            <a:ext cx="424282" cy="4242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BMC и второго ПК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Всё для восстановления приходит с VPS через интернет</a:t>
            </a:r>
            <a:endParaRPr lang="ru-RU" sz="1600" dirty="0"/>
          </a:p>
        </p:txBody>
      </p:sp>
      <p:sp>
        <p:nvSpPr>
          <p:cNvPr id="9" name="Без человека"/>
          <p:cNvSpPr/>
          <p:nvPr/>
        </p:nvSpPr>
        <p:spPr>
          <a:xfrm>
            <a:off x="3390824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665144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значок: refre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393899"/>
            <a:ext cx="424282" cy="4242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65144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человека</a:t>
            </a:r>
            <a:endParaRPr lang="ru-RU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После команды «уничтожить» машина поднимается сама</a:t>
            </a:r>
            <a:endParaRPr lang="ru-RU" sz="1600" dirty="0"/>
          </a:p>
        </p:txBody>
      </p:sp>
      <p:sp>
        <p:nvSpPr>
          <p:cNvPr id="14" name="Безопасно"/>
          <p:cNvSpPr/>
          <p:nvPr/>
        </p:nvSpPr>
        <p:spPr>
          <a:xfrm>
            <a:off x="6233008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6507328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значок: 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393899"/>
            <a:ext cx="424282" cy="42428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07328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Безопасно</a:t>
            </a:r>
            <a:endParaRPr lang="ru-RU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Пишутся только два тестовых раздела, в публичных образах нет секретов</a:t>
            </a:r>
            <a:endParaRPr lang="ru-RU" sz="1600" dirty="0"/>
          </a:p>
        </p:txBody>
      </p:sp>
      <p:sp>
        <p:nvSpPr>
          <p:cNvPr id="19" name="Измеримо"/>
          <p:cNvSpPr/>
          <p:nvPr/>
        </p:nvSpPr>
        <p:spPr>
          <a:xfrm>
            <a:off x="9075191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9349511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значок: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393899"/>
            <a:ext cx="424282" cy="42428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Измеримо</a:t>
            </a:r>
            <a:endParaRPr lang="ru-RU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Простой и каждый этап фиксирует внешний сервер, а не сам ноутбук</a:t>
            </a:r>
            <a:endParaRPr lang="ru-RU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Открытыми средствами: UEFI · iPXE · Linux · systemd · mkosi · Node.js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ОБЗОР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Готовые решения закрывают задачу по частям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12464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Сам, без человека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43373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Без BMC</a:t>
            </a:r>
            <a:endParaRPr lang="ru-RU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7428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Образ из интернета</a:t>
            </a:r>
            <a:endParaRPr lang="ru-RU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0519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Переживает стирание диска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036101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Своя система, открытый код</a:t>
            </a:r>
            <a:endParaRPr lang="ru-RU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367010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Замер простоя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24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Производители ПК</a:t>
            </a:r>
            <a:endParaRPr lang="ru-RU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8986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Dell, HP, Lenovo, Apple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4176751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4475" y="2793492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5507660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38569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69478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038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3129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67328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" y="32278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Дата-центр</a:t>
            </a:r>
            <a:endParaRPr lang="ru-RU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" y="35021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MAAS, Ironic</a:t>
            </a:r>
            <a:endParaRPr lang="ru-RU" sz="1200" dirty="0"/>
          </a:p>
        </p:txBody>
      </p:sp>
      <p:sp>
        <p:nvSpPr>
          <p:cNvPr id="23" name="Shape 21"/>
          <p:cNvSpPr/>
          <p:nvPr/>
        </p:nvSpPr>
        <p:spPr>
          <a:xfrm>
            <a:off x="4176751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4475" y="3396996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hape 23"/>
          <p:cNvSpPr/>
          <p:nvPr/>
        </p:nvSpPr>
        <p:spPr>
          <a:xfrm>
            <a:off x="5507660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8569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69478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0387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31297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70832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3504" y="3831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Образы дисков</a:t>
            </a:r>
            <a:endParaRPr lang="ru-RU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" y="41056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Clonezilla</a:t>
            </a:r>
            <a:endParaRPr lang="ru-RU" sz="1200" dirty="0"/>
          </a:p>
        </p:txBody>
      </p:sp>
      <p:sp>
        <p:nvSpPr>
          <p:cNvPr id="33" name="Shape 31"/>
          <p:cNvSpPr/>
          <p:nvPr/>
        </p:nvSpPr>
        <p:spPr>
          <a:xfrm>
            <a:off x="4176751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07660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38569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9478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00387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31297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974336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" y="44348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Обновления с откатом</a:t>
            </a:r>
            <a:endParaRPr lang="ru-RU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" y="4709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A/B, systemd-boot</a:t>
            </a:r>
            <a:endParaRPr lang="ru-RU" sz="1200" dirty="0"/>
          </a:p>
        </p:txBody>
      </p:sp>
      <p:sp>
        <p:nvSpPr>
          <p:cNvPr id="42" name="Shape 40"/>
          <p:cNvSpPr/>
          <p:nvPr/>
        </p:nvSpPr>
        <p:spPr>
          <a:xfrm>
            <a:off x="4176751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07660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38569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69478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500387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31297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8" name="Строка OSreboot"/>
          <p:cNvSpPr/>
          <p:nvPr/>
        </p:nvSpPr>
        <p:spPr>
          <a:xfrm>
            <a:off x="438912" y="5010912"/>
            <a:ext cx="11313871" cy="530352"/>
          </a:xfrm>
          <a:prstGeom prst="roundRect">
            <a:avLst>
              <a:gd name="adj" fmla="val 20690"/>
            </a:avLst>
          </a:prstGeom>
          <a:solidFill>
            <a:schemeClr val="accent2">
              <a:alpha val="13000"/>
            </a:scheme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3504" y="5038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OSreboot</a:t>
            </a:r>
            <a:endParaRPr lang="ru-RU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31266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эта работа</a:t>
            </a:r>
            <a:endParaRPr lang="ru-RU" sz="1200" dirty="0"/>
          </a:p>
        </p:txBody>
      </p:sp>
      <p:sp>
        <p:nvSpPr>
          <p:cNvPr id="51" name="Shape 49"/>
          <p:cNvSpPr/>
          <p:nvPr/>
        </p:nvSpPr>
        <p:spPr>
          <a:xfrm>
            <a:off x="4176751" y="5129784"/>
            <a:ext cx="292608" cy="292608"/>
          </a:xfrm>
          <a:prstGeom prst="ellipse">
            <a:avLst/>
          </a:prstGeom>
          <a:ln w="22225">
            <a:solidFill>
              <a:schemeClr val="accent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54475" y="5207508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Shape 51"/>
          <p:cNvSpPr/>
          <p:nvPr/>
        </p:nvSpPr>
        <p:spPr>
          <a:xfrm>
            <a:off x="5507660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38569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69478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0038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3129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7515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32688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да</a:t>
            </a:r>
            <a:endParaRPr lang="ru-RU" sz="1400" dirty="0"/>
          </a:p>
        </p:txBody>
      </p:sp>
      <p:sp>
        <p:nvSpPr>
          <p:cNvPr id="60" name="Shape 58"/>
          <p:cNvSpPr/>
          <p:nvPr/>
        </p:nvSpPr>
        <p:spPr>
          <a:xfrm>
            <a:off x="1463040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40764" y="5829300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847088" y="5760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частично</a:t>
            </a:r>
            <a:endParaRPr lang="ru-RU" sz="1400" dirty="0"/>
          </a:p>
        </p:txBody>
      </p:sp>
      <p:sp>
        <p:nvSpPr>
          <p:cNvPr id="63" name="Shape 61"/>
          <p:cNvSpPr/>
          <p:nvPr/>
        </p:nvSpPr>
        <p:spPr>
          <a:xfrm>
            <a:off x="2871216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255264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нет</a:t>
            </a:r>
            <a:endParaRPr lang="ru-RU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3931920" y="5705856"/>
            <a:ext cx="7711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OSreboot: запускает команда затирания, а не сама поломка; переживает стирание, если уцелел основной раздел EFI с iPXE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свой DHCP- и TFTP-сервер в той же сети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mage 2" descr="не 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UEFI HTTP Boot: прошивка ноутбука удаляет запись с адресом, HTTPS не умеет</a:t>
            </a:r>
            <a:endParaRPr lang="ru-RU" sz="1500" dirty="0"/>
          </a:p>
        </p:txBody>
      </p:sp>
      <p:sp>
        <p:nvSpPr>
          <p:cNvPr id="21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mage 3" descr="значок: 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Решение: 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iPXE — сетевой загрузчик с HTTPS — лежит на основном разделе EFI, который затирание не трогает. Его запускает systemd-boot, пока система не восстановится.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КАК УСТРОЕНО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Что где лежит и что идёт по сети</a:t>
            </a:r>
            <a:endParaRPr lang="ru-RU" sz="3400" dirty="0"/>
          </a:p>
        </p:txBody>
      </p:sp>
      <p:sp>
        <p:nvSpPr>
          <p:cNvPr id="4" name="Ноутбук"/>
          <p:cNvSpPr/>
          <p:nvPr/>
        </p:nvSpPr>
        <p:spPr>
          <a:xfrm>
            <a:off x="548640" y="1783080"/>
            <a:ext cx="6172200" cy="4224528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ноутбу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853" y="2089861"/>
            <a:ext cx="291694" cy="29169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94767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Ноутбук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44752" y="2258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без BMC · UEFI Insyde · NVMe</a:t>
            </a:r>
            <a:endParaRPr lang="ru-RU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ДИСК</a:t>
            </a:r>
            <a:endParaRPr lang="ru-RU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962656"/>
            <a:ext cx="141732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Основной раздел EFI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systemd-boot, iPXE</a:t>
            </a:r>
            <a:endParaRPr lang="ru-RU" sz="1300" dirty="0"/>
          </a:p>
        </p:txBody>
      </p:sp>
      <p:sp>
        <p:nvSpPr>
          <p:cNvPr id="11" name="Text 8"/>
          <p:cNvSpPr/>
          <p:nvPr/>
        </p:nvSpPr>
        <p:spPr>
          <a:xfrm>
            <a:off x="2221992" y="2962656"/>
            <a:ext cx="160020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Основная система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не трогаем</a:t>
            </a:r>
            <a:endParaRPr lang="ru-RU" sz="1300" dirty="0"/>
          </a:p>
        </p:txBody>
      </p:sp>
      <p:sp>
        <p:nvSpPr>
          <p:cNvPr id="12" name="Text 9"/>
          <p:cNvSpPr/>
          <p:nvPr/>
        </p:nvSpPr>
        <p:spPr>
          <a:xfrm>
            <a:off x="3849624" y="2962656"/>
            <a:ext cx="11887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osreboot-esp</a:t>
            </a:r>
            <a:endParaRPr lang="ru-RU" sz="1300" dirty="0"/>
          </a:p>
        </p:txBody>
      </p:sp>
      <p:sp>
        <p:nvSpPr>
          <p:cNvPr id="13" name="Text 10"/>
          <p:cNvSpPr/>
          <p:nvPr/>
        </p:nvSpPr>
        <p:spPr>
          <a:xfrm>
            <a:off x="5065776" y="2962656"/>
            <a:ext cx="14173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osreboot-root</a:t>
            </a:r>
            <a:endParaRPr lang="ru-RU" sz="1300" dirty="0"/>
          </a:p>
        </p:txBody>
      </p:sp>
      <p:sp>
        <p:nvSpPr>
          <p:cNvPr id="14" name="Shape 11"/>
          <p:cNvSpPr/>
          <p:nvPr/>
        </p:nvSpPr>
        <p:spPr>
          <a:xfrm>
            <a:off x="3849624" y="3986784"/>
            <a:ext cx="2633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9624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83096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58184" y="405993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тестовая система: её стираем и восстанавливаем</a:t>
            </a:r>
            <a:endParaRPr lang="ru-RU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ОПЕРАТИВНАЯ ПАМЯТЬ</a:t>
            </a:r>
            <a:endParaRPr lang="ru-RU" sz="1200" dirty="0"/>
          </a:p>
        </p:txBody>
      </p:sp>
      <p:sp>
        <p:nvSpPr>
          <p:cNvPr id="19" name="Среда восстановления"/>
          <p:cNvSpPr/>
          <p:nvPr/>
        </p:nvSpPr>
        <p:spPr>
          <a:xfrm>
            <a:off x="777240" y="4846320"/>
            <a:ext cx="5715000" cy="960120"/>
          </a:xfrm>
          <a:prstGeom prst="roundRect">
            <a:avLst>
              <a:gd name="adj" fmla="val 9524"/>
            </a:avLst>
          </a:prstGeom>
          <a:solidFill>
            <a:schemeClr val="accent3">
              <a:alpha val="22000"/>
            </a:schemeClr>
          </a:solidFill>
          <a:ln/>
        </p:spPr>
      </p:sp>
      <p:sp>
        <p:nvSpPr>
          <p:cNvPr id="20" name="Shape 17"/>
          <p:cNvSpPr/>
          <p:nvPr/>
        </p:nvSpPr>
        <p:spPr>
          <a:xfrm>
            <a:off x="932688" y="502920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mage 1" descr="памят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743" y="5148255"/>
            <a:ext cx="328818" cy="3288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664208" y="4937760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</a:rPr>
              <a:t>Среда восстановления</a:t>
            </a:r>
            <a:endParaRPr lang="ru-RU" sz="1400" dirty="0"/>
          </a:p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Linux в одном файле (UKI), 132 MiB. Работает из памяти, пока пишет на диск</a:t>
            </a:r>
            <a:endParaRPr lang="ru-RU" sz="1400" dirty="0"/>
          </a:p>
        </p:txBody>
      </p:sp>
      <p:sp>
        <p:nvSpPr>
          <p:cNvPr id="23" name="VPS"/>
          <p:cNvSpPr/>
          <p:nvPr/>
        </p:nvSpPr>
        <p:spPr>
          <a:xfrm>
            <a:off x="8549640" y="1783080"/>
            <a:ext cx="3090672" cy="4224528"/>
          </a:xfrm>
          <a:prstGeom prst="roundRect">
            <a:avLst>
              <a:gd name="adj" fmla="val 4142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8778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2" descr="серве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853" y="2089861"/>
            <a:ext cx="291694" cy="29169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445752" y="1947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VPS</a:t>
            </a:r>
            <a:endParaRPr lang="ru-RU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9445752" y="2258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 виртуальный процессор</a:t>
            </a:r>
            <a:endParaRPr lang="ru-RU" sz="1300" dirty="0"/>
          </a:p>
        </p:txBody>
      </p:sp>
      <p:sp>
        <p:nvSpPr>
          <p:cNvPr id="28" name="Shape 23"/>
          <p:cNvSpPr/>
          <p:nvPr/>
        </p:nvSpPr>
        <p:spPr>
          <a:xfrm>
            <a:off x="8778240" y="2743200"/>
            <a:ext cx="263347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942832" y="28163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nginx</a:t>
            </a:r>
            <a:endParaRPr lang="ru-RU" sz="1500" dirty="0"/>
          </a:p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HTTPS, сертификат Let’s Encrypt</a:t>
            </a:r>
            <a:endParaRPr lang="ru-RU" sz="1500" dirty="0"/>
          </a:p>
        </p:txBody>
      </p:sp>
      <p:sp>
        <p:nvSpPr>
          <p:cNvPr id="30" name="Shape 25"/>
          <p:cNvSpPr/>
          <p:nvPr/>
        </p:nvSpPr>
        <p:spPr>
          <a:xfrm>
            <a:off x="8778240" y="3639312"/>
            <a:ext cx="2633472" cy="1481328"/>
          </a:xfrm>
          <a:prstGeom prst="roundRect">
            <a:avLst>
              <a:gd name="adj" fmla="val 6173"/>
            </a:avLst>
          </a:prstGeom>
          <a:solidFill>
            <a:schemeClr val="bg1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942832" y="3730752"/>
            <a:ext cx="239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ru-RU" sz="1500" b="1" dirty="0">
                <a:solidFill>
                  <a:schemeClr val="tx1"/>
                </a:solidFill>
              </a:rPr>
              <a:t>Сервер на Node.js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раздаёт файлы восстановления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принимает сигналы и этапы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считает простой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показывает страницу состояния</a:t>
            </a:r>
            <a:endParaRPr lang="ru-RU" sz="1300" dirty="0"/>
          </a:p>
        </p:txBody>
      </p:sp>
      <p:sp>
        <p:nvSpPr>
          <p:cNvPr id="32" name="Shape 27"/>
          <p:cNvSpPr/>
          <p:nvPr/>
        </p:nvSpPr>
        <p:spPr>
          <a:xfrm>
            <a:off x="8778240" y="5230368"/>
            <a:ext cx="2633472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942832" y="5266944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outages.csv</a:t>
            </a:r>
            <a:endParaRPr lang="ru-RU" sz="1400" dirty="0"/>
          </a:p>
          <a:p>
            <a:pPr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каждый простой с этапами</a:t>
            </a:r>
            <a:endParaRPr lang="ru-RU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6839712" y="2212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Файлы по HTTPS</a:t>
            </a:r>
            <a:endParaRPr lang="ru-RU" sz="1300" dirty="0"/>
          </a:p>
        </p:txBody>
      </p:sp>
      <p:sp>
        <p:nvSpPr>
          <p:cNvPr id="35" name="Shape 30"/>
          <p:cNvSpPr/>
          <p:nvPr/>
        </p:nvSpPr>
        <p:spPr>
          <a:xfrm>
            <a:off x="6903720" y="2542032"/>
            <a:ext cx="1463040" cy="384048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39712" y="299008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boot.ipxe, среда 132 MiB, образы 405 MiB</a:t>
            </a:r>
            <a:endParaRPr lang="ru-RU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839712" y="41148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Сигнал раз в секунду</a:t>
            </a:r>
            <a:endParaRPr lang="ru-RU" sz="1300" dirty="0"/>
          </a:p>
        </p:txBody>
      </p:sp>
      <p:sp>
        <p:nvSpPr>
          <p:cNvPr id="38" name="Shape 33"/>
          <p:cNvSpPr/>
          <p:nvPr/>
        </p:nvSpPr>
        <p:spPr>
          <a:xfrm>
            <a:off x="6903720" y="4617720"/>
            <a:ext cx="146304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839712" y="50657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и отчёты об этапах</a:t>
            </a:r>
            <a:endParaRPr lang="ru-RU" sz="1200" dirty="0"/>
          </a:p>
        </p:txBody>
      </p:sp>
      <p:sp>
        <p:nvSpPr>
          <p:cNvPr id="40" name="Shape 35"/>
          <p:cNvSpPr/>
          <p:nvPr/>
        </p:nvSpPr>
        <p:spPr>
          <a:xfrm>
            <a:off x="548640" y="6144768"/>
            <a:ext cx="201168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84124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не трогается</a:t>
            </a:r>
            <a:endParaRPr lang="ru-RU" sz="1300" dirty="0"/>
          </a:p>
        </p:txBody>
      </p:sp>
      <p:sp>
        <p:nvSpPr>
          <p:cNvPr id="42" name="Shape 37"/>
          <p:cNvSpPr/>
          <p:nvPr/>
        </p:nvSpPr>
        <p:spPr>
          <a:xfrm>
            <a:off x="2185416" y="6144768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478024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стирается и восстанавливается</a:t>
            </a:r>
            <a:endParaRPr lang="ru-RU" sz="1300" dirty="0"/>
          </a:p>
        </p:txBody>
      </p:sp>
      <p:sp>
        <p:nvSpPr>
          <p:cNvPr id="44" name="Shape 39"/>
          <p:cNvSpPr/>
          <p:nvPr/>
        </p:nvSpPr>
        <p:spPr>
          <a:xfrm>
            <a:off x="5143500" y="6144768"/>
            <a:ext cx="201168" cy="2011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43610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только в памяти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ЦЕПОЧКА ВОССТАНОВЛЕНИЯ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Восемь этапов — те же, что на странице состояния</a:t>
            </a:r>
            <a:endParaRPr lang="ru-RU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3258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1 · Стирание</a:t>
            </a:r>
            <a:endParaRPr lang="ru-RU" sz="1400" dirty="0"/>
          </a:p>
        </p:txBody>
      </p:sp>
      <p:sp>
        <p:nvSpPr>
          <p:cNvPr id="5" name="Text 3"/>
          <p:cNvSpPr/>
          <p:nvPr/>
        </p:nvSpPr>
        <p:spPr>
          <a:xfrm>
            <a:off x="1920240" y="1600200"/>
            <a:ext cx="396929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2 · Сетевая загрузка · ≈ 68 с</a:t>
            </a:r>
            <a:endParaRPr lang="ru-RU" sz="1400" dirty="0"/>
          </a:p>
        </p:txBody>
      </p:sp>
      <p:sp>
        <p:nvSpPr>
          <p:cNvPr id="6" name="Text 4"/>
          <p:cNvSpPr/>
          <p:nvPr/>
        </p:nvSpPr>
        <p:spPr>
          <a:xfrm>
            <a:off x="5935254" y="1600200"/>
            <a:ext cx="3268830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3 · В памяти · ≈ 56 с</a:t>
            </a:r>
            <a:endParaRPr lang="ru-RU" sz="1400" dirty="0"/>
          </a:p>
        </p:txBody>
      </p:sp>
      <p:sp>
        <p:nvSpPr>
          <p:cNvPr id="7" name="Text 5"/>
          <p:cNvSpPr/>
          <p:nvPr/>
        </p:nvSpPr>
        <p:spPr>
          <a:xfrm>
            <a:off x="9249804" y="1600200"/>
            <a:ext cx="2393251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4 · Возврат · ≈ 41 с</a:t>
            </a:r>
            <a:endParaRPr lang="ru-RU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Стирание системы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osreboot-wipe: проверки, запись iPXE по умолчанию, по 64 MiB нулей, сброс</a:t>
            </a:r>
            <a:endParaRPr lang="ru-RU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и сетевой загрузчик</a:t>
            </a:r>
            <a:endParaRPr lang="ru-RU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Прошивка → systemd-boot → iPXE: адрес по DHCP, имя сервера по DNS</a:t>
            </a:r>
            <a:endParaRPr lang="ru-RU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среды восстановления</a:t>
            </a:r>
            <a:endParaRPr lang="ru-RU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HTTPS, 132 MiB; iPXE доверяет только сертификатам Let’s Encrypt</a:t>
            </a:r>
            <a:endParaRPr lang="ru-RU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Запуск среды восстановления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Linux целиком в памяти; находит тестовые разделы по меткам</a:t>
            </a:r>
            <a:endParaRPr lang="ru-RU" sz="1400" dirty="0"/>
          </a:p>
        </p:txBody>
      </p:sp>
      <p:sp>
        <p:nvSpPr>
          <p:cNvPr id="20" name="Text 18"/>
          <p:cNvSpPr/>
          <p:nvPr/>
        </p:nvSpPr>
        <p:spPr>
          <a:xfrm>
            <a:off x="6324448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10248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образов системы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10248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Два раздела, 405 MiB, сжаты zstd</a:t>
            </a:r>
            <a:endParaRPr lang="ru-RU" sz="1400" dirty="0"/>
          </a:p>
        </p:txBody>
      </p:sp>
      <p:sp>
        <p:nvSpPr>
          <p:cNvPr id="23" name="Text 21"/>
          <p:cNvSpPr/>
          <p:nvPr/>
        </p:nvSpPr>
        <p:spPr>
          <a:xfrm>
            <a:off x="6324448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010248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 контрольных сумм</a:t>
            </a:r>
            <a:endParaRPr lang="ru-RU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10248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каждого образа — до записи</a:t>
            </a:r>
            <a:endParaRPr lang="ru-RU" sz="1400" dirty="0"/>
          </a:p>
        </p:txBody>
      </p:sp>
      <p:sp>
        <p:nvSpPr>
          <p:cNvPr id="26" name="Text 24"/>
          <p:cNvSpPr/>
          <p:nvPr/>
        </p:nvSpPr>
        <p:spPr>
          <a:xfrm>
            <a:off x="6324448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7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Запись на диск</a:t>
            </a:r>
            <a:endParaRPr lang="ru-RU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010248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Запись, чтение обратно и сверка, BootNext на восстановленную систему</a:t>
            </a:r>
            <a:endParaRPr lang="ru-RU" sz="1400" dirty="0"/>
          </a:p>
        </p:txBody>
      </p:sp>
      <p:sp>
        <p:nvSpPr>
          <p:cNvPr id="29" name="Text 27"/>
          <p:cNvSpPr/>
          <p:nvPr/>
        </p:nvSpPr>
        <p:spPr>
          <a:xfrm>
            <a:off x="6324448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8</a:t>
            </a:r>
            <a:endParaRPr lang="ru-RU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010248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в восстановленную систему</a:t>
            </a:r>
            <a:endParaRPr lang="ru-RU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010248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Первый сигнал с новым boot ID закрывает простой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  <a:p>
            <a:pPr indent="0" marL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Да: при каждой загрузке ядро придумывает новый boot ID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accent4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любой скачает образ и будет слать сигналы от имени ноутбука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копия диска — это копия пароля, а диск можно стереть целиком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TPM шифрует так, что расшифровать может только он сам</a:t>
            </a:r>
            <a:endParaRPr lang="ru-RU" sz="1500" dirty="0"/>
          </a:p>
        </p:txBody>
      </p:sp>
      <p:sp>
        <p:nvSpPr>
          <p:cNvPr id="21" name="Токен"/>
          <p:cNvSpPr/>
          <p:nvPr/>
        </p:nvSpPr>
        <p:spPr>
          <a:xfrm>
            <a:off x="548640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13232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значок: 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87" y="5532303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17320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Токен</a:t>
            </a:r>
            <a:endParaRPr lang="ru-RU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417320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256 случайных бит</a:t>
            </a:r>
            <a:endParaRPr lang="ru-RU" sz="1300" dirty="0"/>
          </a:p>
        </p:txBody>
      </p:sp>
      <p:sp>
        <p:nvSpPr>
          <p:cNvPr id="26" name="Shape 20"/>
          <p:cNvSpPr/>
          <p:nvPr/>
        </p:nvSpPr>
        <p:spPr>
          <a:xfrm>
            <a:off x="3035808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7" name="TPM ноутбука"/>
          <p:cNvSpPr/>
          <p:nvPr/>
        </p:nvSpPr>
        <p:spPr>
          <a:xfrm>
            <a:off x="3454298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618890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9" name="Image 4" descr="значок: chi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945" y="5532303"/>
            <a:ext cx="328818" cy="3288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TPM ноутбука</a:t>
            </a:r>
            <a:endParaRPr lang="ru-RU" sz="1600" dirty="0"/>
          </a:p>
        </p:txBody>
      </p:sp>
      <p:sp>
        <p:nvSpPr>
          <p:cNvPr id="31" name="Text 24"/>
          <p:cNvSpPr txBox="1"/>
          <p:nvPr/>
        </p:nvSpPr>
        <p:spPr>
          <a:xfrm>
            <a:off x="4322978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шифрует своим ключом</a:t>
            </a:r>
            <a:endParaRPr lang="ru-RU" sz="1300" dirty="0"/>
          </a:p>
        </p:txBody>
      </p:sp>
      <p:sp>
        <p:nvSpPr>
          <p:cNvPr id="32" name="Shape 25"/>
          <p:cNvSpPr/>
          <p:nvPr/>
        </p:nvSpPr>
        <p:spPr>
          <a:xfrm>
            <a:off x="5941466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3" name="Образ"/>
          <p:cNvSpPr/>
          <p:nvPr/>
        </p:nvSpPr>
        <p:spPr>
          <a:xfrm>
            <a:off x="6359957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24549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5" descr="значок: 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604" y="5532303"/>
            <a:ext cx="328818" cy="32881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8637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Образ</a:t>
            </a:r>
            <a:endParaRPr lang="ru-RU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7228637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хранит только шифровку</a:t>
            </a:r>
            <a:endParaRPr lang="ru-RU" sz="1300" dirty="0"/>
          </a:p>
        </p:txBody>
      </p:sp>
      <p:sp>
        <p:nvSpPr>
          <p:cNvPr id="38" name="Shape 30"/>
          <p:cNvSpPr/>
          <p:nvPr/>
        </p:nvSpPr>
        <p:spPr>
          <a:xfrm>
            <a:off x="8847125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9" name="Этот ноутбук"/>
          <p:cNvSpPr/>
          <p:nvPr/>
        </p:nvSpPr>
        <p:spPr>
          <a:xfrm>
            <a:off x="9265615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9430207" y="5413248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Image 6" descr="значок: 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9262" y="5532303"/>
            <a:ext cx="328818" cy="3288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34295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Этот ноутбук</a:t>
            </a:r>
            <a:endParaRPr lang="ru-RU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10134295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единственный расшифрует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БЕЗОПАСНОСТЬ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Предохранители: не записать лишнее и не застрять</a:t>
            </a:r>
            <a:endParaRPr lang="ru-RU" sz="3400" dirty="0"/>
          </a:p>
        </p:txBody>
      </p:sp>
      <p:sp>
        <p:nvSpPr>
          <p:cNvPr id="4" name="Пишет только туда"/>
          <p:cNvSpPr/>
          <p:nvPr/>
        </p:nvSpPr>
        <p:spPr>
          <a:xfrm>
            <a:off x="548640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7627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314529"/>
            <a:ext cx="381853" cy="3818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туда</a:t>
            </a:r>
            <a:endParaRPr lang="ru-RU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Только разделы с метками osreboot-esp и osreboot-root, каждая — ровно один раз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Подходят тип, файловая система и размер (до 4 и 128 GiB), раздел не смонтирован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Сама работает из памяти</a:t>
            </a:r>
            <a:endParaRPr lang="ru-RU" sz="1600" dirty="0"/>
          </a:p>
        </p:txBody>
      </p:sp>
      <p:sp>
        <p:nvSpPr>
          <p:cNvPr id="9" name="Пишет только то"/>
          <p:cNvSpPr/>
          <p:nvPr/>
        </p:nvSpPr>
        <p:spPr>
          <a:xfrm>
            <a:off x="4338218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2538" y="2176272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mage 1" descr="значок: 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796" y="2314529"/>
            <a:ext cx="381853" cy="38185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то</a:t>
            </a:r>
            <a:endParaRPr lang="ru-RU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HTTPS: iPXE доверяет только сертификатам Let’s Encrypt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SHA-256 каждого образа до записи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Чтение обратно и сверка после записи</a:t>
            </a:r>
            <a:endParaRPr lang="ru-RU" sz="1600" dirty="0"/>
          </a:p>
        </p:txBody>
      </p:sp>
      <p:sp>
        <p:nvSpPr>
          <p:cNvPr id="14" name="Не застревает"/>
          <p:cNvSpPr/>
          <p:nvPr/>
        </p:nvSpPr>
        <p:spPr>
          <a:xfrm>
            <a:off x="8127797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2117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значок: refre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374" y="2314529"/>
            <a:ext cx="381853" cy="38185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Не застревает</a:t>
            </a:r>
            <a:endParaRPr lang="ru-RU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Нет сети или ошибка в iPXE — через 10 с всё заново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Обрыв при скачивании — ждёт сеть и докачивает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Отключили питание — после включения снова iPXE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восстановления — этап failed, вход по SSH, перезагрузка через 20 мин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РЕЗУЛЬТАТЫ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Весь простой — около 165 секунд, без человека рядом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297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ru-RU" sz="12000" b="1" dirty="0">
                <a:solidFill>
                  <a:schemeClr val="tx2"/>
                </a:solidFill>
              </a:rPr>
              <a:t>165</a:t>
            </a:r>
            <a:pPr indent="0" marL="0">
              <a:buNone/>
            </a:pPr>
            <a:r>
              <a:rPr lang="ru-RU" sz="5400" b="1" dirty="0">
                <a:solidFill>
                  <a:schemeClr val="accent1"/>
                </a:solidFill>
              </a:rPr>
              <a:t> с</a:t>
            </a:r>
            <a:endParaRPr lang="ru-RU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медиана 4 полных прогонов: от последнего сигнала перед стиранием до первого после восстановления</a:t>
            </a:r>
            <a:endParaRPr lang="ru-RU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537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Разброс меньше 2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процесс почти детерминирован</a:t>
            </a:r>
            <a:endParaRPr lang="ru-RU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840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54–57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работа среды восстановления, 6 прогонов</a:t>
            </a:r>
            <a:endParaRPr lang="ru-RU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1441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100 Мбит/с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порт ноутбука ограничивал скачивание</a:t>
            </a:r>
            <a:endParaRPr lang="ru-RU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212080" y="1783080"/>
          <a:ext cx="642823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Из 165 секунд — что заняло больше всего времени?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Скачивание 537 MiB по сети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Проверка и запись на диск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Загрузки машины: прошивка, загрузчики, ядра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ОТВЕТ: В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Больше половины простоя — две загрузки машины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246120" y="16824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Прогон 23.10, 18:53 МСК · секунды от последнего сигнала</a:t>
            </a:r>
            <a:endParaRPr lang="ru-RU" sz="1200" dirty="0"/>
          </a:p>
        </p:txBody>
      </p:sp>
      <p:sp>
        <p:nvSpPr>
          <p:cNvPr id="5" name="Shape 3"/>
          <p:cNvSpPr/>
          <p:nvPr/>
        </p:nvSpPr>
        <p:spPr>
          <a:xfrm>
            <a:off x="3246120" y="1956816"/>
            <a:ext cx="0" cy="3364992"/>
          </a:xfrm>
          <a:prstGeom prst="line">
            <a:avLst/>
          </a:prstGeom>
          <a:noFill/>
          <a:ln w="9525">
            <a:solidFill>
              <a:srgbClr val="9AA3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803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0 с</a:t>
            </a:r>
            <a:endParaRPr lang="ru-RU" sz="1200" dirty="0"/>
          </a:p>
        </p:txBody>
      </p:sp>
      <p:sp>
        <p:nvSpPr>
          <p:cNvPr id="7" name="Shape 5"/>
          <p:cNvSpPr/>
          <p:nvPr/>
        </p:nvSpPr>
        <p:spPr>
          <a:xfrm>
            <a:off x="40538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80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30</a:t>
            </a:r>
            <a:endParaRPr lang="ru-RU" sz="1200" dirty="0"/>
          </a:p>
        </p:txBody>
      </p:sp>
      <p:sp>
        <p:nvSpPr>
          <p:cNvPr id="9" name="Shape 7"/>
          <p:cNvSpPr/>
          <p:nvPr/>
        </p:nvSpPr>
        <p:spPr>
          <a:xfrm>
            <a:off x="486156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580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60</a:t>
            </a:r>
            <a:endParaRPr lang="ru-RU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90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647700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124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120</a:t>
            </a:r>
            <a:endParaRPr lang="ru-RU" sz="1200" dirty="0"/>
          </a:p>
        </p:txBody>
      </p:sp>
      <p:sp>
        <p:nvSpPr>
          <p:cNvPr id="15" name="Shape 13"/>
          <p:cNvSpPr/>
          <p:nvPr/>
        </p:nvSpPr>
        <p:spPr>
          <a:xfrm>
            <a:off x="728472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189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150</a:t>
            </a:r>
            <a:endParaRPr lang="ru-RU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180</a:t>
            </a:r>
            <a:endParaRPr lang="ru-RU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0482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Сброс, прошивка, iPXE</a:t>
            </a:r>
            <a:endParaRPr lang="ru-RU" sz="1400" dirty="0"/>
          </a:p>
        </p:txBody>
      </p:sp>
      <p:sp>
        <p:nvSpPr>
          <p:cNvPr id="20" name="Сброс, прошивка, iPXE: 24.4 с"/>
          <p:cNvSpPr/>
          <p:nvPr/>
        </p:nvSpPr>
        <p:spPr>
          <a:xfrm>
            <a:off x="3246120" y="2075688"/>
            <a:ext cx="65694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976218" y="2048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24,4 с</a:t>
            </a:r>
            <a:endParaRPr lang="ru-RU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среды, 132 MiB</a:t>
            </a:r>
            <a:endParaRPr lang="ru-RU" sz="1400" dirty="0"/>
          </a:p>
        </p:txBody>
      </p:sp>
      <p:sp>
        <p:nvSpPr>
          <p:cNvPr id="23" name="Скачивание среды, 132 MiB: 15.300000000000004 с"/>
          <p:cNvSpPr/>
          <p:nvPr/>
        </p:nvSpPr>
        <p:spPr>
          <a:xfrm>
            <a:off x="3903066" y="2441448"/>
            <a:ext cx="411937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8155" y="2414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15,3 с</a:t>
            </a:r>
            <a:endParaRPr lang="ru-RU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Старт Linux в памяти</a:t>
            </a:r>
            <a:endParaRPr lang="ru-RU" sz="1400" dirty="0"/>
          </a:p>
        </p:txBody>
      </p:sp>
      <p:sp>
        <p:nvSpPr>
          <p:cNvPr id="26" name="Старт Linux в памяти: 28.5 с"/>
          <p:cNvSpPr/>
          <p:nvPr/>
        </p:nvSpPr>
        <p:spPr>
          <a:xfrm>
            <a:off x="4315003" y="2807208"/>
            <a:ext cx="767334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55489" y="2779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28,5 с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1455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Поиск разделов</a:t>
            </a:r>
            <a:endParaRPr lang="ru-RU" sz="1400" dirty="0"/>
          </a:p>
        </p:txBody>
      </p:sp>
      <p:sp>
        <p:nvSpPr>
          <p:cNvPr id="29" name="Поиск разделов: 0.7999999999999972 с"/>
          <p:cNvSpPr/>
          <p:nvPr/>
        </p:nvSpPr>
        <p:spPr>
          <a:xfrm>
            <a:off x="5082337" y="317296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77028" y="3145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0,8 с</a:t>
            </a:r>
            <a:endParaRPr lang="ru-RU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образов, 405 MiB</a:t>
            </a:r>
            <a:endParaRPr lang="ru-RU" sz="1400" dirty="0"/>
          </a:p>
        </p:txBody>
      </p:sp>
      <p:sp>
        <p:nvSpPr>
          <p:cNvPr id="32" name="Скачивание образов, 405 MiB: 41.7 с"/>
          <p:cNvSpPr/>
          <p:nvPr/>
        </p:nvSpPr>
        <p:spPr>
          <a:xfrm>
            <a:off x="5103876" y="3538728"/>
            <a:ext cx="1122731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99759" y="35112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41,7 с</a:t>
            </a:r>
            <a:endParaRPr lang="ru-RU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8770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Проверка SHA-256</a:t>
            </a:r>
            <a:endParaRPr lang="ru-RU" sz="1400" dirty="0"/>
          </a:p>
        </p:txBody>
      </p:sp>
      <p:sp>
        <p:nvSpPr>
          <p:cNvPr id="35" name="Проверка SHA-256: 4.799999999999997 с"/>
          <p:cNvSpPr/>
          <p:nvPr/>
        </p:nvSpPr>
        <p:spPr>
          <a:xfrm>
            <a:off x="6226607" y="3904488"/>
            <a:ext cx="129235" cy="201168"/>
          </a:xfrm>
          <a:prstGeom prst="roundRect">
            <a:avLst>
              <a:gd name="adj" fmla="val 35377"/>
            </a:avLst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28994" y="38770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4,8 с</a:t>
            </a:r>
            <a:endParaRPr lang="ru-RU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2428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Запись и сверка</a:t>
            </a:r>
            <a:endParaRPr lang="ru-RU" sz="1400" dirty="0"/>
          </a:p>
        </p:txBody>
      </p:sp>
      <p:sp>
        <p:nvSpPr>
          <p:cNvPr id="38" name="Запись и сверка: 8.299999999999997 с"/>
          <p:cNvSpPr/>
          <p:nvPr/>
        </p:nvSpPr>
        <p:spPr>
          <a:xfrm>
            <a:off x="6355842" y="4270248"/>
            <a:ext cx="223469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52463" y="4242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8,3 с</a:t>
            </a:r>
            <a:endParaRPr lang="ru-RU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46085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BootNext, журнал</a:t>
            </a:r>
            <a:endParaRPr lang="ru-RU" sz="1400" dirty="0"/>
          </a:p>
        </p:txBody>
      </p:sp>
      <p:sp>
        <p:nvSpPr>
          <p:cNvPr id="41" name="BootNext, журнал: 0.29999999999999716 с"/>
          <p:cNvSpPr/>
          <p:nvPr/>
        </p:nvSpPr>
        <p:spPr>
          <a:xfrm>
            <a:off x="6579311" y="463600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660540" y="4608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0,3 с</a:t>
            </a:r>
            <a:endParaRPr lang="ru-RU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74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Перезагрузка до сигнала</a:t>
            </a:r>
            <a:endParaRPr lang="ru-RU" sz="1400" dirty="0"/>
          </a:p>
        </p:txBody>
      </p:sp>
      <p:sp>
        <p:nvSpPr>
          <p:cNvPr id="44" name="Перезагрузка до сигнала: 41.599999999999994 с"/>
          <p:cNvSpPr/>
          <p:nvPr/>
        </p:nvSpPr>
        <p:spPr>
          <a:xfrm>
            <a:off x="6587388" y="5001768"/>
            <a:ext cx="1120038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80579" y="4974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41,6 с</a:t>
            </a:r>
            <a:endParaRPr lang="ru-RU" sz="1300" dirty="0"/>
          </a:p>
        </p:txBody>
      </p:sp>
      <p:sp>
        <p:nvSpPr>
          <p:cNvPr id="46" name="Загрузки машины: прошивка, загрузчики, ядра"/>
          <p:cNvSpPr/>
          <p:nvPr/>
        </p:nvSpPr>
        <p:spPr>
          <a:xfrm>
            <a:off x="8595360" y="1783080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47" name="Shape 45"/>
          <p:cNvSpPr/>
          <p:nvPr/>
        </p:nvSpPr>
        <p:spPr>
          <a:xfrm>
            <a:off x="8796528" y="1984248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89720" y="18928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94,5 с · 57 %</a:t>
            </a:r>
            <a:endParaRPr lang="ru-RU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9189720" y="23317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Загрузки машины: прошивка, загрузчики, ядра</a:t>
            </a:r>
            <a:endParaRPr lang="ru-RU" sz="1300" dirty="0"/>
          </a:p>
        </p:txBody>
      </p:sp>
      <p:sp>
        <p:nvSpPr>
          <p:cNvPr id="50" name="Скачивание: среда 132 MiB и образы 405 MiB"/>
          <p:cNvSpPr/>
          <p:nvPr/>
        </p:nvSpPr>
        <p:spPr>
          <a:xfrm>
            <a:off x="8595360" y="2944368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1" name="Shape 49"/>
          <p:cNvSpPr/>
          <p:nvPr/>
        </p:nvSpPr>
        <p:spPr>
          <a:xfrm>
            <a:off x="8796528" y="3145536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8972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57,0 с · 34 %</a:t>
            </a:r>
            <a:endParaRPr lang="ru-RU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9189720" y="349300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Скачивание: среда 132 MiB и образы 405 MiB</a:t>
            </a:r>
            <a:endParaRPr lang="ru-RU" sz="1300" dirty="0"/>
          </a:p>
        </p:txBody>
      </p:sp>
      <p:sp>
        <p:nvSpPr>
          <p:cNvPr id="54" name="Проверка SHA-256 и запись на диск"/>
          <p:cNvSpPr/>
          <p:nvPr/>
        </p:nvSpPr>
        <p:spPr>
          <a:xfrm>
            <a:off x="8595360" y="4105656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5" name="Shape 53"/>
          <p:cNvSpPr/>
          <p:nvPr/>
        </p:nvSpPr>
        <p:spPr>
          <a:xfrm>
            <a:off x="8796528" y="430682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189720" y="4215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13,1 с · 8 %</a:t>
            </a:r>
            <a:endParaRPr lang="ru-RU" sz="2400" dirty="0"/>
          </a:p>
        </p:txBody>
      </p:sp>
      <p:sp>
        <p:nvSpPr>
          <p:cNvPr id="57" name="Text 55"/>
          <p:cNvSpPr txBox="1"/>
          <p:nvPr/>
        </p:nvSpPr>
        <p:spPr>
          <a:xfrm>
            <a:off x="9189720" y="465429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Проверка SHA-256 и запись на диск</a:t>
            </a:r>
            <a:endParaRPr lang="ru-RU" sz="1300" dirty="0"/>
          </a:p>
        </p:txBody>
      </p:sp>
      <p:sp>
        <p:nvSpPr>
          <p:cNvPr id="58" name="Shape 56"/>
          <p:cNvSpPr/>
          <p:nvPr/>
        </p:nvSpPr>
        <p:spPr>
          <a:xfrm>
            <a:off x="8796528" y="535838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189720" y="5340096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1,1 с — поиск разделов, BootNext, журнал</a:t>
            </a:r>
            <a:endParaRPr lang="ru-RU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77900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Вывод: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ускорять нужно загрузки — меньший UKI, kexec вместо второго прохода прошивки. Скачивание упиралось в порт ноутбука на 100 Мбит/с: 11 MiB/с, 98 % предела.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ДЕМОНСТРАЦИЯ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Проверим 165 секунд вживую</a:t>
            </a:r>
            <a:endParaRPr lang="ru-RU" sz="3600" dirty="0"/>
          </a:p>
        </p:txBody>
      </p:sp>
      <p:sp>
        <p:nvSpPr>
          <p:cNvPr id="4" name="QR-код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3590"/>
            </a:avLst>
          </a:prstGeom>
          <a:solidFill>
            <a:schemeClr val="bg1"/>
          </a:solidFill>
          <a:ln/>
        </p:spPr>
      </p:sp>
      <p:pic>
        <p:nvPicPr>
          <p:cNvPr id="5" name="Image 0" descr="QR-код страницы состояния osreboot.epsti.site">
            <a:hlinkClick r:id="rId2" tooltip="Страница состояния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892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tx2"/>
                </a:solidFill>
              </a:rPr>
              <a:t>osreboot.epsti.site</a:t>
            </a:r>
            <a:endParaRPr lang="ru-RU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492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Откройте на телефоне: та же страница, что на экране</a:t>
            </a:r>
            <a:endParaRPr lang="ru-RU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7830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Чего ждём — по прогону 23.10</a:t>
            </a:r>
            <a:endParaRPr lang="ru-RU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3042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0" name="Shape 7"/>
          <p:cNvSpPr/>
          <p:nvPr/>
        </p:nvSpPr>
        <p:spPr>
          <a:xfrm>
            <a:off x="5833872" y="2395728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99632" y="230428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Стирание системы</a:t>
            </a:r>
            <a:endParaRPr lang="ru-RU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7066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3" name="Shape 10"/>
          <p:cNvSpPr/>
          <p:nvPr/>
        </p:nvSpPr>
        <p:spPr>
          <a:xfrm>
            <a:off x="5833872" y="279806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270662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и сетевой загрузчик</a:t>
            </a:r>
            <a:endParaRPr lang="ru-RU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108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24 с</a:t>
            </a:r>
            <a:endParaRPr lang="ru-RU" sz="1700" dirty="0"/>
          </a:p>
        </p:txBody>
      </p:sp>
      <p:sp>
        <p:nvSpPr>
          <p:cNvPr id="16" name="Shape 13"/>
          <p:cNvSpPr/>
          <p:nvPr/>
        </p:nvSpPr>
        <p:spPr>
          <a:xfrm>
            <a:off x="5833872" y="320040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99632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среды восстановления</a:t>
            </a:r>
            <a:endParaRPr lang="ru-RU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35112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40 с</a:t>
            </a:r>
            <a:endParaRPr lang="ru-RU" sz="1700" dirty="0"/>
          </a:p>
        </p:txBody>
      </p:sp>
      <p:sp>
        <p:nvSpPr>
          <p:cNvPr id="19" name="Shape 16"/>
          <p:cNvSpPr/>
          <p:nvPr/>
        </p:nvSpPr>
        <p:spPr>
          <a:xfrm>
            <a:off x="5833872" y="3602736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199632" y="351129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Запуск среды восстановления</a:t>
            </a:r>
            <a:endParaRPr lang="ru-RU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9136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69 с</a:t>
            </a:r>
            <a:endParaRPr lang="ru-RU" sz="1700" dirty="0"/>
          </a:p>
        </p:txBody>
      </p:sp>
      <p:sp>
        <p:nvSpPr>
          <p:cNvPr id="22" name="Shape 19"/>
          <p:cNvSpPr/>
          <p:nvPr/>
        </p:nvSpPr>
        <p:spPr>
          <a:xfrm>
            <a:off x="5833872" y="4005072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99632" y="3913632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образов системы</a:t>
            </a:r>
            <a:endParaRPr lang="ru-RU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4315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111 с</a:t>
            </a:r>
            <a:endParaRPr lang="ru-RU" sz="1700" dirty="0"/>
          </a:p>
        </p:txBody>
      </p:sp>
      <p:sp>
        <p:nvSpPr>
          <p:cNvPr id="25" name="Shape 22"/>
          <p:cNvSpPr/>
          <p:nvPr/>
        </p:nvSpPr>
        <p:spPr>
          <a:xfrm>
            <a:off x="5833872" y="4407408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99632" y="431596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Проверка контрольных сумм</a:t>
            </a:r>
            <a:endParaRPr lang="ru-RU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471830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116 с</a:t>
            </a:r>
            <a:endParaRPr lang="ru-RU" sz="1700" dirty="0"/>
          </a:p>
        </p:txBody>
      </p:sp>
      <p:sp>
        <p:nvSpPr>
          <p:cNvPr id="28" name="Shape 25"/>
          <p:cNvSpPr/>
          <p:nvPr/>
        </p:nvSpPr>
        <p:spPr>
          <a:xfrm>
            <a:off x="5833872" y="480974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99632" y="471830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Запись на диск</a:t>
            </a:r>
            <a:endParaRPr lang="ru-RU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0" y="5120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124 с</a:t>
            </a:r>
            <a:endParaRPr lang="ru-RU" sz="1700" dirty="0"/>
          </a:p>
        </p:txBody>
      </p:sp>
      <p:sp>
        <p:nvSpPr>
          <p:cNvPr id="31" name="Shape 28"/>
          <p:cNvSpPr/>
          <p:nvPr/>
        </p:nvSpPr>
        <p:spPr>
          <a:xfrm>
            <a:off x="5833872" y="521208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99632" y="51206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в восстановленную систему</a:t>
            </a:r>
            <a:endParaRPr lang="ru-RU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52297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≈ 166 с</a:t>
            </a:r>
            <a:endParaRPr lang="ru-RU" sz="1700" dirty="0"/>
          </a:p>
        </p:txBody>
      </p:sp>
      <p:sp>
        <p:nvSpPr>
          <p:cNvPr id="34" name="Shape 31"/>
          <p:cNvSpPr/>
          <p:nvPr/>
        </p:nvSpPr>
        <p:spPr>
          <a:xfrm>
            <a:off x="5833872" y="5614416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199632" y="552297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bg1"/>
                </a:solidFill>
              </a:rPr>
              <a:t>Система снова на связи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ЧЕСТНО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Чего OSreboot пока не умеет — и что с этим делать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ОГРАНИЧЕНИЕ</a:t>
            </a:r>
            <a:endParaRPr lang="ru-RU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00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ЧТО СДЕЛАТЬ</a:t>
            </a:r>
            <a:endParaRPr lang="ru-RU" sz="1200" dirty="0"/>
          </a:p>
        </p:txBody>
      </p:sp>
      <p:sp>
        <p:nvSpPr>
          <p:cNvPr id="6" name="Стёрли весь диск — пропал и iPXE, цепочка обрывается"/>
          <p:cNvSpPr/>
          <p:nvPr/>
        </p:nvSpPr>
        <p:spPr>
          <a:xfrm>
            <a:off x="548640" y="1920240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Стёрли весь диск — пропал и iPXE, цепочка обрывается</a:t>
            </a:r>
            <a:endParaRPr lang="ru-RU" sz="1500" dirty="0"/>
          </a:p>
        </p:txBody>
      </p:sp>
      <p:sp>
        <p:nvSpPr>
          <p:cNvPr id="8" name="Shape 6"/>
          <p:cNvSpPr/>
          <p:nvPr/>
        </p:nvSpPr>
        <p:spPr>
          <a:xfrm>
            <a:off x="5779008" y="2103120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9" name="Проверить UEFI HTTP Boot на других прошивках и с адресом от DHCP"/>
          <p:cNvSpPr/>
          <p:nvPr/>
        </p:nvSpPr>
        <p:spPr>
          <a:xfrm>
            <a:off x="6400800" y="1920240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920240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Проверить UEFI HTTP Boot на других прошивках и с адресом от DHCP</a:t>
            </a:r>
            <a:endParaRPr lang="ru-RU" sz="1500" dirty="0"/>
          </a:p>
        </p:txBody>
      </p:sp>
      <p:sp>
        <p:nvSpPr>
          <p:cNvPr id="11" name="Восстановление запускает команда затирания, а не сама поломка"/>
          <p:cNvSpPr/>
          <p:nvPr/>
        </p:nvSpPr>
        <p:spPr>
          <a:xfrm>
            <a:off x="548640" y="2624328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624328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Восстановление запускает команда затирания, а не сама поломка</a:t>
            </a:r>
            <a:endParaRPr lang="ru-RU" sz="1500" dirty="0"/>
          </a:p>
        </p:txBody>
      </p:sp>
      <p:sp>
        <p:nvSpPr>
          <p:cNvPr id="13" name="Shape 11"/>
          <p:cNvSpPr/>
          <p:nvPr/>
        </p:nvSpPr>
        <p:spPr>
          <a:xfrm>
            <a:off x="5779008" y="2807208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4" name="Счётчик неудачных загрузок: Automatic Boot Assessment в systemd-boot"/>
          <p:cNvSpPr/>
          <p:nvPr/>
        </p:nvSpPr>
        <p:spPr>
          <a:xfrm>
            <a:off x="6400800" y="2624328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0" y="2624328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Счётчик неудачных загрузок: Automatic Boot Assessment в systemd-boot</a:t>
            </a:r>
            <a:endParaRPr lang="ru-RU" sz="1500" dirty="0"/>
          </a:p>
        </p:txBody>
      </p:sp>
      <p:sp>
        <p:nvSpPr>
          <p:cNvPr id="26" name="Нет удалённого питания: зависание в меню прошивки не поднять"/>
          <p:cNvSpPr/>
          <p:nvPr/>
        </p:nvSpPr>
        <p:spPr>
          <a:xfrm>
            <a:off x="548640" y="3328416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332841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Нет удалённого питания: зависание в меню прошивки не поднять</a:t>
            </a:r>
            <a:endParaRPr lang="ru-RU" sz="1500" dirty="0"/>
          </a:p>
        </p:txBody>
      </p:sp>
      <p:sp>
        <p:nvSpPr>
          <p:cNvPr id="28" name="Shape 26"/>
          <p:cNvSpPr/>
          <p:nvPr/>
        </p:nvSpPr>
        <p:spPr>
          <a:xfrm>
            <a:off x="5779008" y="3511296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9" name="IP-KVM или умная розетка и «включаться при подаче питания»"/>
          <p:cNvSpPr/>
          <p:nvPr/>
        </p:nvSpPr>
        <p:spPr>
          <a:xfrm>
            <a:off x="6400800" y="3328416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3328416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IP-KVM или умная розетка и «включаться при подаче питания»</a:t>
            </a:r>
            <a:endParaRPr lang="ru-RU" sz="1500" dirty="0"/>
          </a:p>
        </p:txBody>
      </p:sp>
      <p:sp>
        <p:nvSpPr>
          <p:cNvPr id="31" name="4 полных прогона — ещё не статистика"/>
          <p:cNvSpPr/>
          <p:nvPr/>
        </p:nvSpPr>
        <p:spPr>
          <a:xfrm>
            <a:off x="548640" y="4032504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0" y="4032504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4 полных прогона — ещё не статистика</a:t>
            </a:r>
            <a:endParaRPr lang="ru-RU" sz="1500" dirty="0"/>
          </a:p>
        </p:txBody>
      </p:sp>
      <p:sp>
        <p:nvSpPr>
          <p:cNvPr id="33" name="Shape 31"/>
          <p:cNvSpPr/>
          <p:nvPr/>
        </p:nvSpPr>
        <p:spPr>
          <a:xfrm>
            <a:off x="5779008" y="4215384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4" name="Серия из 10+ прогонов: scripts/run-series.sh"/>
          <p:cNvSpPr/>
          <p:nvPr/>
        </p:nvSpPr>
        <p:spPr>
          <a:xfrm>
            <a:off x="6400800" y="4032504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0" y="4032504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Серия из 10+ прогонов: scripts/run-series.sh</a:t>
            </a:r>
            <a:endParaRPr lang="ru-RU" sz="1500" dirty="0"/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ИТОГИ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Вариант «В» из первого вопроса теперь есть и у ноутбука без BMC</a:t>
            </a:r>
            <a:endParaRPr lang="ru-RU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значок: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860" y="2220620"/>
            <a:ext cx="450799" cy="4507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3911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Работает</a:t>
            </a:r>
            <a:endParaRPr lang="ru-RU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47802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Ноутбук без BMC сам поднимает стёртую систему через интернет: UEFI → iPXE по HTTPS → Linux в памяти → проверка и запись</a:t>
            </a:r>
            <a:endParaRPr lang="ru-RU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860" y="3546500"/>
            <a:ext cx="450799" cy="4507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336499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Около 165 с простоя, разброс меньше 2 с</a:t>
            </a:r>
            <a:endParaRPr lang="ru-RU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80390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57 % — две загрузки машины, 34 % — скачивание, 8 % — проверка и запись</a:t>
            </a:r>
            <a:endParaRPr lang="ru-RU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значок: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860" y="4872380"/>
            <a:ext cx="450799" cy="4507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69087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Открыто и измеримо</a:t>
            </a:r>
            <a:endParaRPr lang="ru-RU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512978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Код, образы и замеры — в репозитории; простой меряет внешний сервер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Спасибо! Вопросы?</a:t>
            </a:r>
            <a:endParaRPr lang="ru-RU" sz="3600" dirty="0"/>
          </a:p>
        </p:txBody>
      </p:sp>
      <p:sp>
        <p:nvSpPr>
          <p:cNvPr id="3" name="Репозиторий"/>
          <p:cNvSpPr/>
          <p:nvPr/>
        </p:nvSpPr>
        <p:spPr>
          <a:xfrm>
            <a:off x="548640" y="1874520"/>
            <a:ext cx="2286000" cy="33832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4" name="Image 0" descr="QR-код: github.com/Irenid/OSreboot">
            <a:hlinkClick r:id="rId2" tooltip="Репозиторий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312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4206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Репозиторий</a:t>
            </a:r>
            <a:endParaRPr lang="ru-RU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572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github.com/Irenid/OSreboot</a:t>
            </a:r>
            <a:endParaRPr lang="ru-RU" sz="1300" dirty="0"/>
          </a:p>
        </p:txBody>
      </p:sp>
      <p:sp>
        <p:nvSpPr>
          <p:cNvPr id="7" name="Страница состояния"/>
          <p:cNvSpPr/>
          <p:nvPr/>
        </p:nvSpPr>
        <p:spPr>
          <a:xfrm>
            <a:off x="3108960" y="1874520"/>
            <a:ext cx="2286000" cy="33832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8" name="Image 1" descr="QR-код: osreboot.epsti.site">
            <a:hlinkClick r:id="rId4" tooltip="Страница состояния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103120"/>
            <a:ext cx="1920240" cy="1920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54680" y="4206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Страница состояния</a:t>
            </a:r>
            <a:endParaRPr lang="ru-RU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3154680" y="4572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osreboot.epsti.site</a:t>
            </a:r>
            <a:endParaRPr lang="ru-RU" sz="1300" dirty="0"/>
          </a:p>
        </p:txBody>
      </p:sp>
      <p:sp>
        <p:nvSpPr>
          <p:cNvPr id="26" name="Статья"/>
          <p:cNvSpPr/>
          <p:nvPr/>
        </p:nvSpPr>
        <p:spPr>
          <a:xfrm>
            <a:off x="5669280" y="1874520"/>
            <a:ext cx="2286000" cy="33832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27" name="Image 2" descr="QR-код: paper.epsti.site">
            <a:hlinkClick r:id="rId11" tooltip="Статья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2160" y="2103120"/>
            <a:ext cx="1920240" cy="1920240"/>
          </a:xfrm>
          <a:prstGeom prst="rect">
            <a:avLst/>
          </a:prstGeom>
        </p:spPr>
      </p:pic>
      <p:sp>
        <p:nvSpPr>
          <p:cNvPr id="28" name="Text 12"/>
          <p:cNvSpPr txBox="1"/>
          <p:nvPr/>
        </p:nvSpPr>
        <p:spPr>
          <a:xfrm>
            <a:off x="5715000" y="4206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Статья</a:t>
            </a:r>
            <a:endParaRPr lang="ru-RU" sz="1700" dirty="0"/>
          </a:p>
        </p:txBody>
      </p:sp>
      <p:sp>
        <p:nvSpPr>
          <p:cNvPr id="29" name="Text 13"/>
          <p:cNvSpPr txBox="1"/>
          <p:nvPr/>
        </p:nvSpPr>
        <p:spPr>
          <a:xfrm>
            <a:off x="5715000" y="4572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paper.epsti.site</a:t>
            </a:r>
            <a:endParaRPr lang="ru-RU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187452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ЗАПАСНЫЕ СЛАЙДЫ</a:t>
            </a:r>
            <a:endParaRPr lang="ru-RU" sz="1300" dirty="0"/>
          </a:p>
        </p:txBody>
      </p:sp>
      <p:sp>
        <p:nvSpPr>
          <p:cNvPr id="13" name="Text 8">
            <a:hlinkClick r:id="rId5" tooltip="Репозиторий: что где лежит" action="ppaction://hlinksldjump"/>
          </p:cNvPr>
          <p:cNvSpPr/>
          <p:nvPr/>
        </p:nvSpPr>
        <p:spPr>
          <a:xfrm>
            <a:off x="8229600" y="2286000"/>
            <a:ext cx="34107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5" action="ppaction://hlinksldjump" tooltip="Репозиторий: что где лежит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Репозиторий: что где лежит  →</a:t>
            </a:r>
            <a:endParaRPr lang="ru-RU" sz="1600" dirty="0"/>
          </a:p>
        </p:txBody>
      </p:sp>
      <p:sp>
        <p:nvSpPr>
          <p:cNvPr id="14" name="Text 9">
            <a:hlinkClick r:id="rId6" tooltip="Секреты: путь токена" action="ppaction://hlinksldjump"/>
          </p:cNvPr>
          <p:cNvSpPr/>
          <p:nvPr/>
        </p:nvSpPr>
        <p:spPr>
          <a:xfrm>
            <a:off x="8229600" y="2971800"/>
            <a:ext cx="34107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6" action="ppaction://hlinksldjump" tooltip="Секреты: путь токе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Секреты: путь токена  →</a:t>
            </a:r>
            <a:endParaRPr lang="ru-RU" sz="1600" dirty="0"/>
          </a:p>
        </p:txBody>
      </p:sp>
      <p:sp>
        <p:nvSpPr>
          <p:cNvPr id="15" name="Text 10">
            <a:hlinkClick r:id="rId7" tooltip="Все прогоны: таблица" action="ppaction://hlinksldjump"/>
          </p:cNvPr>
          <p:cNvSpPr/>
          <p:nvPr/>
        </p:nvSpPr>
        <p:spPr>
          <a:xfrm>
            <a:off x="8229600" y="3657600"/>
            <a:ext cx="34107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7" action="ppaction://hlinksldjump" tooltip="Все прогоны: таблиц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Все прогоны: таблица  →</a:t>
            </a:r>
            <a:endParaRPr lang="ru-RU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229600" y="4572000"/>
            <a:ext cx="3410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165 с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простоя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8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этапов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537 MiB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по сети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открытых секретов в образах</a:t>
            </a:r>
            <a:endParaRPr lang="ru-RU" sz="1600" dirty="0"/>
          </a:p>
        </p:txBody>
      </p:sp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Репозиторий: что где лежит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src/"/>
          <p:cNvSpPr/>
          <p:nvPr/>
        </p:nvSpPr>
        <p:spPr>
          <a:xfrm>
            <a:off x="548640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пап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034540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ru-RU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Сервер на Node.js: сигналы, простой, раздача файлов</a:t>
            </a:r>
            <a:endParaRPr lang="ru-RU" sz="1300" dirty="0"/>
          </a:p>
        </p:txBody>
      </p:sp>
      <p:sp>
        <p:nvSpPr>
          <p:cNvPr id="9" name="web/"/>
          <p:cNvSpPr/>
          <p:nvPr/>
        </p:nvSpPr>
        <p:spPr>
          <a:xfrm>
            <a:off x="6233008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6388456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пап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468" y="2034540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0248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web/</a:t>
            </a:r>
            <a:endParaRPr lang="ru-RU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10248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Страница состояния и проверка доступа /probe</a:t>
            </a:r>
            <a:endParaRPr lang="ru-RU" sz="1300" dirty="0"/>
          </a:p>
        </p:txBody>
      </p:sp>
      <p:sp>
        <p:nvSpPr>
          <p:cNvPr id="14" name="client/"/>
          <p:cNvSpPr/>
          <p:nvPr/>
        </p:nvSpPr>
        <p:spPr>
          <a:xfrm>
            <a:off x="548640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704088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пап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2930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client/</a:t>
            </a:r>
            <a:endParaRPr lang="ru-RU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325880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Клиент на sh и curl: heartbeat и отчёты об этапах</a:t>
            </a:r>
            <a:endParaRPr lang="ru-RU" sz="1300" dirty="0"/>
          </a:p>
        </p:txBody>
      </p:sp>
      <p:sp>
        <p:nvSpPr>
          <p:cNvPr id="19" name="image/"/>
          <p:cNvSpPr/>
          <p:nvPr/>
        </p:nvSpPr>
        <p:spPr>
          <a:xfrm>
            <a:off x="6233008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6388456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3" descr="папк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293065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0248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image/</a:t>
            </a:r>
            <a:endParaRPr lang="ru-RU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10248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Тестовая система (mkosi), osreboot-wipe, первая установка</a:t>
            </a:r>
            <a:endParaRPr lang="ru-RU" sz="1300" dirty="0"/>
          </a:p>
        </p:txBody>
      </p:sp>
      <p:sp>
        <p:nvSpPr>
          <p:cNvPr id="24" name="ipxe/"/>
          <p:cNvSpPr/>
          <p:nvPr/>
        </p:nvSpPr>
        <p:spPr>
          <a:xfrm>
            <a:off x="548640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704088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4" descr="папк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382676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ipxe/</a:t>
            </a:r>
            <a:endParaRPr lang="ru-RU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325880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Сборка iPXE со встроенным сценарием, установка на ноутбук</a:t>
            </a:r>
            <a:endParaRPr lang="ru-RU" sz="1300" dirty="0"/>
          </a:p>
        </p:txBody>
      </p:sp>
      <p:sp>
        <p:nvSpPr>
          <p:cNvPr id="29" name="recovery/"/>
          <p:cNvSpPr/>
          <p:nvPr/>
        </p:nvSpPr>
        <p:spPr>
          <a:xfrm>
            <a:off x="6233008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0" name="Shape 23"/>
          <p:cNvSpPr/>
          <p:nvPr/>
        </p:nvSpPr>
        <p:spPr>
          <a:xfrm>
            <a:off x="6388456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5" descr="папк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4468" y="382676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0248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recovery/</a:t>
            </a:r>
            <a:endParaRPr lang="ru-RU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10248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Среда восстановления: UKI и скрипт osreboot-recovery</a:t>
            </a:r>
            <a:endParaRPr lang="ru-RU" sz="1300" dirty="0"/>
          </a:p>
        </p:txBody>
      </p:sp>
      <p:sp>
        <p:nvSpPr>
          <p:cNvPr id="34" name="deploy/"/>
          <p:cNvSpPr/>
          <p:nvPr/>
        </p:nvSpPr>
        <p:spPr>
          <a:xfrm>
            <a:off x="548640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5" name="Shape 27"/>
          <p:cNvSpPr/>
          <p:nvPr/>
        </p:nvSpPr>
        <p:spPr>
          <a:xfrm>
            <a:off x="704088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6" name="Image 6" descr="пап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4722876"/>
            <a:ext cx="265176" cy="26517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25880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deploy/</a:t>
            </a:r>
            <a:endParaRPr lang="ru-RU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1325880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VPS: служба systemd, nginx, sshd для SSH-туннеля</a:t>
            </a:r>
            <a:endParaRPr lang="ru-RU" sz="1300" dirty="0"/>
          </a:p>
        </p:txBody>
      </p:sp>
      <p:sp>
        <p:nvSpPr>
          <p:cNvPr id="39" name="scripts/"/>
          <p:cNvSpPr/>
          <p:nvPr/>
        </p:nvSpPr>
        <p:spPr>
          <a:xfrm>
            <a:off x="6233008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0" name="Shape 31"/>
          <p:cNvSpPr/>
          <p:nvPr/>
        </p:nvSpPr>
        <p:spPr>
          <a:xfrm>
            <a:off x="6388456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7" descr="папк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4468" y="4722876"/>
            <a:ext cx="265176" cy="265176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010248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ru-RU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7010248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run-series.sh — серия прогонов</a:t>
            </a:r>
            <a:endParaRPr lang="ru-RU" sz="1300" dirty="0"/>
          </a:p>
        </p:txBody>
      </p:sp>
      <p:sp>
        <p:nvSpPr>
          <p:cNvPr id="44" name="docs/, results/"/>
          <p:cNvSpPr/>
          <p:nvPr/>
        </p:nvSpPr>
        <p:spPr>
          <a:xfrm>
            <a:off x="548640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5" name="Shape 35"/>
          <p:cNvSpPr/>
          <p:nvPr/>
        </p:nvSpPr>
        <p:spPr>
          <a:xfrm>
            <a:off x="704088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6" name="Image 8" descr="папка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5618988"/>
            <a:ext cx="265176" cy="26517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325880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docs/, results/</a:t>
            </a:r>
            <a:endParaRPr lang="ru-RU" sz="1500" dirty="0"/>
          </a:p>
        </p:txBody>
      </p:sp>
      <p:sp>
        <p:nvSpPr>
          <p:cNvPr id="48" name="Text 37"/>
          <p:cNvSpPr txBox="1"/>
          <p:nvPr/>
        </p:nvSpPr>
        <p:spPr>
          <a:xfrm>
            <a:off x="1325880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Рисунки и данные замеров</a:t>
            </a:r>
            <a:endParaRPr lang="ru-RU" sz="1300" dirty="0"/>
          </a:p>
        </p:txBody>
      </p:sp>
      <p:sp>
        <p:nvSpPr>
          <p:cNvPr id="49" name="README.md"/>
          <p:cNvSpPr/>
          <p:nvPr/>
        </p:nvSpPr>
        <p:spPr>
          <a:xfrm>
            <a:off x="6233008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0" name="Shape 39"/>
          <p:cNvSpPr/>
          <p:nvPr/>
        </p:nvSpPr>
        <p:spPr>
          <a:xfrm>
            <a:off x="6388456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1" name="Image 9" descr="папка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4468" y="5618988"/>
            <a:ext cx="265176" cy="26517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10248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ru-RU" sz="1500" dirty="0"/>
          </a:p>
        </p:txBody>
      </p:sp>
      <p:sp>
        <p:nvSpPr>
          <p:cNvPr id="53" name="Text 41"/>
          <p:cNvSpPr txBox="1"/>
          <p:nvPr/>
        </p:nvSpPr>
        <p:spPr>
          <a:xfrm>
            <a:off x="7010248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Статья: обзор, устройство, замеры, инструкция по запуску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Секреты: путь токена устройства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Создание"/>
          <p:cNvSpPr/>
          <p:nvPr/>
        </p:nvSpPr>
        <p:spPr>
          <a:xfrm>
            <a:off x="548640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Создание</a:t>
            </a:r>
            <a:endParaRPr lang="ru-RU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openssl rand -hex 32: 256 случайных бит</a:t>
            </a:r>
            <a:endParaRPr lang="ru-RU" sz="1400" dirty="0"/>
          </a:p>
        </p:txBody>
      </p:sp>
      <p:sp>
        <p:nvSpPr>
          <p:cNvPr id="8" name="На сервере — только хеш"/>
          <p:cNvSpPr/>
          <p:nvPr/>
        </p:nvSpPr>
        <p:spPr>
          <a:xfrm>
            <a:off x="4338218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/>
          <p:nvPr/>
        </p:nvSpPr>
        <p:spPr>
          <a:xfrm>
            <a:off x="4566818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252618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На сервере — только хеш</a:t>
            </a:r>
            <a:endParaRPr lang="ru-RU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в devices.json: из хеша токен не получить</a:t>
            </a:r>
            <a:endParaRPr lang="ru-RU" sz="1400" dirty="0"/>
          </a:p>
        </p:txBody>
      </p:sp>
      <p:sp>
        <p:nvSpPr>
          <p:cNvPr id="12" name="Шифрует TPM ноутбука"/>
          <p:cNvSpPr/>
          <p:nvPr/>
        </p:nvSpPr>
        <p:spPr>
          <a:xfrm>
            <a:off x="8127797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/>
          <p:nvPr/>
        </p:nvSpPr>
        <p:spPr>
          <a:xfrm>
            <a:off x="8356397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42197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Шифрует TPM ноутбука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systemd-creds encrypt --with-key=tpm2: в образе только .cred</a:t>
            </a:r>
            <a:endParaRPr lang="ru-RU" sz="1400" dirty="0"/>
          </a:p>
        </p:txBody>
      </p:sp>
      <p:sp>
        <p:nvSpPr>
          <p:cNvPr id="16" name="Расшифровка в память"/>
          <p:cNvSpPr/>
          <p:nvPr/>
        </p:nvSpPr>
        <p:spPr>
          <a:xfrm>
            <a:off x="548640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Расшифровка в память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 кладёт токен в папку credentials службы; её видит только служба</a:t>
            </a:r>
            <a:endParaRPr lang="ru-RU" sz="1400" dirty="0"/>
          </a:p>
        </p:txBody>
      </p:sp>
      <p:sp>
        <p:nvSpPr>
          <p:cNvPr id="20" name="Отправка"/>
          <p:cNvSpPr/>
          <p:nvPr/>
        </p:nvSpPr>
        <p:spPr>
          <a:xfrm>
            <a:off x="4338218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/>
          <p:nvPr/>
        </p:nvSpPr>
        <p:spPr>
          <a:xfrm>
            <a:off x="4566818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252618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Отправка</a:t>
            </a:r>
            <a:endParaRPr lang="ru-RU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curl получает токен через stdin, а не в аргументах; только HTTPS</a:t>
            </a:r>
            <a:endParaRPr lang="ru-RU" sz="1400" dirty="0"/>
          </a:p>
        </p:txBody>
      </p:sp>
      <p:sp>
        <p:nvSpPr>
          <p:cNvPr id="24" name="Проверка"/>
          <p:cNvSpPr/>
          <p:nvPr/>
        </p:nvSpPr>
        <p:spPr>
          <a:xfrm>
            <a:off x="8127797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8356397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42197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Сервер сравнивает SHA-256 через timingSafeEqual: время не зависит от совпадения</a:t>
            </a:r>
            <a:endParaRPr lang="ru-RU" sz="1400" dirty="0"/>
          </a:p>
        </p:txBody>
      </p:sp>
      <p:sp>
        <p:nvSpPr>
          <p:cNvPr id="28" name="Правила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200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Правила: </a:t>
            </a:r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 в переменных окружения · не в аргументах команд · открытым — только в памяти · SSH-ключи туннеля и хоста — тоже через TPM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Все прогоны на ноутбуке, секунды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1051560"/>
                <a:gridCol w="1463040"/>
                <a:gridCol w="1143000"/>
                <a:gridCol w="868680"/>
                <a:gridCol w="777240"/>
                <a:gridCol w="1261872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Дата, МСК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Запуск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Сетевая загрузка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Среда восстановления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из неё: скачивание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проверка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запись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Перезагрузка до сигнала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Весь простой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06:25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56,4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06:30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40,5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18:49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18:53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22:31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прервано на скачивании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04:37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57,1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07:57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69,2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Медиана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полные прогоны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68,0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55,8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40,2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9612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По часам сервера (data/outages.csv). «Без стирания» — запуск из основной системы: весь простой тестовой системы для таких прогонов не определён. 23.10 в 22:31 канал до VPS упал до 0,25 MiB/s, и скачивание прервалось.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Sreboot">
  <a:themeElements>
    <a:clrScheme name="OSreboot">
      <a:dk1>
        <a:srgbClr val="1B1B19"/>
      </a:dk1>
      <a:lt1>
        <a:srgbClr val="FFFFFF"/>
      </a:lt1>
      <a:dk2>
        <a:srgbClr val="14233A"/>
      </a:dk2>
      <a:lt2>
        <a:srgbClr val="EEF2F6"/>
      </a:lt2>
      <a:accent1>
        <a:srgbClr val="EB6834"/>
      </a:accent1>
      <a:accent2>
        <a:srgbClr val="2A78D6"/>
      </a:accent2>
      <a:accent3>
        <a:srgbClr val="1BAF7A"/>
      </a:accent3>
      <a:accent4>
        <a:srgbClr val="5F6673"/>
      </a:accent4>
      <a:accent5>
        <a:srgbClr val="137A55"/>
      </a:accent5>
      <a:accent6>
        <a:srgbClr val="B8432C"/>
      </a:accent6>
      <a:hlink>
        <a:srgbClr val="14233A"/>
      </a:hlink>
      <a:folHlink>
        <a:srgbClr val="14233A"/>
      </a:folHlink>
    </a:clrScheme>
    <a:fontScheme name="OSreboo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OSreboot — доклад</dc:title>
  <dc:subject>Ноутбук сам восстанавливает стёртую систему через интернет</dc:subject>
  <dc:creator>PptxGenJS</dc:creator>
  <cp:lastModifiedBy>PptxGenJS</cp:lastModifiedBy>
  <cp:revision>1</cp:revision>
  <dcterms:created xsi:type="dcterms:W3CDTF">2026-10-24T05:50:43Z</dcterms:created>
  <dcterms:modified xsi:type="dcterms:W3CDTF">2026-10-24T05:50:43Z</dcterms:modified>
</cp:coreProperties>
</file>